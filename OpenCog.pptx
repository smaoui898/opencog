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5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5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x="18288000" cy="10287000"/>
  <p:notesSz cx="6858000" cy="9144000"/>
  <p:embeddedFontLst>
    <p:embeddedFont>
      <p:font typeface="Calibri (MS) Bold" charset="1" panose="020F0702030404030204"/>
      <p:regular r:id="rId62"/>
    </p:embeddedFont>
    <p:embeddedFont>
      <p:font typeface="Calibri (MS)" charset="1" panose="020F0502020204030204"/>
      <p:regular r:id="rId63"/>
    </p:embeddedFont>
    <p:embeddedFont>
      <p:font typeface="Courier New" charset="1" panose="02070309020205020404"/>
      <p:regular r:id="rId76"/>
    </p:embeddedFont>
    <p:embeddedFont>
      <p:font typeface="Consolas" charset="1" panose="020B0609020204030204"/>
      <p:regular r:id="rId88"/>
    </p:embeddedFont>
    <p:embeddedFont>
      <p:font typeface="Consolas Bold" charset="1" panose="020B0709020204030204"/>
      <p:regular r:id="rId98"/>
    </p:embeddedFont>
    <p:embeddedFont>
      <p:font typeface="Courier New Bold" charset="1" panose="02070609020205020404"/>
      <p:regular r:id="rId10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notesSlides/notesSlide35.xml" Type="http://schemas.openxmlformats.org/officeDocument/2006/relationships/notesSlide"/><Relationship Id="rId101" Target="notesSlides/notesSlide36.xml" Type="http://schemas.openxmlformats.org/officeDocument/2006/relationships/notesSlide"/><Relationship Id="rId102" Target="notesSlides/notesSlide37.xml" Type="http://schemas.openxmlformats.org/officeDocument/2006/relationships/notesSlide"/><Relationship Id="rId103" Target="notesSlides/notesSlide38.xml" Type="http://schemas.openxmlformats.org/officeDocument/2006/relationships/notesSlide"/><Relationship Id="rId104" Target="notesSlides/notesSlide39.xml" Type="http://schemas.openxmlformats.org/officeDocument/2006/relationships/notesSlide"/><Relationship Id="rId105" Target="notesSlides/notesSlide40.xml" Type="http://schemas.openxmlformats.org/officeDocument/2006/relationships/notesSlide"/><Relationship Id="rId106" Target="notesSlides/notesSlide41.xml" Type="http://schemas.openxmlformats.org/officeDocument/2006/relationships/notesSlide"/><Relationship Id="rId107" Target="fonts/font107.fntdata" Type="http://schemas.openxmlformats.org/officeDocument/2006/relationships/font"/><Relationship Id="rId108" Target="notesSlides/notesSlide42.xml" Type="http://schemas.openxmlformats.org/officeDocument/2006/relationships/notesSlide"/><Relationship Id="rId109" Target="notesSlides/notesSlide43.xml" Type="http://schemas.openxmlformats.org/officeDocument/2006/relationships/notesSlide"/><Relationship Id="rId11" Target="slides/slide6.xml" Type="http://schemas.openxmlformats.org/officeDocument/2006/relationships/slide"/><Relationship Id="rId110" Target="notesSlides/notesSlide44.xml" Type="http://schemas.openxmlformats.org/officeDocument/2006/relationships/notesSlide"/><Relationship Id="rId111" Target="notesSlides/notesSlide45.xml" Type="http://schemas.openxmlformats.org/officeDocument/2006/relationships/notesSlide"/><Relationship Id="rId112" Target="notesSlides/notesSlide46.xml" Type="http://schemas.openxmlformats.org/officeDocument/2006/relationships/notesSlide"/><Relationship Id="rId113" Target="notesSlides/notesSlide47.xml" Type="http://schemas.openxmlformats.org/officeDocument/2006/relationships/notesSlide"/><Relationship Id="rId114" Target="notesSlides/notesSlide48.xml" Type="http://schemas.openxmlformats.org/officeDocument/2006/relationships/notesSlide"/><Relationship Id="rId115" Target="notesSlides/notesSlide49.xml" Type="http://schemas.openxmlformats.org/officeDocument/2006/relationships/notesSlide"/><Relationship Id="rId116" Target="notesSlides/notesSlide50.xml" Type="http://schemas.openxmlformats.org/officeDocument/2006/relationships/notesSlide"/><Relationship Id="rId117" Target="notesSlides/notesSlide51.xml" Type="http://schemas.openxmlformats.org/officeDocument/2006/relationships/notesSlide"/><Relationship Id="rId118" Target="notesSlides/notesSlide52.xml" Type="http://schemas.openxmlformats.org/officeDocument/2006/relationships/notesSlide"/><Relationship Id="rId119" Target="notesSlides/notesSlide53.xml" Type="http://schemas.openxmlformats.org/officeDocument/2006/relationships/notes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notesMasters/notesMaster1.xml" Type="http://schemas.openxmlformats.org/officeDocument/2006/relationships/notesMaster"/><Relationship Id="rId6" Target="slides/slide1.xml" Type="http://schemas.openxmlformats.org/officeDocument/2006/relationships/slide"/><Relationship Id="rId60" Target="theme/theme2.xml" Type="http://schemas.openxmlformats.org/officeDocument/2006/relationships/theme"/><Relationship Id="rId61" Target="notesSlides/notesSlide1.xml" Type="http://schemas.openxmlformats.org/officeDocument/2006/relationships/notesSlide"/><Relationship Id="rId62" Target="fonts/font62.fntdata" Type="http://schemas.openxmlformats.org/officeDocument/2006/relationships/font"/><Relationship Id="rId63" Target="fonts/font63.fntdata" Type="http://schemas.openxmlformats.org/officeDocument/2006/relationships/font"/><Relationship Id="rId64" Target="notesSlides/notesSlide2.xml" Type="http://schemas.openxmlformats.org/officeDocument/2006/relationships/notesSlide"/><Relationship Id="rId65" Target="notesSlides/notesSlide3.xml" Type="http://schemas.openxmlformats.org/officeDocument/2006/relationships/notesSlide"/><Relationship Id="rId66" Target="notesSlides/notesSlide4.xml" Type="http://schemas.openxmlformats.org/officeDocument/2006/relationships/notesSlide"/><Relationship Id="rId67" Target="notesSlides/notesSlide5.xml" Type="http://schemas.openxmlformats.org/officeDocument/2006/relationships/notesSlide"/><Relationship Id="rId68" Target="notesSlides/notesSlide6.xml" Type="http://schemas.openxmlformats.org/officeDocument/2006/relationships/notesSlide"/><Relationship Id="rId69" Target="notesSlides/notesSlide7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8.xml" Type="http://schemas.openxmlformats.org/officeDocument/2006/relationships/notesSlide"/><Relationship Id="rId71" Target="notesSlides/notesSlide9.xml" Type="http://schemas.openxmlformats.org/officeDocument/2006/relationships/notesSlide"/><Relationship Id="rId72" Target="notesSlides/notesSlide10.xml" Type="http://schemas.openxmlformats.org/officeDocument/2006/relationships/notesSlide"/><Relationship Id="rId73" Target="notesSlides/notesSlide11.xml" Type="http://schemas.openxmlformats.org/officeDocument/2006/relationships/notesSlide"/><Relationship Id="rId74" Target="notesSlides/notesSlide12.xml" Type="http://schemas.openxmlformats.org/officeDocument/2006/relationships/notesSlide"/><Relationship Id="rId75" Target="notesSlides/notesSlide13.xml" Type="http://schemas.openxmlformats.org/officeDocument/2006/relationships/notesSlide"/><Relationship Id="rId76" Target="fonts/font76.fntdata" Type="http://schemas.openxmlformats.org/officeDocument/2006/relationships/font"/><Relationship Id="rId77" Target="notesSlides/notesSlide14.xml" Type="http://schemas.openxmlformats.org/officeDocument/2006/relationships/notesSlide"/><Relationship Id="rId78" Target="notesSlides/notesSlide15.xml" Type="http://schemas.openxmlformats.org/officeDocument/2006/relationships/notesSlide"/><Relationship Id="rId79" Target="notesSlides/notesSlide16.xml" Type="http://schemas.openxmlformats.org/officeDocument/2006/relationships/notesSlide"/><Relationship Id="rId8" Target="slides/slide3.xml" Type="http://schemas.openxmlformats.org/officeDocument/2006/relationships/slide"/><Relationship Id="rId80" Target="notesSlides/notesSlide17.xml" Type="http://schemas.openxmlformats.org/officeDocument/2006/relationships/notesSlide"/><Relationship Id="rId81" Target="notesSlides/notesSlide18.xml" Type="http://schemas.openxmlformats.org/officeDocument/2006/relationships/notesSlide"/><Relationship Id="rId82" Target="notesSlides/notesSlide19.xml" Type="http://schemas.openxmlformats.org/officeDocument/2006/relationships/notesSlide"/><Relationship Id="rId83" Target="notesSlides/notesSlide20.xml" Type="http://schemas.openxmlformats.org/officeDocument/2006/relationships/notesSlide"/><Relationship Id="rId84" Target="notesSlides/notesSlide21.xml" Type="http://schemas.openxmlformats.org/officeDocument/2006/relationships/notesSlide"/><Relationship Id="rId85" Target="notesSlides/notesSlide22.xml" Type="http://schemas.openxmlformats.org/officeDocument/2006/relationships/notesSlide"/><Relationship Id="rId86" Target="notesSlides/notesSlide23.xml" Type="http://schemas.openxmlformats.org/officeDocument/2006/relationships/notesSlide"/><Relationship Id="rId87" Target="notesSlides/notesSlide24.xml" Type="http://schemas.openxmlformats.org/officeDocument/2006/relationships/notesSlide"/><Relationship Id="rId88" Target="fonts/font88.fntdata" Type="http://schemas.openxmlformats.org/officeDocument/2006/relationships/font"/><Relationship Id="rId89" Target="notesSlides/notesSlide25.xml" Type="http://schemas.openxmlformats.org/officeDocument/2006/relationships/notesSlide"/><Relationship Id="rId9" Target="slides/slide4.xml" Type="http://schemas.openxmlformats.org/officeDocument/2006/relationships/slide"/><Relationship Id="rId90" Target="notesSlides/notesSlide26.xml" Type="http://schemas.openxmlformats.org/officeDocument/2006/relationships/notesSlide"/><Relationship Id="rId91" Target="notesSlides/notesSlide27.xml" Type="http://schemas.openxmlformats.org/officeDocument/2006/relationships/notesSlide"/><Relationship Id="rId92" Target="notesSlides/notesSlide28.xml" Type="http://schemas.openxmlformats.org/officeDocument/2006/relationships/notesSlide"/><Relationship Id="rId93" Target="notesSlides/notesSlide29.xml" Type="http://schemas.openxmlformats.org/officeDocument/2006/relationships/notesSlide"/><Relationship Id="rId94" Target="notesSlides/notesSlide30.xml" Type="http://schemas.openxmlformats.org/officeDocument/2006/relationships/notesSlide"/><Relationship Id="rId95" Target="notesSlides/notesSlide31.xml" Type="http://schemas.openxmlformats.org/officeDocument/2006/relationships/notesSlide"/><Relationship Id="rId96" Target="notesSlides/notesSlide32.xml" Type="http://schemas.openxmlformats.org/officeDocument/2006/relationships/notesSlide"/><Relationship Id="rId97" Target="notesSlides/notesSlide33.xml" Type="http://schemas.openxmlformats.org/officeDocument/2006/relationships/notesSlide"/><Relationship Id="rId98" Target="fonts/font98.fntdata" Type="http://schemas.openxmlformats.org/officeDocument/2006/relationships/font"/><Relationship Id="rId99" Target="notesSlides/notesSlide34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_rels/notesSlide3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_rels/notesSlide3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_rels/notesSlide4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0.xml" Type="http://schemas.openxmlformats.org/officeDocument/2006/relationships/slide"/></Relationships>
</file>

<file path=ppt/notesSlides/_rels/notesSlide4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1.xml" Type="http://schemas.openxmlformats.org/officeDocument/2006/relationships/slide"/></Relationships>
</file>

<file path=ppt/notesSlides/_rels/notesSlide4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2.xml" Type="http://schemas.openxmlformats.org/officeDocument/2006/relationships/slide"/></Relationships>
</file>

<file path=ppt/notesSlides/_rels/notesSlide4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3.xml" Type="http://schemas.openxmlformats.org/officeDocument/2006/relationships/slide"/></Relationships>
</file>

<file path=ppt/notesSlides/_rels/notesSlide4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4.xml" Type="http://schemas.openxmlformats.org/officeDocument/2006/relationships/slide"/></Relationships>
</file>

<file path=ppt/notesSlides/_rels/notesSlide4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5.xml" Type="http://schemas.openxmlformats.org/officeDocument/2006/relationships/slide"/></Relationships>
</file>

<file path=ppt/notesSlides/_rels/notesSlide4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6.xml" Type="http://schemas.openxmlformats.org/officeDocument/2006/relationships/slide"/></Relationships>
</file>

<file path=ppt/notesSlides/_rels/notesSlide4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7.xml" Type="http://schemas.openxmlformats.org/officeDocument/2006/relationships/slide"/></Relationships>
</file>

<file path=ppt/notesSlides/_rels/notesSlide4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8.xml" Type="http://schemas.openxmlformats.org/officeDocument/2006/relationships/slide"/></Relationships>
</file>

<file path=ppt/notesSlides/_rels/notesSlide4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9.xml" Type="http://schemas.openxmlformats.org/officeDocument/2006/relationships/slide"/></Relationships>
</file>

<file path=ppt/notesSlides/_rels/notesSlide5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0.xml" Type="http://schemas.openxmlformats.org/officeDocument/2006/relationships/slide"/></Relationships>
</file>

<file path=ppt/notesSlides/_rels/notesSlide5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1.xml" Type="http://schemas.openxmlformats.org/officeDocument/2006/relationships/slide"/></Relationships>
</file>

<file path=ppt/notesSlides/_rels/notesSlide5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2.xml" Type="http://schemas.openxmlformats.org/officeDocument/2006/relationships/slide"/></Relationships>
</file>

<file path=ppt/notesSlides/_rels/notesSlide5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Relationship Id="rId5" Target="../media/image10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5.png" Type="http://schemas.openxmlformats.org/officeDocument/2006/relationships/image"/><Relationship Id="rId5" Target="../media/image7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18.png" Type="http://schemas.openxmlformats.org/officeDocument/2006/relationships/image"/><Relationship Id="rId8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Relationship Id="rId5" Target="../media/image22.jpeg" Type="http://schemas.openxmlformats.org/officeDocument/2006/relationships/image"/><Relationship Id="rId6" Target="../media/VAHI8J0EyTY.mp4" Type="http://schemas.openxmlformats.org/officeDocument/2006/relationships/video"/><Relationship Id="rId7" Target="../media/VAHI8J0EyTY.mp4" Type="http://schemas.microsoft.com/office/2007/relationships/media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5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Relationship Id="rId5" Target="../media/image16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jpe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1.jpe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1.jpe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Relationship Id="rId3" Target="../media/image1.jpe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7.xml" Type="http://schemas.openxmlformats.org/officeDocument/2006/relationships/notesSlide"/><Relationship Id="rId3" Target="../media/image1.jpe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0.xml" Type="http://schemas.openxmlformats.org/officeDocument/2006/relationships/notesSlide"/><Relationship Id="rId3" Target="../media/image1.jpeg" Type="http://schemas.openxmlformats.org/officeDocument/2006/relationships/image"/><Relationship Id="rId4" Target="../media/image4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3.xml" Type="http://schemas.openxmlformats.org/officeDocument/2006/relationships/notesSlide"/><Relationship Id="rId3" Target="../media/image1.jpeg" Type="http://schemas.openxmlformats.org/officeDocument/2006/relationships/image"/><Relationship Id="rId4" Target="../media/image46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8.xml" Type="http://schemas.openxmlformats.org/officeDocument/2006/relationships/notesSlide"/><Relationship Id="rId3" Target="../media/image1.jpeg" Type="http://schemas.openxmlformats.org/officeDocument/2006/relationships/image"/><Relationship Id="rId4" Target="../media/image47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3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16903" y="-12697"/>
            <a:ext cx="10083803" cy="10312403"/>
            <a:chOff x="0" y="0"/>
            <a:chExt cx="134450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34111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F17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449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13732890"/>
                  </a:lnTo>
                  <a:cubicBezTo>
                    <a:pt x="13444982" y="13742290"/>
                    <a:pt x="13437363" y="13749782"/>
                    <a:pt x="134280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13428090" y="13716000"/>
                  </a:lnTo>
                  <a:lnTo>
                    <a:pt x="13428090" y="13732890"/>
                  </a:lnTo>
                  <a:lnTo>
                    <a:pt x="13411200" y="13732890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04472"/>
            </a:xfrm>
            <a:custGeom>
              <a:avLst/>
              <a:gdLst/>
              <a:ahLst/>
              <a:cxnLst/>
              <a:rect r="r" b="b" t="t" l="l"/>
              <a:pathLst>
                <a:path h="20447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7579"/>
                  </a:lnTo>
                  <a:cubicBezTo>
                    <a:pt x="24417782" y="196977"/>
                    <a:pt x="24410163" y="204470"/>
                    <a:pt x="24400890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24400890" y="170688"/>
                  </a:lnTo>
                  <a:lnTo>
                    <a:pt x="24400890" y="187579"/>
                  </a:lnTo>
                  <a:lnTo>
                    <a:pt x="24384000" y="18757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258805" y="493776"/>
            <a:ext cx="4023360" cy="457200"/>
            <a:chOff x="0" y="0"/>
            <a:chExt cx="536448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4480" cy="609600"/>
            </a:xfrm>
            <a:custGeom>
              <a:avLst/>
              <a:gdLst/>
              <a:ahLst/>
              <a:cxnLst/>
              <a:rect r="r" b="b" t="t" l="l"/>
              <a:pathLst>
                <a:path h="609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6448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ENIS Sfax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045184" y="950976"/>
            <a:ext cx="4023360" cy="365760"/>
            <a:chOff x="0" y="0"/>
            <a:chExt cx="5364480" cy="487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64480" cy="487680"/>
            </a:xfrm>
            <a:custGeom>
              <a:avLst/>
              <a:gdLst/>
              <a:ahLst/>
              <a:cxnLst/>
              <a:rect r="r" b="b" t="t" l="l"/>
              <a:pathLst>
                <a:path h="4876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3644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Computer Engineering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556480" y="402336"/>
            <a:ext cx="512064" cy="512064"/>
            <a:chOff x="0" y="0"/>
            <a:chExt cx="682752" cy="68275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1463040"/>
            <a:ext cx="7315200" cy="1450330"/>
            <a:chOff x="0" y="0"/>
            <a:chExt cx="9753600" cy="19337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0" cy="1933773"/>
            </a:xfrm>
            <a:custGeom>
              <a:avLst/>
              <a:gdLst/>
              <a:ahLst/>
              <a:cxnLst/>
              <a:rect r="r" b="b" t="t" l="l"/>
              <a:pathLst>
                <a:path h="1933773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02" r="0" b="-329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42875"/>
              <a:ext cx="9753600" cy="207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OpenCog: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3055832"/>
            <a:ext cx="10731503" cy="914400"/>
            <a:chOff x="0" y="0"/>
            <a:chExt cx="14308671" cy="12192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9753600" cy="1219200"/>
              <a:chOff x="0" y="0"/>
              <a:chExt cx="9753600" cy="12192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7536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9753600">
                    <a:moveTo>
                      <a:pt x="0" y="0"/>
                    </a:moveTo>
                    <a:lnTo>
                      <a:pt x="9753600" y="0"/>
                    </a:lnTo>
                    <a:lnTo>
                      <a:pt x="97536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5880" r="0" b="-105880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42875"/>
                <a:ext cx="9753600" cy="13620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8640"/>
                  </a:lnSpc>
                </a:pPr>
                <a:r>
                  <a:rPr lang="en-US" sz="7200" b="true">
                    <a:solidFill>
                      <a:srgbClr val="1E293B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Towards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4555071" y="0"/>
              <a:ext cx="9753600" cy="1219200"/>
              <a:chOff x="0" y="0"/>
              <a:chExt cx="9753600" cy="12192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7536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9753600">
                    <a:moveTo>
                      <a:pt x="0" y="0"/>
                    </a:moveTo>
                    <a:lnTo>
                      <a:pt x="9753600" y="0"/>
                    </a:lnTo>
                    <a:lnTo>
                      <a:pt x="97536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5880" r="0" b="-105880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142875"/>
                <a:ext cx="9753600" cy="13620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8640"/>
                  </a:lnSpc>
                </a:pPr>
                <a:r>
                  <a:rPr lang="en-US" sz="7200" b="true">
                    <a:solidFill>
                      <a:srgbClr val="3B82F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Artificial</a:t>
                </a: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0">
            <a:off x="914400" y="3903557"/>
            <a:ext cx="8229600" cy="1123801"/>
            <a:chOff x="0" y="0"/>
            <a:chExt cx="10972800" cy="14984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005" r="0" b="-8337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14300"/>
              <a:ext cx="109728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General Intelligence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5149152"/>
            <a:ext cx="7606341" cy="1097280"/>
            <a:chOff x="0" y="0"/>
            <a:chExt cx="10141788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41789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141789">
                  <a:moveTo>
                    <a:pt x="0" y="0"/>
                  </a:moveTo>
                  <a:lnTo>
                    <a:pt x="10141789" y="0"/>
                  </a:lnTo>
                  <a:lnTo>
                    <a:pt x="1014178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3827" b="-7990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0141788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unified cognitive architecture integrating reasoning, learning, and attention mechanisms for human-level AGI development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17195" y="6753863"/>
            <a:ext cx="7523483" cy="2037083"/>
            <a:chOff x="0" y="0"/>
            <a:chExt cx="10031311" cy="27161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99974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312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2699131"/>
                  </a:lnTo>
                  <a:cubicBezTo>
                    <a:pt x="10031222" y="2708529"/>
                    <a:pt x="10023602" y="2716022"/>
                    <a:pt x="1001433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0014331" y="2682240"/>
                  </a:lnTo>
                  <a:lnTo>
                    <a:pt x="10014331" y="2699131"/>
                  </a:lnTo>
                  <a:lnTo>
                    <a:pt x="9997440" y="2699131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28749" y="6753863"/>
            <a:ext cx="135131" cy="2037083"/>
            <a:chOff x="0" y="0"/>
            <a:chExt cx="180175" cy="27161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46304" cy="2682240"/>
            </a:xfrm>
            <a:custGeom>
              <a:avLst/>
              <a:gdLst/>
              <a:ahLst/>
              <a:cxnLst/>
              <a:rect r="r" b="b" t="t" l="l"/>
              <a:pathLst>
                <a:path h="26822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0086" cy="2716022"/>
            </a:xfrm>
            <a:custGeom>
              <a:avLst/>
              <a:gdLst/>
              <a:ahLst/>
              <a:cxnLst/>
              <a:rect r="r" b="b" t="t" l="l"/>
              <a:pathLst>
                <a:path h="27160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699131"/>
                  </a:lnTo>
                  <a:cubicBezTo>
                    <a:pt x="180086" y="2708529"/>
                    <a:pt x="172466" y="2716022"/>
                    <a:pt x="163195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63195" y="2682240"/>
                  </a:lnTo>
                  <a:lnTo>
                    <a:pt x="163195" y="2699131"/>
                  </a:lnTo>
                  <a:lnTo>
                    <a:pt x="146304" y="26991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97280" y="6986016"/>
            <a:ext cx="512064" cy="512064"/>
            <a:chOff x="0" y="0"/>
            <a:chExt cx="682752" cy="682752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828800" y="6986016"/>
            <a:ext cx="6035040" cy="548640"/>
            <a:chOff x="0" y="0"/>
            <a:chExt cx="804672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8046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Team:  Ahmed Smaoui / Wassim Abdelhedi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828800" y="7863840"/>
            <a:ext cx="6035040" cy="548640"/>
            <a:chOff x="0" y="0"/>
            <a:chExt cx="804672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8046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Academic Year:  2025-2026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9854266" y="2724841"/>
            <a:ext cx="7405034" cy="5470469"/>
          </a:xfrm>
          <a:custGeom>
            <a:avLst/>
            <a:gdLst/>
            <a:ahLst/>
            <a:cxnLst/>
            <a:rect r="r" b="b" t="t" l="l"/>
            <a:pathLst>
              <a:path h="5470469" w="7405034">
                <a:moveTo>
                  <a:pt x="0" y="0"/>
                </a:moveTo>
                <a:lnTo>
                  <a:pt x="7405034" y="0"/>
                </a:lnTo>
                <a:lnTo>
                  <a:pt x="7405034" y="5470469"/>
                </a:lnTo>
                <a:lnTo>
                  <a:pt x="0" y="5470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960103" y="-12697"/>
            <a:ext cx="7340603" cy="1579883"/>
            <a:chOff x="0" y="0"/>
            <a:chExt cx="9787471" cy="21065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73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2089531"/>
                  </a:lnTo>
                  <a:cubicBezTo>
                    <a:pt x="9787382" y="2098929"/>
                    <a:pt x="9779762" y="2106422"/>
                    <a:pt x="977049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9770491" y="2072640"/>
                  </a:lnTo>
                  <a:lnTo>
                    <a:pt x="9770491" y="2089531"/>
                  </a:lnTo>
                  <a:lnTo>
                    <a:pt x="9753600" y="2089531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" y="131716"/>
            <a:ext cx="10537122" cy="797272"/>
            <a:chOff x="0" y="0"/>
            <a:chExt cx="14049496" cy="10630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049496" cy="1063030"/>
            </a:xfrm>
            <a:custGeom>
              <a:avLst/>
              <a:gdLst/>
              <a:ahLst/>
              <a:cxnLst/>
              <a:rect r="r" b="b" t="t" l="l"/>
              <a:pathLst>
                <a:path h="1063030" w="14049496">
                  <a:moveTo>
                    <a:pt x="0" y="0"/>
                  </a:moveTo>
                  <a:lnTo>
                    <a:pt x="14049496" y="0"/>
                  </a:lnTo>
                  <a:lnTo>
                    <a:pt x="14049496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326" r="-47524" b="-32349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4049496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OpenCog: Towards Artificial General Intelligence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914400"/>
            <a:ext cx="12801600" cy="512064"/>
            <a:chOff x="0" y="0"/>
            <a:chExt cx="1706880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Table of Contents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1920240"/>
            <a:ext cx="512064" cy="512064"/>
            <a:chOff x="0" y="0"/>
            <a:chExt cx="682752" cy="68275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1920240"/>
            <a:ext cx="7315200" cy="548640"/>
            <a:chOff x="0" y="0"/>
            <a:chExt cx="9753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9753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Presentation Overview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7383" y="2639063"/>
            <a:ext cx="8255003" cy="1031243"/>
            <a:chOff x="0" y="0"/>
            <a:chExt cx="11006671" cy="13749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10972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065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58011"/>
                  </a:lnTo>
                  <a:cubicBezTo>
                    <a:pt x="11006582" y="1367409"/>
                    <a:pt x="10998962" y="1374902"/>
                    <a:pt x="109896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989691" y="1341120"/>
                  </a:lnTo>
                  <a:lnTo>
                    <a:pt x="10989691" y="1358011"/>
                  </a:lnTo>
                  <a:lnTo>
                    <a:pt x="10972800" y="13580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27383" y="2639063"/>
            <a:ext cx="610619" cy="1031243"/>
            <a:chOff x="0" y="0"/>
            <a:chExt cx="814159" cy="13749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780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4070" cy="1374902"/>
            </a:xfrm>
            <a:custGeom>
              <a:avLst/>
              <a:gdLst/>
              <a:ahLst/>
              <a:cxnLst/>
              <a:rect r="r" b="b" t="t" l="l"/>
              <a:pathLst>
                <a:path h="1374902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1358011"/>
                  </a:lnTo>
                  <a:cubicBezTo>
                    <a:pt x="814070" y="1367409"/>
                    <a:pt x="806450" y="1374902"/>
                    <a:pt x="797179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97179" y="1341120"/>
                  </a:lnTo>
                  <a:lnTo>
                    <a:pt x="797179" y="1358011"/>
                  </a:lnTo>
                  <a:lnTo>
                    <a:pt x="780288" y="1358011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0080" y="2907792"/>
            <a:ext cx="585216" cy="493776"/>
            <a:chOff x="0" y="0"/>
            <a:chExt cx="780288" cy="6583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80288" cy="658368"/>
            </a:xfrm>
            <a:custGeom>
              <a:avLst/>
              <a:gdLst/>
              <a:ahLst/>
              <a:cxnLst/>
              <a:rect r="r" b="b" t="t" l="l"/>
              <a:pathLst>
                <a:path h="65836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256" t="0" r="-5825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80288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71600" y="2761488"/>
            <a:ext cx="7315200" cy="402336"/>
            <a:chOff x="0" y="0"/>
            <a:chExt cx="9753600" cy="5364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 &amp; AI Landscape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71600" y="3163824"/>
            <a:ext cx="7315200" cy="365760"/>
            <a:chOff x="0" y="0"/>
            <a:chExt cx="9753600" cy="487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5360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753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evolution, Narrow AI vs AGI, limitations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27383" y="3772919"/>
            <a:ext cx="8255003" cy="1031243"/>
            <a:chOff x="0" y="0"/>
            <a:chExt cx="11006671" cy="13749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0972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0065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58011"/>
                  </a:lnTo>
                  <a:cubicBezTo>
                    <a:pt x="11006582" y="1367409"/>
                    <a:pt x="10998962" y="1374902"/>
                    <a:pt x="109896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989691" y="1341120"/>
                  </a:lnTo>
                  <a:lnTo>
                    <a:pt x="10989691" y="1358011"/>
                  </a:lnTo>
                  <a:lnTo>
                    <a:pt x="10972800" y="13580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27383" y="3772919"/>
            <a:ext cx="610619" cy="1031243"/>
            <a:chOff x="0" y="0"/>
            <a:chExt cx="814159" cy="13749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780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4070" cy="1374902"/>
            </a:xfrm>
            <a:custGeom>
              <a:avLst/>
              <a:gdLst/>
              <a:ahLst/>
              <a:cxnLst/>
              <a:rect r="r" b="b" t="t" l="l"/>
              <a:pathLst>
                <a:path h="1374902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1358011"/>
                  </a:lnTo>
                  <a:cubicBezTo>
                    <a:pt x="814070" y="1367409"/>
                    <a:pt x="806450" y="1374902"/>
                    <a:pt x="797179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97179" y="1341120"/>
                  </a:lnTo>
                  <a:lnTo>
                    <a:pt x="797179" y="1358011"/>
                  </a:lnTo>
                  <a:lnTo>
                    <a:pt x="780288" y="1358011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40080" y="4041648"/>
            <a:ext cx="585216" cy="493776"/>
            <a:chOff x="0" y="0"/>
            <a:chExt cx="780288" cy="6583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80288" cy="658368"/>
            </a:xfrm>
            <a:custGeom>
              <a:avLst/>
              <a:gdLst/>
              <a:ahLst/>
              <a:cxnLst/>
              <a:rect r="r" b="b" t="t" l="l"/>
              <a:pathLst>
                <a:path h="65836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256" t="0" r="-58256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780288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71600" y="3895344"/>
            <a:ext cx="7315200" cy="402336"/>
            <a:chOff x="0" y="0"/>
            <a:chExt cx="9753600" cy="5364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OpenCog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71600" y="4297680"/>
            <a:ext cx="7315200" cy="365760"/>
            <a:chOff x="0" y="0"/>
            <a:chExt cx="9753600" cy="4876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75360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753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Definition, goals, philosophy, AGI vision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27383" y="4906775"/>
            <a:ext cx="8255003" cy="1031243"/>
            <a:chOff x="0" y="0"/>
            <a:chExt cx="11006671" cy="137499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10972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0065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58011"/>
                  </a:lnTo>
                  <a:cubicBezTo>
                    <a:pt x="11006582" y="1367409"/>
                    <a:pt x="10998962" y="1374902"/>
                    <a:pt x="109896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989691" y="1341120"/>
                  </a:lnTo>
                  <a:lnTo>
                    <a:pt x="10989691" y="1358011"/>
                  </a:lnTo>
                  <a:lnTo>
                    <a:pt x="10972800" y="13580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27383" y="4906775"/>
            <a:ext cx="610619" cy="1031243"/>
            <a:chOff x="0" y="0"/>
            <a:chExt cx="814159" cy="137499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780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4070" cy="1374902"/>
            </a:xfrm>
            <a:custGeom>
              <a:avLst/>
              <a:gdLst/>
              <a:ahLst/>
              <a:cxnLst/>
              <a:rect r="r" b="b" t="t" l="l"/>
              <a:pathLst>
                <a:path h="1374902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1358011"/>
                  </a:lnTo>
                  <a:cubicBezTo>
                    <a:pt x="814070" y="1367409"/>
                    <a:pt x="806450" y="1374902"/>
                    <a:pt x="797179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97179" y="1341120"/>
                  </a:lnTo>
                  <a:lnTo>
                    <a:pt x="797179" y="1358011"/>
                  </a:lnTo>
                  <a:lnTo>
                    <a:pt x="780288" y="1358011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40080" y="5175504"/>
            <a:ext cx="585216" cy="493776"/>
            <a:chOff x="0" y="0"/>
            <a:chExt cx="780288" cy="65836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80288" cy="658368"/>
            </a:xfrm>
            <a:custGeom>
              <a:avLst/>
              <a:gdLst/>
              <a:ahLst/>
              <a:cxnLst/>
              <a:rect r="r" b="b" t="t" l="l"/>
              <a:pathLst>
                <a:path h="65836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256" t="0" r="-58256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780288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71600" y="5029200"/>
            <a:ext cx="7315200" cy="402336"/>
            <a:chOff x="0" y="0"/>
            <a:chExt cx="9753600" cy="5364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AtomSpace Architecture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71600" y="5431536"/>
            <a:ext cx="7315200" cy="365760"/>
            <a:chOff x="0" y="0"/>
            <a:chExt cx="9753600" cy="4876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75360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753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Nodes, Links, TruthValues, hypergraph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27383" y="6040631"/>
            <a:ext cx="8255003" cy="1031243"/>
            <a:chOff x="0" y="0"/>
            <a:chExt cx="11006671" cy="137499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10972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0065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58011"/>
                  </a:lnTo>
                  <a:cubicBezTo>
                    <a:pt x="11006582" y="1367409"/>
                    <a:pt x="10998962" y="1374902"/>
                    <a:pt x="109896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989691" y="1341120"/>
                  </a:lnTo>
                  <a:lnTo>
                    <a:pt x="10989691" y="1358011"/>
                  </a:lnTo>
                  <a:lnTo>
                    <a:pt x="10972800" y="13580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27383" y="6040631"/>
            <a:ext cx="610619" cy="1031243"/>
            <a:chOff x="0" y="0"/>
            <a:chExt cx="814159" cy="137499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780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4070" cy="1374902"/>
            </a:xfrm>
            <a:custGeom>
              <a:avLst/>
              <a:gdLst/>
              <a:ahLst/>
              <a:cxnLst/>
              <a:rect r="r" b="b" t="t" l="l"/>
              <a:pathLst>
                <a:path h="1374902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1358011"/>
                  </a:lnTo>
                  <a:cubicBezTo>
                    <a:pt x="814070" y="1367409"/>
                    <a:pt x="806450" y="1374902"/>
                    <a:pt x="797179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97179" y="1341120"/>
                  </a:lnTo>
                  <a:lnTo>
                    <a:pt x="797179" y="1358011"/>
                  </a:lnTo>
                  <a:lnTo>
                    <a:pt x="780288" y="1358011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40080" y="6309360"/>
            <a:ext cx="585216" cy="493776"/>
            <a:chOff x="0" y="0"/>
            <a:chExt cx="780288" cy="65836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80288" cy="658368"/>
            </a:xfrm>
            <a:custGeom>
              <a:avLst/>
              <a:gdLst/>
              <a:ahLst/>
              <a:cxnLst/>
              <a:rect r="r" b="b" t="t" l="l"/>
              <a:pathLst>
                <a:path h="65836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256" t="0" r="-58256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780288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71600" y="6163056"/>
            <a:ext cx="7315200" cy="402336"/>
            <a:chOff x="0" y="0"/>
            <a:chExt cx="9753600" cy="53644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Components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371600" y="6565392"/>
            <a:ext cx="7315200" cy="365760"/>
            <a:chOff x="0" y="0"/>
            <a:chExt cx="9753600" cy="4876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75360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9753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PLN, MOSES, Pattern Miner, CogServer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27383" y="7174487"/>
            <a:ext cx="8255003" cy="1031243"/>
            <a:chOff x="0" y="0"/>
            <a:chExt cx="11006671" cy="137499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10972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0065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58011"/>
                  </a:lnTo>
                  <a:cubicBezTo>
                    <a:pt x="11006582" y="1367409"/>
                    <a:pt x="10998962" y="1374902"/>
                    <a:pt x="109896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989691" y="1341120"/>
                  </a:lnTo>
                  <a:lnTo>
                    <a:pt x="10989691" y="1358011"/>
                  </a:lnTo>
                  <a:lnTo>
                    <a:pt x="10972800" y="13580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27383" y="7174487"/>
            <a:ext cx="610619" cy="1031243"/>
            <a:chOff x="0" y="0"/>
            <a:chExt cx="814159" cy="137499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780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14070" cy="1374902"/>
            </a:xfrm>
            <a:custGeom>
              <a:avLst/>
              <a:gdLst/>
              <a:ahLst/>
              <a:cxnLst/>
              <a:rect r="r" b="b" t="t" l="l"/>
              <a:pathLst>
                <a:path h="1374902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1358011"/>
                  </a:lnTo>
                  <a:cubicBezTo>
                    <a:pt x="814070" y="1367409"/>
                    <a:pt x="806450" y="1374902"/>
                    <a:pt x="797179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97179" y="1341120"/>
                  </a:lnTo>
                  <a:lnTo>
                    <a:pt x="797179" y="1358011"/>
                  </a:lnTo>
                  <a:lnTo>
                    <a:pt x="780288" y="1358011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640080" y="7443216"/>
            <a:ext cx="585216" cy="493776"/>
            <a:chOff x="0" y="0"/>
            <a:chExt cx="780288" cy="65836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80288" cy="658368"/>
            </a:xfrm>
            <a:custGeom>
              <a:avLst/>
              <a:gdLst/>
              <a:ahLst/>
              <a:cxnLst/>
              <a:rect r="r" b="b" t="t" l="l"/>
              <a:pathLst>
                <a:path h="65836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256" t="0" r="-58256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780288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71600" y="7296912"/>
            <a:ext cx="7315200" cy="402336"/>
            <a:chOff x="0" y="0"/>
            <a:chExt cx="9753600" cy="53644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vs Deep Learning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71600" y="7699248"/>
            <a:ext cx="7315200" cy="365760"/>
            <a:chOff x="0" y="0"/>
            <a:chExt cx="9753600" cy="4876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75360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9753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Comparison matrix, visual comparison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27383" y="8308343"/>
            <a:ext cx="8255003" cy="1031243"/>
            <a:chOff x="0" y="0"/>
            <a:chExt cx="11006671" cy="137499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10972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10065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58011"/>
                  </a:lnTo>
                  <a:cubicBezTo>
                    <a:pt x="11006582" y="1367409"/>
                    <a:pt x="10998962" y="1374902"/>
                    <a:pt x="109896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989691" y="1341120"/>
                  </a:lnTo>
                  <a:lnTo>
                    <a:pt x="10989691" y="1358011"/>
                  </a:lnTo>
                  <a:lnTo>
                    <a:pt x="10972800" y="13580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627383" y="8308343"/>
            <a:ext cx="610619" cy="1031243"/>
            <a:chOff x="0" y="0"/>
            <a:chExt cx="814159" cy="137499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6891" y="16891"/>
              <a:ext cx="780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14070" cy="1374902"/>
            </a:xfrm>
            <a:custGeom>
              <a:avLst/>
              <a:gdLst/>
              <a:ahLst/>
              <a:cxnLst/>
              <a:rect r="r" b="b" t="t" l="l"/>
              <a:pathLst>
                <a:path h="1374902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1358011"/>
                  </a:lnTo>
                  <a:cubicBezTo>
                    <a:pt x="814070" y="1367409"/>
                    <a:pt x="806450" y="1374902"/>
                    <a:pt x="797179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97179" y="1341120"/>
                  </a:lnTo>
                  <a:lnTo>
                    <a:pt x="797179" y="1358011"/>
                  </a:lnTo>
                  <a:lnTo>
                    <a:pt x="780288" y="1358011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640080" y="8577072"/>
            <a:ext cx="585216" cy="493776"/>
            <a:chOff x="0" y="0"/>
            <a:chExt cx="780288" cy="65836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80288" cy="658368"/>
            </a:xfrm>
            <a:custGeom>
              <a:avLst/>
              <a:gdLst/>
              <a:ahLst/>
              <a:cxnLst/>
              <a:rect r="r" b="b" t="t" l="l"/>
              <a:pathLst>
                <a:path h="65836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256" t="0" r="-58256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780288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371600" y="8430768"/>
            <a:ext cx="7315200" cy="402336"/>
            <a:chOff x="0" y="0"/>
            <a:chExt cx="9753600" cy="53644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Installation Tutorial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371600" y="8833104"/>
            <a:ext cx="7315200" cy="365760"/>
            <a:chOff x="0" y="0"/>
            <a:chExt cx="9753600" cy="48768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75360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9753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Ubuntu commands, Docker setup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314183" y="2639063"/>
            <a:ext cx="8255003" cy="1031243"/>
            <a:chOff x="0" y="0"/>
            <a:chExt cx="11006671" cy="1374991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16891" y="16891"/>
              <a:ext cx="10972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10065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58011"/>
                  </a:lnTo>
                  <a:cubicBezTo>
                    <a:pt x="11006582" y="1367409"/>
                    <a:pt x="10998962" y="1374902"/>
                    <a:pt x="109896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989691" y="1341120"/>
                  </a:lnTo>
                  <a:lnTo>
                    <a:pt x="10989691" y="1358011"/>
                  </a:lnTo>
                  <a:lnTo>
                    <a:pt x="10972800" y="13580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9314183" y="2639063"/>
            <a:ext cx="610619" cy="1031243"/>
            <a:chOff x="0" y="0"/>
            <a:chExt cx="814159" cy="1374991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16891" y="16891"/>
              <a:ext cx="780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814070" cy="1374902"/>
            </a:xfrm>
            <a:custGeom>
              <a:avLst/>
              <a:gdLst/>
              <a:ahLst/>
              <a:cxnLst/>
              <a:rect r="r" b="b" t="t" l="l"/>
              <a:pathLst>
                <a:path h="1374902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1358011"/>
                  </a:lnTo>
                  <a:cubicBezTo>
                    <a:pt x="814070" y="1367409"/>
                    <a:pt x="806450" y="1374902"/>
                    <a:pt x="797179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97179" y="1341120"/>
                  </a:lnTo>
                  <a:lnTo>
                    <a:pt x="797179" y="1358011"/>
                  </a:lnTo>
                  <a:lnTo>
                    <a:pt x="780288" y="1358011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326880" y="2907792"/>
            <a:ext cx="585216" cy="493776"/>
            <a:chOff x="0" y="0"/>
            <a:chExt cx="780288" cy="65836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80288" cy="658368"/>
            </a:xfrm>
            <a:custGeom>
              <a:avLst/>
              <a:gdLst/>
              <a:ahLst/>
              <a:cxnLst/>
              <a:rect r="r" b="b" t="t" l="l"/>
              <a:pathLst>
                <a:path h="65836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256" t="0" r="-58256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47625"/>
              <a:ext cx="780288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0058400" y="2761488"/>
            <a:ext cx="7315200" cy="402336"/>
            <a:chOff x="0" y="0"/>
            <a:chExt cx="9753600" cy="53644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Code Walkthrough Demo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0058400" y="3163824"/>
            <a:ext cx="7315200" cy="365760"/>
            <a:chOff x="0" y="0"/>
            <a:chExt cx="9753600" cy="48768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975360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9753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 reasoner, Python API, PLN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314183" y="3772919"/>
            <a:ext cx="8255003" cy="1031243"/>
            <a:chOff x="0" y="0"/>
            <a:chExt cx="11006671" cy="1374991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16891" y="16891"/>
              <a:ext cx="10972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10065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58011"/>
                  </a:lnTo>
                  <a:cubicBezTo>
                    <a:pt x="11006582" y="1367409"/>
                    <a:pt x="10998962" y="1374902"/>
                    <a:pt x="109896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989691" y="1341120"/>
                  </a:lnTo>
                  <a:lnTo>
                    <a:pt x="10989691" y="1358011"/>
                  </a:lnTo>
                  <a:lnTo>
                    <a:pt x="10972800" y="13580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9314183" y="3772919"/>
            <a:ext cx="610619" cy="1031243"/>
            <a:chOff x="0" y="0"/>
            <a:chExt cx="814159" cy="1374991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16891" y="16891"/>
              <a:ext cx="780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814070" cy="1374902"/>
            </a:xfrm>
            <a:custGeom>
              <a:avLst/>
              <a:gdLst/>
              <a:ahLst/>
              <a:cxnLst/>
              <a:rect r="r" b="b" t="t" l="l"/>
              <a:pathLst>
                <a:path h="1374902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1358011"/>
                  </a:lnTo>
                  <a:cubicBezTo>
                    <a:pt x="814070" y="1367409"/>
                    <a:pt x="806450" y="1374902"/>
                    <a:pt x="797179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97179" y="1341120"/>
                  </a:lnTo>
                  <a:lnTo>
                    <a:pt x="797179" y="1358011"/>
                  </a:lnTo>
                  <a:lnTo>
                    <a:pt x="780288" y="1358011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326880" y="4041648"/>
            <a:ext cx="585216" cy="493776"/>
            <a:chOff x="0" y="0"/>
            <a:chExt cx="780288" cy="65836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80288" cy="658368"/>
            </a:xfrm>
            <a:custGeom>
              <a:avLst/>
              <a:gdLst/>
              <a:ahLst/>
              <a:cxnLst/>
              <a:rect r="r" b="b" t="t" l="l"/>
              <a:pathLst>
                <a:path h="65836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256" t="0" r="-58256" b="0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47625"/>
              <a:ext cx="780288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0058400" y="3895344"/>
            <a:ext cx="7315200" cy="402336"/>
            <a:chOff x="0" y="0"/>
            <a:chExt cx="9753600" cy="53644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Tools Used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0058400" y="4297680"/>
            <a:ext cx="7315200" cy="365760"/>
            <a:chOff x="0" y="0"/>
            <a:chExt cx="9753600" cy="48768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975360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9753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ChatGPT, Claude, GitHub Copilot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9314183" y="4906775"/>
            <a:ext cx="8255003" cy="1031243"/>
            <a:chOff x="0" y="0"/>
            <a:chExt cx="11006671" cy="1374991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16891" y="16891"/>
              <a:ext cx="10972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10065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58011"/>
                  </a:lnTo>
                  <a:cubicBezTo>
                    <a:pt x="11006582" y="1367409"/>
                    <a:pt x="10998962" y="1374902"/>
                    <a:pt x="109896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989691" y="1341120"/>
                  </a:lnTo>
                  <a:lnTo>
                    <a:pt x="10989691" y="1358011"/>
                  </a:lnTo>
                  <a:lnTo>
                    <a:pt x="10972800" y="13580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314183" y="4906775"/>
            <a:ext cx="610619" cy="1031243"/>
            <a:chOff x="0" y="0"/>
            <a:chExt cx="814159" cy="1374991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16891" y="16891"/>
              <a:ext cx="780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814070" cy="1374902"/>
            </a:xfrm>
            <a:custGeom>
              <a:avLst/>
              <a:gdLst/>
              <a:ahLst/>
              <a:cxnLst/>
              <a:rect r="r" b="b" t="t" l="l"/>
              <a:pathLst>
                <a:path h="1374902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1358011"/>
                  </a:lnTo>
                  <a:cubicBezTo>
                    <a:pt x="814070" y="1367409"/>
                    <a:pt x="806450" y="1374902"/>
                    <a:pt x="797179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97179" y="1341120"/>
                  </a:lnTo>
                  <a:lnTo>
                    <a:pt x="797179" y="1358011"/>
                  </a:lnTo>
                  <a:lnTo>
                    <a:pt x="780288" y="1358011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326880" y="5175504"/>
            <a:ext cx="585216" cy="493776"/>
            <a:chOff x="0" y="0"/>
            <a:chExt cx="780288" cy="658368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780288" cy="658368"/>
            </a:xfrm>
            <a:custGeom>
              <a:avLst/>
              <a:gdLst/>
              <a:ahLst/>
              <a:cxnLst/>
              <a:rect r="r" b="b" t="t" l="l"/>
              <a:pathLst>
                <a:path h="65836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256" t="0" r="-58256" b="0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47625"/>
              <a:ext cx="780288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0058400" y="5029200"/>
            <a:ext cx="7315200" cy="402336"/>
            <a:chOff x="0" y="0"/>
            <a:chExt cx="9753600" cy="53644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 Cases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0058400" y="5431536"/>
            <a:ext cx="7315200" cy="365760"/>
            <a:chOff x="0" y="0"/>
            <a:chExt cx="9753600" cy="48768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975360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9753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Sophia robot, XAI, expert systems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9314183" y="6040631"/>
            <a:ext cx="8255003" cy="1031243"/>
            <a:chOff x="0" y="0"/>
            <a:chExt cx="11006671" cy="1374991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16891" y="16891"/>
              <a:ext cx="10972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10065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58011"/>
                  </a:lnTo>
                  <a:cubicBezTo>
                    <a:pt x="11006582" y="1367409"/>
                    <a:pt x="10998962" y="1374902"/>
                    <a:pt x="109896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989691" y="1341120"/>
                  </a:lnTo>
                  <a:lnTo>
                    <a:pt x="10989691" y="1358011"/>
                  </a:lnTo>
                  <a:lnTo>
                    <a:pt x="10972800" y="13580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9314183" y="6040631"/>
            <a:ext cx="610619" cy="1031243"/>
            <a:chOff x="0" y="0"/>
            <a:chExt cx="814159" cy="1374991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16891" y="16891"/>
              <a:ext cx="780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814070" cy="1374902"/>
            </a:xfrm>
            <a:custGeom>
              <a:avLst/>
              <a:gdLst/>
              <a:ahLst/>
              <a:cxnLst/>
              <a:rect r="r" b="b" t="t" l="l"/>
              <a:pathLst>
                <a:path h="1374902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1358011"/>
                  </a:lnTo>
                  <a:cubicBezTo>
                    <a:pt x="814070" y="1367409"/>
                    <a:pt x="806450" y="1374902"/>
                    <a:pt x="797179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97179" y="1341120"/>
                  </a:lnTo>
                  <a:lnTo>
                    <a:pt x="797179" y="1358011"/>
                  </a:lnTo>
                  <a:lnTo>
                    <a:pt x="780288" y="1358011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9326880" y="6309360"/>
            <a:ext cx="585216" cy="493776"/>
            <a:chOff x="0" y="0"/>
            <a:chExt cx="780288" cy="658368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780288" cy="658368"/>
            </a:xfrm>
            <a:custGeom>
              <a:avLst/>
              <a:gdLst/>
              <a:ahLst/>
              <a:cxnLst/>
              <a:rect r="r" b="b" t="t" l="l"/>
              <a:pathLst>
                <a:path h="65836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256" t="0" r="-58256" b="0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47625"/>
              <a:ext cx="780288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0058400" y="6163056"/>
            <a:ext cx="7315200" cy="402336"/>
            <a:chOff x="0" y="0"/>
            <a:chExt cx="9753600" cy="536448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&amp; Ecosystem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0058400" y="6565392"/>
            <a:ext cx="7315200" cy="365760"/>
            <a:chOff x="0" y="0"/>
            <a:chExt cx="9753600" cy="48768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975360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38100"/>
              <a:ext cx="9753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Hyperon, SingularityNET, limitations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9314183" y="7174487"/>
            <a:ext cx="8255003" cy="1031243"/>
            <a:chOff x="0" y="0"/>
            <a:chExt cx="11006671" cy="1374991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16891" y="16891"/>
              <a:ext cx="10972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10065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58011"/>
                  </a:lnTo>
                  <a:cubicBezTo>
                    <a:pt x="11006582" y="1367409"/>
                    <a:pt x="10998962" y="1374902"/>
                    <a:pt x="109896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989691" y="1341120"/>
                  </a:lnTo>
                  <a:lnTo>
                    <a:pt x="10989691" y="1358011"/>
                  </a:lnTo>
                  <a:lnTo>
                    <a:pt x="10972800" y="13580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9314183" y="7174487"/>
            <a:ext cx="610619" cy="1031243"/>
            <a:chOff x="0" y="0"/>
            <a:chExt cx="814159" cy="1374991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16891" y="16891"/>
              <a:ext cx="780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814070" cy="1374902"/>
            </a:xfrm>
            <a:custGeom>
              <a:avLst/>
              <a:gdLst/>
              <a:ahLst/>
              <a:cxnLst/>
              <a:rect r="r" b="b" t="t" l="l"/>
              <a:pathLst>
                <a:path h="1374902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1358011"/>
                  </a:lnTo>
                  <a:cubicBezTo>
                    <a:pt x="814070" y="1367409"/>
                    <a:pt x="806450" y="1374902"/>
                    <a:pt x="797179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797179" y="1341120"/>
                  </a:lnTo>
                  <a:lnTo>
                    <a:pt x="797179" y="1358011"/>
                  </a:lnTo>
                  <a:lnTo>
                    <a:pt x="780288" y="1358011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9326880" y="7443216"/>
            <a:ext cx="585216" cy="493776"/>
            <a:chOff x="0" y="0"/>
            <a:chExt cx="780288" cy="658368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780288" cy="658368"/>
            </a:xfrm>
            <a:custGeom>
              <a:avLst/>
              <a:gdLst/>
              <a:ahLst/>
              <a:cxnLst/>
              <a:rect r="r" b="b" t="t" l="l"/>
              <a:pathLst>
                <a:path h="65836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256" t="0" r="-58256" b="0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47625"/>
              <a:ext cx="780288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10058400" y="7296912"/>
            <a:ext cx="7315200" cy="402336"/>
            <a:chOff x="0" y="0"/>
            <a:chExt cx="9753600" cy="536448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9753600" cy="536448"/>
            </a:xfrm>
            <a:custGeom>
              <a:avLst/>
              <a:gdLst/>
              <a:ahLst/>
              <a:cxnLst/>
              <a:rect r="r" b="b" t="t" l="l"/>
              <a:pathLst>
                <a:path h="5364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47625"/>
              <a:ext cx="97536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&amp; Thank You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10058400" y="7699248"/>
            <a:ext cx="7315200" cy="365760"/>
            <a:chOff x="0" y="0"/>
            <a:chExt cx="9753600" cy="487680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975360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38100"/>
              <a:ext cx="9753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takeaways, Q&amp;A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13154663" y="1962407"/>
            <a:ext cx="4414523" cy="574043"/>
            <a:chOff x="0" y="0"/>
            <a:chExt cx="5886031" cy="765391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16891" y="16891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365760"/>
                  </a:moveTo>
                  <a:cubicBezTo>
                    <a:pt x="0" y="163703"/>
                    <a:pt x="170307" y="0"/>
                    <a:pt x="380492" y="0"/>
                  </a:cubicBezTo>
                  <a:lnTo>
                    <a:pt x="5471668" y="0"/>
                  </a:lnTo>
                  <a:cubicBezTo>
                    <a:pt x="5681853" y="0"/>
                    <a:pt x="5852160" y="163703"/>
                    <a:pt x="5852160" y="365760"/>
                  </a:cubicBezTo>
                  <a:cubicBezTo>
                    <a:pt x="5852160" y="567817"/>
                    <a:pt x="5681853" y="731520"/>
                    <a:pt x="5471668" y="731520"/>
                  </a:cubicBezTo>
                  <a:lnTo>
                    <a:pt x="380492" y="731520"/>
                  </a:lnTo>
                  <a:cubicBezTo>
                    <a:pt x="170307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5885942" cy="765302"/>
            </a:xfrm>
            <a:custGeom>
              <a:avLst/>
              <a:gdLst/>
              <a:ahLst/>
              <a:cxnLst/>
              <a:rect r="r" b="b" t="t" l="l"/>
              <a:pathLst>
                <a:path h="765302" w="5885942">
                  <a:moveTo>
                    <a:pt x="0" y="382651"/>
                  </a:moveTo>
                  <a:cubicBezTo>
                    <a:pt x="0" y="170688"/>
                    <a:pt x="178562" y="0"/>
                    <a:pt x="397383" y="0"/>
                  </a:cubicBezTo>
                  <a:lnTo>
                    <a:pt x="5488559" y="0"/>
                  </a:lnTo>
                  <a:lnTo>
                    <a:pt x="5488559" y="16891"/>
                  </a:lnTo>
                  <a:lnTo>
                    <a:pt x="5488559" y="0"/>
                  </a:lnTo>
                  <a:cubicBezTo>
                    <a:pt x="5707380" y="0"/>
                    <a:pt x="5885942" y="170688"/>
                    <a:pt x="5885942" y="382651"/>
                  </a:cubicBezTo>
                  <a:lnTo>
                    <a:pt x="5869051" y="382651"/>
                  </a:lnTo>
                  <a:lnTo>
                    <a:pt x="5885942" y="382651"/>
                  </a:lnTo>
                  <a:lnTo>
                    <a:pt x="5869051" y="382651"/>
                  </a:lnTo>
                  <a:lnTo>
                    <a:pt x="5885942" y="382651"/>
                  </a:lnTo>
                  <a:cubicBezTo>
                    <a:pt x="5885942" y="594614"/>
                    <a:pt x="5707380" y="765302"/>
                    <a:pt x="5488559" y="765302"/>
                  </a:cubicBezTo>
                  <a:lnTo>
                    <a:pt x="5488559" y="748411"/>
                  </a:lnTo>
                  <a:lnTo>
                    <a:pt x="5488559" y="765302"/>
                  </a:lnTo>
                  <a:lnTo>
                    <a:pt x="397383" y="765302"/>
                  </a:lnTo>
                  <a:lnTo>
                    <a:pt x="397383" y="748411"/>
                  </a:lnTo>
                  <a:lnTo>
                    <a:pt x="397383" y="765302"/>
                  </a:lnTo>
                  <a:cubicBezTo>
                    <a:pt x="178562" y="765429"/>
                    <a:pt x="0" y="594614"/>
                    <a:pt x="0" y="382651"/>
                  </a:cubicBezTo>
                  <a:lnTo>
                    <a:pt x="16891" y="382651"/>
                  </a:lnTo>
                  <a:lnTo>
                    <a:pt x="0" y="382651"/>
                  </a:lnTo>
                  <a:moveTo>
                    <a:pt x="33909" y="382651"/>
                  </a:moveTo>
                  <a:lnTo>
                    <a:pt x="16891" y="382651"/>
                  </a:lnTo>
                  <a:lnTo>
                    <a:pt x="33909" y="382651"/>
                  </a:lnTo>
                  <a:cubicBezTo>
                    <a:pt x="33909" y="574675"/>
                    <a:pt x="196088" y="731520"/>
                    <a:pt x="397510" y="731520"/>
                  </a:cubicBezTo>
                  <a:lnTo>
                    <a:pt x="5488559" y="731520"/>
                  </a:lnTo>
                  <a:cubicBezTo>
                    <a:pt x="5689981" y="731520"/>
                    <a:pt x="5852160" y="574675"/>
                    <a:pt x="5852160" y="382651"/>
                  </a:cubicBezTo>
                  <a:cubicBezTo>
                    <a:pt x="5852160" y="190627"/>
                    <a:pt x="5689981" y="33782"/>
                    <a:pt x="5488559" y="33782"/>
                  </a:cubicBezTo>
                  <a:lnTo>
                    <a:pt x="397383" y="33782"/>
                  </a:lnTo>
                  <a:lnTo>
                    <a:pt x="397383" y="16891"/>
                  </a:lnTo>
                  <a:lnTo>
                    <a:pt x="397383" y="33909"/>
                  </a:lnTo>
                  <a:cubicBezTo>
                    <a:pt x="195961" y="33909"/>
                    <a:pt x="33909" y="190627"/>
                    <a:pt x="33909" y="382651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13167360" y="1975104"/>
            <a:ext cx="4389120" cy="548640"/>
            <a:chOff x="0" y="0"/>
            <a:chExt cx="5852160" cy="731520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-38100"/>
              <a:ext cx="5852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All sections ready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-12697" y="10173719"/>
            <a:ext cx="18313403" cy="125987"/>
            <a:chOff x="0" y="0"/>
            <a:chExt cx="24417871" cy="167983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-12697" y="10173719"/>
            <a:ext cx="1854203" cy="125987"/>
            <a:chOff x="0" y="0"/>
            <a:chExt cx="2472271" cy="167983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16891" y="16891"/>
              <a:ext cx="2438400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24721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151003"/>
                  </a:lnTo>
                  <a:cubicBezTo>
                    <a:pt x="2472182" y="160401"/>
                    <a:pt x="2464562" y="167894"/>
                    <a:pt x="2455291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55291" y="134112"/>
                  </a:lnTo>
                  <a:lnTo>
                    <a:pt x="2455291" y="151003"/>
                  </a:lnTo>
                  <a:lnTo>
                    <a:pt x="2438400" y="151003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960103" y="-12697"/>
            <a:ext cx="7340603" cy="1579883"/>
            <a:chOff x="0" y="0"/>
            <a:chExt cx="9787471" cy="21065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73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2089531"/>
                  </a:lnTo>
                  <a:cubicBezTo>
                    <a:pt x="9787382" y="2098929"/>
                    <a:pt x="9779762" y="2106422"/>
                    <a:pt x="977049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9770491" y="2072640"/>
                  </a:lnTo>
                  <a:lnTo>
                    <a:pt x="9770491" y="2089531"/>
                  </a:lnTo>
                  <a:lnTo>
                    <a:pt x="9753600" y="2089531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" y="182880"/>
            <a:ext cx="15544800" cy="694944"/>
            <a:chOff x="0" y="0"/>
            <a:chExt cx="20726400" cy="9265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07264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Evolution: From Symbolic AI to Deep Learning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914400"/>
            <a:ext cx="12801600" cy="512064"/>
            <a:chOff x="0" y="0"/>
            <a:chExt cx="1706880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Understanding the journey toward AGI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544800" y="548640"/>
            <a:ext cx="2560320" cy="457200"/>
            <a:chOff x="0" y="0"/>
            <a:chExt cx="341376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13760" cy="609600"/>
            </a:xfrm>
            <a:custGeom>
              <a:avLst/>
              <a:gdLst/>
              <a:ahLst/>
              <a:cxnLst/>
              <a:rect r="r" b="b" t="t" l="l"/>
              <a:pathLst>
                <a:path h="6096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413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3/20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1828800"/>
            <a:ext cx="512064" cy="512064"/>
            <a:chOff x="0" y="0"/>
            <a:chExt cx="682752" cy="682752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71600" y="1828800"/>
            <a:ext cx="9144000" cy="548640"/>
            <a:chOff x="0" y="0"/>
            <a:chExt cx="121920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21920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Evolution Timeline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27383" y="2547623"/>
            <a:ext cx="8346443" cy="5905500"/>
            <a:chOff x="0" y="0"/>
            <a:chExt cx="11128591" cy="787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7516"/>
              <a:ext cx="11094720" cy="7838875"/>
            </a:xfrm>
            <a:custGeom>
              <a:avLst/>
              <a:gdLst/>
              <a:ahLst/>
              <a:cxnLst/>
              <a:rect r="r" b="b" t="t" l="l"/>
              <a:pathLst>
                <a:path h="7838875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838876"/>
                  </a:lnTo>
                  <a:lnTo>
                    <a:pt x="0" y="78388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28501" cy="7873908"/>
            </a:xfrm>
            <a:custGeom>
              <a:avLst/>
              <a:gdLst/>
              <a:ahLst/>
              <a:cxnLst/>
              <a:rect r="r" b="b" t="t" l="l"/>
              <a:pathLst>
                <a:path h="787390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902"/>
                    <a:pt x="11128501" y="17516"/>
                  </a:cubicBezTo>
                  <a:lnTo>
                    <a:pt x="11128501" y="7856392"/>
                  </a:lnTo>
                  <a:cubicBezTo>
                    <a:pt x="11128501" y="7866138"/>
                    <a:pt x="11120882" y="7873908"/>
                    <a:pt x="11111611" y="7873908"/>
                  </a:cubicBezTo>
                  <a:lnTo>
                    <a:pt x="16891" y="7873908"/>
                  </a:lnTo>
                  <a:cubicBezTo>
                    <a:pt x="7493" y="7873908"/>
                    <a:pt x="0" y="7866006"/>
                    <a:pt x="0" y="7856392"/>
                  </a:cubicBezTo>
                  <a:lnTo>
                    <a:pt x="0" y="17516"/>
                  </a:lnTo>
                  <a:cubicBezTo>
                    <a:pt x="0" y="7902"/>
                    <a:pt x="7620" y="0"/>
                    <a:pt x="16891" y="0"/>
                  </a:cubicBezTo>
                  <a:moveTo>
                    <a:pt x="16891" y="35164"/>
                  </a:moveTo>
                  <a:lnTo>
                    <a:pt x="16891" y="17516"/>
                  </a:lnTo>
                  <a:lnTo>
                    <a:pt x="33909" y="17516"/>
                  </a:lnTo>
                  <a:lnTo>
                    <a:pt x="33909" y="7856392"/>
                  </a:lnTo>
                  <a:lnTo>
                    <a:pt x="16891" y="7856392"/>
                  </a:lnTo>
                  <a:lnTo>
                    <a:pt x="16891" y="7838875"/>
                  </a:lnTo>
                  <a:lnTo>
                    <a:pt x="11111611" y="7838875"/>
                  </a:lnTo>
                  <a:lnTo>
                    <a:pt x="11111611" y="7856392"/>
                  </a:lnTo>
                  <a:lnTo>
                    <a:pt x="11094720" y="7856392"/>
                  </a:lnTo>
                  <a:lnTo>
                    <a:pt x="11094720" y="17516"/>
                  </a:lnTo>
                  <a:lnTo>
                    <a:pt x="11111611" y="17516"/>
                  </a:lnTo>
                  <a:lnTo>
                    <a:pt x="11111611" y="35164"/>
                  </a:lnTo>
                  <a:lnTo>
                    <a:pt x="16891" y="3516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" y="2834640"/>
            <a:ext cx="512064" cy="512064"/>
            <a:chOff x="0" y="0"/>
            <a:chExt cx="682752" cy="682752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554480" y="2834640"/>
            <a:ext cx="6949440" cy="548640"/>
            <a:chOff x="0" y="0"/>
            <a:chExt cx="926592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265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Symbolic AI Era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1703" y="3644903"/>
            <a:ext cx="7523483" cy="1397003"/>
            <a:chOff x="0" y="0"/>
            <a:chExt cx="10031311" cy="18626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9997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31222" cy="1862582"/>
            </a:xfrm>
            <a:custGeom>
              <a:avLst/>
              <a:gdLst/>
              <a:ahLst/>
              <a:cxnLst/>
              <a:rect r="r" b="b" t="t" l="l"/>
              <a:pathLst>
                <a:path h="1862582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1845691"/>
                  </a:lnTo>
                  <a:cubicBezTo>
                    <a:pt x="10031222" y="1855089"/>
                    <a:pt x="10023602" y="1862582"/>
                    <a:pt x="1001433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0014331" y="1828800"/>
                  </a:lnTo>
                  <a:lnTo>
                    <a:pt x="10014331" y="1845691"/>
                  </a:lnTo>
                  <a:lnTo>
                    <a:pt x="9997440" y="1845691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84583" y="3767328"/>
            <a:ext cx="244859" cy="244859"/>
            <a:chOff x="0" y="0"/>
            <a:chExt cx="326479" cy="32647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63040" y="3767328"/>
            <a:ext cx="6583680" cy="402336"/>
            <a:chOff x="0" y="0"/>
            <a:chExt cx="8778240" cy="5364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778240" cy="536448"/>
            </a:xfrm>
            <a:custGeom>
              <a:avLst/>
              <a:gdLst/>
              <a:ahLst/>
              <a:cxnLst/>
              <a:rect r="r" b="b" t="t" l="l"/>
              <a:pathLst>
                <a:path h="53644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7782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1956-1980s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63040" y="4169664"/>
            <a:ext cx="6583680" cy="694944"/>
            <a:chOff x="0" y="0"/>
            <a:chExt cx="8778240" cy="9265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778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Symbolic AI, logic, expert systems — interpretable but brittle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01703" y="5290823"/>
            <a:ext cx="7523483" cy="1397003"/>
            <a:chOff x="0" y="0"/>
            <a:chExt cx="10031311" cy="186267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9997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31222" cy="1862582"/>
            </a:xfrm>
            <a:custGeom>
              <a:avLst/>
              <a:gdLst/>
              <a:ahLst/>
              <a:cxnLst/>
              <a:rect r="r" b="b" t="t" l="l"/>
              <a:pathLst>
                <a:path h="1862582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1845691"/>
                  </a:lnTo>
                  <a:cubicBezTo>
                    <a:pt x="10031222" y="1855089"/>
                    <a:pt x="10023602" y="1862582"/>
                    <a:pt x="1001433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0014331" y="1828800"/>
                  </a:lnTo>
                  <a:lnTo>
                    <a:pt x="10014331" y="1845691"/>
                  </a:lnTo>
                  <a:lnTo>
                    <a:pt x="9997440" y="1845691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84583" y="5441956"/>
            <a:ext cx="244859" cy="244859"/>
            <a:chOff x="0" y="0"/>
            <a:chExt cx="326479" cy="32647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63040" y="5413248"/>
            <a:ext cx="6583680" cy="402336"/>
            <a:chOff x="0" y="0"/>
            <a:chExt cx="8778240" cy="53644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78240" cy="536448"/>
            </a:xfrm>
            <a:custGeom>
              <a:avLst/>
              <a:gdLst/>
              <a:ahLst/>
              <a:cxnLst/>
              <a:rect r="r" b="b" t="t" l="l"/>
              <a:pathLst>
                <a:path h="53644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7782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1990s-2000s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63040" y="5815584"/>
            <a:ext cx="6583680" cy="694944"/>
            <a:chOff x="0" y="0"/>
            <a:chExt cx="8778240" cy="9265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778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Probabilistic models and hybrid reasoning systems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01703" y="6936743"/>
            <a:ext cx="7523483" cy="1397003"/>
            <a:chOff x="0" y="0"/>
            <a:chExt cx="10031311" cy="186267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9997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031222" cy="1862582"/>
            </a:xfrm>
            <a:custGeom>
              <a:avLst/>
              <a:gdLst/>
              <a:ahLst/>
              <a:cxnLst/>
              <a:rect r="r" b="b" t="t" l="l"/>
              <a:pathLst>
                <a:path h="1862582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1845691"/>
                  </a:lnTo>
                  <a:cubicBezTo>
                    <a:pt x="10031222" y="1855089"/>
                    <a:pt x="10023602" y="1862582"/>
                    <a:pt x="1001433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0014331" y="1828800"/>
                  </a:lnTo>
                  <a:lnTo>
                    <a:pt x="10014331" y="1845691"/>
                  </a:lnTo>
                  <a:lnTo>
                    <a:pt x="9997440" y="1845691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84583" y="7137906"/>
            <a:ext cx="244859" cy="244859"/>
            <a:chOff x="0" y="0"/>
            <a:chExt cx="326479" cy="32647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463040" y="7059168"/>
            <a:ext cx="6583680" cy="402336"/>
            <a:chOff x="0" y="0"/>
            <a:chExt cx="8778240" cy="53644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778240" cy="536448"/>
            </a:xfrm>
            <a:custGeom>
              <a:avLst/>
              <a:gdLst/>
              <a:ahLst/>
              <a:cxnLst/>
              <a:rect r="r" b="b" t="t" l="l"/>
              <a:pathLst>
                <a:path h="53644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87782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2012-present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63040" y="7461504"/>
            <a:ext cx="6583680" cy="694944"/>
            <a:chOff x="0" y="0"/>
            <a:chExt cx="8778240" cy="9265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8778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Deep learning breakthroughs — powerful but data-hungry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405623" y="2547623"/>
            <a:ext cx="8346443" cy="5905500"/>
            <a:chOff x="0" y="0"/>
            <a:chExt cx="11128591" cy="78740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7516"/>
              <a:ext cx="11094720" cy="7838875"/>
            </a:xfrm>
            <a:custGeom>
              <a:avLst/>
              <a:gdLst/>
              <a:ahLst/>
              <a:cxnLst/>
              <a:rect r="r" b="b" t="t" l="l"/>
              <a:pathLst>
                <a:path h="7838875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838876"/>
                  </a:lnTo>
                  <a:lnTo>
                    <a:pt x="0" y="78388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128501" cy="7873908"/>
            </a:xfrm>
            <a:custGeom>
              <a:avLst/>
              <a:gdLst/>
              <a:ahLst/>
              <a:cxnLst/>
              <a:rect r="r" b="b" t="t" l="l"/>
              <a:pathLst>
                <a:path h="787390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902"/>
                    <a:pt x="11128501" y="17516"/>
                  </a:cubicBezTo>
                  <a:lnTo>
                    <a:pt x="11128501" y="7856392"/>
                  </a:lnTo>
                  <a:cubicBezTo>
                    <a:pt x="11128501" y="7866138"/>
                    <a:pt x="11120882" y="7873908"/>
                    <a:pt x="11111611" y="7873908"/>
                  </a:cubicBezTo>
                  <a:lnTo>
                    <a:pt x="16891" y="7873908"/>
                  </a:lnTo>
                  <a:cubicBezTo>
                    <a:pt x="7493" y="7873908"/>
                    <a:pt x="0" y="7866006"/>
                    <a:pt x="0" y="7856392"/>
                  </a:cubicBezTo>
                  <a:lnTo>
                    <a:pt x="0" y="17516"/>
                  </a:lnTo>
                  <a:cubicBezTo>
                    <a:pt x="0" y="7902"/>
                    <a:pt x="7620" y="0"/>
                    <a:pt x="16891" y="0"/>
                  </a:cubicBezTo>
                  <a:moveTo>
                    <a:pt x="16891" y="35164"/>
                  </a:moveTo>
                  <a:lnTo>
                    <a:pt x="16891" y="17516"/>
                  </a:lnTo>
                  <a:lnTo>
                    <a:pt x="33909" y="17516"/>
                  </a:lnTo>
                  <a:lnTo>
                    <a:pt x="33909" y="7856392"/>
                  </a:lnTo>
                  <a:lnTo>
                    <a:pt x="16891" y="7856392"/>
                  </a:lnTo>
                  <a:lnTo>
                    <a:pt x="16891" y="7838875"/>
                  </a:lnTo>
                  <a:lnTo>
                    <a:pt x="11111611" y="7838875"/>
                  </a:lnTo>
                  <a:lnTo>
                    <a:pt x="11111611" y="7856392"/>
                  </a:lnTo>
                  <a:lnTo>
                    <a:pt x="11094720" y="7856392"/>
                  </a:lnTo>
                  <a:lnTo>
                    <a:pt x="11094720" y="17516"/>
                  </a:lnTo>
                  <a:lnTo>
                    <a:pt x="11111611" y="17516"/>
                  </a:lnTo>
                  <a:lnTo>
                    <a:pt x="11111611" y="35164"/>
                  </a:lnTo>
                  <a:lnTo>
                    <a:pt x="16891" y="3516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692640" y="2834640"/>
            <a:ext cx="512064" cy="512064"/>
            <a:chOff x="0" y="0"/>
            <a:chExt cx="682752" cy="682752"/>
          </a:xfrm>
        </p:grpSpPr>
        <p:sp>
          <p:nvSpPr>
            <p:cNvPr name="Freeform 70" id="70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332720" y="2834640"/>
            <a:ext cx="6949440" cy="548640"/>
            <a:chOff x="0" y="0"/>
            <a:chExt cx="926592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9265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Learning Era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679943" y="3644903"/>
            <a:ext cx="7523483" cy="1397003"/>
            <a:chOff x="0" y="0"/>
            <a:chExt cx="10031311" cy="186267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9997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031222" cy="1862582"/>
            </a:xfrm>
            <a:custGeom>
              <a:avLst/>
              <a:gdLst/>
              <a:ahLst/>
              <a:cxnLst/>
              <a:rect r="r" b="b" t="t" l="l"/>
              <a:pathLst>
                <a:path h="1862582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1845691"/>
                  </a:lnTo>
                  <a:cubicBezTo>
                    <a:pt x="10031222" y="1855089"/>
                    <a:pt x="10023602" y="1862582"/>
                    <a:pt x="1001433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0014331" y="1828800"/>
                  </a:lnTo>
                  <a:lnTo>
                    <a:pt x="10014331" y="1845691"/>
                  </a:lnTo>
                  <a:lnTo>
                    <a:pt x="9997440" y="1845691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862823" y="3846066"/>
            <a:ext cx="244859" cy="244859"/>
            <a:chOff x="0" y="0"/>
            <a:chExt cx="326479" cy="32647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241280" y="3767328"/>
            <a:ext cx="6583680" cy="402336"/>
            <a:chOff x="0" y="0"/>
            <a:chExt cx="8778240" cy="53644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778240" cy="536448"/>
            </a:xfrm>
            <a:custGeom>
              <a:avLst/>
              <a:gdLst/>
              <a:ahLst/>
              <a:cxnLst/>
              <a:rect r="r" b="b" t="t" l="l"/>
              <a:pathLst>
                <a:path h="53644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87782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2020s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241280" y="4169664"/>
            <a:ext cx="6583680" cy="694944"/>
            <a:chOff x="0" y="0"/>
            <a:chExt cx="8778240" cy="9265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8778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Foundation models + neural-symbolic integration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679943" y="5290823"/>
            <a:ext cx="7523483" cy="1397003"/>
            <a:chOff x="0" y="0"/>
            <a:chExt cx="10031311" cy="186267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9997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031222" cy="1862582"/>
            </a:xfrm>
            <a:custGeom>
              <a:avLst/>
              <a:gdLst/>
              <a:ahLst/>
              <a:cxnLst/>
              <a:rect r="r" b="b" t="t" l="l"/>
              <a:pathLst>
                <a:path h="1862582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1845691"/>
                  </a:lnTo>
                  <a:cubicBezTo>
                    <a:pt x="10031222" y="1855089"/>
                    <a:pt x="10023602" y="1862582"/>
                    <a:pt x="1001433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0014331" y="1828800"/>
                  </a:lnTo>
                  <a:lnTo>
                    <a:pt x="10014331" y="1845691"/>
                  </a:lnTo>
                  <a:lnTo>
                    <a:pt x="9997440" y="1845691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862823" y="5500373"/>
            <a:ext cx="244859" cy="244859"/>
            <a:chOff x="0" y="0"/>
            <a:chExt cx="326479" cy="32647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241280" y="5413248"/>
            <a:ext cx="6583680" cy="402336"/>
            <a:chOff x="0" y="0"/>
            <a:chExt cx="8778240" cy="53644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78240" cy="536448"/>
            </a:xfrm>
            <a:custGeom>
              <a:avLst/>
              <a:gdLst/>
              <a:ahLst/>
              <a:cxnLst/>
              <a:rect r="r" b="b" t="t" l="l"/>
              <a:pathLst>
                <a:path h="53644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87782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241280" y="5815584"/>
            <a:ext cx="6583680" cy="694944"/>
            <a:chOff x="0" y="0"/>
            <a:chExt cx="8778240" cy="9265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8778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Growing interest in AGI cognitive architectures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679943" y="6936743"/>
            <a:ext cx="7523483" cy="1397003"/>
            <a:chOff x="0" y="0"/>
            <a:chExt cx="10031311" cy="186267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9997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031222" cy="1862582"/>
            </a:xfrm>
            <a:custGeom>
              <a:avLst/>
              <a:gdLst/>
              <a:ahLst/>
              <a:cxnLst/>
              <a:rect r="r" b="b" t="t" l="l"/>
              <a:pathLst>
                <a:path h="1862582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1845691"/>
                  </a:lnTo>
                  <a:cubicBezTo>
                    <a:pt x="10031222" y="1855089"/>
                    <a:pt x="10023602" y="1862582"/>
                    <a:pt x="1001433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0014331" y="1828800"/>
                  </a:lnTo>
                  <a:lnTo>
                    <a:pt x="10014331" y="1845691"/>
                  </a:lnTo>
                  <a:lnTo>
                    <a:pt x="9997440" y="1845691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862823" y="7137906"/>
            <a:ext cx="244859" cy="244859"/>
            <a:chOff x="0" y="0"/>
            <a:chExt cx="326479" cy="32647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241280" y="7059168"/>
            <a:ext cx="6583680" cy="402336"/>
            <a:chOff x="0" y="0"/>
            <a:chExt cx="8778240" cy="53644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8778240" cy="536448"/>
            </a:xfrm>
            <a:custGeom>
              <a:avLst/>
              <a:gdLst/>
              <a:ahLst/>
              <a:cxnLst/>
              <a:rect r="r" b="b" t="t" l="l"/>
              <a:pathLst>
                <a:path h="53644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87782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241280" y="7461504"/>
            <a:ext cx="6583680" cy="694944"/>
            <a:chOff x="0" y="0"/>
            <a:chExt cx="8778240" cy="92659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8778240" cy="926592"/>
            </a:xfrm>
            <a:custGeom>
              <a:avLst/>
              <a:gdLst/>
              <a:ahLst/>
              <a:cxnLst/>
              <a:rect r="r" b="b" t="t" l="l"/>
              <a:pathLst>
                <a:path h="92659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87782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Unified AGI approaches combining paradigms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27383" y="8491223"/>
            <a:ext cx="5511803" cy="1214123"/>
            <a:chOff x="0" y="0"/>
            <a:chExt cx="7349071" cy="161883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7315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348982" cy="1618742"/>
            </a:xfrm>
            <a:custGeom>
              <a:avLst/>
              <a:gdLst/>
              <a:ahLst/>
              <a:cxnLst/>
              <a:rect r="r" b="b" t="t" l="l"/>
              <a:pathLst>
                <a:path h="16187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01851"/>
                  </a:lnTo>
                  <a:cubicBezTo>
                    <a:pt x="7348982" y="1611249"/>
                    <a:pt x="7341362" y="1618742"/>
                    <a:pt x="73320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7332091" y="1584960"/>
                  </a:lnTo>
                  <a:lnTo>
                    <a:pt x="7332091" y="1601851"/>
                  </a:lnTo>
                  <a:lnTo>
                    <a:pt x="7315200" y="1601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14400" y="8650224"/>
            <a:ext cx="4937760" cy="402336"/>
            <a:chOff x="0" y="0"/>
            <a:chExt cx="6583680" cy="53644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583680" cy="536448"/>
            </a:xfrm>
            <a:custGeom>
              <a:avLst/>
              <a:gdLst/>
              <a:ahLst/>
              <a:cxnLst/>
              <a:rect r="r" b="b" t="t" l="l"/>
              <a:pathLst>
                <a:path h="53644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34" r="0" b="-18913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658368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Symbolic AI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14400" y="9089136"/>
            <a:ext cx="4937760" cy="402336"/>
            <a:chOff x="0" y="0"/>
            <a:chExt cx="6583680" cy="53644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6583680" cy="536448"/>
            </a:xfrm>
            <a:custGeom>
              <a:avLst/>
              <a:gdLst/>
              <a:ahLst/>
              <a:cxnLst/>
              <a:rect r="r" b="b" t="t" l="l"/>
              <a:pathLst>
                <a:path h="53644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34" r="0" b="-189134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6583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Logic-based, interpretable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6388103" y="8491223"/>
            <a:ext cx="5511803" cy="1214123"/>
            <a:chOff x="0" y="0"/>
            <a:chExt cx="7349071" cy="161883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7315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7348982" cy="1618742"/>
            </a:xfrm>
            <a:custGeom>
              <a:avLst/>
              <a:gdLst/>
              <a:ahLst/>
              <a:cxnLst/>
              <a:rect r="r" b="b" t="t" l="l"/>
              <a:pathLst>
                <a:path h="16187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01851"/>
                  </a:lnTo>
                  <a:cubicBezTo>
                    <a:pt x="7348982" y="1611249"/>
                    <a:pt x="7341362" y="1618742"/>
                    <a:pt x="73320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7332091" y="1584960"/>
                  </a:lnTo>
                  <a:lnTo>
                    <a:pt x="7332091" y="1601851"/>
                  </a:lnTo>
                  <a:lnTo>
                    <a:pt x="7315200" y="1601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6675120" y="8650224"/>
            <a:ext cx="4937760" cy="402336"/>
            <a:chOff x="0" y="0"/>
            <a:chExt cx="6583680" cy="53644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6583680" cy="536448"/>
            </a:xfrm>
            <a:custGeom>
              <a:avLst/>
              <a:gdLst/>
              <a:ahLst/>
              <a:cxnLst/>
              <a:rect r="r" b="b" t="t" l="l"/>
              <a:pathLst>
                <a:path h="53644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34" r="0" b="-189134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658368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Learning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6675120" y="9089136"/>
            <a:ext cx="4937760" cy="402336"/>
            <a:chOff x="0" y="0"/>
            <a:chExt cx="6583680" cy="53644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6583680" cy="536448"/>
            </a:xfrm>
            <a:custGeom>
              <a:avLst/>
              <a:gdLst/>
              <a:ahLst/>
              <a:cxnLst/>
              <a:rect r="r" b="b" t="t" l="l"/>
              <a:pathLst>
                <a:path h="53644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34" r="0" b="-189134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6583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Statistical, data-driven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148823" y="8491223"/>
            <a:ext cx="5511803" cy="1214123"/>
            <a:chOff x="0" y="0"/>
            <a:chExt cx="7349071" cy="161883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7315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7348982" cy="1618742"/>
            </a:xfrm>
            <a:custGeom>
              <a:avLst/>
              <a:gdLst/>
              <a:ahLst/>
              <a:cxnLst/>
              <a:rect r="r" b="b" t="t" l="l"/>
              <a:pathLst>
                <a:path h="16187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01851"/>
                  </a:lnTo>
                  <a:cubicBezTo>
                    <a:pt x="7348982" y="1611249"/>
                    <a:pt x="7341362" y="1618742"/>
                    <a:pt x="73320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7332091" y="1584960"/>
                  </a:lnTo>
                  <a:lnTo>
                    <a:pt x="7332091" y="1601851"/>
                  </a:lnTo>
                  <a:lnTo>
                    <a:pt x="7315200" y="1601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2435840" y="8650224"/>
            <a:ext cx="4937760" cy="402336"/>
            <a:chOff x="0" y="0"/>
            <a:chExt cx="6583680" cy="53644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6583680" cy="536448"/>
            </a:xfrm>
            <a:custGeom>
              <a:avLst/>
              <a:gdLst/>
              <a:ahLst/>
              <a:cxnLst/>
              <a:rect r="r" b="b" t="t" l="l"/>
              <a:pathLst>
                <a:path h="53644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34" r="0" b="-189134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658368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AGI Target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2435840" y="9089136"/>
            <a:ext cx="4937760" cy="402336"/>
            <a:chOff x="0" y="0"/>
            <a:chExt cx="6583680" cy="53644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6583680" cy="536448"/>
            </a:xfrm>
            <a:custGeom>
              <a:avLst/>
              <a:gdLst/>
              <a:ahLst/>
              <a:cxnLst/>
              <a:rect r="r" b="b" t="t" l="l"/>
              <a:pathLst>
                <a:path h="53644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34" r="0" b="-189134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6583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Unified cognitive architectures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0107682" y="1766821"/>
            <a:ext cx="7552944" cy="574043"/>
            <a:chOff x="0" y="0"/>
            <a:chExt cx="10070592" cy="765391"/>
          </a:xfrm>
        </p:grpSpPr>
        <p:grpSp>
          <p:nvGrpSpPr>
            <p:cNvPr name="Group 138" id="138"/>
            <p:cNvGrpSpPr/>
            <p:nvPr/>
          </p:nvGrpSpPr>
          <p:grpSpPr>
            <a:xfrm rot="0">
              <a:off x="0" y="0"/>
              <a:ext cx="10070592" cy="765391"/>
              <a:chOff x="0" y="0"/>
              <a:chExt cx="10070592" cy="765391"/>
            </a:xfrm>
          </p:grpSpPr>
          <p:sp>
            <p:nvSpPr>
              <p:cNvPr name="Freeform 139" id="139"/>
              <p:cNvSpPr/>
              <p:nvPr/>
            </p:nvSpPr>
            <p:spPr>
              <a:xfrm flipH="false" flipV="false" rot="0">
                <a:off x="10547" y="16891"/>
                <a:ext cx="10049442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10049442">
                    <a:moveTo>
                      <a:pt x="0" y="365760"/>
                    </a:moveTo>
                    <a:cubicBezTo>
                      <a:pt x="0" y="163703"/>
                      <a:pt x="106744" y="0"/>
                      <a:pt x="238469" y="0"/>
                    </a:cubicBezTo>
                    <a:lnTo>
                      <a:pt x="9810974" y="0"/>
                    </a:lnTo>
                    <a:cubicBezTo>
                      <a:pt x="9942698" y="0"/>
                      <a:pt x="10049442" y="163703"/>
                      <a:pt x="10049442" y="365760"/>
                    </a:cubicBezTo>
                    <a:cubicBezTo>
                      <a:pt x="10049442" y="567817"/>
                      <a:pt x="9942698" y="731520"/>
                      <a:pt x="9810974" y="731520"/>
                    </a:cubicBezTo>
                    <a:lnTo>
                      <a:pt x="238469" y="731520"/>
                    </a:lnTo>
                    <a:cubicBezTo>
                      <a:pt x="106744" y="731520"/>
                      <a:pt x="0" y="567817"/>
                      <a:pt x="0" y="36576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104" t="-379566" r="-60374" b="-379579"/>
                </a:stretch>
              </a:blipFill>
            </p:spPr>
          </p:sp>
          <p:sp>
            <p:nvSpPr>
              <p:cNvPr name="Freeform 140" id="140"/>
              <p:cNvSpPr/>
              <p:nvPr/>
            </p:nvSpPr>
            <p:spPr>
              <a:xfrm flipH="false" flipV="false" rot="0">
                <a:off x="0" y="0"/>
                <a:ext cx="10070536" cy="765302"/>
              </a:xfrm>
              <a:custGeom>
                <a:avLst/>
                <a:gdLst/>
                <a:ahLst/>
                <a:cxnLst/>
                <a:rect r="r" b="b" t="t" l="l"/>
                <a:pathLst>
                  <a:path h="765302" w="10070536">
                    <a:moveTo>
                      <a:pt x="0" y="382651"/>
                    </a:moveTo>
                    <a:cubicBezTo>
                      <a:pt x="0" y="170688"/>
                      <a:pt x="111898" y="0"/>
                      <a:pt x="249016" y="0"/>
                    </a:cubicBezTo>
                    <a:lnTo>
                      <a:pt x="9821521" y="0"/>
                    </a:lnTo>
                    <a:lnTo>
                      <a:pt x="9821521" y="16891"/>
                    </a:lnTo>
                    <a:lnTo>
                      <a:pt x="9821521" y="0"/>
                    </a:lnTo>
                    <a:cubicBezTo>
                      <a:pt x="9958638" y="0"/>
                      <a:pt x="10070536" y="170688"/>
                      <a:pt x="10070536" y="382651"/>
                    </a:cubicBezTo>
                    <a:lnTo>
                      <a:pt x="10059989" y="382651"/>
                    </a:lnTo>
                    <a:lnTo>
                      <a:pt x="10070536" y="382651"/>
                    </a:lnTo>
                    <a:lnTo>
                      <a:pt x="10059989" y="382651"/>
                    </a:lnTo>
                    <a:lnTo>
                      <a:pt x="10070536" y="382651"/>
                    </a:lnTo>
                    <a:cubicBezTo>
                      <a:pt x="10070536" y="594741"/>
                      <a:pt x="9958638" y="765302"/>
                      <a:pt x="9821521" y="765302"/>
                    </a:cubicBezTo>
                    <a:lnTo>
                      <a:pt x="9821521" y="748411"/>
                    </a:lnTo>
                    <a:lnTo>
                      <a:pt x="9821521" y="765302"/>
                    </a:lnTo>
                    <a:lnTo>
                      <a:pt x="249016" y="765302"/>
                    </a:lnTo>
                    <a:lnTo>
                      <a:pt x="249016" y="748411"/>
                    </a:lnTo>
                    <a:lnTo>
                      <a:pt x="249016" y="765302"/>
                    </a:lnTo>
                    <a:cubicBezTo>
                      <a:pt x="111898" y="765429"/>
                      <a:pt x="0" y="594741"/>
                      <a:pt x="0" y="382651"/>
                    </a:cubicBezTo>
                    <a:lnTo>
                      <a:pt x="10547" y="382651"/>
                    </a:lnTo>
                    <a:lnTo>
                      <a:pt x="0" y="382651"/>
                    </a:lnTo>
                    <a:moveTo>
                      <a:pt x="21174" y="382651"/>
                    </a:moveTo>
                    <a:lnTo>
                      <a:pt x="10547" y="382651"/>
                    </a:lnTo>
                    <a:lnTo>
                      <a:pt x="21174" y="382651"/>
                    </a:lnTo>
                    <a:cubicBezTo>
                      <a:pt x="21174" y="574675"/>
                      <a:pt x="122763" y="731520"/>
                      <a:pt x="249016" y="731520"/>
                    </a:cubicBezTo>
                    <a:lnTo>
                      <a:pt x="9821521" y="731520"/>
                    </a:lnTo>
                    <a:cubicBezTo>
                      <a:pt x="9947852" y="731520"/>
                      <a:pt x="10049441" y="574675"/>
                      <a:pt x="10049441" y="382651"/>
                    </a:cubicBezTo>
                    <a:cubicBezTo>
                      <a:pt x="10049441" y="190627"/>
                      <a:pt x="9947852" y="33782"/>
                      <a:pt x="9821521" y="33782"/>
                    </a:cubicBezTo>
                    <a:lnTo>
                      <a:pt x="249016" y="33782"/>
                    </a:lnTo>
                    <a:lnTo>
                      <a:pt x="249016" y="16891"/>
                    </a:lnTo>
                    <a:lnTo>
                      <a:pt x="249016" y="33909"/>
                    </a:lnTo>
                    <a:cubicBezTo>
                      <a:pt x="122763" y="33909"/>
                      <a:pt x="21174" y="190754"/>
                      <a:pt x="21174" y="382651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</p:sp>
        </p:grpSp>
        <p:grpSp>
          <p:nvGrpSpPr>
            <p:cNvPr name="Group 141" id="141"/>
            <p:cNvGrpSpPr/>
            <p:nvPr/>
          </p:nvGrpSpPr>
          <p:grpSpPr>
            <a:xfrm rot="0">
              <a:off x="0" y="16929"/>
              <a:ext cx="9654669" cy="731520"/>
              <a:chOff x="0" y="0"/>
              <a:chExt cx="9654669" cy="731520"/>
            </a:xfrm>
          </p:grpSpPr>
          <p:sp>
            <p:nvSpPr>
              <p:cNvPr name="Freeform 142" id="142"/>
              <p:cNvSpPr/>
              <p:nvPr/>
            </p:nvSpPr>
            <p:spPr>
              <a:xfrm flipH="false" flipV="false" rot="0">
                <a:off x="0" y="0"/>
                <a:ext cx="9654669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9654669">
                    <a:moveTo>
                      <a:pt x="0" y="0"/>
                    </a:moveTo>
                    <a:lnTo>
                      <a:pt x="9654669" y="0"/>
                    </a:lnTo>
                    <a:lnTo>
                      <a:pt x="9654669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78670" r="-66690" b="-378670"/>
                </a:stretch>
              </a:blipFill>
            </p:spPr>
          </p:sp>
          <p:sp>
            <p:nvSpPr>
              <p:cNvPr name="TextBox 143" id="143"/>
              <p:cNvSpPr txBox="true"/>
              <p:nvPr/>
            </p:nvSpPr>
            <p:spPr>
              <a:xfrm>
                <a:off x="0" y="-38100"/>
                <a:ext cx="9654669" cy="7696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>
                    <a:solidFill>
                      <a:srgbClr val="3B82F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Motivation: Toward AGI requires combining reasoning + learning</a:t>
                </a:r>
              </a:p>
            </p:txBody>
          </p:sp>
        </p:grpSp>
      </p:grpSp>
      <p:grpSp>
        <p:nvGrpSpPr>
          <p:cNvPr name="Group 144" id="144"/>
          <p:cNvGrpSpPr/>
          <p:nvPr/>
        </p:nvGrpSpPr>
        <p:grpSpPr>
          <a:xfrm rot="0">
            <a:off x="-12697" y="10173719"/>
            <a:ext cx="18313403" cy="125987"/>
            <a:chOff x="0" y="0"/>
            <a:chExt cx="24417871" cy="167983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-12697" y="10173719"/>
            <a:ext cx="8255003" cy="125987"/>
            <a:chOff x="0" y="0"/>
            <a:chExt cx="11006671" cy="167983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16891" y="16891"/>
              <a:ext cx="10972800" cy="134112"/>
            </a:xfrm>
            <a:custGeom>
              <a:avLst/>
              <a:gdLst/>
              <a:ahLst/>
              <a:cxnLst/>
              <a:rect r="r" b="b" t="t" l="l"/>
              <a:pathLst>
                <a:path h="13411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1006582" cy="167896"/>
            </a:xfrm>
            <a:custGeom>
              <a:avLst/>
              <a:gdLst/>
              <a:ahLst/>
              <a:cxnLst/>
              <a:rect r="r" b="b" t="t" l="l"/>
              <a:pathLst>
                <a:path h="167896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51003"/>
                  </a:lnTo>
                  <a:cubicBezTo>
                    <a:pt x="11006582" y="160401"/>
                    <a:pt x="10998962" y="167894"/>
                    <a:pt x="10989691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10989691" y="134112"/>
                  </a:lnTo>
                  <a:lnTo>
                    <a:pt x="10989691" y="151003"/>
                  </a:lnTo>
                  <a:lnTo>
                    <a:pt x="10972800" y="15100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82880"/>
            <a:ext cx="15544800" cy="694944"/>
            <a:chOff x="0" y="0"/>
            <a:chExt cx="2072640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7264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Narrow AI vs AGI Comparison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2801600" cy="512064"/>
            <a:chOff x="0" y="0"/>
            <a:chExt cx="170688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Understanding capabilities and limitations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44800" y="548640"/>
            <a:ext cx="2560320" cy="457200"/>
            <a:chOff x="0" y="0"/>
            <a:chExt cx="341376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0" cy="609600"/>
            </a:xfrm>
            <a:custGeom>
              <a:avLst/>
              <a:gdLst/>
              <a:ahLst/>
              <a:cxnLst/>
              <a:rect r="r" b="b" t="t" l="l"/>
              <a:pathLst>
                <a:path h="6096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413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4/20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1828800"/>
            <a:ext cx="512064" cy="512064"/>
            <a:chOff x="0" y="0"/>
            <a:chExt cx="682752" cy="68275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1828800"/>
            <a:ext cx="12801600" cy="548640"/>
            <a:chOff x="0" y="0"/>
            <a:chExt cx="170688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70688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Narrow AI vs Artificial General Intelligence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7383" y="2547623"/>
            <a:ext cx="8255003" cy="5877563"/>
            <a:chOff x="0" y="0"/>
            <a:chExt cx="11006671" cy="78367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10972800" cy="7802881"/>
            </a:xfrm>
            <a:custGeom>
              <a:avLst/>
              <a:gdLst/>
              <a:ahLst/>
              <a:cxnLst/>
              <a:rect r="r" b="b" t="t" l="l"/>
              <a:pathLst>
                <a:path h="7802881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06582" cy="7836662"/>
            </a:xfrm>
            <a:custGeom>
              <a:avLst/>
              <a:gdLst/>
              <a:ahLst/>
              <a:cxnLst/>
              <a:rect r="r" b="b" t="t" l="l"/>
              <a:pathLst>
                <a:path h="783666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7819772"/>
                  </a:lnTo>
                  <a:cubicBezTo>
                    <a:pt x="11006582" y="7829169"/>
                    <a:pt x="10998962" y="7836662"/>
                    <a:pt x="10989691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10989691" y="7802880"/>
                  </a:lnTo>
                  <a:lnTo>
                    <a:pt x="10989691" y="7819772"/>
                  </a:lnTo>
                  <a:lnTo>
                    <a:pt x="10972800" y="7819772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27383" y="2547623"/>
            <a:ext cx="8255003" cy="116843"/>
            <a:chOff x="0" y="0"/>
            <a:chExt cx="11006671" cy="1557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10972800" cy="121920"/>
            </a:xfrm>
            <a:custGeom>
              <a:avLst/>
              <a:gdLst/>
              <a:ahLst/>
              <a:cxnLst/>
              <a:rect r="r" b="b" t="t" l="l"/>
              <a:pathLst>
                <a:path h="121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06582" cy="155704"/>
            </a:xfrm>
            <a:custGeom>
              <a:avLst/>
              <a:gdLst/>
              <a:ahLst/>
              <a:cxnLst/>
              <a:rect r="r" b="b" t="t" l="l"/>
              <a:pathLst>
                <a:path h="15570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8811"/>
                  </a:lnTo>
                  <a:cubicBezTo>
                    <a:pt x="11006582" y="148209"/>
                    <a:pt x="10998962" y="155702"/>
                    <a:pt x="109896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0989691" y="121920"/>
                  </a:lnTo>
                  <a:lnTo>
                    <a:pt x="10989691" y="138811"/>
                  </a:lnTo>
                  <a:lnTo>
                    <a:pt x="10972800" y="1388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71600" y="2834640"/>
            <a:ext cx="6400800" cy="512064"/>
            <a:chOff x="0" y="0"/>
            <a:chExt cx="853440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8534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Narrow AI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71600" y="3346704"/>
            <a:ext cx="6400800" cy="402336"/>
            <a:chOff x="0" y="0"/>
            <a:chExt cx="8534400" cy="5364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Task-specific intelligence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01703" y="3919223"/>
            <a:ext cx="7706363" cy="903227"/>
            <a:chOff x="0" y="0"/>
            <a:chExt cx="10275151" cy="12043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0241281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27506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187323"/>
                  </a:lnTo>
                  <a:cubicBezTo>
                    <a:pt x="10275062" y="1196721"/>
                    <a:pt x="10267442" y="1204214"/>
                    <a:pt x="10258172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258172" y="1170432"/>
                  </a:lnTo>
                  <a:lnTo>
                    <a:pt x="10258172" y="1187323"/>
                  </a:lnTo>
                  <a:lnTo>
                    <a:pt x="10241280" y="118732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80160" y="4005072"/>
            <a:ext cx="6949440" cy="365760"/>
            <a:chOff x="0" y="0"/>
            <a:chExt cx="9265920" cy="4876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265920" cy="487680"/>
            </a:xfrm>
            <a:custGeom>
              <a:avLst/>
              <a:gdLst/>
              <a:ahLst/>
              <a:cxnLst/>
              <a:rect r="r" b="b" t="t" l="l"/>
              <a:pathLst>
                <a:path h="4876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2659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Specialized Performance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80160" y="4370832"/>
            <a:ext cx="6949440" cy="329184"/>
            <a:chOff x="0" y="0"/>
            <a:chExt cx="9265920" cy="43891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Excels at specific tasks like chess, image recognition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01703" y="4943351"/>
            <a:ext cx="7706363" cy="903227"/>
            <a:chOff x="0" y="0"/>
            <a:chExt cx="10275151" cy="120430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10241281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7506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187323"/>
                  </a:lnTo>
                  <a:cubicBezTo>
                    <a:pt x="10275062" y="1196721"/>
                    <a:pt x="10267442" y="1204214"/>
                    <a:pt x="10258172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258172" y="1170432"/>
                  </a:lnTo>
                  <a:lnTo>
                    <a:pt x="10258172" y="1187323"/>
                  </a:lnTo>
                  <a:lnTo>
                    <a:pt x="10241280" y="118732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80160" y="5029200"/>
            <a:ext cx="6949440" cy="365760"/>
            <a:chOff x="0" y="0"/>
            <a:chExt cx="9265920" cy="4876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265920" cy="487680"/>
            </a:xfrm>
            <a:custGeom>
              <a:avLst/>
              <a:gdLst/>
              <a:ahLst/>
              <a:cxnLst/>
              <a:rect r="r" b="b" t="t" l="l"/>
              <a:pathLst>
                <a:path h="4876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92659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Data-Dependent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80160" y="5394960"/>
            <a:ext cx="6949440" cy="329184"/>
            <a:chOff x="0" y="0"/>
            <a:chExt cx="9265920" cy="43891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Requires large training datasets for each task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01703" y="5967479"/>
            <a:ext cx="7706363" cy="903227"/>
            <a:chOff x="0" y="0"/>
            <a:chExt cx="10275151" cy="120430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10241281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7506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187323"/>
                  </a:lnTo>
                  <a:cubicBezTo>
                    <a:pt x="10275062" y="1196721"/>
                    <a:pt x="10267442" y="1204214"/>
                    <a:pt x="10258172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258172" y="1170432"/>
                  </a:lnTo>
                  <a:lnTo>
                    <a:pt x="10258172" y="1187323"/>
                  </a:lnTo>
                  <a:lnTo>
                    <a:pt x="10241280" y="118732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80160" y="6053328"/>
            <a:ext cx="6949440" cy="365760"/>
            <a:chOff x="0" y="0"/>
            <a:chExt cx="9265920" cy="4876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265920" cy="487680"/>
            </a:xfrm>
            <a:custGeom>
              <a:avLst/>
              <a:gdLst/>
              <a:ahLst/>
              <a:cxnLst/>
              <a:rect r="r" b="b" t="t" l="l"/>
              <a:pathLst>
                <a:path h="4876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2659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Transfer Learning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80160" y="6419088"/>
            <a:ext cx="6949440" cy="329184"/>
            <a:chOff x="0" y="0"/>
            <a:chExt cx="9265920" cy="43891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Cannot apply knowledge across domains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01703" y="6991607"/>
            <a:ext cx="7706363" cy="903227"/>
            <a:chOff x="0" y="0"/>
            <a:chExt cx="10275151" cy="120430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10241281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7506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187323"/>
                  </a:lnTo>
                  <a:cubicBezTo>
                    <a:pt x="10275062" y="1196721"/>
                    <a:pt x="10267442" y="1204214"/>
                    <a:pt x="10258172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258172" y="1170432"/>
                  </a:lnTo>
                  <a:lnTo>
                    <a:pt x="10258172" y="1187323"/>
                  </a:lnTo>
                  <a:lnTo>
                    <a:pt x="10241280" y="118732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80160" y="7077456"/>
            <a:ext cx="6949440" cy="365760"/>
            <a:chOff x="0" y="0"/>
            <a:chExt cx="9265920" cy="4876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265920" cy="487680"/>
            </a:xfrm>
            <a:custGeom>
              <a:avLst/>
              <a:gdLst/>
              <a:ahLst/>
              <a:cxnLst/>
              <a:rect r="r" b="b" t="t" l="l"/>
              <a:pathLst>
                <a:path h="4876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2659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Self-Awareness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80160" y="7443216"/>
            <a:ext cx="6949440" cy="329184"/>
            <a:chOff x="0" y="0"/>
            <a:chExt cx="9265920" cy="43891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Lacks understanding of own capabilities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01703" y="7977804"/>
            <a:ext cx="7706363" cy="301078"/>
            <a:chOff x="0" y="0"/>
            <a:chExt cx="10275151" cy="40143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24416"/>
              <a:ext cx="10241281" cy="352477"/>
            </a:xfrm>
            <a:custGeom>
              <a:avLst/>
              <a:gdLst/>
              <a:ahLst/>
              <a:cxnLst/>
              <a:rect r="r" b="b" t="t" l="l"/>
              <a:pathLst>
                <a:path h="352477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352477"/>
                  </a:lnTo>
                  <a:lnTo>
                    <a:pt x="0" y="352477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275062" cy="401311"/>
            </a:xfrm>
            <a:custGeom>
              <a:avLst/>
              <a:gdLst/>
              <a:ahLst/>
              <a:cxnLst/>
              <a:rect r="r" b="b" t="t" l="l"/>
              <a:pathLst>
                <a:path h="401311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11015"/>
                    <a:pt x="10275062" y="24416"/>
                  </a:cubicBezTo>
                  <a:lnTo>
                    <a:pt x="10275062" y="376893"/>
                  </a:lnTo>
                  <a:cubicBezTo>
                    <a:pt x="10275062" y="390478"/>
                    <a:pt x="10267442" y="401309"/>
                    <a:pt x="10258172" y="401309"/>
                  </a:cubicBezTo>
                  <a:lnTo>
                    <a:pt x="16891" y="401309"/>
                  </a:lnTo>
                  <a:cubicBezTo>
                    <a:pt x="7620" y="401476"/>
                    <a:pt x="0" y="390478"/>
                    <a:pt x="0" y="376893"/>
                  </a:cubicBezTo>
                  <a:lnTo>
                    <a:pt x="0" y="24416"/>
                  </a:lnTo>
                  <a:cubicBezTo>
                    <a:pt x="0" y="11015"/>
                    <a:pt x="7620" y="0"/>
                    <a:pt x="16891" y="0"/>
                  </a:cubicBezTo>
                  <a:moveTo>
                    <a:pt x="16891" y="49016"/>
                  </a:moveTo>
                  <a:lnTo>
                    <a:pt x="16891" y="24416"/>
                  </a:lnTo>
                  <a:lnTo>
                    <a:pt x="33909" y="24416"/>
                  </a:lnTo>
                  <a:lnTo>
                    <a:pt x="33909" y="376893"/>
                  </a:lnTo>
                  <a:lnTo>
                    <a:pt x="16891" y="376893"/>
                  </a:lnTo>
                  <a:lnTo>
                    <a:pt x="16891" y="352477"/>
                  </a:lnTo>
                  <a:lnTo>
                    <a:pt x="10258172" y="352477"/>
                  </a:lnTo>
                  <a:lnTo>
                    <a:pt x="10258172" y="376893"/>
                  </a:lnTo>
                  <a:lnTo>
                    <a:pt x="10241280" y="376893"/>
                  </a:lnTo>
                  <a:lnTo>
                    <a:pt x="10241280" y="24416"/>
                  </a:lnTo>
                  <a:lnTo>
                    <a:pt x="10258172" y="24416"/>
                  </a:lnTo>
                  <a:lnTo>
                    <a:pt x="10258172" y="49016"/>
                  </a:lnTo>
                  <a:lnTo>
                    <a:pt x="16891" y="49016"/>
                  </a:ln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243584" y="7949229"/>
            <a:ext cx="5076293" cy="393874"/>
            <a:chOff x="0" y="0"/>
            <a:chExt cx="6768390" cy="52516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768391" cy="525165"/>
            </a:xfrm>
            <a:custGeom>
              <a:avLst/>
              <a:gdLst/>
              <a:ahLst/>
              <a:cxnLst/>
              <a:rect r="r" b="b" t="t" l="l"/>
              <a:pathLst>
                <a:path h="525165" w="6768391">
                  <a:moveTo>
                    <a:pt x="0" y="0"/>
                  </a:moveTo>
                  <a:lnTo>
                    <a:pt x="6768391" y="0"/>
                  </a:lnTo>
                  <a:lnTo>
                    <a:pt x="6768391" y="525165"/>
                  </a:lnTo>
                  <a:lnTo>
                    <a:pt x="0" y="5251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901" r="-51310" b="-39605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6768390" cy="563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Examples: Siri, AlphaGo, GPT-3, image classifiers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961120" y="4754880"/>
            <a:ext cx="640080" cy="640080"/>
            <a:chOff x="0" y="0"/>
            <a:chExt cx="853440" cy="853440"/>
          </a:xfrm>
        </p:grpSpPr>
        <p:sp>
          <p:nvSpPr>
            <p:cNvPr name="Freeform 74" id="74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628632" y="2547623"/>
            <a:ext cx="8255003" cy="5877563"/>
            <a:chOff x="0" y="0"/>
            <a:chExt cx="11006671" cy="783675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6891" y="16891"/>
              <a:ext cx="10972800" cy="7802881"/>
            </a:xfrm>
            <a:custGeom>
              <a:avLst/>
              <a:gdLst/>
              <a:ahLst/>
              <a:cxnLst/>
              <a:rect r="r" b="b" t="t" l="l"/>
              <a:pathLst>
                <a:path h="7802881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006582" cy="7836662"/>
            </a:xfrm>
            <a:custGeom>
              <a:avLst/>
              <a:gdLst/>
              <a:ahLst/>
              <a:cxnLst/>
              <a:rect r="r" b="b" t="t" l="l"/>
              <a:pathLst>
                <a:path h="783666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7819772"/>
                  </a:lnTo>
                  <a:cubicBezTo>
                    <a:pt x="11006582" y="7829169"/>
                    <a:pt x="10998962" y="7836662"/>
                    <a:pt x="10989691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10989691" y="7802880"/>
                  </a:lnTo>
                  <a:lnTo>
                    <a:pt x="10989691" y="7819772"/>
                  </a:lnTo>
                  <a:lnTo>
                    <a:pt x="10972800" y="7819772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620250" y="2547623"/>
            <a:ext cx="8255003" cy="116843"/>
            <a:chOff x="0" y="0"/>
            <a:chExt cx="11006671" cy="15579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10972800" cy="121920"/>
            </a:xfrm>
            <a:custGeom>
              <a:avLst/>
              <a:gdLst/>
              <a:ahLst/>
              <a:cxnLst/>
              <a:rect r="r" b="b" t="t" l="l"/>
              <a:pathLst>
                <a:path h="121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006582" cy="155704"/>
            </a:xfrm>
            <a:custGeom>
              <a:avLst/>
              <a:gdLst/>
              <a:ahLst/>
              <a:cxnLst/>
              <a:rect r="r" b="b" t="t" l="l"/>
              <a:pathLst>
                <a:path h="15570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8811"/>
                  </a:lnTo>
                  <a:cubicBezTo>
                    <a:pt x="11006582" y="148209"/>
                    <a:pt x="10998962" y="155702"/>
                    <a:pt x="109896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0989691" y="121920"/>
                  </a:lnTo>
                  <a:lnTo>
                    <a:pt x="10989691" y="138811"/>
                  </a:lnTo>
                  <a:lnTo>
                    <a:pt x="10972800" y="1388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0372849" y="2834640"/>
            <a:ext cx="6400800" cy="512064"/>
            <a:chOff x="0" y="0"/>
            <a:chExt cx="8534400" cy="68275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8534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AGI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372849" y="3346704"/>
            <a:ext cx="6400800" cy="402336"/>
            <a:chOff x="0" y="0"/>
            <a:chExt cx="8534400" cy="53644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General-purpose intelligence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902952" y="3919223"/>
            <a:ext cx="7706363" cy="903227"/>
            <a:chOff x="0" y="0"/>
            <a:chExt cx="10275151" cy="120430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6891" y="16891"/>
              <a:ext cx="10241281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27506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187323"/>
                  </a:lnTo>
                  <a:cubicBezTo>
                    <a:pt x="10275062" y="1196721"/>
                    <a:pt x="10267442" y="1204214"/>
                    <a:pt x="10258172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258172" y="1170432"/>
                  </a:lnTo>
                  <a:lnTo>
                    <a:pt x="10258172" y="1187323"/>
                  </a:lnTo>
                  <a:lnTo>
                    <a:pt x="10241280" y="118732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0281409" y="4005072"/>
            <a:ext cx="6949440" cy="365760"/>
            <a:chOff x="0" y="0"/>
            <a:chExt cx="9265920" cy="4876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265920" cy="487680"/>
            </a:xfrm>
            <a:custGeom>
              <a:avLst/>
              <a:gdLst/>
              <a:ahLst/>
              <a:cxnLst/>
              <a:rect r="r" b="b" t="t" l="l"/>
              <a:pathLst>
                <a:path h="4876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92659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Universal Capability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281409" y="4370832"/>
            <a:ext cx="6949440" cy="329184"/>
            <a:chOff x="0" y="0"/>
            <a:chExt cx="9265920" cy="43891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 perform any intellectual task humans can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902952" y="4943351"/>
            <a:ext cx="7706363" cy="903227"/>
            <a:chOff x="0" y="0"/>
            <a:chExt cx="10275151" cy="1204303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16891" y="16891"/>
              <a:ext cx="10241281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27506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187323"/>
                  </a:lnTo>
                  <a:cubicBezTo>
                    <a:pt x="10275062" y="1196721"/>
                    <a:pt x="10267442" y="1204214"/>
                    <a:pt x="10258172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258172" y="1170432"/>
                  </a:lnTo>
                  <a:lnTo>
                    <a:pt x="10258172" y="1187323"/>
                  </a:lnTo>
                  <a:lnTo>
                    <a:pt x="10241280" y="118732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0281409" y="5029200"/>
            <a:ext cx="6949440" cy="365760"/>
            <a:chOff x="0" y="0"/>
            <a:chExt cx="9265920" cy="48768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265920" cy="487680"/>
            </a:xfrm>
            <a:custGeom>
              <a:avLst/>
              <a:gdLst/>
              <a:ahLst/>
              <a:cxnLst/>
              <a:rect r="r" b="b" t="t" l="l"/>
              <a:pathLst>
                <a:path h="4876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92659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Transfer Learning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0281409" y="5394960"/>
            <a:ext cx="6949440" cy="329184"/>
            <a:chOff x="0" y="0"/>
            <a:chExt cx="9265920" cy="43891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Applies knowledge across different domains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902952" y="5967479"/>
            <a:ext cx="7706363" cy="903227"/>
            <a:chOff x="0" y="0"/>
            <a:chExt cx="10275151" cy="1204303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16891" y="16891"/>
              <a:ext cx="10241281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27506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187323"/>
                  </a:lnTo>
                  <a:cubicBezTo>
                    <a:pt x="10275062" y="1196721"/>
                    <a:pt x="10267442" y="1204214"/>
                    <a:pt x="10258172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258172" y="1170432"/>
                  </a:lnTo>
                  <a:lnTo>
                    <a:pt x="10258172" y="1187323"/>
                  </a:lnTo>
                  <a:lnTo>
                    <a:pt x="10241280" y="118732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0281409" y="6053328"/>
            <a:ext cx="6949440" cy="365760"/>
            <a:chOff x="0" y="0"/>
            <a:chExt cx="9265920" cy="4876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265920" cy="487680"/>
            </a:xfrm>
            <a:custGeom>
              <a:avLst/>
              <a:gdLst/>
              <a:ahLst/>
              <a:cxnLst/>
              <a:rect r="r" b="b" t="t" l="l"/>
              <a:pathLst>
                <a:path h="4876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92659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Creative Reasoning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0281409" y="6419088"/>
            <a:ext cx="6949440" cy="329184"/>
            <a:chOff x="0" y="0"/>
            <a:chExt cx="9265920" cy="43891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Novel problem-solving and innovation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9902952" y="6991607"/>
            <a:ext cx="7706363" cy="903227"/>
            <a:chOff x="0" y="0"/>
            <a:chExt cx="10275151" cy="1204303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16891" y="16891"/>
              <a:ext cx="10241281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027506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187323"/>
                  </a:lnTo>
                  <a:cubicBezTo>
                    <a:pt x="10275062" y="1196721"/>
                    <a:pt x="10267442" y="1204214"/>
                    <a:pt x="10258172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258172" y="1170432"/>
                  </a:lnTo>
                  <a:lnTo>
                    <a:pt x="10258172" y="1187323"/>
                  </a:lnTo>
                  <a:lnTo>
                    <a:pt x="10241280" y="118732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281409" y="7077456"/>
            <a:ext cx="6949440" cy="365760"/>
            <a:chOff x="0" y="0"/>
            <a:chExt cx="9265920" cy="48768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265920" cy="487680"/>
            </a:xfrm>
            <a:custGeom>
              <a:avLst/>
              <a:gdLst/>
              <a:ahLst/>
              <a:cxnLst/>
              <a:rect r="r" b="b" t="t" l="l"/>
              <a:pathLst>
                <a:path h="4876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92659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Self-Awareness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0281409" y="7443216"/>
            <a:ext cx="6949440" cy="329184"/>
            <a:chOff x="0" y="0"/>
            <a:chExt cx="9265920" cy="43891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Understanding of own capabilities and limits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9902952" y="7977804"/>
            <a:ext cx="7706363" cy="301078"/>
            <a:chOff x="0" y="0"/>
            <a:chExt cx="10275151" cy="40143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16891" y="24416"/>
              <a:ext cx="10241281" cy="352477"/>
            </a:xfrm>
            <a:custGeom>
              <a:avLst/>
              <a:gdLst/>
              <a:ahLst/>
              <a:cxnLst/>
              <a:rect r="r" b="b" t="t" l="l"/>
              <a:pathLst>
                <a:path h="352477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352477"/>
                  </a:lnTo>
                  <a:lnTo>
                    <a:pt x="0" y="352477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0275062" cy="401311"/>
            </a:xfrm>
            <a:custGeom>
              <a:avLst/>
              <a:gdLst/>
              <a:ahLst/>
              <a:cxnLst/>
              <a:rect r="r" b="b" t="t" l="l"/>
              <a:pathLst>
                <a:path h="401311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11015"/>
                    <a:pt x="10275062" y="24416"/>
                  </a:cubicBezTo>
                  <a:lnTo>
                    <a:pt x="10275062" y="376893"/>
                  </a:lnTo>
                  <a:cubicBezTo>
                    <a:pt x="10275062" y="390478"/>
                    <a:pt x="10267442" y="401309"/>
                    <a:pt x="10258172" y="401309"/>
                  </a:cubicBezTo>
                  <a:lnTo>
                    <a:pt x="16891" y="401309"/>
                  </a:lnTo>
                  <a:cubicBezTo>
                    <a:pt x="7620" y="401476"/>
                    <a:pt x="0" y="390478"/>
                    <a:pt x="0" y="376893"/>
                  </a:cubicBezTo>
                  <a:lnTo>
                    <a:pt x="0" y="24416"/>
                  </a:lnTo>
                  <a:cubicBezTo>
                    <a:pt x="0" y="11015"/>
                    <a:pt x="7620" y="0"/>
                    <a:pt x="16891" y="0"/>
                  </a:cubicBezTo>
                  <a:moveTo>
                    <a:pt x="16891" y="49016"/>
                  </a:moveTo>
                  <a:lnTo>
                    <a:pt x="16891" y="24416"/>
                  </a:lnTo>
                  <a:lnTo>
                    <a:pt x="33909" y="24416"/>
                  </a:lnTo>
                  <a:lnTo>
                    <a:pt x="33909" y="376893"/>
                  </a:lnTo>
                  <a:lnTo>
                    <a:pt x="16891" y="376893"/>
                  </a:lnTo>
                  <a:lnTo>
                    <a:pt x="16891" y="352477"/>
                  </a:lnTo>
                  <a:lnTo>
                    <a:pt x="10258172" y="352477"/>
                  </a:lnTo>
                  <a:lnTo>
                    <a:pt x="10258172" y="376893"/>
                  </a:lnTo>
                  <a:lnTo>
                    <a:pt x="10241280" y="376893"/>
                  </a:lnTo>
                  <a:lnTo>
                    <a:pt x="10241280" y="24416"/>
                  </a:lnTo>
                  <a:lnTo>
                    <a:pt x="10258172" y="24416"/>
                  </a:lnTo>
                  <a:lnTo>
                    <a:pt x="10258172" y="49016"/>
                  </a:lnTo>
                  <a:lnTo>
                    <a:pt x="16891" y="49016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0281409" y="7876978"/>
            <a:ext cx="7680960" cy="502729"/>
            <a:chOff x="0" y="0"/>
            <a:chExt cx="10241280" cy="670306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0241280" cy="670306"/>
            </a:xfrm>
            <a:custGeom>
              <a:avLst/>
              <a:gdLst/>
              <a:ahLst/>
              <a:cxnLst/>
              <a:rect r="r" b="b" t="t" l="l"/>
              <a:pathLst>
                <a:path h="67030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70306"/>
                  </a:lnTo>
                  <a:lnTo>
                    <a:pt x="0" y="6703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758" r="0" b="-288646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10241280" cy="708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Goal: Human-level intelligence across all domains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9692640" y="1904577"/>
            <a:ext cx="7614918" cy="433496"/>
            <a:chOff x="0" y="0"/>
            <a:chExt cx="13445071" cy="765391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16891" y="16891"/>
              <a:ext cx="13411327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327">
                  <a:moveTo>
                    <a:pt x="0" y="365760"/>
                  </a:moveTo>
                  <a:cubicBezTo>
                    <a:pt x="0" y="163703"/>
                    <a:pt x="170942" y="0"/>
                    <a:pt x="381762" y="0"/>
                  </a:cubicBezTo>
                  <a:lnTo>
                    <a:pt x="13029565" y="0"/>
                  </a:lnTo>
                  <a:cubicBezTo>
                    <a:pt x="13240385" y="0"/>
                    <a:pt x="13411327" y="163703"/>
                    <a:pt x="13411327" y="365760"/>
                  </a:cubicBezTo>
                  <a:cubicBezTo>
                    <a:pt x="13411327" y="567817"/>
                    <a:pt x="13240385" y="731520"/>
                    <a:pt x="13029565" y="731520"/>
                  </a:cubicBezTo>
                  <a:lnTo>
                    <a:pt x="381762" y="731520"/>
                  </a:lnTo>
                  <a:cubicBezTo>
                    <a:pt x="170942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3445110" cy="765302"/>
            </a:xfrm>
            <a:custGeom>
              <a:avLst/>
              <a:gdLst/>
              <a:ahLst/>
              <a:cxnLst/>
              <a:rect r="r" b="b" t="t" l="l"/>
              <a:pathLst>
                <a:path h="765302" w="13445110">
                  <a:moveTo>
                    <a:pt x="0" y="382651"/>
                  </a:moveTo>
                  <a:cubicBezTo>
                    <a:pt x="0" y="170688"/>
                    <a:pt x="179197" y="0"/>
                    <a:pt x="398653" y="0"/>
                  </a:cubicBezTo>
                  <a:lnTo>
                    <a:pt x="13046456" y="0"/>
                  </a:lnTo>
                  <a:lnTo>
                    <a:pt x="13046456" y="16891"/>
                  </a:lnTo>
                  <a:lnTo>
                    <a:pt x="13046456" y="0"/>
                  </a:lnTo>
                  <a:cubicBezTo>
                    <a:pt x="13265913" y="0"/>
                    <a:pt x="13445110" y="170688"/>
                    <a:pt x="13445110" y="382651"/>
                  </a:cubicBezTo>
                  <a:lnTo>
                    <a:pt x="13428218" y="382651"/>
                  </a:lnTo>
                  <a:lnTo>
                    <a:pt x="13445110" y="382651"/>
                  </a:lnTo>
                  <a:lnTo>
                    <a:pt x="13428218" y="382651"/>
                  </a:lnTo>
                  <a:lnTo>
                    <a:pt x="13445110" y="382651"/>
                  </a:lnTo>
                  <a:cubicBezTo>
                    <a:pt x="13445110" y="594741"/>
                    <a:pt x="13265913" y="765302"/>
                    <a:pt x="13046456" y="765302"/>
                  </a:cubicBezTo>
                  <a:lnTo>
                    <a:pt x="13046456" y="748411"/>
                  </a:lnTo>
                  <a:lnTo>
                    <a:pt x="13046456" y="765302"/>
                  </a:lnTo>
                  <a:lnTo>
                    <a:pt x="398653" y="765302"/>
                  </a:lnTo>
                  <a:lnTo>
                    <a:pt x="398653" y="748411"/>
                  </a:lnTo>
                  <a:lnTo>
                    <a:pt x="398653" y="765302"/>
                  </a:lnTo>
                  <a:cubicBezTo>
                    <a:pt x="179197" y="765429"/>
                    <a:pt x="0" y="594741"/>
                    <a:pt x="0" y="382651"/>
                  </a:cubicBezTo>
                  <a:lnTo>
                    <a:pt x="16891" y="382651"/>
                  </a:lnTo>
                  <a:lnTo>
                    <a:pt x="0" y="382651"/>
                  </a:lnTo>
                  <a:moveTo>
                    <a:pt x="33909" y="382651"/>
                  </a:moveTo>
                  <a:lnTo>
                    <a:pt x="16891" y="382651"/>
                  </a:lnTo>
                  <a:lnTo>
                    <a:pt x="33909" y="382651"/>
                  </a:lnTo>
                  <a:cubicBezTo>
                    <a:pt x="33909" y="574675"/>
                    <a:pt x="196596" y="731520"/>
                    <a:pt x="398653" y="731520"/>
                  </a:cubicBezTo>
                  <a:lnTo>
                    <a:pt x="13046456" y="731520"/>
                  </a:lnTo>
                  <a:cubicBezTo>
                    <a:pt x="13248641" y="731520"/>
                    <a:pt x="13411200" y="574675"/>
                    <a:pt x="13411200" y="382651"/>
                  </a:cubicBezTo>
                  <a:cubicBezTo>
                    <a:pt x="13411200" y="190627"/>
                    <a:pt x="13248514" y="33782"/>
                    <a:pt x="13046456" y="33782"/>
                  </a:cubicBezTo>
                  <a:lnTo>
                    <a:pt x="398653" y="33782"/>
                  </a:lnTo>
                  <a:lnTo>
                    <a:pt x="398653" y="16891"/>
                  </a:lnTo>
                  <a:lnTo>
                    <a:pt x="398653" y="33909"/>
                  </a:lnTo>
                  <a:cubicBezTo>
                    <a:pt x="196469" y="33909"/>
                    <a:pt x="33909" y="190754"/>
                    <a:pt x="33909" y="382651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8461374" y="1884683"/>
            <a:ext cx="10058400" cy="548640"/>
            <a:chOff x="0" y="0"/>
            <a:chExt cx="13411200" cy="73152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13411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difference: Narrow AI is task-specific, AGI is general-purpose</a:t>
              </a:r>
            </a:p>
          </p:txBody>
        </p:sp>
      </p:grpSp>
      <p:sp>
        <p:nvSpPr>
          <p:cNvPr name="Freeform 135" id="135"/>
          <p:cNvSpPr/>
          <p:nvPr/>
        </p:nvSpPr>
        <p:spPr>
          <a:xfrm flipH="false" flipV="false" rot="0">
            <a:off x="901703" y="8606161"/>
            <a:ext cx="16973550" cy="1342025"/>
          </a:xfrm>
          <a:custGeom>
            <a:avLst/>
            <a:gdLst/>
            <a:ahLst/>
            <a:cxnLst/>
            <a:rect r="r" b="b" t="t" l="l"/>
            <a:pathLst>
              <a:path h="1342025" w="16973550">
                <a:moveTo>
                  <a:pt x="0" y="0"/>
                </a:moveTo>
                <a:lnTo>
                  <a:pt x="16973550" y="0"/>
                </a:lnTo>
                <a:lnTo>
                  <a:pt x="16973550" y="1342025"/>
                </a:lnTo>
                <a:lnTo>
                  <a:pt x="0" y="1342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4903" r="0" b="-24903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82880"/>
            <a:ext cx="15544800" cy="694944"/>
            <a:chOff x="0" y="0"/>
            <a:chExt cx="2072640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7264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Limitations of AI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2801600" cy="512064"/>
            <a:chOff x="0" y="0"/>
            <a:chExt cx="170688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Challenges in achieving true AGI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44800" y="548640"/>
            <a:ext cx="2560320" cy="457200"/>
            <a:chOff x="0" y="0"/>
            <a:chExt cx="341376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0" cy="609600"/>
            </a:xfrm>
            <a:custGeom>
              <a:avLst/>
              <a:gdLst/>
              <a:ahLst/>
              <a:cxnLst/>
              <a:rect r="r" b="b" t="t" l="l"/>
              <a:pathLst>
                <a:path h="6096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413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5/20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1828800"/>
            <a:ext cx="512064" cy="512064"/>
            <a:chOff x="0" y="0"/>
            <a:chExt cx="682752" cy="68275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1828800"/>
            <a:ext cx="12801600" cy="548640"/>
            <a:chOff x="0" y="0"/>
            <a:chExt cx="170688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70688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Limitations in Current AI Systems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93566" y="1886382"/>
            <a:ext cx="9564708" cy="491058"/>
            <a:chOff x="0" y="0"/>
            <a:chExt cx="14908111" cy="7653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148742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874240">
                  <a:moveTo>
                    <a:pt x="0" y="365760"/>
                  </a:moveTo>
                  <a:cubicBezTo>
                    <a:pt x="0" y="163703"/>
                    <a:pt x="170942" y="0"/>
                    <a:pt x="381762" y="0"/>
                  </a:cubicBezTo>
                  <a:lnTo>
                    <a:pt x="14492478" y="0"/>
                  </a:lnTo>
                  <a:cubicBezTo>
                    <a:pt x="14703297" y="0"/>
                    <a:pt x="14874240" y="163703"/>
                    <a:pt x="14874240" y="365760"/>
                  </a:cubicBezTo>
                  <a:cubicBezTo>
                    <a:pt x="14874240" y="567817"/>
                    <a:pt x="14703297" y="731520"/>
                    <a:pt x="14492478" y="731520"/>
                  </a:cubicBezTo>
                  <a:lnTo>
                    <a:pt x="381889" y="731520"/>
                  </a:lnTo>
                  <a:cubicBezTo>
                    <a:pt x="171069" y="731520"/>
                    <a:pt x="127" y="567817"/>
                    <a:pt x="127" y="365760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908149" cy="765302"/>
            </a:xfrm>
            <a:custGeom>
              <a:avLst/>
              <a:gdLst/>
              <a:ahLst/>
              <a:cxnLst/>
              <a:rect r="r" b="b" t="t" l="l"/>
              <a:pathLst>
                <a:path h="765302" w="14908149">
                  <a:moveTo>
                    <a:pt x="0" y="382651"/>
                  </a:moveTo>
                  <a:cubicBezTo>
                    <a:pt x="0" y="170688"/>
                    <a:pt x="179197" y="0"/>
                    <a:pt x="398780" y="0"/>
                  </a:cubicBezTo>
                  <a:lnTo>
                    <a:pt x="14509369" y="0"/>
                  </a:lnTo>
                  <a:lnTo>
                    <a:pt x="14509369" y="16891"/>
                  </a:lnTo>
                  <a:lnTo>
                    <a:pt x="14509369" y="0"/>
                  </a:lnTo>
                  <a:cubicBezTo>
                    <a:pt x="14728952" y="0"/>
                    <a:pt x="14908149" y="170688"/>
                    <a:pt x="14908149" y="382651"/>
                  </a:cubicBezTo>
                  <a:lnTo>
                    <a:pt x="14891258" y="382651"/>
                  </a:lnTo>
                  <a:lnTo>
                    <a:pt x="14908149" y="382651"/>
                  </a:lnTo>
                  <a:lnTo>
                    <a:pt x="14891258" y="382651"/>
                  </a:lnTo>
                  <a:lnTo>
                    <a:pt x="14908149" y="382651"/>
                  </a:lnTo>
                  <a:cubicBezTo>
                    <a:pt x="14908149" y="594741"/>
                    <a:pt x="14728952" y="765302"/>
                    <a:pt x="14509369" y="765302"/>
                  </a:cubicBezTo>
                  <a:lnTo>
                    <a:pt x="14509369" y="748411"/>
                  </a:lnTo>
                  <a:lnTo>
                    <a:pt x="14509369" y="765302"/>
                  </a:lnTo>
                  <a:lnTo>
                    <a:pt x="398780" y="765302"/>
                  </a:lnTo>
                  <a:lnTo>
                    <a:pt x="398780" y="748411"/>
                  </a:lnTo>
                  <a:lnTo>
                    <a:pt x="398780" y="765302"/>
                  </a:lnTo>
                  <a:cubicBezTo>
                    <a:pt x="179197" y="765429"/>
                    <a:pt x="0" y="594741"/>
                    <a:pt x="0" y="382651"/>
                  </a:cubicBezTo>
                  <a:lnTo>
                    <a:pt x="16891" y="382651"/>
                  </a:lnTo>
                  <a:lnTo>
                    <a:pt x="0" y="382651"/>
                  </a:lnTo>
                  <a:moveTo>
                    <a:pt x="33909" y="382651"/>
                  </a:moveTo>
                  <a:lnTo>
                    <a:pt x="16891" y="382651"/>
                  </a:lnTo>
                  <a:lnTo>
                    <a:pt x="33909" y="382651"/>
                  </a:lnTo>
                  <a:cubicBezTo>
                    <a:pt x="33909" y="574675"/>
                    <a:pt x="196596" y="731520"/>
                    <a:pt x="398780" y="731520"/>
                  </a:cubicBezTo>
                  <a:lnTo>
                    <a:pt x="14509369" y="731520"/>
                  </a:lnTo>
                  <a:cubicBezTo>
                    <a:pt x="14711553" y="731520"/>
                    <a:pt x="14874239" y="574675"/>
                    <a:pt x="14874239" y="382651"/>
                  </a:cubicBezTo>
                  <a:cubicBezTo>
                    <a:pt x="14874239" y="190627"/>
                    <a:pt x="14711553" y="33782"/>
                    <a:pt x="14509369" y="33782"/>
                  </a:cubicBezTo>
                  <a:lnTo>
                    <a:pt x="398780" y="33782"/>
                  </a:lnTo>
                  <a:lnTo>
                    <a:pt x="398780" y="16891"/>
                  </a:lnTo>
                  <a:lnTo>
                    <a:pt x="398780" y="33909"/>
                  </a:lnTo>
                  <a:cubicBezTo>
                    <a:pt x="196596" y="33909"/>
                    <a:pt x="33909" y="190754"/>
                    <a:pt x="33909" y="382651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498080" y="1909349"/>
            <a:ext cx="9517848" cy="468091"/>
            <a:chOff x="0" y="0"/>
            <a:chExt cx="1487424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874239" cy="731520"/>
            </a:xfrm>
            <a:custGeom>
              <a:avLst/>
              <a:gdLst/>
              <a:ahLst/>
              <a:cxnLst/>
              <a:rect r="r" b="b" t="t" l="l"/>
              <a:pathLst>
                <a:path h="731520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1E1E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4874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Critical: 73% of AI systems lack reasoning capabilities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7383" y="2547623"/>
            <a:ext cx="5511803" cy="5237483"/>
            <a:chOff x="0" y="0"/>
            <a:chExt cx="7349071" cy="69833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7315200" cy="6949440"/>
            </a:xfrm>
            <a:custGeom>
              <a:avLst/>
              <a:gdLst/>
              <a:ahLst/>
              <a:cxnLst/>
              <a:rect r="r" b="b" t="t" l="l"/>
              <a:pathLst>
                <a:path h="69494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949440"/>
                  </a:lnTo>
                  <a:lnTo>
                    <a:pt x="0" y="6949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48982" cy="6983222"/>
            </a:xfrm>
            <a:custGeom>
              <a:avLst/>
              <a:gdLst/>
              <a:ahLst/>
              <a:cxnLst/>
              <a:rect r="r" b="b" t="t" l="l"/>
              <a:pathLst>
                <a:path h="69832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6966331"/>
                  </a:lnTo>
                  <a:cubicBezTo>
                    <a:pt x="7348982" y="6975729"/>
                    <a:pt x="7341362" y="6983222"/>
                    <a:pt x="7332091" y="6983222"/>
                  </a:cubicBezTo>
                  <a:lnTo>
                    <a:pt x="16891" y="6983222"/>
                  </a:lnTo>
                  <a:cubicBezTo>
                    <a:pt x="7493" y="6983222"/>
                    <a:pt x="0" y="6975602"/>
                    <a:pt x="0" y="6966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66331"/>
                  </a:lnTo>
                  <a:lnTo>
                    <a:pt x="16891" y="6966331"/>
                  </a:lnTo>
                  <a:lnTo>
                    <a:pt x="16891" y="6949440"/>
                  </a:lnTo>
                  <a:lnTo>
                    <a:pt x="7332091" y="6949440"/>
                  </a:lnTo>
                  <a:lnTo>
                    <a:pt x="7332091" y="6966331"/>
                  </a:lnTo>
                  <a:lnTo>
                    <a:pt x="7315200" y="69663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27383" y="2547623"/>
            <a:ext cx="5511803" cy="98555"/>
            <a:chOff x="0" y="0"/>
            <a:chExt cx="7349071" cy="13140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7315200" cy="97536"/>
            </a:xfrm>
            <a:custGeom>
              <a:avLst/>
              <a:gdLst/>
              <a:ahLst/>
              <a:cxnLst/>
              <a:rect r="r" b="b" t="t" l="l"/>
              <a:pathLst>
                <a:path h="9753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48982" cy="131320"/>
            </a:xfrm>
            <a:custGeom>
              <a:avLst/>
              <a:gdLst/>
              <a:ahLst/>
              <a:cxnLst/>
              <a:rect r="r" b="b" t="t" l="l"/>
              <a:pathLst>
                <a:path h="13132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14427"/>
                  </a:lnTo>
                  <a:cubicBezTo>
                    <a:pt x="7348982" y="123825"/>
                    <a:pt x="7341362" y="131318"/>
                    <a:pt x="73320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7332091" y="97536"/>
                  </a:lnTo>
                  <a:lnTo>
                    <a:pt x="7332091" y="114427"/>
                  </a:lnTo>
                  <a:lnTo>
                    <a:pt x="7315200" y="11442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10263" y="2767079"/>
            <a:ext cx="610619" cy="610619"/>
            <a:chOff x="0" y="0"/>
            <a:chExt cx="814159" cy="81415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4070" cy="814072"/>
            </a:xfrm>
            <a:custGeom>
              <a:avLst/>
              <a:gdLst/>
              <a:ahLst/>
              <a:cxnLst/>
              <a:rect r="r" b="b" t="t" l="l"/>
              <a:pathLst>
                <a:path h="814072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797179"/>
                  </a:lnTo>
                  <a:cubicBezTo>
                    <a:pt x="814070" y="806577"/>
                    <a:pt x="806450" y="814070"/>
                    <a:pt x="797179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797179" y="780288"/>
                  </a:lnTo>
                  <a:lnTo>
                    <a:pt x="797179" y="797179"/>
                  </a:lnTo>
                  <a:lnTo>
                    <a:pt x="780288" y="797179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96112" y="2834640"/>
            <a:ext cx="438912" cy="438912"/>
            <a:chOff x="0" y="0"/>
            <a:chExt cx="585216" cy="585216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54480" y="2834640"/>
            <a:ext cx="4389120" cy="512064"/>
            <a:chOff x="0" y="0"/>
            <a:chExt cx="5852160" cy="6827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852160" cy="682752"/>
            </a:xfrm>
            <a:custGeom>
              <a:avLst/>
              <a:gdLst/>
              <a:ahLst/>
              <a:cxnLst/>
              <a:rect r="r" b="b" t="t" l="l"/>
              <a:pathLst>
                <a:path h="68275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8521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Limited Reasoning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10263" y="3644903"/>
            <a:ext cx="5146043" cy="939803"/>
            <a:chOff x="0" y="0"/>
            <a:chExt cx="6861391" cy="125307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61301" cy="1252984"/>
            </a:xfrm>
            <a:custGeom>
              <a:avLst/>
              <a:gdLst/>
              <a:ahLst/>
              <a:cxnLst/>
              <a:rect r="r" b="b" t="t" l="l"/>
              <a:pathLst>
                <a:path h="125298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236091"/>
                  </a:lnTo>
                  <a:cubicBezTo>
                    <a:pt x="6861301" y="1245489"/>
                    <a:pt x="6853682" y="1252982"/>
                    <a:pt x="68444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6844411" y="1219200"/>
                  </a:lnTo>
                  <a:lnTo>
                    <a:pt x="6844411" y="1236091"/>
                  </a:lnTo>
                  <a:lnTo>
                    <a:pt x="6827520" y="123609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93143" y="3992375"/>
            <a:ext cx="208283" cy="208283"/>
            <a:chOff x="0" y="0"/>
            <a:chExt cx="277711" cy="27771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35024" y="3803904"/>
            <a:ext cx="4480560" cy="640080"/>
            <a:chOff x="0" y="0"/>
            <a:chExt cx="5974080" cy="853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974080" cy="853440"/>
            </a:xfrm>
            <a:custGeom>
              <a:avLst/>
              <a:gdLst/>
              <a:ahLst/>
              <a:cxnLst/>
              <a:rect r="r" b="b" t="t" l="l"/>
              <a:pathLst>
                <a:path h="85344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974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Pattern matching without true understanding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10263" y="4669031"/>
            <a:ext cx="5146043" cy="939803"/>
            <a:chOff x="0" y="0"/>
            <a:chExt cx="6861391" cy="12530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861301" cy="1252984"/>
            </a:xfrm>
            <a:custGeom>
              <a:avLst/>
              <a:gdLst/>
              <a:ahLst/>
              <a:cxnLst/>
              <a:rect r="r" b="b" t="t" l="l"/>
              <a:pathLst>
                <a:path h="125298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236091"/>
                  </a:lnTo>
                  <a:cubicBezTo>
                    <a:pt x="6861301" y="1245489"/>
                    <a:pt x="6853682" y="1252982"/>
                    <a:pt x="68444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6844411" y="1219200"/>
                  </a:lnTo>
                  <a:lnTo>
                    <a:pt x="6844411" y="1236091"/>
                  </a:lnTo>
                  <a:lnTo>
                    <a:pt x="6827520" y="123609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93143" y="5016503"/>
            <a:ext cx="208283" cy="208283"/>
            <a:chOff x="0" y="0"/>
            <a:chExt cx="277711" cy="27771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35024" y="4828032"/>
            <a:ext cx="4480560" cy="640080"/>
            <a:chOff x="0" y="0"/>
            <a:chExt cx="5974080" cy="853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974080" cy="853440"/>
            </a:xfrm>
            <a:custGeom>
              <a:avLst/>
              <a:gdLst/>
              <a:ahLst/>
              <a:cxnLst/>
              <a:rect r="r" b="b" t="t" l="l"/>
              <a:pathLst>
                <a:path h="85344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5974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Inability to handle novel situations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10263" y="5693159"/>
            <a:ext cx="5146043" cy="939803"/>
            <a:chOff x="0" y="0"/>
            <a:chExt cx="6861391" cy="125307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861301" cy="1252984"/>
            </a:xfrm>
            <a:custGeom>
              <a:avLst/>
              <a:gdLst/>
              <a:ahLst/>
              <a:cxnLst/>
              <a:rect r="r" b="b" t="t" l="l"/>
              <a:pathLst>
                <a:path h="125298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236091"/>
                  </a:lnTo>
                  <a:cubicBezTo>
                    <a:pt x="6861301" y="1245489"/>
                    <a:pt x="6853682" y="1252982"/>
                    <a:pt x="68444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6844411" y="1219200"/>
                  </a:lnTo>
                  <a:lnTo>
                    <a:pt x="6844411" y="1236091"/>
                  </a:lnTo>
                  <a:lnTo>
                    <a:pt x="6827520" y="123609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93143" y="6040631"/>
            <a:ext cx="208283" cy="208283"/>
            <a:chOff x="0" y="0"/>
            <a:chExt cx="277711" cy="27771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335024" y="5852160"/>
            <a:ext cx="4480560" cy="640080"/>
            <a:chOff x="0" y="0"/>
            <a:chExt cx="5974080" cy="8534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974080" cy="853440"/>
            </a:xfrm>
            <a:custGeom>
              <a:avLst/>
              <a:gdLst/>
              <a:ahLst/>
              <a:cxnLst/>
              <a:rect r="r" b="b" t="t" l="l"/>
              <a:pathLst>
                <a:path h="85344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5974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Lack of causal reasoning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388103" y="2547623"/>
            <a:ext cx="5511803" cy="5237483"/>
            <a:chOff x="0" y="0"/>
            <a:chExt cx="7349071" cy="698331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7315200" cy="6949440"/>
            </a:xfrm>
            <a:custGeom>
              <a:avLst/>
              <a:gdLst/>
              <a:ahLst/>
              <a:cxnLst/>
              <a:rect r="r" b="b" t="t" l="l"/>
              <a:pathLst>
                <a:path h="69494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949440"/>
                  </a:lnTo>
                  <a:lnTo>
                    <a:pt x="0" y="6949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348982" cy="6983222"/>
            </a:xfrm>
            <a:custGeom>
              <a:avLst/>
              <a:gdLst/>
              <a:ahLst/>
              <a:cxnLst/>
              <a:rect r="r" b="b" t="t" l="l"/>
              <a:pathLst>
                <a:path h="69832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6966331"/>
                  </a:lnTo>
                  <a:cubicBezTo>
                    <a:pt x="7348982" y="6975729"/>
                    <a:pt x="7341362" y="6983222"/>
                    <a:pt x="7332091" y="6983222"/>
                  </a:cubicBezTo>
                  <a:lnTo>
                    <a:pt x="16891" y="6983222"/>
                  </a:lnTo>
                  <a:cubicBezTo>
                    <a:pt x="7493" y="6983222"/>
                    <a:pt x="0" y="6975602"/>
                    <a:pt x="0" y="6966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66331"/>
                  </a:lnTo>
                  <a:lnTo>
                    <a:pt x="16891" y="6966331"/>
                  </a:lnTo>
                  <a:lnTo>
                    <a:pt x="16891" y="6949440"/>
                  </a:lnTo>
                  <a:lnTo>
                    <a:pt x="7332091" y="6949440"/>
                  </a:lnTo>
                  <a:lnTo>
                    <a:pt x="7332091" y="6966331"/>
                  </a:lnTo>
                  <a:lnTo>
                    <a:pt x="7315200" y="69663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388103" y="2547623"/>
            <a:ext cx="5511803" cy="98555"/>
            <a:chOff x="0" y="0"/>
            <a:chExt cx="7349071" cy="13140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7315200" cy="97536"/>
            </a:xfrm>
            <a:custGeom>
              <a:avLst/>
              <a:gdLst/>
              <a:ahLst/>
              <a:cxnLst/>
              <a:rect r="r" b="b" t="t" l="l"/>
              <a:pathLst>
                <a:path h="9753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348982" cy="131320"/>
            </a:xfrm>
            <a:custGeom>
              <a:avLst/>
              <a:gdLst/>
              <a:ahLst/>
              <a:cxnLst/>
              <a:rect r="r" b="b" t="t" l="l"/>
              <a:pathLst>
                <a:path h="13132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14427"/>
                  </a:lnTo>
                  <a:cubicBezTo>
                    <a:pt x="7348982" y="123825"/>
                    <a:pt x="7341362" y="131318"/>
                    <a:pt x="73320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7332091" y="97536"/>
                  </a:lnTo>
                  <a:lnTo>
                    <a:pt x="7332091" y="114427"/>
                  </a:lnTo>
                  <a:lnTo>
                    <a:pt x="7315200" y="11442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570983" y="2767079"/>
            <a:ext cx="610619" cy="610619"/>
            <a:chOff x="0" y="0"/>
            <a:chExt cx="814159" cy="81415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14070" cy="814072"/>
            </a:xfrm>
            <a:custGeom>
              <a:avLst/>
              <a:gdLst/>
              <a:ahLst/>
              <a:cxnLst/>
              <a:rect r="r" b="b" t="t" l="l"/>
              <a:pathLst>
                <a:path h="814072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797179"/>
                  </a:lnTo>
                  <a:cubicBezTo>
                    <a:pt x="814070" y="806577"/>
                    <a:pt x="806450" y="814070"/>
                    <a:pt x="797179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797179" y="780288"/>
                  </a:lnTo>
                  <a:lnTo>
                    <a:pt x="797179" y="797179"/>
                  </a:lnTo>
                  <a:lnTo>
                    <a:pt x="780288" y="797179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6656832" y="2834640"/>
            <a:ext cx="438912" cy="438912"/>
            <a:chOff x="0" y="0"/>
            <a:chExt cx="585216" cy="585216"/>
          </a:xfrm>
        </p:grpSpPr>
        <p:sp>
          <p:nvSpPr>
            <p:cNvPr name="Freeform 76" id="76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7315200" y="2834640"/>
            <a:ext cx="4389120" cy="512064"/>
            <a:chOff x="0" y="0"/>
            <a:chExt cx="5852160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852160" cy="682752"/>
            </a:xfrm>
            <a:custGeom>
              <a:avLst/>
              <a:gdLst/>
              <a:ahLst/>
              <a:cxnLst/>
              <a:rect r="r" b="b" t="t" l="l"/>
              <a:pathLst>
                <a:path h="68275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58521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 Understanding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570983" y="3644903"/>
            <a:ext cx="5146043" cy="939803"/>
            <a:chOff x="0" y="0"/>
            <a:chExt cx="6861391" cy="125307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861301" cy="1252984"/>
            </a:xfrm>
            <a:custGeom>
              <a:avLst/>
              <a:gdLst/>
              <a:ahLst/>
              <a:cxnLst/>
              <a:rect r="r" b="b" t="t" l="l"/>
              <a:pathLst>
                <a:path h="125298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236091"/>
                  </a:lnTo>
                  <a:cubicBezTo>
                    <a:pt x="6861301" y="1245489"/>
                    <a:pt x="6853682" y="1252982"/>
                    <a:pt x="68444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6844411" y="1219200"/>
                  </a:lnTo>
                  <a:lnTo>
                    <a:pt x="6844411" y="1236091"/>
                  </a:lnTo>
                  <a:lnTo>
                    <a:pt x="6827520" y="123609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753863" y="3992375"/>
            <a:ext cx="208283" cy="208283"/>
            <a:chOff x="0" y="0"/>
            <a:chExt cx="277711" cy="27771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7095744" y="3803904"/>
            <a:ext cx="4480560" cy="640080"/>
            <a:chOff x="0" y="0"/>
            <a:chExt cx="5974080" cy="8534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974080" cy="853440"/>
            </a:xfrm>
            <a:custGeom>
              <a:avLst/>
              <a:gdLst/>
              <a:ahLst/>
              <a:cxnLst/>
              <a:rect r="r" b="b" t="t" l="l"/>
              <a:pathLst>
                <a:path h="85344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5974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Surface-level text processing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570983" y="4669031"/>
            <a:ext cx="5146043" cy="939803"/>
            <a:chOff x="0" y="0"/>
            <a:chExt cx="6861391" cy="125307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861301" cy="1252984"/>
            </a:xfrm>
            <a:custGeom>
              <a:avLst/>
              <a:gdLst/>
              <a:ahLst/>
              <a:cxnLst/>
              <a:rect r="r" b="b" t="t" l="l"/>
              <a:pathLst>
                <a:path h="125298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236091"/>
                  </a:lnTo>
                  <a:cubicBezTo>
                    <a:pt x="6861301" y="1245489"/>
                    <a:pt x="6853682" y="1252982"/>
                    <a:pt x="68444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6844411" y="1219200"/>
                  </a:lnTo>
                  <a:lnTo>
                    <a:pt x="6844411" y="1236091"/>
                  </a:lnTo>
                  <a:lnTo>
                    <a:pt x="6827520" y="123609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6753863" y="5016503"/>
            <a:ext cx="208283" cy="208283"/>
            <a:chOff x="0" y="0"/>
            <a:chExt cx="277711" cy="27771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095744" y="4828032"/>
            <a:ext cx="4480560" cy="640080"/>
            <a:chOff x="0" y="0"/>
            <a:chExt cx="5974080" cy="8534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974080" cy="853440"/>
            </a:xfrm>
            <a:custGeom>
              <a:avLst/>
              <a:gdLst/>
              <a:ahLst/>
              <a:cxnLst/>
              <a:rect r="r" b="b" t="t" l="l"/>
              <a:pathLst>
                <a:path h="85344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5974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Missing cultural nuances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6570983" y="5693159"/>
            <a:ext cx="5146043" cy="939803"/>
            <a:chOff x="0" y="0"/>
            <a:chExt cx="6861391" cy="125307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861301" cy="1252984"/>
            </a:xfrm>
            <a:custGeom>
              <a:avLst/>
              <a:gdLst/>
              <a:ahLst/>
              <a:cxnLst/>
              <a:rect r="r" b="b" t="t" l="l"/>
              <a:pathLst>
                <a:path h="125298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236091"/>
                  </a:lnTo>
                  <a:cubicBezTo>
                    <a:pt x="6861301" y="1245489"/>
                    <a:pt x="6853682" y="1252982"/>
                    <a:pt x="68444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6844411" y="1219200"/>
                  </a:lnTo>
                  <a:lnTo>
                    <a:pt x="6844411" y="1236091"/>
                  </a:lnTo>
                  <a:lnTo>
                    <a:pt x="6827520" y="123609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6753863" y="6040631"/>
            <a:ext cx="208283" cy="208283"/>
            <a:chOff x="0" y="0"/>
            <a:chExt cx="277711" cy="27771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7095744" y="5852160"/>
            <a:ext cx="4480560" cy="640080"/>
            <a:chOff x="0" y="0"/>
            <a:chExt cx="5974080" cy="8534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974080" cy="853440"/>
            </a:xfrm>
            <a:custGeom>
              <a:avLst/>
              <a:gdLst/>
              <a:ahLst/>
              <a:cxnLst/>
              <a:rect r="r" b="b" t="t" l="l"/>
              <a:pathLst>
                <a:path h="85344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5974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Poor long-term memory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148823" y="2547623"/>
            <a:ext cx="5511803" cy="5237483"/>
            <a:chOff x="0" y="0"/>
            <a:chExt cx="7349071" cy="698331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7315200" cy="6949440"/>
            </a:xfrm>
            <a:custGeom>
              <a:avLst/>
              <a:gdLst/>
              <a:ahLst/>
              <a:cxnLst/>
              <a:rect r="r" b="b" t="t" l="l"/>
              <a:pathLst>
                <a:path h="69494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949440"/>
                  </a:lnTo>
                  <a:lnTo>
                    <a:pt x="0" y="6949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7348982" cy="6983222"/>
            </a:xfrm>
            <a:custGeom>
              <a:avLst/>
              <a:gdLst/>
              <a:ahLst/>
              <a:cxnLst/>
              <a:rect r="r" b="b" t="t" l="l"/>
              <a:pathLst>
                <a:path h="698322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6966331"/>
                  </a:lnTo>
                  <a:cubicBezTo>
                    <a:pt x="7348982" y="6975729"/>
                    <a:pt x="7341362" y="6983222"/>
                    <a:pt x="7332091" y="6983222"/>
                  </a:cubicBezTo>
                  <a:lnTo>
                    <a:pt x="16891" y="6983222"/>
                  </a:lnTo>
                  <a:cubicBezTo>
                    <a:pt x="7493" y="6983222"/>
                    <a:pt x="0" y="6975602"/>
                    <a:pt x="0" y="6966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66331"/>
                  </a:lnTo>
                  <a:lnTo>
                    <a:pt x="16891" y="6966331"/>
                  </a:lnTo>
                  <a:lnTo>
                    <a:pt x="16891" y="6949440"/>
                  </a:lnTo>
                  <a:lnTo>
                    <a:pt x="7332091" y="6949440"/>
                  </a:lnTo>
                  <a:lnTo>
                    <a:pt x="7332091" y="6966331"/>
                  </a:lnTo>
                  <a:lnTo>
                    <a:pt x="7315200" y="696633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2148823" y="2547623"/>
            <a:ext cx="5511803" cy="98555"/>
            <a:chOff x="0" y="0"/>
            <a:chExt cx="7349071" cy="131407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7315200" cy="97536"/>
            </a:xfrm>
            <a:custGeom>
              <a:avLst/>
              <a:gdLst/>
              <a:ahLst/>
              <a:cxnLst/>
              <a:rect r="r" b="b" t="t" l="l"/>
              <a:pathLst>
                <a:path h="9753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348982" cy="131320"/>
            </a:xfrm>
            <a:custGeom>
              <a:avLst/>
              <a:gdLst/>
              <a:ahLst/>
              <a:cxnLst/>
              <a:rect r="r" b="b" t="t" l="l"/>
              <a:pathLst>
                <a:path h="13132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14427"/>
                  </a:lnTo>
                  <a:cubicBezTo>
                    <a:pt x="7348982" y="123825"/>
                    <a:pt x="7341362" y="131318"/>
                    <a:pt x="73320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7332091" y="97536"/>
                  </a:lnTo>
                  <a:lnTo>
                    <a:pt x="7332091" y="114427"/>
                  </a:lnTo>
                  <a:lnTo>
                    <a:pt x="7315200" y="11442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2331703" y="2767079"/>
            <a:ext cx="610619" cy="610619"/>
            <a:chOff x="0" y="0"/>
            <a:chExt cx="814159" cy="81415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814070" cy="814072"/>
            </a:xfrm>
            <a:custGeom>
              <a:avLst/>
              <a:gdLst/>
              <a:ahLst/>
              <a:cxnLst/>
              <a:rect r="r" b="b" t="t" l="l"/>
              <a:pathLst>
                <a:path h="814072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797179"/>
                  </a:lnTo>
                  <a:cubicBezTo>
                    <a:pt x="814070" y="806577"/>
                    <a:pt x="806450" y="814070"/>
                    <a:pt x="797179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797179" y="780288"/>
                  </a:lnTo>
                  <a:lnTo>
                    <a:pt x="797179" y="797179"/>
                  </a:lnTo>
                  <a:lnTo>
                    <a:pt x="780288" y="797179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417552" y="2834640"/>
            <a:ext cx="438912" cy="438912"/>
            <a:chOff x="0" y="0"/>
            <a:chExt cx="585216" cy="585216"/>
          </a:xfrm>
        </p:grpSpPr>
        <p:sp>
          <p:nvSpPr>
            <p:cNvPr name="Freeform 117" id="117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3075920" y="2834640"/>
            <a:ext cx="4389120" cy="512064"/>
            <a:chOff x="0" y="0"/>
            <a:chExt cx="5852160" cy="68275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852160" cy="682752"/>
            </a:xfrm>
            <a:custGeom>
              <a:avLst/>
              <a:gdLst/>
              <a:ahLst/>
              <a:cxnLst/>
              <a:rect r="r" b="b" t="t" l="l"/>
              <a:pathLst>
                <a:path h="68275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58521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Poor Generalization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2331703" y="3644903"/>
            <a:ext cx="5146043" cy="939803"/>
            <a:chOff x="0" y="0"/>
            <a:chExt cx="6861391" cy="1253071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16891" y="16891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6861301" cy="1252984"/>
            </a:xfrm>
            <a:custGeom>
              <a:avLst/>
              <a:gdLst/>
              <a:ahLst/>
              <a:cxnLst/>
              <a:rect r="r" b="b" t="t" l="l"/>
              <a:pathLst>
                <a:path h="125298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236091"/>
                  </a:lnTo>
                  <a:cubicBezTo>
                    <a:pt x="6861301" y="1245489"/>
                    <a:pt x="6853682" y="1252982"/>
                    <a:pt x="68444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6844411" y="1219200"/>
                  </a:lnTo>
                  <a:lnTo>
                    <a:pt x="6844411" y="1236091"/>
                  </a:lnTo>
                  <a:lnTo>
                    <a:pt x="6827520" y="123609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2514583" y="3992375"/>
            <a:ext cx="208283" cy="208283"/>
            <a:chOff x="0" y="0"/>
            <a:chExt cx="277711" cy="277711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2856464" y="3803904"/>
            <a:ext cx="4480560" cy="640080"/>
            <a:chOff x="0" y="0"/>
            <a:chExt cx="5974080" cy="85344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5974080" cy="853440"/>
            </a:xfrm>
            <a:custGeom>
              <a:avLst/>
              <a:gdLst/>
              <a:ahLst/>
              <a:cxnLst/>
              <a:rect r="r" b="b" t="t" l="l"/>
              <a:pathLst>
                <a:path h="85344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5974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Overfitting to training data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2331703" y="4669031"/>
            <a:ext cx="5146043" cy="939803"/>
            <a:chOff x="0" y="0"/>
            <a:chExt cx="6861391" cy="1253071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16891" y="16891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6861301" cy="1252984"/>
            </a:xfrm>
            <a:custGeom>
              <a:avLst/>
              <a:gdLst/>
              <a:ahLst/>
              <a:cxnLst/>
              <a:rect r="r" b="b" t="t" l="l"/>
              <a:pathLst>
                <a:path h="125298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236091"/>
                  </a:lnTo>
                  <a:cubicBezTo>
                    <a:pt x="6861301" y="1245489"/>
                    <a:pt x="6853682" y="1252982"/>
                    <a:pt x="68444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6844411" y="1219200"/>
                  </a:lnTo>
                  <a:lnTo>
                    <a:pt x="6844411" y="1236091"/>
                  </a:lnTo>
                  <a:lnTo>
                    <a:pt x="6827520" y="123609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2514583" y="5016503"/>
            <a:ext cx="208283" cy="208283"/>
            <a:chOff x="0" y="0"/>
            <a:chExt cx="277711" cy="277711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12856464" y="4828032"/>
            <a:ext cx="4480560" cy="640080"/>
            <a:chOff x="0" y="0"/>
            <a:chExt cx="5974080" cy="85344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5974080" cy="853440"/>
            </a:xfrm>
            <a:custGeom>
              <a:avLst/>
              <a:gdLst/>
              <a:ahLst/>
              <a:cxnLst/>
              <a:rect r="r" b="b" t="t" l="l"/>
              <a:pathLst>
                <a:path h="85344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5974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Domain-specific limitations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2331703" y="5693159"/>
            <a:ext cx="5146043" cy="939803"/>
            <a:chOff x="0" y="0"/>
            <a:chExt cx="6861391" cy="1253071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16891" y="16891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861301" cy="1252984"/>
            </a:xfrm>
            <a:custGeom>
              <a:avLst/>
              <a:gdLst/>
              <a:ahLst/>
              <a:cxnLst/>
              <a:rect r="r" b="b" t="t" l="l"/>
              <a:pathLst>
                <a:path h="125298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236091"/>
                  </a:lnTo>
                  <a:cubicBezTo>
                    <a:pt x="6861301" y="1245489"/>
                    <a:pt x="6853682" y="1252982"/>
                    <a:pt x="684441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6844411" y="1219200"/>
                  </a:lnTo>
                  <a:lnTo>
                    <a:pt x="6844411" y="1236091"/>
                  </a:lnTo>
                  <a:lnTo>
                    <a:pt x="6827520" y="123609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2514583" y="6040631"/>
            <a:ext cx="208283" cy="208283"/>
            <a:chOff x="0" y="0"/>
            <a:chExt cx="277711" cy="277711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12856464" y="5852160"/>
            <a:ext cx="4480560" cy="640080"/>
            <a:chOff x="0" y="0"/>
            <a:chExt cx="5974080" cy="85344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5974080" cy="853440"/>
            </a:xfrm>
            <a:custGeom>
              <a:avLst/>
              <a:gdLst/>
              <a:ahLst/>
              <a:cxnLst/>
              <a:rect r="r" b="b" t="t" l="l"/>
              <a:pathLst>
                <a:path h="85344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59740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Transfer learning challenges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627383" y="7997447"/>
            <a:ext cx="17033243" cy="1634747"/>
            <a:chOff x="0" y="0"/>
            <a:chExt cx="22710991" cy="2179663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16891" y="16891"/>
              <a:ext cx="22677119" cy="2145792"/>
            </a:xfrm>
            <a:custGeom>
              <a:avLst/>
              <a:gdLst/>
              <a:ahLst/>
              <a:cxnLst/>
              <a:rect r="r" b="b" t="t" l="l"/>
              <a:pathLst>
                <a:path h="2145792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2710902" cy="2179574"/>
            </a:xfrm>
            <a:custGeom>
              <a:avLst/>
              <a:gdLst/>
              <a:ahLst/>
              <a:cxnLst/>
              <a:rect r="r" b="b" t="t" l="l"/>
              <a:pathLst>
                <a:path h="2179574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2162683"/>
                  </a:lnTo>
                  <a:cubicBezTo>
                    <a:pt x="22710902" y="2172081"/>
                    <a:pt x="22703282" y="2179574"/>
                    <a:pt x="22694010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22694010" y="2145792"/>
                  </a:lnTo>
                  <a:lnTo>
                    <a:pt x="22694010" y="2162683"/>
                  </a:lnTo>
                  <a:lnTo>
                    <a:pt x="22677120" y="2162683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896112" y="8359828"/>
            <a:ext cx="725934" cy="909985"/>
            <a:chOff x="0" y="0"/>
            <a:chExt cx="1738810" cy="2179663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21360" y="16891"/>
              <a:ext cx="1695977" cy="2145792"/>
            </a:xfrm>
            <a:custGeom>
              <a:avLst/>
              <a:gdLst/>
              <a:ahLst/>
              <a:cxnLst/>
              <a:rect r="r" b="b" t="t" l="l"/>
              <a:pathLst>
                <a:path h="2145792" w="1695977">
                  <a:moveTo>
                    <a:pt x="0" y="0"/>
                  </a:moveTo>
                  <a:lnTo>
                    <a:pt x="1695977" y="0"/>
                  </a:lnTo>
                  <a:lnTo>
                    <a:pt x="1695977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738698" cy="2179574"/>
            </a:xfrm>
            <a:custGeom>
              <a:avLst/>
              <a:gdLst/>
              <a:ahLst/>
              <a:cxnLst/>
              <a:rect r="r" b="b" t="t" l="l"/>
              <a:pathLst>
                <a:path h="2179574" w="1738698">
                  <a:moveTo>
                    <a:pt x="21360" y="0"/>
                  </a:moveTo>
                  <a:lnTo>
                    <a:pt x="1717337" y="0"/>
                  </a:lnTo>
                  <a:cubicBezTo>
                    <a:pt x="1729222" y="0"/>
                    <a:pt x="1738698" y="7620"/>
                    <a:pt x="1738698" y="16891"/>
                  </a:cubicBezTo>
                  <a:lnTo>
                    <a:pt x="1738698" y="2162683"/>
                  </a:lnTo>
                  <a:cubicBezTo>
                    <a:pt x="1738698" y="2172081"/>
                    <a:pt x="1729061" y="2179574"/>
                    <a:pt x="1717337" y="2179574"/>
                  </a:cubicBezTo>
                  <a:lnTo>
                    <a:pt x="21360" y="2179574"/>
                  </a:lnTo>
                  <a:cubicBezTo>
                    <a:pt x="9476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9636" y="0"/>
                    <a:pt x="21360" y="0"/>
                  </a:cubicBezTo>
                  <a:moveTo>
                    <a:pt x="21360" y="33909"/>
                  </a:moveTo>
                  <a:lnTo>
                    <a:pt x="21360" y="16891"/>
                  </a:lnTo>
                  <a:lnTo>
                    <a:pt x="42881" y="16891"/>
                  </a:lnTo>
                  <a:lnTo>
                    <a:pt x="42881" y="2162683"/>
                  </a:lnTo>
                  <a:lnTo>
                    <a:pt x="21360" y="2162683"/>
                  </a:lnTo>
                  <a:lnTo>
                    <a:pt x="21360" y="2145792"/>
                  </a:lnTo>
                  <a:lnTo>
                    <a:pt x="1717337" y="2145792"/>
                  </a:lnTo>
                  <a:lnTo>
                    <a:pt x="1717337" y="2162683"/>
                  </a:lnTo>
                  <a:lnTo>
                    <a:pt x="1695977" y="2162683"/>
                  </a:lnTo>
                  <a:lnTo>
                    <a:pt x="1695977" y="16891"/>
                  </a:lnTo>
                  <a:lnTo>
                    <a:pt x="1717337" y="16891"/>
                  </a:lnTo>
                  <a:lnTo>
                    <a:pt x="1717337" y="33909"/>
                  </a:lnTo>
                  <a:lnTo>
                    <a:pt x="21360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1828800" y="8138160"/>
            <a:ext cx="15544800" cy="1389888"/>
            <a:chOff x="0" y="0"/>
            <a:chExt cx="20726400" cy="1853184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20726400" cy="1853184"/>
            </a:xfrm>
            <a:custGeom>
              <a:avLst/>
              <a:gdLst/>
              <a:ahLst/>
              <a:cxnLst/>
              <a:rect r="r" b="b" t="t" l="l"/>
              <a:pathLst>
                <a:path h="1853184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924" r="0" b="-167924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47625"/>
              <a:ext cx="20726400" cy="19008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Insight: Current AI systems excel at specific tasks but lack general intelligence. OpenCog addresses these limitations by integrating symbolic reasoning with statistical learning.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82880"/>
            <a:ext cx="15544800" cy="694944"/>
            <a:chOff x="0" y="0"/>
            <a:chExt cx="2072640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7264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Motivation for OpenCog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2801600" cy="512064"/>
            <a:chOff x="0" y="0"/>
            <a:chExt cx="170688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Addressing the limitations of current AI systems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44800" y="548640"/>
            <a:ext cx="2560320" cy="457200"/>
            <a:chOff x="0" y="0"/>
            <a:chExt cx="341376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0" cy="609600"/>
            </a:xfrm>
            <a:custGeom>
              <a:avLst/>
              <a:gdLst/>
              <a:ahLst/>
              <a:cxnLst/>
              <a:rect r="r" b="b" t="t" l="l"/>
              <a:pathLst>
                <a:path h="6096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413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6/20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1828800"/>
            <a:ext cx="512064" cy="512064"/>
            <a:chOff x="0" y="0"/>
            <a:chExt cx="682752" cy="68275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1828800"/>
            <a:ext cx="10972800" cy="548640"/>
            <a:chOff x="0" y="0"/>
            <a:chExt cx="146304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46304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Problem-Solution Framework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7383" y="2547623"/>
            <a:ext cx="7523483" cy="4963163"/>
            <a:chOff x="0" y="0"/>
            <a:chExt cx="10031311" cy="66175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9997440" cy="6583681"/>
            </a:xfrm>
            <a:custGeom>
              <a:avLst/>
              <a:gdLst/>
              <a:ahLst/>
              <a:cxnLst/>
              <a:rect r="r" b="b" t="t" l="l"/>
              <a:pathLst>
                <a:path h="6583681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1"/>
                  </a:lnTo>
                  <a:lnTo>
                    <a:pt x="0" y="65836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31222" cy="6617462"/>
            </a:xfrm>
            <a:custGeom>
              <a:avLst/>
              <a:gdLst/>
              <a:ahLst/>
              <a:cxnLst/>
              <a:rect r="r" b="b" t="t" l="l"/>
              <a:pathLst>
                <a:path h="6617462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6600572"/>
                  </a:lnTo>
                  <a:cubicBezTo>
                    <a:pt x="10031222" y="6609969"/>
                    <a:pt x="10023602" y="6617462"/>
                    <a:pt x="10014331" y="6617462"/>
                  </a:cubicBezTo>
                  <a:lnTo>
                    <a:pt x="16891" y="6617462"/>
                  </a:lnTo>
                  <a:cubicBezTo>
                    <a:pt x="7493" y="6617462"/>
                    <a:pt x="0" y="6609842"/>
                    <a:pt x="0" y="6600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600572"/>
                  </a:lnTo>
                  <a:lnTo>
                    <a:pt x="16891" y="6600572"/>
                  </a:lnTo>
                  <a:lnTo>
                    <a:pt x="16891" y="6583680"/>
                  </a:lnTo>
                  <a:lnTo>
                    <a:pt x="10014331" y="6583680"/>
                  </a:lnTo>
                  <a:lnTo>
                    <a:pt x="10014331" y="6600572"/>
                  </a:lnTo>
                  <a:lnTo>
                    <a:pt x="9997440" y="6600572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27383" y="2547623"/>
            <a:ext cx="7523483" cy="116843"/>
            <a:chOff x="0" y="0"/>
            <a:chExt cx="10031311" cy="1557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9997440" cy="121920"/>
            </a:xfrm>
            <a:custGeom>
              <a:avLst/>
              <a:gdLst/>
              <a:ahLst/>
              <a:cxnLst/>
              <a:rect r="r" b="b" t="t" l="l"/>
              <a:pathLst>
                <a:path h="1219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31222" cy="155704"/>
            </a:xfrm>
            <a:custGeom>
              <a:avLst/>
              <a:gdLst/>
              <a:ahLst/>
              <a:cxnLst/>
              <a:rect r="r" b="b" t="t" l="l"/>
              <a:pathLst>
                <a:path h="155704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138811"/>
                  </a:lnTo>
                  <a:cubicBezTo>
                    <a:pt x="10031222" y="148209"/>
                    <a:pt x="10023602" y="155702"/>
                    <a:pt x="1001433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0014331" y="121920"/>
                  </a:lnTo>
                  <a:lnTo>
                    <a:pt x="10014331" y="138811"/>
                  </a:lnTo>
                  <a:lnTo>
                    <a:pt x="9997440" y="138811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" y="2779776"/>
            <a:ext cx="6949440" cy="548640"/>
            <a:chOff x="0" y="0"/>
            <a:chExt cx="926592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265920" cy="731520"/>
            </a:xfrm>
            <a:custGeom>
              <a:avLst/>
              <a:gdLst/>
              <a:ahLst/>
              <a:cxnLst/>
              <a:rect r="r" b="b" t="t" l="l"/>
              <a:pathLst>
                <a:path h="7315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2659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Current AI Limitations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01703" y="3498599"/>
            <a:ext cx="6974843" cy="848363"/>
            <a:chOff x="0" y="0"/>
            <a:chExt cx="9299791" cy="11311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926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EF2F2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2997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9299701">
                  <a:moveTo>
                    <a:pt x="16891" y="0"/>
                  </a:moveTo>
                  <a:lnTo>
                    <a:pt x="9282811" y="0"/>
                  </a:lnTo>
                  <a:cubicBezTo>
                    <a:pt x="9292209" y="0"/>
                    <a:pt x="9299701" y="7620"/>
                    <a:pt x="9299701" y="16891"/>
                  </a:cubicBezTo>
                  <a:lnTo>
                    <a:pt x="9299701" y="1114171"/>
                  </a:lnTo>
                  <a:cubicBezTo>
                    <a:pt x="9299701" y="1123569"/>
                    <a:pt x="9292082" y="1131062"/>
                    <a:pt x="92828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9282811" y="1097280"/>
                  </a:lnTo>
                  <a:lnTo>
                    <a:pt x="9282811" y="1114171"/>
                  </a:lnTo>
                  <a:lnTo>
                    <a:pt x="9265920" y="1114171"/>
                  </a:lnTo>
                  <a:lnTo>
                    <a:pt x="9265920" y="16891"/>
                  </a:lnTo>
                  <a:lnTo>
                    <a:pt x="9282811" y="16891"/>
                  </a:lnTo>
                  <a:lnTo>
                    <a:pt x="9282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88720" y="3621024"/>
            <a:ext cx="6400800" cy="640080"/>
            <a:chOff x="0" y="0"/>
            <a:chExt cx="853440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53440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85344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Narrow AI: Task-specific systems that cannot generalize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01703" y="4449575"/>
            <a:ext cx="6974843" cy="848363"/>
            <a:chOff x="0" y="0"/>
            <a:chExt cx="9299791" cy="11311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926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EF2F2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997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9299701">
                  <a:moveTo>
                    <a:pt x="16891" y="0"/>
                  </a:moveTo>
                  <a:lnTo>
                    <a:pt x="9282811" y="0"/>
                  </a:lnTo>
                  <a:cubicBezTo>
                    <a:pt x="9292209" y="0"/>
                    <a:pt x="9299701" y="7620"/>
                    <a:pt x="9299701" y="16891"/>
                  </a:cubicBezTo>
                  <a:lnTo>
                    <a:pt x="9299701" y="1114171"/>
                  </a:lnTo>
                  <a:cubicBezTo>
                    <a:pt x="9299701" y="1123569"/>
                    <a:pt x="9292082" y="1131062"/>
                    <a:pt x="92828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9282811" y="1097280"/>
                  </a:lnTo>
                  <a:lnTo>
                    <a:pt x="9282811" y="1114171"/>
                  </a:lnTo>
                  <a:lnTo>
                    <a:pt x="9265920" y="1114171"/>
                  </a:lnTo>
                  <a:lnTo>
                    <a:pt x="9265920" y="16891"/>
                  </a:lnTo>
                  <a:lnTo>
                    <a:pt x="9282811" y="16891"/>
                  </a:lnTo>
                  <a:lnTo>
                    <a:pt x="9282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88720" y="4572000"/>
            <a:ext cx="6400800" cy="640080"/>
            <a:chOff x="0" y="0"/>
            <a:chExt cx="8534400" cy="853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3440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85344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Black Box: Lack of interpretability in deep learning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01703" y="5400551"/>
            <a:ext cx="6974843" cy="848363"/>
            <a:chOff x="0" y="0"/>
            <a:chExt cx="9299791" cy="113115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926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EF2F2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2997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9299701">
                  <a:moveTo>
                    <a:pt x="16891" y="0"/>
                  </a:moveTo>
                  <a:lnTo>
                    <a:pt x="9282811" y="0"/>
                  </a:lnTo>
                  <a:cubicBezTo>
                    <a:pt x="9292209" y="0"/>
                    <a:pt x="9299701" y="7620"/>
                    <a:pt x="9299701" y="16891"/>
                  </a:cubicBezTo>
                  <a:lnTo>
                    <a:pt x="9299701" y="1114171"/>
                  </a:lnTo>
                  <a:cubicBezTo>
                    <a:pt x="9299701" y="1123569"/>
                    <a:pt x="9292082" y="1131062"/>
                    <a:pt x="92828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9282811" y="1097280"/>
                  </a:lnTo>
                  <a:lnTo>
                    <a:pt x="9282811" y="1114171"/>
                  </a:lnTo>
                  <a:lnTo>
                    <a:pt x="9265920" y="1114171"/>
                  </a:lnTo>
                  <a:lnTo>
                    <a:pt x="9265920" y="16891"/>
                  </a:lnTo>
                  <a:lnTo>
                    <a:pt x="9282811" y="16891"/>
                  </a:lnTo>
                  <a:lnTo>
                    <a:pt x="9282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88720" y="5522976"/>
            <a:ext cx="6400800" cy="640080"/>
            <a:chOff x="0" y="0"/>
            <a:chExt cx="853440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3440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85344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Dependency: Requires massive training datasets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01703" y="6351527"/>
            <a:ext cx="6974843" cy="848363"/>
            <a:chOff x="0" y="0"/>
            <a:chExt cx="9299791" cy="113115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926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EF2F2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2997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9299701">
                  <a:moveTo>
                    <a:pt x="16891" y="0"/>
                  </a:moveTo>
                  <a:lnTo>
                    <a:pt x="9282811" y="0"/>
                  </a:lnTo>
                  <a:cubicBezTo>
                    <a:pt x="9292209" y="0"/>
                    <a:pt x="9299701" y="7620"/>
                    <a:pt x="9299701" y="16891"/>
                  </a:cubicBezTo>
                  <a:lnTo>
                    <a:pt x="9299701" y="1114171"/>
                  </a:lnTo>
                  <a:cubicBezTo>
                    <a:pt x="9299701" y="1123569"/>
                    <a:pt x="9292082" y="1131062"/>
                    <a:pt x="92828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9282811" y="1097280"/>
                  </a:lnTo>
                  <a:lnTo>
                    <a:pt x="9282811" y="1114171"/>
                  </a:lnTo>
                  <a:lnTo>
                    <a:pt x="9265920" y="1114171"/>
                  </a:lnTo>
                  <a:lnTo>
                    <a:pt x="9265920" y="16891"/>
                  </a:lnTo>
                  <a:lnTo>
                    <a:pt x="9282811" y="16891"/>
                  </a:lnTo>
                  <a:lnTo>
                    <a:pt x="9282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88720" y="6473952"/>
            <a:ext cx="6400800" cy="640080"/>
            <a:chOff x="0" y="0"/>
            <a:chExt cx="8534400" cy="8534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53440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85344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Reasoning: Cannot perform logical/causal inference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66176" y="4791456"/>
            <a:ext cx="731520" cy="731520"/>
            <a:chOff x="0" y="0"/>
            <a:chExt cx="975360" cy="97536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094727" y="2547623"/>
            <a:ext cx="8565899" cy="4963163"/>
            <a:chOff x="0" y="0"/>
            <a:chExt cx="11421199" cy="661755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11387328" cy="6583681"/>
            </a:xfrm>
            <a:custGeom>
              <a:avLst/>
              <a:gdLst/>
              <a:ahLst/>
              <a:cxnLst/>
              <a:rect r="r" b="b" t="t" l="l"/>
              <a:pathLst>
                <a:path h="6583681" w="11387328">
                  <a:moveTo>
                    <a:pt x="0" y="0"/>
                  </a:moveTo>
                  <a:lnTo>
                    <a:pt x="11387328" y="0"/>
                  </a:lnTo>
                  <a:lnTo>
                    <a:pt x="11387328" y="6583681"/>
                  </a:lnTo>
                  <a:lnTo>
                    <a:pt x="0" y="65836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421110" cy="6617462"/>
            </a:xfrm>
            <a:custGeom>
              <a:avLst/>
              <a:gdLst/>
              <a:ahLst/>
              <a:cxnLst/>
              <a:rect r="r" b="b" t="t" l="l"/>
              <a:pathLst>
                <a:path h="6617462" w="11421110">
                  <a:moveTo>
                    <a:pt x="16891" y="0"/>
                  </a:moveTo>
                  <a:lnTo>
                    <a:pt x="11404219" y="0"/>
                  </a:lnTo>
                  <a:cubicBezTo>
                    <a:pt x="11413617" y="0"/>
                    <a:pt x="11421110" y="7620"/>
                    <a:pt x="11421110" y="16891"/>
                  </a:cubicBezTo>
                  <a:lnTo>
                    <a:pt x="11421110" y="6600572"/>
                  </a:lnTo>
                  <a:cubicBezTo>
                    <a:pt x="11421110" y="6609969"/>
                    <a:pt x="11413489" y="6617462"/>
                    <a:pt x="11404219" y="6617462"/>
                  </a:cubicBezTo>
                  <a:lnTo>
                    <a:pt x="16891" y="6617462"/>
                  </a:lnTo>
                  <a:cubicBezTo>
                    <a:pt x="7493" y="6617462"/>
                    <a:pt x="0" y="6609842"/>
                    <a:pt x="0" y="6600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600572"/>
                  </a:lnTo>
                  <a:lnTo>
                    <a:pt x="16891" y="6600572"/>
                  </a:lnTo>
                  <a:lnTo>
                    <a:pt x="16891" y="6583680"/>
                  </a:lnTo>
                  <a:lnTo>
                    <a:pt x="11404219" y="6583680"/>
                  </a:lnTo>
                  <a:lnTo>
                    <a:pt x="11404219" y="6600572"/>
                  </a:lnTo>
                  <a:lnTo>
                    <a:pt x="11387327" y="6600572"/>
                  </a:lnTo>
                  <a:lnTo>
                    <a:pt x="11387327" y="16891"/>
                  </a:lnTo>
                  <a:lnTo>
                    <a:pt x="11404219" y="16891"/>
                  </a:lnTo>
                  <a:lnTo>
                    <a:pt x="114042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094727" y="2547623"/>
            <a:ext cx="8565899" cy="116843"/>
            <a:chOff x="0" y="0"/>
            <a:chExt cx="11421199" cy="15579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11387328" cy="121920"/>
            </a:xfrm>
            <a:custGeom>
              <a:avLst/>
              <a:gdLst/>
              <a:ahLst/>
              <a:cxnLst/>
              <a:rect r="r" b="b" t="t" l="l"/>
              <a:pathLst>
                <a:path h="121920" w="11387328">
                  <a:moveTo>
                    <a:pt x="0" y="0"/>
                  </a:moveTo>
                  <a:lnTo>
                    <a:pt x="11387328" y="0"/>
                  </a:lnTo>
                  <a:lnTo>
                    <a:pt x="11387328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421110" cy="155704"/>
            </a:xfrm>
            <a:custGeom>
              <a:avLst/>
              <a:gdLst/>
              <a:ahLst/>
              <a:cxnLst/>
              <a:rect r="r" b="b" t="t" l="l"/>
              <a:pathLst>
                <a:path h="155704" w="11421110">
                  <a:moveTo>
                    <a:pt x="16891" y="0"/>
                  </a:moveTo>
                  <a:lnTo>
                    <a:pt x="11404219" y="0"/>
                  </a:lnTo>
                  <a:cubicBezTo>
                    <a:pt x="11413617" y="0"/>
                    <a:pt x="11421110" y="7620"/>
                    <a:pt x="11421110" y="16891"/>
                  </a:cubicBezTo>
                  <a:lnTo>
                    <a:pt x="11421110" y="138811"/>
                  </a:lnTo>
                  <a:cubicBezTo>
                    <a:pt x="11421110" y="148209"/>
                    <a:pt x="11413489" y="155702"/>
                    <a:pt x="11404219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1404219" y="121920"/>
                  </a:lnTo>
                  <a:lnTo>
                    <a:pt x="11404219" y="138811"/>
                  </a:lnTo>
                  <a:lnTo>
                    <a:pt x="11387327" y="138811"/>
                  </a:lnTo>
                  <a:lnTo>
                    <a:pt x="11387327" y="16891"/>
                  </a:lnTo>
                  <a:lnTo>
                    <a:pt x="11404219" y="16891"/>
                  </a:lnTo>
                  <a:lnTo>
                    <a:pt x="1140421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363456" y="2779776"/>
            <a:ext cx="7680960" cy="548640"/>
            <a:chOff x="0" y="0"/>
            <a:chExt cx="1024128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102412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OpenCog Solution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350759" y="3498599"/>
            <a:ext cx="8072123" cy="848363"/>
            <a:chOff x="0" y="0"/>
            <a:chExt cx="10762831" cy="113115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1072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76274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114171"/>
                  </a:lnTo>
                  <a:cubicBezTo>
                    <a:pt x="10762742" y="1123569"/>
                    <a:pt x="10755122" y="1131062"/>
                    <a:pt x="1074585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745851" y="1097280"/>
                  </a:lnTo>
                  <a:lnTo>
                    <a:pt x="10745851" y="1114171"/>
                  </a:lnTo>
                  <a:lnTo>
                    <a:pt x="10728960" y="111417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F7D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637776" y="3621024"/>
            <a:ext cx="7498080" cy="640080"/>
            <a:chOff x="0" y="0"/>
            <a:chExt cx="9997440" cy="8534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9997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Unified Architecture: Integrates reasoning, learning, and attention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350759" y="4449575"/>
            <a:ext cx="8072123" cy="848363"/>
            <a:chOff x="0" y="0"/>
            <a:chExt cx="10762831" cy="113115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1072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76274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114171"/>
                  </a:lnTo>
                  <a:cubicBezTo>
                    <a:pt x="10762742" y="1123569"/>
                    <a:pt x="10755122" y="1131062"/>
                    <a:pt x="1074585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745851" y="1097280"/>
                  </a:lnTo>
                  <a:lnTo>
                    <a:pt x="10745851" y="1114171"/>
                  </a:lnTo>
                  <a:lnTo>
                    <a:pt x="10728960" y="111417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F7D0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637776" y="4572000"/>
            <a:ext cx="7498080" cy="640080"/>
            <a:chOff x="0" y="0"/>
            <a:chExt cx="9997440" cy="8534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997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Symbolic + Neural: Combines logic with statistical learning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350759" y="5400551"/>
            <a:ext cx="8072123" cy="848363"/>
            <a:chOff x="0" y="0"/>
            <a:chExt cx="10762831" cy="113115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6891" y="16891"/>
              <a:ext cx="1072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76274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114171"/>
                  </a:lnTo>
                  <a:cubicBezTo>
                    <a:pt x="10762742" y="1123569"/>
                    <a:pt x="10755122" y="1131062"/>
                    <a:pt x="1074585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745851" y="1097280"/>
                  </a:lnTo>
                  <a:lnTo>
                    <a:pt x="10745851" y="1114171"/>
                  </a:lnTo>
                  <a:lnTo>
                    <a:pt x="10728960" y="111417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F7D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637776" y="5522976"/>
            <a:ext cx="7498080" cy="640080"/>
            <a:chOff x="0" y="0"/>
            <a:chExt cx="9997440" cy="853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9997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Interpretable: Transparent and explainable reasoning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350759" y="6351527"/>
            <a:ext cx="8072123" cy="848363"/>
            <a:chOff x="0" y="0"/>
            <a:chExt cx="10762831" cy="113115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1072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76274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114171"/>
                  </a:lnTo>
                  <a:cubicBezTo>
                    <a:pt x="10762742" y="1123569"/>
                    <a:pt x="10755122" y="1131062"/>
                    <a:pt x="1074585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745851" y="1097280"/>
                  </a:lnTo>
                  <a:lnTo>
                    <a:pt x="10745851" y="1114171"/>
                  </a:lnTo>
                  <a:lnTo>
                    <a:pt x="10728960" y="111417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BF7D0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637776" y="6473952"/>
            <a:ext cx="7498080" cy="640080"/>
            <a:chOff x="0" y="0"/>
            <a:chExt cx="9997440" cy="8534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9997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AGI Ready: Designed for general intelligence from ground up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627383" y="7759703"/>
            <a:ext cx="17033243" cy="1945643"/>
            <a:chOff x="0" y="0"/>
            <a:chExt cx="22710991" cy="259419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6891" y="16891"/>
              <a:ext cx="22677119" cy="2560320"/>
            </a:xfrm>
            <a:custGeom>
              <a:avLst/>
              <a:gdLst/>
              <a:ahLst/>
              <a:cxnLst/>
              <a:rect r="r" b="b" t="t" l="l"/>
              <a:pathLst>
                <a:path h="256032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2710902" cy="2594102"/>
            </a:xfrm>
            <a:custGeom>
              <a:avLst/>
              <a:gdLst/>
              <a:ahLst/>
              <a:cxnLst/>
              <a:rect r="r" b="b" t="t" l="l"/>
              <a:pathLst>
                <a:path h="259410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2577211"/>
                  </a:lnTo>
                  <a:cubicBezTo>
                    <a:pt x="22710902" y="2586609"/>
                    <a:pt x="22703282" y="2594102"/>
                    <a:pt x="22694010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22694010" y="2560320"/>
                  </a:lnTo>
                  <a:lnTo>
                    <a:pt x="22694010" y="2577211"/>
                  </a:lnTo>
                  <a:lnTo>
                    <a:pt x="22677120" y="257721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27383" y="7759703"/>
            <a:ext cx="1031243" cy="1945643"/>
            <a:chOff x="0" y="0"/>
            <a:chExt cx="1374991" cy="259419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6891" y="16891"/>
              <a:ext cx="13411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37490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2577211"/>
                  </a:lnTo>
                  <a:cubicBezTo>
                    <a:pt x="1374902" y="2586609"/>
                    <a:pt x="1367282" y="2594102"/>
                    <a:pt x="135801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1358011" y="2560320"/>
                  </a:lnTo>
                  <a:lnTo>
                    <a:pt x="1358011" y="2577211"/>
                  </a:lnTo>
                  <a:lnTo>
                    <a:pt x="1341120" y="257721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832485" y="8348986"/>
            <a:ext cx="548640" cy="548640"/>
            <a:chOff x="0" y="0"/>
            <a:chExt cx="731520" cy="731520"/>
          </a:xfrm>
        </p:grpSpPr>
        <p:sp>
          <p:nvSpPr>
            <p:cNvPr name="Freeform 94" id="94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828800" y="7863840"/>
            <a:ext cx="9144000" cy="475488"/>
            <a:chOff x="0" y="0"/>
            <a:chExt cx="12192000" cy="6339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2192000" cy="633984"/>
            </a:xfrm>
            <a:custGeom>
              <a:avLst/>
              <a:gdLst/>
              <a:ahLst/>
              <a:cxnLst/>
              <a:rect r="r" b="b" t="t" l="l"/>
              <a:pathLst>
                <a:path h="63398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2192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OpenCog Matters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828800" y="8339328"/>
            <a:ext cx="10972800" cy="1188720"/>
            <a:chOff x="0" y="0"/>
            <a:chExt cx="14630400" cy="158496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46304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61" r="0" b="-12986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463040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OpenCog addresses the fundamental limitations of current AI by providing a unified cognitive architecture combining symbolic reasoning with neural learning, enabling true general intelligence.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154663" y="7887719"/>
            <a:ext cx="1305563" cy="1634747"/>
            <a:chOff x="0" y="0"/>
            <a:chExt cx="1740751" cy="217966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7068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74066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740662">
                  <a:moveTo>
                    <a:pt x="16891" y="0"/>
                  </a:moveTo>
                  <a:lnTo>
                    <a:pt x="1723771" y="0"/>
                  </a:lnTo>
                  <a:cubicBezTo>
                    <a:pt x="1733169" y="0"/>
                    <a:pt x="1740662" y="7620"/>
                    <a:pt x="1740662" y="16891"/>
                  </a:cubicBezTo>
                  <a:lnTo>
                    <a:pt x="1740662" y="2162683"/>
                  </a:lnTo>
                  <a:cubicBezTo>
                    <a:pt x="1740662" y="2172081"/>
                    <a:pt x="1733042" y="2179574"/>
                    <a:pt x="172377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723771" y="2145792"/>
                  </a:lnTo>
                  <a:lnTo>
                    <a:pt x="1723771" y="2162683"/>
                  </a:lnTo>
                  <a:lnTo>
                    <a:pt x="1706880" y="2162683"/>
                  </a:lnTo>
                  <a:lnTo>
                    <a:pt x="1706880" y="16891"/>
                  </a:lnTo>
                  <a:lnTo>
                    <a:pt x="1723771" y="16891"/>
                  </a:lnTo>
                  <a:lnTo>
                    <a:pt x="1723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3167360" y="8194934"/>
            <a:ext cx="1280160" cy="585216"/>
            <a:chOff x="0" y="0"/>
            <a:chExt cx="1706880" cy="78028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66675"/>
              <a:ext cx="1706880" cy="846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15+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167360" y="8631936"/>
            <a:ext cx="1280160" cy="731520"/>
            <a:chOff x="0" y="0"/>
            <a:chExt cx="1706880" cy="97536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706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17068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Years Dev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4581127" y="7887719"/>
            <a:ext cx="1305563" cy="1634747"/>
            <a:chOff x="0" y="0"/>
            <a:chExt cx="1740751" cy="2179663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17068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74066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740662">
                  <a:moveTo>
                    <a:pt x="16891" y="0"/>
                  </a:moveTo>
                  <a:lnTo>
                    <a:pt x="1723771" y="0"/>
                  </a:lnTo>
                  <a:cubicBezTo>
                    <a:pt x="1733169" y="0"/>
                    <a:pt x="1740662" y="7620"/>
                    <a:pt x="1740662" y="16891"/>
                  </a:cubicBezTo>
                  <a:lnTo>
                    <a:pt x="1740662" y="2162683"/>
                  </a:lnTo>
                  <a:cubicBezTo>
                    <a:pt x="1740662" y="2172081"/>
                    <a:pt x="1733042" y="2179574"/>
                    <a:pt x="172377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723771" y="2145792"/>
                  </a:lnTo>
                  <a:lnTo>
                    <a:pt x="1723771" y="2162683"/>
                  </a:lnTo>
                  <a:lnTo>
                    <a:pt x="1706880" y="2162683"/>
                  </a:lnTo>
                  <a:lnTo>
                    <a:pt x="1706880" y="16891"/>
                  </a:lnTo>
                  <a:lnTo>
                    <a:pt x="1723771" y="16891"/>
                  </a:lnTo>
                  <a:lnTo>
                    <a:pt x="1723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4593824" y="8194934"/>
            <a:ext cx="1280160" cy="585216"/>
            <a:chOff x="0" y="0"/>
            <a:chExt cx="1706880" cy="78028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66675"/>
              <a:ext cx="1706880" cy="846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50+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4593824" y="8631936"/>
            <a:ext cx="1280160" cy="731520"/>
            <a:chOff x="0" y="0"/>
            <a:chExt cx="1706880" cy="97536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706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17068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Components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6007591" y="7887719"/>
            <a:ext cx="1305563" cy="1634747"/>
            <a:chOff x="0" y="0"/>
            <a:chExt cx="1740751" cy="217966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7068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740662" cy="2179574"/>
            </a:xfrm>
            <a:custGeom>
              <a:avLst/>
              <a:gdLst/>
              <a:ahLst/>
              <a:cxnLst/>
              <a:rect r="r" b="b" t="t" l="l"/>
              <a:pathLst>
                <a:path h="2179574" w="1740662">
                  <a:moveTo>
                    <a:pt x="16891" y="0"/>
                  </a:moveTo>
                  <a:lnTo>
                    <a:pt x="1723771" y="0"/>
                  </a:lnTo>
                  <a:cubicBezTo>
                    <a:pt x="1733169" y="0"/>
                    <a:pt x="1740662" y="7620"/>
                    <a:pt x="1740662" y="16891"/>
                  </a:cubicBezTo>
                  <a:lnTo>
                    <a:pt x="1740662" y="2162683"/>
                  </a:lnTo>
                  <a:cubicBezTo>
                    <a:pt x="1740662" y="2172081"/>
                    <a:pt x="1733042" y="2179574"/>
                    <a:pt x="1723771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1723771" y="2145792"/>
                  </a:lnTo>
                  <a:lnTo>
                    <a:pt x="1723771" y="2162683"/>
                  </a:lnTo>
                  <a:lnTo>
                    <a:pt x="1706880" y="2162683"/>
                  </a:lnTo>
                  <a:lnTo>
                    <a:pt x="1706880" y="16891"/>
                  </a:lnTo>
                  <a:lnTo>
                    <a:pt x="1723771" y="16891"/>
                  </a:lnTo>
                  <a:lnTo>
                    <a:pt x="1723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6020288" y="8194934"/>
            <a:ext cx="1280160" cy="585216"/>
            <a:chOff x="0" y="0"/>
            <a:chExt cx="1706880" cy="78028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66675"/>
              <a:ext cx="1706880" cy="846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1000+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6020288" y="8631936"/>
            <a:ext cx="1280160" cy="731520"/>
            <a:chOff x="0" y="0"/>
            <a:chExt cx="1706880" cy="97536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706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17068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Contributors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82880"/>
            <a:ext cx="15544800" cy="694944"/>
            <a:chOff x="0" y="0"/>
            <a:chExt cx="2072640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7264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OpenCog?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2801600" cy="512064"/>
            <a:chOff x="0" y="0"/>
            <a:chExt cx="170688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Understanding the framework for AGI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44800" y="548640"/>
            <a:ext cx="2560320" cy="457200"/>
            <a:chOff x="0" y="0"/>
            <a:chExt cx="341376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0" cy="609600"/>
            </a:xfrm>
            <a:custGeom>
              <a:avLst/>
              <a:gdLst/>
              <a:ahLst/>
              <a:cxnLst/>
              <a:rect r="r" b="b" t="t" l="l"/>
              <a:pathLst>
                <a:path h="6096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413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7/20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1828800"/>
            <a:ext cx="512064" cy="512064"/>
            <a:chOff x="0" y="0"/>
            <a:chExt cx="682752" cy="68275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1828800"/>
            <a:ext cx="10972800" cy="548640"/>
            <a:chOff x="0" y="0"/>
            <a:chExt cx="146304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46304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Framework Overview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91623" y="1852679"/>
            <a:ext cx="5969003" cy="574043"/>
            <a:chOff x="0" y="0"/>
            <a:chExt cx="7958671" cy="7653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7924927" cy="731520"/>
            </a:xfrm>
            <a:custGeom>
              <a:avLst/>
              <a:gdLst/>
              <a:ahLst/>
              <a:cxnLst/>
              <a:rect r="r" b="b" t="t" l="l"/>
              <a:pathLst>
                <a:path h="731520" w="7924927">
                  <a:moveTo>
                    <a:pt x="0" y="365760"/>
                  </a:moveTo>
                  <a:cubicBezTo>
                    <a:pt x="0" y="163703"/>
                    <a:pt x="170561" y="0"/>
                    <a:pt x="381127" y="0"/>
                  </a:cubicBezTo>
                  <a:lnTo>
                    <a:pt x="7543800" y="0"/>
                  </a:lnTo>
                  <a:cubicBezTo>
                    <a:pt x="7754239" y="0"/>
                    <a:pt x="7924927" y="163703"/>
                    <a:pt x="7924927" y="365760"/>
                  </a:cubicBezTo>
                  <a:cubicBezTo>
                    <a:pt x="7924927" y="567817"/>
                    <a:pt x="7754366" y="731520"/>
                    <a:pt x="7543800" y="731520"/>
                  </a:cubicBezTo>
                  <a:lnTo>
                    <a:pt x="381127" y="731520"/>
                  </a:lnTo>
                  <a:cubicBezTo>
                    <a:pt x="170688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58710" cy="765302"/>
            </a:xfrm>
            <a:custGeom>
              <a:avLst/>
              <a:gdLst/>
              <a:ahLst/>
              <a:cxnLst/>
              <a:rect r="r" b="b" t="t" l="l"/>
              <a:pathLst>
                <a:path h="765302" w="7958710">
                  <a:moveTo>
                    <a:pt x="0" y="382651"/>
                  </a:moveTo>
                  <a:cubicBezTo>
                    <a:pt x="0" y="170688"/>
                    <a:pt x="178816" y="0"/>
                    <a:pt x="398018" y="0"/>
                  </a:cubicBezTo>
                  <a:lnTo>
                    <a:pt x="7560691" y="0"/>
                  </a:lnTo>
                  <a:lnTo>
                    <a:pt x="7560691" y="16891"/>
                  </a:lnTo>
                  <a:lnTo>
                    <a:pt x="7560691" y="0"/>
                  </a:lnTo>
                  <a:cubicBezTo>
                    <a:pt x="7779893" y="0"/>
                    <a:pt x="7958710" y="170688"/>
                    <a:pt x="7958710" y="382651"/>
                  </a:cubicBezTo>
                  <a:lnTo>
                    <a:pt x="7941818" y="382651"/>
                  </a:lnTo>
                  <a:lnTo>
                    <a:pt x="7958710" y="382651"/>
                  </a:lnTo>
                  <a:lnTo>
                    <a:pt x="7941818" y="382651"/>
                  </a:lnTo>
                  <a:lnTo>
                    <a:pt x="7958710" y="382651"/>
                  </a:lnTo>
                  <a:cubicBezTo>
                    <a:pt x="7958710" y="594614"/>
                    <a:pt x="7779893" y="765302"/>
                    <a:pt x="7560691" y="765302"/>
                  </a:cubicBezTo>
                  <a:lnTo>
                    <a:pt x="7560691" y="748411"/>
                  </a:lnTo>
                  <a:lnTo>
                    <a:pt x="7560691" y="765302"/>
                  </a:lnTo>
                  <a:lnTo>
                    <a:pt x="398018" y="765302"/>
                  </a:lnTo>
                  <a:lnTo>
                    <a:pt x="398018" y="748411"/>
                  </a:lnTo>
                  <a:lnTo>
                    <a:pt x="398018" y="765302"/>
                  </a:lnTo>
                  <a:cubicBezTo>
                    <a:pt x="178816" y="765429"/>
                    <a:pt x="0" y="594741"/>
                    <a:pt x="0" y="382651"/>
                  </a:cubicBezTo>
                  <a:lnTo>
                    <a:pt x="16891" y="382651"/>
                  </a:lnTo>
                  <a:lnTo>
                    <a:pt x="0" y="382651"/>
                  </a:lnTo>
                  <a:moveTo>
                    <a:pt x="33909" y="382651"/>
                  </a:moveTo>
                  <a:lnTo>
                    <a:pt x="16891" y="382651"/>
                  </a:lnTo>
                  <a:lnTo>
                    <a:pt x="33909" y="382651"/>
                  </a:lnTo>
                  <a:cubicBezTo>
                    <a:pt x="33909" y="574675"/>
                    <a:pt x="196215" y="731520"/>
                    <a:pt x="398018" y="731520"/>
                  </a:cubicBezTo>
                  <a:lnTo>
                    <a:pt x="7560691" y="731520"/>
                  </a:lnTo>
                  <a:cubicBezTo>
                    <a:pt x="7762494" y="731520"/>
                    <a:pt x="7924800" y="574675"/>
                    <a:pt x="7924800" y="382651"/>
                  </a:cubicBezTo>
                  <a:cubicBezTo>
                    <a:pt x="7924800" y="190627"/>
                    <a:pt x="7762494" y="33782"/>
                    <a:pt x="7560691" y="33782"/>
                  </a:cubicBezTo>
                  <a:lnTo>
                    <a:pt x="398018" y="33782"/>
                  </a:lnTo>
                  <a:lnTo>
                    <a:pt x="398018" y="16891"/>
                  </a:lnTo>
                  <a:lnTo>
                    <a:pt x="398018" y="33909"/>
                  </a:lnTo>
                  <a:cubicBezTo>
                    <a:pt x="196215" y="33909"/>
                    <a:pt x="33909" y="190627"/>
                    <a:pt x="33909" y="382651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704320" y="1865376"/>
            <a:ext cx="5943600" cy="548640"/>
            <a:chOff x="0" y="0"/>
            <a:chExt cx="792480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924800" cy="731520"/>
            </a:xfrm>
            <a:custGeom>
              <a:avLst/>
              <a:gdLst/>
              <a:ahLst/>
              <a:cxnLst/>
              <a:rect r="r" b="b" t="t" l="l"/>
              <a:pathLst>
                <a:path h="73152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924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OpenCog: A unified cognitive architecture for AGI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7383" y="2547623"/>
            <a:ext cx="10632443" cy="2768603"/>
            <a:chOff x="0" y="0"/>
            <a:chExt cx="14176591" cy="36914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4142719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142719">
                  <a:moveTo>
                    <a:pt x="0" y="0"/>
                  </a:moveTo>
                  <a:lnTo>
                    <a:pt x="14142719" y="0"/>
                  </a:lnTo>
                  <a:lnTo>
                    <a:pt x="14142719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176502" cy="3691382"/>
            </a:xfrm>
            <a:custGeom>
              <a:avLst/>
              <a:gdLst/>
              <a:ahLst/>
              <a:cxnLst/>
              <a:rect r="r" b="b" t="t" l="l"/>
              <a:pathLst>
                <a:path h="3691382" w="14176502">
                  <a:moveTo>
                    <a:pt x="16891" y="0"/>
                  </a:moveTo>
                  <a:lnTo>
                    <a:pt x="14159610" y="0"/>
                  </a:lnTo>
                  <a:cubicBezTo>
                    <a:pt x="14169008" y="0"/>
                    <a:pt x="14176502" y="7620"/>
                    <a:pt x="14176502" y="16891"/>
                  </a:cubicBezTo>
                  <a:lnTo>
                    <a:pt x="14176502" y="3674491"/>
                  </a:lnTo>
                  <a:cubicBezTo>
                    <a:pt x="14176502" y="3683889"/>
                    <a:pt x="14168882" y="3691382"/>
                    <a:pt x="14159610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14159610" y="3657600"/>
                  </a:lnTo>
                  <a:lnTo>
                    <a:pt x="14159610" y="3674491"/>
                  </a:lnTo>
                  <a:lnTo>
                    <a:pt x="14142720" y="3674491"/>
                  </a:lnTo>
                  <a:lnTo>
                    <a:pt x="14142720" y="16891"/>
                  </a:lnTo>
                  <a:lnTo>
                    <a:pt x="14159610" y="16891"/>
                  </a:lnTo>
                  <a:lnTo>
                    <a:pt x="14159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05840" y="2706624"/>
            <a:ext cx="9144000" cy="475488"/>
            <a:chOff x="0" y="0"/>
            <a:chExt cx="12192000" cy="6339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192000" cy="633984"/>
            </a:xfrm>
            <a:custGeom>
              <a:avLst/>
              <a:gdLst/>
              <a:ahLst/>
              <a:cxnLst/>
              <a:rect r="r" b="b" t="t" l="l"/>
              <a:pathLst>
                <a:path h="63398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2192000" cy="6911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Definition of OpenCog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05840" y="3236976"/>
            <a:ext cx="10058400" cy="1828800"/>
            <a:chOff x="0" y="0"/>
            <a:chExt cx="13411200" cy="2438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4112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341120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OpenCog is an open-source software framework for building Artificial General Intelligence (AGI). It provides a unified cognitive architecture integrating symbolic reasoning, probabilistic logic, neural networks, and evolutionary learning. Built around AtomSpace — a hypergraph knowledge representation system.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27383" y="5565143"/>
            <a:ext cx="5146043" cy="1214123"/>
            <a:chOff x="0" y="0"/>
            <a:chExt cx="6861391" cy="16188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6827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61301" cy="1618742"/>
            </a:xfrm>
            <a:custGeom>
              <a:avLst/>
              <a:gdLst/>
              <a:ahLst/>
              <a:cxnLst/>
              <a:rect r="r" b="b" t="t" l="l"/>
              <a:pathLst>
                <a:path h="161874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601851"/>
                  </a:lnTo>
                  <a:cubicBezTo>
                    <a:pt x="6861301" y="1611249"/>
                    <a:pt x="6853682" y="1618742"/>
                    <a:pt x="684441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6844411" y="1584960"/>
                  </a:lnTo>
                  <a:lnTo>
                    <a:pt x="6844411" y="1601851"/>
                  </a:lnTo>
                  <a:lnTo>
                    <a:pt x="6827520" y="160185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59536" y="5687568"/>
            <a:ext cx="4663440" cy="402336"/>
            <a:chOff x="0" y="0"/>
            <a:chExt cx="6217920" cy="5364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17920" cy="536448"/>
            </a:xfrm>
            <a:custGeom>
              <a:avLst/>
              <a:gdLst/>
              <a:ahLst/>
              <a:cxnLst/>
              <a:rect r="r" b="b" t="t" l="l"/>
              <a:pathLst>
                <a:path h="536448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849" r="0" b="-17584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21792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Cognitive Integration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59536" y="6126480"/>
            <a:ext cx="4663440" cy="512064"/>
            <a:chOff x="0" y="0"/>
            <a:chExt cx="621792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17920" cy="682752"/>
            </a:xfrm>
            <a:custGeom>
              <a:avLst/>
              <a:gdLst/>
              <a:ahLst/>
              <a:cxnLst/>
              <a:rect r="r" b="b" t="t" l="l"/>
              <a:pathLst>
                <a:path h="68275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217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Combines multiple AI approaches into a unified system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022343" y="5565143"/>
            <a:ext cx="5146043" cy="1214123"/>
            <a:chOff x="0" y="0"/>
            <a:chExt cx="6861391" cy="161883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6827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61301" cy="1618742"/>
            </a:xfrm>
            <a:custGeom>
              <a:avLst/>
              <a:gdLst/>
              <a:ahLst/>
              <a:cxnLst/>
              <a:rect r="r" b="b" t="t" l="l"/>
              <a:pathLst>
                <a:path h="161874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601851"/>
                  </a:lnTo>
                  <a:cubicBezTo>
                    <a:pt x="6861301" y="1611249"/>
                    <a:pt x="6853682" y="1618742"/>
                    <a:pt x="684441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6844411" y="1584960"/>
                  </a:lnTo>
                  <a:lnTo>
                    <a:pt x="6844411" y="1601851"/>
                  </a:lnTo>
                  <a:lnTo>
                    <a:pt x="6827520" y="160185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254496" y="5687568"/>
            <a:ext cx="4663440" cy="402336"/>
            <a:chOff x="0" y="0"/>
            <a:chExt cx="6217920" cy="5364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217920" cy="536448"/>
            </a:xfrm>
            <a:custGeom>
              <a:avLst/>
              <a:gdLst/>
              <a:ahLst/>
              <a:cxnLst/>
              <a:rect r="r" b="b" t="t" l="l"/>
              <a:pathLst>
                <a:path h="536448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849" r="0" b="-17584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621792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Distributed Processing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254496" y="6126480"/>
            <a:ext cx="4663440" cy="512064"/>
            <a:chOff x="0" y="0"/>
            <a:chExt cx="6217920" cy="6827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217920" cy="682752"/>
            </a:xfrm>
            <a:custGeom>
              <a:avLst/>
              <a:gdLst/>
              <a:ahLst/>
              <a:cxnLst/>
              <a:rect r="r" b="b" t="t" l="l"/>
              <a:pathLst>
                <a:path h="68275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217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Scalable architecture for complex reasoning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27383" y="6936743"/>
            <a:ext cx="5146043" cy="1214123"/>
            <a:chOff x="0" y="0"/>
            <a:chExt cx="6861391" cy="161883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6827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61301" cy="1618742"/>
            </a:xfrm>
            <a:custGeom>
              <a:avLst/>
              <a:gdLst/>
              <a:ahLst/>
              <a:cxnLst/>
              <a:rect r="r" b="b" t="t" l="l"/>
              <a:pathLst>
                <a:path h="161874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601851"/>
                  </a:lnTo>
                  <a:cubicBezTo>
                    <a:pt x="6861301" y="1611249"/>
                    <a:pt x="6853682" y="1618742"/>
                    <a:pt x="684441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6844411" y="1584960"/>
                  </a:lnTo>
                  <a:lnTo>
                    <a:pt x="6844411" y="1601851"/>
                  </a:lnTo>
                  <a:lnTo>
                    <a:pt x="6827520" y="160185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859536" y="7059168"/>
            <a:ext cx="4663440" cy="402336"/>
            <a:chOff x="0" y="0"/>
            <a:chExt cx="6217920" cy="5364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217920" cy="536448"/>
            </a:xfrm>
            <a:custGeom>
              <a:avLst/>
              <a:gdLst/>
              <a:ahLst/>
              <a:cxnLst/>
              <a:rect r="r" b="b" t="t" l="l"/>
              <a:pathLst>
                <a:path h="536448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849" r="0" b="-17584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621792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Learning &amp; Adaptation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59536" y="7498080"/>
            <a:ext cx="4663440" cy="512064"/>
            <a:chOff x="0" y="0"/>
            <a:chExt cx="6217920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17920" cy="682752"/>
            </a:xfrm>
            <a:custGeom>
              <a:avLst/>
              <a:gdLst/>
              <a:ahLst/>
              <a:cxnLst/>
              <a:rect r="r" b="b" t="t" l="l"/>
              <a:pathLst>
                <a:path h="68275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6217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Continuous learning from experience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022343" y="6936743"/>
            <a:ext cx="5146043" cy="1214123"/>
            <a:chOff x="0" y="0"/>
            <a:chExt cx="6861391" cy="161883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6827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861301" cy="1618742"/>
            </a:xfrm>
            <a:custGeom>
              <a:avLst/>
              <a:gdLst/>
              <a:ahLst/>
              <a:cxnLst/>
              <a:rect r="r" b="b" t="t" l="l"/>
              <a:pathLst>
                <a:path h="161874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601851"/>
                  </a:lnTo>
                  <a:cubicBezTo>
                    <a:pt x="6861301" y="1611249"/>
                    <a:pt x="6853682" y="1618742"/>
                    <a:pt x="684441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6844411" y="1584960"/>
                  </a:lnTo>
                  <a:lnTo>
                    <a:pt x="6844411" y="1601851"/>
                  </a:lnTo>
                  <a:lnTo>
                    <a:pt x="6827520" y="160185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254496" y="7059168"/>
            <a:ext cx="4663440" cy="402336"/>
            <a:chOff x="0" y="0"/>
            <a:chExt cx="6217920" cy="5364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17920" cy="536448"/>
            </a:xfrm>
            <a:custGeom>
              <a:avLst/>
              <a:gdLst/>
              <a:ahLst/>
              <a:cxnLst/>
              <a:rect r="r" b="b" t="t" l="l"/>
              <a:pathLst>
                <a:path h="536448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849" r="0" b="-17584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621792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Reasoning &amp; Logic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254496" y="7498080"/>
            <a:ext cx="4663440" cy="512064"/>
            <a:chOff x="0" y="0"/>
            <a:chExt cx="6217920" cy="682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217920" cy="682752"/>
            </a:xfrm>
            <a:custGeom>
              <a:avLst/>
              <a:gdLst/>
              <a:ahLst/>
              <a:cxnLst/>
              <a:rect r="r" b="b" t="t" l="l"/>
              <a:pathLst>
                <a:path h="68275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6217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Probabilistic logic networks for inference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600183" y="2547623"/>
            <a:ext cx="6060443" cy="4048763"/>
            <a:chOff x="0" y="0"/>
            <a:chExt cx="8080591" cy="539835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8046720" cy="5364480"/>
            </a:xfrm>
            <a:custGeom>
              <a:avLst/>
              <a:gdLst/>
              <a:ahLst/>
              <a:cxnLst/>
              <a:rect r="r" b="b" t="t" l="l"/>
              <a:pathLst>
                <a:path h="53644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080501" cy="5398262"/>
            </a:xfrm>
            <a:custGeom>
              <a:avLst/>
              <a:gdLst/>
              <a:ahLst/>
              <a:cxnLst/>
              <a:rect r="r" b="b" t="t" l="l"/>
              <a:pathLst>
                <a:path h="5398262" w="8080501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5381371"/>
                  </a:lnTo>
                  <a:cubicBezTo>
                    <a:pt x="8080501" y="5390769"/>
                    <a:pt x="8072882" y="5398262"/>
                    <a:pt x="8063611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8063611" y="5364480"/>
                  </a:lnTo>
                  <a:lnTo>
                    <a:pt x="8063611" y="5381371"/>
                  </a:lnTo>
                  <a:lnTo>
                    <a:pt x="8046720" y="5381371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887200" y="2743200"/>
            <a:ext cx="5486400" cy="475488"/>
            <a:chOff x="0" y="0"/>
            <a:chExt cx="7315200" cy="63398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315200" cy="633984"/>
            </a:xfrm>
            <a:custGeom>
              <a:avLst/>
              <a:gdLst/>
              <a:ahLst/>
              <a:cxnLst/>
              <a:rect r="r" b="b" t="t" l="l"/>
              <a:pathLst>
                <a:path h="6339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57150"/>
              <a:ext cx="7315200" cy="6911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Statistics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1874503" y="3370583"/>
            <a:ext cx="2768603" cy="1031243"/>
            <a:chOff x="0" y="0"/>
            <a:chExt cx="3691471" cy="137499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6913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358011"/>
                  </a:lnTo>
                  <a:cubicBezTo>
                    <a:pt x="3691382" y="1367409"/>
                    <a:pt x="3683762" y="1374902"/>
                    <a:pt x="36744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3674491" y="1341120"/>
                  </a:lnTo>
                  <a:lnTo>
                    <a:pt x="3674491" y="1358011"/>
                  </a:lnTo>
                  <a:lnTo>
                    <a:pt x="3657600" y="135801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887200" y="3456432"/>
            <a:ext cx="2743200" cy="548640"/>
            <a:chOff x="0" y="0"/>
            <a:chExt cx="3657600" cy="731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66675"/>
              <a:ext cx="36576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15+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887200" y="3968496"/>
            <a:ext cx="2743200" cy="365760"/>
            <a:chOff x="0" y="0"/>
            <a:chExt cx="3657600" cy="4876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657600" cy="487680"/>
            </a:xfrm>
            <a:custGeom>
              <a:avLst/>
              <a:gdLst/>
              <a:ahLst/>
              <a:cxnLst/>
              <a:rect r="r" b="b" t="t" l="l"/>
              <a:pathLst>
                <a:path h="487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3657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Years of Development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4800583" y="3370583"/>
            <a:ext cx="2768603" cy="1031243"/>
            <a:chOff x="0" y="0"/>
            <a:chExt cx="3691471" cy="137499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891" y="16891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6913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358011"/>
                  </a:lnTo>
                  <a:cubicBezTo>
                    <a:pt x="3691382" y="1367409"/>
                    <a:pt x="3683762" y="1374902"/>
                    <a:pt x="36744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3674491" y="1341120"/>
                  </a:lnTo>
                  <a:lnTo>
                    <a:pt x="3674491" y="1358011"/>
                  </a:lnTo>
                  <a:lnTo>
                    <a:pt x="3657600" y="135801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4813280" y="3456432"/>
            <a:ext cx="2743200" cy="548640"/>
            <a:chOff x="0" y="0"/>
            <a:chExt cx="3657600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66675"/>
              <a:ext cx="36576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50+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813280" y="3968496"/>
            <a:ext cx="2743200" cy="365760"/>
            <a:chOff x="0" y="0"/>
            <a:chExt cx="3657600" cy="4876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657600" cy="487680"/>
            </a:xfrm>
            <a:custGeom>
              <a:avLst/>
              <a:gdLst/>
              <a:ahLst/>
              <a:cxnLst/>
              <a:rect r="r" b="b" t="t" l="l"/>
              <a:pathLst>
                <a:path h="487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3657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Components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1874503" y="4559303"/>
            <a:ext cx="2768603" cy="1031243"/>
            <a:chOff x="0" y="0"/>
            <a:chExt cx="3691471" cy="137499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6913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358011"/>
                  </a:lnTo>
                  <a:cubicBezTo>
                    <a:pt x="3691382" y="1367409"/>
                    <a:pt x="3683762" y="1374902"/>
                    <a:pt x="36744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3674491" y="1341120"/>
                  </a:lnTo>
                  <a:lnTo>
                    <a:pt x="3674491" y="1358011"/>
                  </a:lnTo>
                  <a:lnTo>
                    <a:pt x="3657600" y="135801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1887200" y="4645152"/>
            <a:ext cx="2743200" cy="548640"/>
            <a:chOff x="0" y="0"/>
            <a:chExt cx="3657600" cy="7315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66675"/>
              <a:ext cx="36576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100+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1887200" y="5157216"/>
            <a:ext cx="2743200" cy="365760"/>
            <a:chOff x="0" y="0"/>
            <a:chExt cx="3657600" cy="48768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657600" cy="487680"/>
            </a:xfrm>
            <a:custGeom>
              <a:avLst/>
              <a:gdLst/>
              <a:ahLst/>
              <a:cxnLst/>
              <a:rect r="r" b="b" t="t" l="l"/>
              <a:pathLst>
                <a:path h="487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3657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Contributors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4800583" y="4559303"/>
            <a:ext cx="2768603" cy="1031243"/>
            <a:chOff x="0" y="0"/>
            <a:chExt cx="3691471" cy="137499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6891" y="16891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6913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358011"/>
                  </a:lnTo>
                  <a:cubicBezTo>
                    <a:pt x="3691382" y="1367409"/>
                    <a:pt x="3683762" y="1374902"/>
                    <a:pt x="367449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3674491" y="1341120"/>
                  </a:lnTo>
                  <a:lnTo>
                    <a:pt x="3674491" y="1358011"/>
                  </a:lnTo>
                  <a:lnTo>
                    <a:pt x="3657600" y="135801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4813280" y="4645152"/>
            <a:ext cx="2743200" cy="548640"/>
            <a:chOff x="0" y="0"/>
            <a:chExt cx="3657600" cy="73152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66675"/>
              <a:ext cx="36576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500+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4813280" y="5157216"/>
            <a:ext cx="2743200" cy="365760"/>
            <a:chOff x="0" y="0"/>
            <a:chExt cx="3657600" cy="48768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657600" cy="487680"/>
            </a:xfrm>
            <a:custGeom>
              <a:avLst/>
              <a:gdLst/>
              <a:ahLst/>
              <a:cxnLst/>
              <a:rect r="r" b="b" t="t" l="l"/>
              <a:pathLst>
                <a:path h="487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3657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 Stars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1600183" y="6845303"/>
            <a:ext cx="6060443" cy="2951483"/>
            <a:chOff x="0" y="0"/>
            <a:chExt cx="8080591" cy="3935311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16891" y="16891"/>
              <a:ext cx="8046720" cy="3901440"/>
            </a:xfrm>
            <a:custGeom>
              <a:avLst/>
              <a:gdLst/>
              <a:ahLst/>
              <a:cxnLst/>
              <a:rect r="r" b="b" t="t" l="l"/>
              <a:pathLst>
                <a:path h="39014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8080501" cy="3935222"/>
            </a:xfrm>
            <a:custGeom>
              <a:avLst/>
              <a:gdLst/>
              <a:ahLst/>
              <a:cxnLst/>
              <a:rect r="r" b="b" t="t" l="l"/>
              <a:pathLst>
                <a:path h="3935222" w="8080501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3918331"/>
                  </a:lnTo>
                  <a:cubicBezTo>
                    <a:pt x="8080501" y="3927729"/>
                    <a:pt x="8072882" y="3935222"/>
                    <a:pt x="806361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8063611" y="3901440"/>
                  </a:lnTo>
                  <a:lnTo>
                    <a:pt x="8063611" y="3918331"/>
                  </a:lnTo>
                  <a:lnTo>
                    <a:pt x="8046720" y="3918331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1887200" y="7004304"/>
            <a:ext cx="5486400" cy="475488"/>
            <a:chOff x="0" y="0"/>
            <a:chExt cx="7315200" cy="633984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315200" cy="633984"/>
            </a:xfrm>
            <a:custGeom>
              <a:avLst/>
              <a:gdLst/>
              <a:ahLst/>
              <a:cxnLst/>
              <a:rect r="r" b="b" t="t" l="l"/>
              <a:pathLst>
                <a:path h="6339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73152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AGI Vision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1887200" y="7498080"/>
            <a:ext cx="5486400" cy="2011680"/>
            <a:chOff x="0" y="0"/>
            <a:chExt cx="7315200" cy="26822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73152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731520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E3A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OpenCog aims to create a cognitive architecture that can achieve human-level intelligence through integration of multiple AI paradigms.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-12697" y="10173719"/>
            <a:ext cx="18313403" cy="125987"/>
            <a:chOff x="0" y="0"/>
            <a:chExt cx="24417871" cy="167983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-12697" y="10173719"/>
            <a:ext cx="2768603" cy="125987"/>
            <a:chOff x="0" y="0"/>
            <a:chExt cx="3691471" cy="167983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16891" y="16891"/>
              <a:ext cx="3657600" cy="134112"/>
            </a:xfrm>
            <a:custGeom>
              <a:avLst/>
              <a:gdLst/>
              <a:ahLst/>
              <a:cxnLst/>
              <a:rect r="r" b="b" t="t" l="l"/>
              <a:pathLst>
                <a:path h="13411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691382" cy="167896"/>
            </a:xfrm>
            <a:custGeom>
              <a:avLst/>
              <a:gdLst/>
              <a:ahLst/>
              <a:cxnLst/>
              <a:rect r="r" b="b" t="t" l="l"/>
              <a:pathLst>
                <a:path h="167896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51003"/>
                  </a:lnTo>
                  <a:cubicBezTo>
                    <a:pt x="3691382" y="160401"/>
                    <a:pt x="3683762" y="167894"/>
                    <a:pt x="3674491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3674491" y="134112"/>
                  </a:lnTo>
                  <a:lnTo>
                    <a:pt x="3674491" y="151003"/>
                  </a:lnTo>
                  <a:lnTo>
                    <a:pt x="3657600" y="151003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82880"/>
            <a:ext cx="15544800" cy="694944"/>
            <a:chOff x="0" y="0"/>
            <a:chExt cx="2072640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7264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OpenCog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2801600" cy="512064"/>
            <a:chOff x="0" y="0"/>
            <a:chExt cx="170688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Definition and Core Concepts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44800" y="548640"/>
            <a:ext cx="2560320" cy="457200"/>
            <a:chOff x="0" y="0"/>
            <a:chExt cx="341376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0" cy="609600"/>
            </a:xfrm>
            <a:custGeom>
              <a:avLst/>
              <a:gdLst/>
              <a:ahLst/>
              <a:cxnLst/>
              <a:rect r="r" b="b" t="t" l="l"/>
              <a:pathLst>
                <a:path h="6096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413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8/20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1828800"/>
            <a:ext cx="512064" cy="512064"/>
            <a:chOff x="0" y="0"/>
            <a:chExt cx="682752" cy="68275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1828800"/>
            <a:ext cx="10972800" cy="548640"/>
            <a:chOff x="0" y="0"/>
            <a:chExt cx="146304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46304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Definition &amp; Philosophy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508743" y="1852679"/>
            <a:ext cx="6151883" cy="574043"/>
            <a:chOff x="0" y="0"/>
            <a:chExt cx="8202511" cy="7653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365760"/>
                  </a:moveTo>
                  <a:cubicBezTo>
                    <a:pt x="0" y="163703"/>
                    <a:pt x="170688" y="0"/>
                    <a:pt x="381127" y="0"/>
                  </a:cubicBezTo>
                  <a:lnTo>
                    <a:pt x="7787513" y="0"/>
                  </a:lnTo>
                  <a:cubicBezTo>
                    <a:pt x="7997952" y="0"/>
                    <a:pt x="8168640" y="163703"/>
                    <a:pt x="8168640" y="365760"/>
                  </a:cubicBezTo>
                  <a:cubicBezTo>
                    <a:pt x="8168640" y="567817"/>
                    <a:pt x="7997952" y="731520"/>
                    <a:pt x="7787513" y="731520"/>
                  </a:cubicBezTo>
                  <a:lnTo>
                    <a:pt x="381127" y="731520"/>
                  </a:lnTo>
                  <a:cubicBezTo>
                    <a:pt x="170688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02423" cy="765302"/>
            </a:xfrm>
            <a:custGeom>
              <a:avLst/>
              <a:gdLst/>
              <a:ahLst/>
              <a:cxnLst/>
              <a:rect r="r" b="b" t="t" l="l"/>
              <a:pathLst>
                <a:path h="765302" w="8202423">
                  <a:moveTo>
                    <a:pt x="0" y="382651"/>
                  </a:moveTo>
                  <a:cubicBezTo>
                    <a:pt x="0" y="170688"/>
                    <a:pt x="178816" y="0"/>
                    <a:pt x="398018" y="0"/>
                  </a:cubicBezTo>
                  <a:lnTo>
                    <a:pt x="7804404" y="0"/>
                  </a:lnTo>
                  <a:lnTo>
                    <a:pt x="7804404" y="16891"/>
                  </a:lnTo>
                  <a:lnTo>
                    <a:pt x="7804404" y="0"/>
                  </a:lnTo>
                  <a:cubicBezTo>
                    <a:pt x="8023606" y="0"/>
                    <a:pt x="8202423" y="170688"/>
                    <a:pt x="8202423" y="382651"/>
                  </a:cubicBezTo>
                  <a:lnTo>
                    <a:pt x="8185531" y="382651"/>
                  </a:lnTo>
                  <a:lnTo>
                    <a:pt x="8202423" y="382651"/>
                  </a:lnTo>
                  <a:lnTo>
                    <a:pt x="8185531" y="382651"/>
                  </a:lnTo>
                  <a:lnTo>
                    <a:pt x="8202423" y="382651"/>
                  </a:lnTo>
                  <a:cubicBezTo>
                    <a:pt x="8202423" y="594614"/>
                    <a:pt x="8023606" y="765302"/>
                    <a:pt x="7804404" y="765302"/>
                  </a:cubicBezTo>
                  <a:lnTo>
                    <a:pt x="7804404" y="748411"/>
                  </a:lnTo>
                  <a:lnTo>
                    <a:pt x="7804404" y="765302"/>
                  </a:lnTo>
                  <a:lnTo>
                    <a:pt x="398018" y="765302"/>
                  </a:lnTo>
                  <a:lnTo>
                    <a:pt x="398018" y="748411"/>
                  </a:lnTo>
                  <a:lnTo>
                    <a:pt x="398018" y="765302"/>
                  </a:lnTo>
                  <a:cubicBezTo>
                    <a:pt x="178816" y="765429"/>
                    <a:pt x="0" y="594741"/>
                    <a:pt x="0" y="382651"/>
                  </a:cubicBezTo>
                  <a:lnTo>
                    <a:pt x="16891" y="382651"/>
                  </a:lnTo>
                  <a:lnTo>
                    <a:pt x="0" y="382651"/>
                  </a:lnTo>
                  <a:moveTo>
                    <a:pt x="33909" y="382651"/>
                  </a:moveTo>
                  <a:lnTo>
                    <a:pt x="16891" y="382651"/>
                  </a:lnTo>
                  <a:lnTo>
                    <a:pt x="33909" y="382651"/>
                  </a:lnTo>
                  <a:cubicBezTo>
                    <a:pt x="33909" y="574675"/>
                    <a:pt x="196342" y="731520"/>
                    <a:pt x="398145" y="731520"/>
                  </a:cubicBezTo>
                  <a:lnTo>
                    <a:pt x="7804404" y="731520"/>
                  </a:lnTo>
                  <a:cubicBezTo>
                    <a:pt x="8006207" y="731520"/>
                    <a:pt x="8168640" y="574675"/>
                    <a:pt x="8168640" y="382651"/>
                  </a:cubicBezTo>
                  <a:cubicBezTo>
                    <a:pt x="8168640" y="190627"/>
                    <a:pt x="8006207" y="33782"/>
                    <a:pt x="7804404" y="33782"/>
                  </a:cubicBezTo>
                  <a:lnTo>
                    <a:pt x="398018" y="33782"/>
                  </a:lnTo>
                  <a:lnTo>
                    <a:pt x="398018" y="16891"/>
                  </a:lnTo>
                  <a:lnTo>
                    <a:pt x="398018" y="33909"/>
                  </a:lnTo>
                  <a:cubicBezTo>
                    <a:pt x="196215" y="33909"/>
                    <a:pt x="33909" y="190754"/>
                    <a:pt x="33909" y="382651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521440" y="1865376"/>
            <a:ext cx="6126480" cy="548640"/>
            <a:chOff x="0" y="0"/>
            <a:chExt cx="816864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16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OpenCog: A unified cognitive architecture for AGI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7383" y="2547623"/>
            <a:ext cx="11363963" cy="2860043"/>
            <a:chOff x="0" y="0"/>
            <a:chExt cx="15151951" cy="38133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511808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151863" cy="3813302"/>
            </a:xfrm>
            <a:custGeom>
              <a:avLst/>
              <a:gdLst/>
              <a:ahLst/>
              <a:cxnLst/>
              <a:rect r="r" b="b" t="t" l="l"/>
              <a:pathLst>
                <a:path h="3813302" w="15151863">
                  <a:moveTo>
                    <a:pt x="16891" y="0"/>
                  </a:moveTo>
                  <a:lnTo>
                    <a:pt x="15134971" y="0"/>
                  </a:lnTo>
                  <a:cubicBezTo>
                    <a:pt x="15144369" y="0"/>
                    <a:pt x="15151863" y="7620"/>
                    <a:pt x="15151863" y="16891"/>
                  </a:cubicBezTo>
                  <a:lnTo>
                    <a:pt x="15151863" y="3796411"/>
                  </a:lnTo>
                  <a:cubicBezTo>
                    <a:pt x="15151863" y="3805809"/>
                    <a:pt x="15144243" y="3813302"/>
                    <a:pt x="1513497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15134971" y="3779520"/>
                  </a:lnTo>
                  <a:lnTo>
                    <a:pt x="15134971" y="3796411"/>
                  </a:lnTo>
                  <a:lnTo>
                    <a:pt x="15118080" y="3796411"/>
                  </a:lnTo>
                  <a:lnTo>
                    <a:pt x="15118080" y="16891"/>
                  </a:lnTo>
                  <a:lnTo>
                    <a:pt x="15134971" y="16891"/>
                  </a:lnTo>
                  <a:lnTo>
                    <a:pt x="15134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27383" y="2547623"/>
            <a:ext cx="135131" cy="2860043"/>
            <a:chOff x="0" y="0"/>
            <a:chExt cx="180175" cy="38133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46304" cy="3779520"/>
            </a:xfrm>
            <a:custGeom>
              <a:avLst/>
              <a:gdLst/>
              <a:ahLst/>
              <a:cxnLst/>
              <a:rect r="r" b="b" t="t" l="l"/>
              <a:pathLst>
                <a:path h="3779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0086" cy="3813302"/>
            </a:xfrm>
            <a:custGeom>
              <a:avLst/>
              <a:gdLst/>
              <a:ahLst/>
              <a:cxnLst/>
              <a:rect r="r" b="b" t="t" l="l"/>
              <a:pathLst>
                <a:path h="38133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796411"/>
                  </a:lnTo>
                  <a:cubicBezTo>
                    <a:pt x="180086" y="3805809"/>
                    <a:pt x="172466" y="3813302"/>
                    <a:pt x="163195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163195" y="3779520"/>
                  </a:lnTo>
                  <a:lnTo>
                    <a:pt x="163195" y="3796411"/>
                  </a:lnTo>
                  <a:lnTo>
                    <a:pt x="146304" y="37964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5840" y="2706624"/>
            <a:ext cx="10607040" cy="475488"/>
            <a:chOff x="0" y="0"/>
            <a:chExt cx="14142720" cy="6339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142720" cy="633984"/>
            </a:xfrm>
            <a:custGeom>
              <a:avLst/>
              <a:gdLst/>
              <a:ahLst/>
              <a:cxnLst/>
              <a:rect r="r" b="b" t="t" l="l"/>
              <a:pathLst>
                <a:path h="633984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666" r="0" b="-38466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4142720" cy="6911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OpenCog?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05840" y="3255264"/>
            <a:ext cx="10789920" cy="1828800"/>
            <a:chOff x="0" y="0"/>
            <a:chExt cx="14386560" cy="2438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3865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961" r="0" b="-6496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438656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OpenCog is an open-source framework designed to build AGI. It combines symbolic reasoning, probabilistic logic, evolutionary learning, and neural networks into a unified cognitive architecture built around the AtomSpace — a hypergraph knowledge representation system.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27383" y="5656583"/>
            <a:ext cx="5511803" cy="4085339"/>
            <a:chOff x="0" y="0"/>
            <a:chExt cx="7349071" cy="544711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7315200" cy="5413248"/>
            </a:xfrm>
            <a:custGeom>
              <a:avLst/>
              <a:gdLst/>
              <a:ahLst/>
              <a:cxnLst/>
              <a:rect r="r" b="b" t="t" l="l"/>
              <a:pathLst>
                <a:path h="541324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13248"/>
                  </a:lnTo>
                  <a:lnTo>
                    <a:pt x="0" y="54132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48982" cy="5447030"/>
            </a:xfrm>
            <a:custGeom>
              <a:avLst/>
              <a:gdLst/>
              <a:ahLst/>
              <a:cxnLst/>
              <a:rect r="r" b="b" t="t" l="l"/>
              <a:pathLst>
                <a:path h="544703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5430139"/>
                  </a:lnTo>
                  <a:cubicBezTo>
                    <a:pt x="7348982" y="5439537"/>
                    <a:pt x="7341362" y="5447030"/>
                    <a:pt x="7332091" y="5447030"/>
                  </a:cubicBezTo>
                  <a:lnTo>
                    <a:pt x="16891" y="5447030"/>
                  </a:lnTo>
                  <a:cubicBezTo>
                    <a:pt x="7493" y="5447030"/>
                    <a:pt x="0" y="5439410"/>
                    <a:pt x="0" y="54301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430139"/>
                  </a:lnTo>
                  <a:lnTo>
                    <a:pt x="16891" y="5430139"/>
                  </a:lnTo>
                  <a:lnTo>
                    <a:pt x="16891" y="5413248"/>
                  </a:lnTo>
                  <a:lnTo>
                    <a:pt x="7332091" y="5413248"/>
                  </a:lnTo>
                  <a:lnTo>
                    <a:pt x="7332091" y="5430139"/>
                  </a:lnTo>
                  <a:lnTo>
                    <a:pt x="7315200" y="543013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46839" y="5876039"/>
            <a:ext cx="683771" cy="683771"/>
            <a:chOff x="0" y="0"/>
            <a:chExt cx="911695" cy="91169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1606" cy="911608"/>
            </a:xfrm>
            <a:custGeom>
              <a:avLst/>
              <a:gdLst/>
              <a:ahLst/>
              <a:cxnLst/>
              <a:rect r="r" b="b" t="t" l="l"/>
              <a:pathLst>
                <a:path h="911608" w="911606">
                  <a:moveTo>
                    <a:pt x="16891" y="0"/>
                  </a:moveTo>
                  <a:lnTo>
                    <a:pt x="894715" y="0"/>
                  </a:lnTo>
                  <a:cubicBezTo>
                    <a:pt x="904113" y="0"/>
                    <a:pt x="911606" y="7620"/>
                    <a:pt x="911606" y="16891"/>
                  </a:cubicBezTo>
                  <a:lnTo>
                    <a:pt x="911606" y="894715"/>
                  </a:lnTo>
                  <a:cubicBezTo>
                    <a:pt x="911606" y="904113"/>
                    <a:pt x="903986" y="911606"/>
                    <a:pt x="894715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894715" y="877824"/>
                  </a:lnTo>
                  <a:lnTo>
                    <a:pt x="894715" y="894715"/>
                  </a:lnTo>
                  <a:lnTo>
                    <a:pt x="877824" y="894715"/>
                  </a:lnTo>
                  <a:lnTo>
                    <a:pt x="877824" y="16891"/>
                  </a:lnTo>
                  <a:lnTo>
                    <a:pt x="894715" y="16891"/>
                  </a:lnTo>
                  <a:lnTo>
                    <a:pt x="8947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32688" y="5943600"/>
            <a:ext cx="512064" cy="512064"/>
            <a:chOff x="0" y="0"/>
            <a:chExt cx="682752" cy="682752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64208" y="5943600"/>
            <a:ext cx="4206240" cy="512064"/>
            <a:chOff x="0" y="0"/>
            <a:chExt cx="5608320" cy="6827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08320" cy="682752"/>
            </a:xfrm>
            <a:custGeom>
              <a:avLst/>
              <a:gdLst/>
              <a:ahLst/>
              <a:cxnLst/>
              <a:rect r="r" b="b" t="t" l="l"/>
              <a:pathLst>
                <a:path h="68275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56083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Cognitive Architecture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59536" y="6693408"/>
            <a:ext cx="5120640" cy="694944"/>
            <a:chOff x="0" y="0"/>
            <a:chExt cx="6827520" cy="9265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8275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Integrates multiple AI paradigms into a unified system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93143" y="7576823"/>
            <a:ext cx="189995" cy="189995"/>
            <a:chOff x="0" y="0"/>
            <a:chExt cx="253327" cy="25332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80160" y="7516368"/>
            <a:ext cx="4572000" cy="402336"/>
            <a:chOff x="0" y="0"/>
            <a:chExt cx="6096000" cy="53644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Symbolic reasoning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93143" y="8216903"/>
            <a:ext cx="189995" cy="189995"/>
            <a:chOff x="0" y="0"/>
            <a:chExt cx="253327" cy="25332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80160" y="8156448"/>
            <a:ext cx="4572000" cy="402336"/>
            <a:chOff x="0" y="0"/>
            <a:chExt cx="6096000" cy="53644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Probabilistic logic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93143" y="8856983"/>
            <a:ext cx="189995" cy="189995"/>
            <a:chOff x="0" y="0"/>
            <a:chExt cx="253327" cy="25332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80160" y="8796528"/>
            <a:ext cx="4572000" cy="402336"/>
            <a:chOff x="0" y="0"/>
            <a:chExt cx="6096000" cy="53644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Neural networks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442967" y="5656583"/>
            <a:ext cx="5511803" cy="4085339"/>
            <a:chOff x="0" y="0"/>
            <a:chExt cx="7349071" cy="544711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7315200" cy="5413248"/>
            </a:xfrm>
            <a:custGeom>
              <a:avLst/>
              <a:gdLst/>
              <a:ahLst/>
              <a:cxnLst/>
              <a:rect r="r" b="b" t="t" l="l"/>
              <a:pathLst>
                <a:path h="541324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13248"/>
                  </a:lnTo>
                  <a:lnTo>
                    <a:pt x="0" y="54132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348982" cy="5447030"/>
            </a:xfrm>
            <a:custGeom>
              <a:avLst/>
              <a:gdLst/>
              <a:ahLst/>
              <a:cxnLst/>
              <a:rect r="r" b="b" t="t" l="l"/>
              <a:pathLst>
                <a:path h="544703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5430139"/>
                  </a:lnTo>
                  <a:cubicBezTo>
                    <a:pt x="7348982" y="5439537"/>
                    <a:pt x="7341362" y="5447030"/>
                    <a:pt x="7332091" y="5447030"/>
                  </a:cubicBezTo>
                  <a:lnTo>
                    <a:pt x="16891" y="5447030"/>
                  </a:lnTo>
                  <a:cubicBezTo>
                    <a:pt x="7493" y="5447030"/>
                    <a:pt x="0" y="5439410"/>
                    <a:pt x="0" y="54301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430139"/>
                  </a:lnTo>
                  <a:lnTo>
                    <a:pt x="16891" y="5430139"/>
                  </a:lnTo>
                  <a:lnTo>
                    <a:pt x="16891" y="5413248"/>
                  </a:lnTo>
                  <a:lnTo>
                    <a:pt x="7332091" y="5413248"/>
                  </a:lnTo>
                  <a:lnTo>
                    <a:pt x="7332091" y="5430139"/>
                  </a:lnTo>
                  <a:lnTo>
                    <a:pt x="7315200" y="543013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662423" y="5876039"/>
            <a:ext cx="683771" cy="683771"/>
            <a:chOff x="0" y="0"/>
            <a:chExt cx="911695" cy="91169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11606" cy="911608"/>
            </a:xfrm>
            <a:custGeom>
              <a:avLst/>
              <a:gdLst/>
              <a:ahLst/>
              <a:cxnLst/>
              <a:rect r="r" b="b" t="t" l="l"/>
              <a:pathLst>
                <a:path h="911608" w="911606">
                  <a:moveTo>
                    <a:pt x="16891" y="0"/>
                  </a:moveTo>
                  <a:lnTo>
                    <a:pt x="894715" y="0"/>
                  </a:lnTo>
                  <a:cubicBezTo>
                    <a:pt x="904113" y="0"/>
                    <a:pt x="911606" y="7620"/>
                    <a:pt x="911606" y="16891"/>
                  </a:cubicBezTo>
                  <a:lnTo>
                    <a:pt x="911606" y="894715"/>
                  </a:lnTo>
                  <a:cubicBezTo>
                    <a:pt x="911606" y="904113"/>
                    <a:pt x="903986" y="911606"/>
                    <a:pt x="894715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894715" y="877824"/>
                  </a:lnTo>
                  <a:lnTo>
                    <a:pt x="894715" y="894715"/>
                  </a:lnTo>
                  <a:lnTo>
                    <a:pt x="877824" y="894715"/>
                  </a:lnTo>
                  <a:lnTo>
                    <a:pt x="877824" y="16891"/>
                  </a:lnTo>
                  <a:lnTo>
                    <a:pt x="894715" y="16891"/>
                  </a:lnTo>
                  <a:lnTo>
                    <a:pt x="8947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6748272" y="5943600"/>
            <a:ext cx="512064" cy="512064"/>
            <a:chOff x="0" y="0"/>
            <a:chExt cx="682752" cy="682752"/>
          </a:xfrm>
        </p:grpSpPr>
        <p:sp>
          <p:nvSpPr>
            <p:cNvPr name="Freeform 76" id="76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7479792" y="5943600"/>
            <a:ext cx="4206240" cy="512064"/>
            <a:chOff x="0" y="0"/>
            <a:chExt cx="5608320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608320" cy="682752"/>
            </a:xfrm>
            <a:custGeom>
              <a:avLst/>
              <a:gdLst/>
              <a:ahLst/>
              <a:cxnLst/>
              <a:rect r="r" b="b" t="t" l="l"/>
              <a:pathLst>
                <a:path h="68275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56083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Hypergraph Structure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675120" y="6693408"/>
            <a:ext cx="5120640" cy="694944"/>
            <a:chOff x="0" y="0"/>
            <a:chExt cx="6827520" cy="9265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68275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Knowledge representation using nodes and links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808727" y="7576823"/>
            <a:ext cx="189995" cy="189995"/>
            <a:chOff x="0" y="0"/>
            <a:chExt cx="253327" cy="25332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7095744" y="7516368"/>
            <a:ext cx="4572000" cy="402336"/>
            <a:chOff x="0" y="0"/>
            <a:chExt cx="6096000" cy="53644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AtomSpace storage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808727" y="8216903"/>
            <a:ext cx="189995" cy="189995"/>
            <a:chOff x="0" y="0"/>
            <a:chExt cx="253327" cy="25332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7095744" y="8156448"/>
            <a:ext cx="4572000" cy="402336"/>
            <a:chOff x="0" y="0"/>
            <a:chExt cx="6096000" cy="53644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Flexible relationships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808727" y="8856983"/>
            <a:ext cx="189995" cy="189995"/>
            <a:chOff x="0" y="0"/>
            <a:chExt cx="253327" cy="25332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7095744" y="8796528"/>
            <a:ext cx="4572000" cy="402336"/>
            <a:chOff x="0" y="0"/>
            <a:chExt cx="6096000" cy="53644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Scalable design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258551" y="5656583"/>
            <a:ext cx="5511803" cy="4085339"/>
            <a:chOff x="0" y="0"/>
            <a:chExt cx="7349071" cy="544711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7315200" cy="5413248"/>
            </a:xfrm>
            <a:custGeom>
              <a:avLst/>
              <a:gdLst/>
              <a:ahLst/>
              <a:cxnLst/>
              <a:rect r="r" b="b" t="t" l="l"/>
              <a:pathLst>
                <a:path h="541324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13248"/>
                  </a:lnTo>
                  <a:lnTo>
                    <a:pt x="0" y="54132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348982" cy="5447030"/>
            </a:xfrm>
            <a:custGeom>
              <a:avLst/>
              <a:gdLst/>
              <a:ahLst/>
              <a:cxnLst/>
              <a:rect r="r" b="b" t="t" l="l"/>
              <a:pathLst>
                <a:path h="544703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5430139"/>
                  </a:lnTo>
                  <a:cubicBezTo>
                    <a:pt x="7348982" y="5439537"/>
                    <a:pt x="7341362" y="5447030"/>
                    <a:pt x="7332091" y="5447030"/>
                  </a:cubicBezTo>
                  <a:lnTo>
                    <a:pt x="16891" y="5447030"/>
                  </a:lnTo>
                  <a:cubicBezTo>
                    <a:pt x="7493" y="5447030"/>
                    <a:pt x="0" y="5439410"/>
                    <a:pt x="0" y="54301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430139"/>
                  </a:lnTo>
                  <a:lnTo>
                    <a:pt x="16891" y="5430139"/>
                  </a:lnTo>
                  <a:lnTo>
                    <a:pt x="16891" y="5413248"/>
                  </a:lnTo>
                  <a:lnTo>
                    <a:pt x="7332091" y="5413248"/>
                  </a:lnTo>
                  <a:lnTo>
                    <a:pt x="7332091" y="5430139"/>
                  </a:lnTo>
                  <a:lnTo>
                    <a:pt x="7315200" y="543013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478007" y="5876039"/>
            <a:ext cx="683771" cy="683771"/>
            <a:chOff x="0" y="0"/>
            <a:chExt cx="911695" cy="91169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11606" cy="911608"/>
            </a:xfrm>
            <a:custGeom>
              <a:avLst/>
              <a:gdLst/>
              <a:ahLst/>
              <a:cxnLst/>
              <a:rect r="r" b="b" t="t" l="l"/>
              <a:pathLst>
                <a:path h="911608" w="911606">
                  <a:moveTo>
                    <a:pt x="16891" y="0"/>
                  </a:moveTo>
                  <a:lnTo>
                    <a:pt x="894715" y="0"/>
                  </a:lnTo>
                  <a:cubicBezTo>
                    <a:pt x="904113" y="0"/>
                    <a:pt x="911606" y="7620"/>
                    <a:pt x="911606" y="16891"/>
                  </a:cubicBezTo>
                  <a:lnTo>
                    <a:pt x="911606" y="894715"/>
                  </a:lnTo>
                  <a:cubicBezTo>
                    <a:pt x="911606" y="904113"/>
                    <a:pt x="903986" y="911606"/>
                    <a:pt x="894715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894715" y="877824"/>
                  </a:lnTo>
                  <a:lnTo>
                    <a:pt x="894715" y="894715"/>
                  </a:lnTo>
                  <a:lnTo>
                    <a:pt x="877824" y="894715"/>
                  </a:lnTo>
                  <a:lnTo>
                    <a:pt x="877824" y="16891"/>
                  </a:lnTo>
                  <a:lnTo>
                    <a:pt x="894715" y="16891"/>
                  </a:lnTo>
                  <a:lnTo>
                    <a:pt x="8947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563856" y="5943600"/>
            <a:ext cx="512064" cy="512064"/>
            <a:chOff x="0" y="0"/>
            <a:chExt cx="682752" cy="682752"/>
          </a:xfrm>
        </p:grpSpPr>
        <p:sp>
          <p:nvSpPr>
            <p:cNvPr name="Freeform 108" id="108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3295376" y="5943600"/>
            <a:ext cx="4206240" cy="512064"/>
            <a:chOff x="0" y="0"/>
            <a:chExt cx="5608320" cy="68275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608320" cy="682752"/>
            </a:xfrm>
            <a:custGeom>
              <a:avLst/>
              <a:gdLst/>
              <a:ahLst/>
              <a:cxnLst/>
              <a:rect r="r" b="b" t="t" l="l"/>
              <a:pathLst>
                <a:path h="68275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56083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Modular Components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2490704" y="6693408"/>
            <a:ext cx="5120640" cy="694944"/>
            <a:chOff x="0" y="0"/>
            <a:chExt cx="6827520" cy="92659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68275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Specialized modules for different cognitive tasks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2624311" y="7576823"/>
            <a:ext cx="189995" cy="189995"/>
            <a:chOff x="0" y="0"/>
            <a:chExt cx="253327" cy="253327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2911328" y="7516368"/>
            <a:ext cx="4572000" cy="402336"/>
            <a:chOff x="0" y="0"/>
            <a:chExt cx="6096000" cy="53644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PLN for reasoning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2624311" y="8216903"/>
            <a:ext cx="189995" cy="189995"/>
            <a:chOff x="0" y="0"/>
            <a:chExt cx="253327" cy="253327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2911328" y="8156448"/>
            <a:ext cx="4572000" cy="402336"/>
            <a:chOff x="0" y="0"/>
            <a:chExt cx="6096000" cy="53644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MOSES for learning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2624311" y="8856983"/>
            <a:ext cx="189995" cy="189995"/>
            <a:chOff x="0" y="0"/>
            <a:chExt cx="253327" cy="253327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2911328" y="8796528"/>
            <a:ext cx="4572000" cy="402336"/>
            <a:chOff x="0" y="0"/>
            <a:chExt cx="6096000" cy="53644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ECAN for attention</a:t>
              </a:r>
            </a:p>
          </p:txBody>
        </p:sp>
      </p:grpSp>
      <p:sp>
        <p:nvSpPr>
          <p:cNvPr name="Freeform 133" id="133"/>
          <p:cNvSpPr/>
          <p:nvPr/>
        </p:nvSpPr>
        <p:spPr>
          <a:xfrm flipH="false" flipV="false" rot="0">
            <a:off x="12819893" y="2481267"/>
            <a:ext cx="4225860" cy="3120771"/>
          </a:xfrm>
          <a:custGeom>
            <a:avLst/>
            <a:gdLst/>
            <a:ahLst/>
            <a:cxnLst/>
            <a:rect r="r" b="b" t="t" l="l"/>
            <a:pathLst>
              <a:path h="3120771" w="4225860">
                <a:moveTo>
                  <a:pt x="0" y="0"/>
                </a:moveTo>
                <a:lnTo>
                  <a:pt x="4225860" y="0"/>
                </a:lnTo>
                <a:lnTo>
                  <a:pt x="4225860" y="3120771"/>
                </a:lnTo>
                <a:lnTo>
                  <a:pt x="0" y="31207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82880"/>
            <a:ext cx="15544800" cy="694944"/>
            <a:chOff x="0" y="0"/>
            <a:chExt cx="2072640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7264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Goals and Philosophy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2801600" cy="512064"/>
            <a:chOff x="0" y="0"/>
            <a:chExt cx="170688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AGI vision framework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44800" y="548640"/>
            <a:ext cx="2560320" cy="457200"/>
            <a:chOff x="0" y="0"/>
            <a:chExt cx="341376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0" cy="609600"/>
            </a:xfrm>
            <a:custGeom>
              <a:avLst/>
              <a:gdLst/>
              <a:ahLst/>
              <a:cxnLst/>
              <a:rect r="r" b="b" t="t" l="l"/>
              <a:pathLst>
                <a:path h="6096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413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9/20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1828800"/>
            <a:ext cx="512064" cy="512064"/>
            <a:chOff x="0" y="0"/>
            <a:chExt cx="682752" cy="68275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1828800"/>
            <a:ext cx="10972800" cy="548640"/>
            <a:chOff x="0" y="0"/>
            <a:chExt cx="146304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46304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Goals and Philosophy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788903" y="1852679"/>
            <a:ext cx="4871723" cy="574043"/>
            <a:chOff x="0" y="0"/>
            <a:chExt cx="6495631" cy="7653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6461887" cy="731520"/>
            </a:xfrm>
            <a:custGeom>
              <a:avLst/>
              <a:gdLst/>
              <a:ahLst/>
              <a:cxnLst/>
              <a:rect r="r" b="b" t="t" l="l"/>
              <a:pathLst>
                <a:path h="731520" w="6461887">
                  <a:moveTo>
                    <a:pt x="0" y="365760"/>
                  </a:moveTo>
                  <a:cubicBezTo>
                    <a:pt x="0" y="163703"/>
                    <a:pt x="170434" y="0"/>
                    <a:pt x="380746" y="0"/>
                  </a:cubicBezTo>
                  <a:lnTo>
                    <a:pt x="6081141" y="0"/>
                  </a:lnTo>
                  <a:cubicBezTo>
                    <a:pt x="6291453" y="0"/>
                    <a:pt x="6461887" y="163703"/>
                    <a:pt x="6461887" y="365760"/>
                  </a:cubicBezTo>
                  <a:cubicBezTo>
                    <a:pt x="6461887" y="567817"/>
                    <a:pt x="6291453" y="731520"/>
                    <a:pt x="6081141" y="731520"/>
                  </a:cubicBezTo>
                  <a:lnTo>
                    <a:pt x="380746" y="731520"/>
                  </a:lnTo>
                  <a:cubicBezTo>
                    <a:pt x="170434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95669" cy="765302"/>
            </a:xfrm>
            <a:custGeom>
              <a:avLst/>
              <a:gdLst/>
              <a:ahLst/>
              <a:cxnLst/>
              <a:rect r="r" b="b" t="t" l="l"/>
              <a:pathLst>
                <a:path h="765302" w="6495669">
                  <a:moveTo>
                    <a:pt x="0" y="382651"/>
                  </a:moveTo>
                  <a:cubicBezTo>
                    <a:pt x="0" y="170688"/>
                    <a:pt x="178689" y="0"/>
                    <a:pt x="397637" y="0"/>
                  </a:cubicBezTo>
                  <a:lnTo>
                    <a:pt x="6098032" y="0"/>
                  </a:lnTo>
                  <a:lnTo>
                    <a:pt x="6098032" y="16891"/>
                  </a:lnTo>
                  <a:lnTo>
                    <a:pt x="6098032" y="0"/>
                  </a:lnTo>
                  <a:cubicBezTo>
                    <a:pt x="6316980" y="0"/>
                    <a:pt x="6495669" y="170688"/>
                    <a:pt x="6495669" y="382651"/>
                  </a:cubicBezTo>
                  <a:lnTo>
                    <a:pt x="6478778" y="382651"/>
                  </a:lnTo>
                  <a:lnTo>
                    <a:pt x="6495669" y="382651"/>
                  </a:lnTo>
                  <a:lnTo>
                    <a:pt x="6478778" y="382651"/>
                  </a:lnTo>
                  <a:lnTo>
                    <a:pt x="6495669" y="382651"/>
                  </a:lnTo>
                  <a:cubicBezTo>
                    <a:pt x="6495669" y="594614"/>
                    <a:pt x="6316980" y="765302"/>
                    <a:pt x="6098032" y="765302"/>
                  </a:cubicBezTo>
                  <a:lnTo>
                    <a:pt x="6098032" y="748411"/>
                  </a:lnTo>
                  <a:lnTo>
                    <a:pt x="6098032" y="765302"/>
                  </a:lnTo>
                  <a:lnTo>
                    <a:pt x="397637" y="765302"/>
                  </a:lnTo>
                  <a:lnTo>
                    <a:pt x="397637" y="748411"/>
                  </a:lnTo>
                  <a:lnTo>
                    <a:pt x="397637" y="765302"/>
                  </a:lnTo>
                  <a:cubicBezTo>
                    <a:pt x="178689" y="765429"/>
                    <a:pt x="0" y="594741"/>
                    <a:pt x="0" y="382651"/>
                  </a:cubicBezTo>
                  <a:lnTo>
                    <a:pt x="16891" y="382651"/>
                  </a:lnTo>
                  <a:lnTo>
                    <a:pt x="0" y="382651"/>
                  </a:lnTo>
                  <a:moveTo>
                    <a:pt x="33909" y="382651"/>
                  </a:moveTo>
                  <a:lnTo>
                    <a:pt x="16891" y="382651"/>
                  </a:lnTo>
                  <a:lnTo>
                    <a:pt x="33909" y="382651"/>
                  </a:lnTo>
                  <a:cubicBezTo>
                    <a:pt x="33909" y="574675"/>
                    <a:pt x="196088" y="731520"/>
                    <a:pt x="397637" y="731520"/>
                  </a:cubicBezTo>
                  <a:lnTo>
                    <a:pt x="6098032" y="731520"/>
                  </a:lnTo>
                  <a:cubicBezTo>
                    <a:pt x="6299581" y="731520"/>
                    <a:pt x="6461760" y="574675"/>
                    <a:pt x="6461760" y="382651"/>
                  </a:cubicBezTo>
                  <a:cubicBezTo>
                    <a:pt x="6461760" y="190627"/>
                    <a:pt x="6299581" y="33782"/>
                    <a:pt x="6098032" y="33782"/>
                  </a:cubicBezTo>
                  <a:lnTo>
                    <a:pt x="397637" y="33782"/>
                  </a:lnTo>
                  <a:lnTo>
                    <a:pt x="397637" y="16891"/>
                  </a:lnTo>
                  <a:lnTo>
                    <a:pt x="397637" y="33909"/>
                  </a:lnTo>
                  <a:cubicBezTo>
                    <a:pt x="196088" y="33909"/>
                    <a:pt x="33909" y="190627"/>
                    <a:pt x="33909" y="382651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801600" y="1865376"/>
            <a:ext cx="4846320" cy="548640"/>
            <a:chOff x="0" y="0"/>
            <a:chExt cx="646176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61760" cy="731520"/>
            </a:xfrm>
            <a:custGeom>
              <a:avLst/>
              <a:gdLst/>
              <a:ahLst/>
              <a:cxnLst/>
              <a:rect r="r" b="b" t="t" l="l"/>
              <a:pathLst>
                <a:path h="7315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461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AGI Vision: Unified cognitive architecture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7383" y="2547623"/>
            <a:ext cx="8529323" cy="1525019"/>
            <a:chOff x="0" y="0"/>
            <a:chExt cx="11372431" cy="203335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13385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372342" cy="2033270"/>
            </a:xfrm>
            <a:custGeom>
              <a:avLst/>
              <a:gdLst/>
              <a:ahLst/>
              <a:cxnLst/>
              <a:rect r="r" b="b" t="t" l="l"/>
              <a:pathLst>
                <a:path h="2033270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2016379"/>
                  </a:lnTo>
                  <a:cubicBezTo>
                    <a:pt x="11372342" y="2025777"/>
                    <a:pt x="11364722" y="2033270"/>
                    <a:pt x="1135545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1355451" y="1999488"/>
                  </a:lnTo>
                  <a:lnTo>
                    <a:pt x="11355451" y="2016379"/>
                  </a:lnTo>
                  <a:lnTo>
                    <a:pt x="11338560" y="2016379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10263" y="2949959"/>
            <a:ext cx="683771" cy="683771"/>
            <a:chOff x="0" y="0"/>
            <a:chExt cx="911695" cy="91169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1606" cy="911608"/>
            </a:xfrm>
            <a:custGeom>
              <a:avLst/>
              <a:gdLst/>
              <a:ahLst/>
              <a:cxnLst/>
              <a:rect r="r" b="b" t="t" l="l"/>
              <a:pathLst>
                <a:path h="911608" w="911606">
                  <a:moveTo>
                    <a:pt x="16891" y="0"/>
                  </a:moveTo>
                  <a:lnTo>
                    <a:pt x="894715" y="0"/>
                  </a:lnTo>
                  <a:cubicBezTo>
                    <a:pt x="904113" y="0"/>
                    <a:pt x="911606" y="7620"/>
                    <a:pt x="911606" y="16891"/>
                  </a:cubicBezTo>
                  <a:lnTo>
                    <a:pt x="911606" y="894715"/>
                  </a:lnTo>
                  <a:cubicBezTo>
                    <a:pt x="911606" y="904113"/>
                    <a:pt x="903986" y="911606"/>
                    <a:pt x="894715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894715" y="877824"/>
                  </a:lnTo>
                  <a:lnTo>
                    <a:pt x="894715" y="894715"/>
                  </a:lnTo>
                  <a:lnTo>
                    <a:pt x="877824" y="894715"/>
                  </a:lnTo>
                  <a:lnTo>
                    <a:pt x="877824" y="16891"/>
                  </a:lnTo>
                  <a:lnTo>
                    <a:pt x="894715" y="16891"/>
                  </a:lnTo>
                  <a:lnTo>
                    <a:pt x="8947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96112" y="3017520"/>
            <a:ext cx="512064" cy="512064"/>
            <a:chOff x="0" y="0"/>
            <a:chExt cx="682752" cy="682752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45920" y="2743200"/>
            <a:ext cx="7315200" cy="457200"/>
            <a:chOff x="0" y="0"/>
            <a:chExt cx="9753600" cy="609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Cognitive Integration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45920" y="3236976"/>
            <a:ext cx="7315200" cy="731520"/>
            <a:chOff x="0" y="0"/>
            <a:chExt cx="9753600" cy="975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753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Unify multiple AI paradigms (symbolic, neural, evolutionary) into a coherent cognitive architecture for diverse tasks.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497063" y="2547623"/>
            <a:ext cx="8529323" cy="1525019"/>
            <a:chOff x="0" y="0"/>
            <a:chExt cx="11372431" cy="203335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113385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372342" cy="2033270"/>
            </a:xfrm>
            <a:custGeom>
              <a:avLst/>
              <a:gdLst/>
              <a:ahLst/>
              <a:cxnLst/>
              <a:rect r="r" b="b" t="t" l="l"/>
              <a:pathLst>
                <a:path h="2033270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2016379"/>
                  </a:lnTo>
                  <a:cubicBezTo>
                    <a:pt x="11372342" y="2025777"/>
                    <a:pt x="11364722" y="2033270"/>
                    <a:pt x="1135545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1355451" y="1999488"/>
                  </a:lnTo>
                  <a:lnTo>
                    <a:pt x="11355451" y="2016379"/>
                  </a:lnTo>
                  <a:lnTo>
                    <a:pt x="11338560" y="2016379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679943" y="2949959"/>
            <a:ext cx="683771" cy="683771"/>
            <a:chOff x="0" y="0"/>
            <a:chExt cx="911695" cy="91169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1606" cy="911608"/>
            </a:xfrm>
            <a:custGeom>
              <a:avLst/>
              <a:gdLst/>
              <a:ahLst/>
              <a:cxnLst/>
              <a:rect r="r" b="b" t="t" l="l"/>
              <a:pathLst>
                <a:path h="911608" w="911606">
                  <a:moveTo>
                    <a:pt x="16891" y="0"/>
                  </a:moveTo>
                  <a:lnTo>
                    <a:pt x="894715" y="0"/>
                  </a:lnTo>
                  <a:cubicBezTo>
                    <a:pt x="904113" y="0"/>
                    <a:pt x="911606" y="7620"/>
                    <a:pt x="911606" y="16891"/>
                  </a:cubicBezTo>
                  <a:lnTo>
                    <a:pt x="911606" y="894715"/>
                  </a:lnTo>
                  <a:cubicBezTo>
                    <a:pt x="911606" y="904113"/>
                    <a:pt x="903986" y="911606"/>
                    <a:pt x="894715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894715" y="877824"/>
                  </a:lnTo>
                  <a:lnTo>
                    <a:pt x="894715" y="894715"/>
                  </a:lnTo>
                  <a:lnTo>
                    <a:pt x="877824" y="894715"/>
                  </a:lnTo>
                  <a:lnTo>
                    <a:pt x="877824" y="16891"/>
                  </a:lnTo>
                  <a:lnTo>
                    <a:pt x="894715" y="16891"/>
                  </a:lnTo>
                  <a:lnTo>
                    <a:pt x="8947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765792" y="3017520"/>
            <a:ext cx="512064" cy="512064"/>
            <a:chOff x="0" y="0"/>
            <a:chExt cx="682752" cy="682752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515600" y="2743200"/>
            <a:ext cx="7315200" cy="457200"/>
            <a:chOff x="0" y="0"/>
            <a:chExt cx="9753600" cy="609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Knowledge Representation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515600" y="3236976"/>
            <a:ext cx="7315200" cy="731520"/>
            <a:chOff x="0" y="0"/>
            <a:chExt cx="9753600" cy="975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753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Enable flexible, scalable knowledge representation supporting reasoning, learning, and memory across domains.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27383" y="4284983"/>
            <a:ext cx="8529323" cy="1525019"/>
            <a:chOff x="0" y="0"/>
            <a:chExt cx="11372431" cy="203335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3385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372342" cy="2033270"/>
            </a:xfrm>
            <a:custGeom>
              <a:avLst/>
              <a:gdLst/>
              <a:ahLst/>
              <a:cxnLst/>
              <a:rect r="r" b="b" t="t" l="l"/>
              <a:pathLst>
                <a:path h="2033270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2016379"/>
                  </a:lnTo>
                  <a:cubicBezTo>
                    <a:pt x="11372342" y="2025777"/>
                    <a:pt x="11364722" y="2033270"/>
                    <a:pt x="1135545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1355451" y="1999488"/>
                  </a:lnTo>
                  <a:lnTo>
                    <a:pt x="11355451" y="2016379"/>
                  </a:lnTo>
                  <a:lnTo>
                    <a:pt x="11338560" y="2016379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10263" y="4687319"/>
            <a:ext cx="683771" cy="683771"/>
            <a:chOff x="0" y="0"/>
            <a:chExt cx="911695" cy="91169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1606" cy="911608"/>
            </a:xfrm>
            <a:custGeom>
              <a:avLst/>
              <a:gdLst/>
              <a:ahLst/>
              <a:cxnLst/>
              <a:rect r="r" b="b" t="t" l="l"/>
              <a:pathLst>
                <a:path h="911608" w="911606">
                  <a:moveTo>
                    <a:pt x="16891" y="0"/>
                  </a:moveTo>
                  <a:lnTo>
                    <a:pt x="894715" y="0"/>
                  </a:lnTo>
                  <a:cubicBezTo>
                    <a:pt x="904113" y="0"/>
                    <a:pt x="911606" y="7620"/>
                    <a:pt x="911606" y="16891"/>
                  </a:cubicBezTo>
                  <a:lnTo>
                    <a:pt x="911606" y="894715"/>
                  </a:lnTo>
                  <a:cubicBezTo>
                    <a:pt x="911606" y="904113"/>
                    <a:pt x="903986" y="911606"/>
                    <a:pt x="894715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894715" y="877824"/>
                  </a:lnTo>
                  <a:lnTo>
                    <a:pt x="894715" y="894715"/>
                  </a:lnTo>
                  <a:lnTo>
                    <a:pt x="877824" y="894715"/>
                  </a:lnTo>
                  <a:lnTo>
                    <a:pt x="877824" y="16891"/>
                  </a:lnTo>
                  <a:lnTo>
                    <a:pt x="894715" y="16891"/>
                  </a:lnTo>
                  <a:lnTo>
                    <a:pt x="8947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96112" y="4754880"/>
            <a:ext cx="512064" cy="512064"/>
            <a:chOff x="0" y="0"/>
            <a:chExt cx="682752" cy="682752"/>
          </a:xfrm>
        </p:grpSpPr>
        <p:sp>
          <p:nvSpPr>
            <p:cNvPr name="Freeform 60" id="60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645920" y="4480560"/>
            <a:ext cx="7315200" cy="457200"/>
            <a:chOff x="0" y="0"/>
            <a:chExt cx="9753600" cy="609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Autonomous Learning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645920" y="4974336"/>
            <a:ext cx="7315200" cy="731520"/>
            <a:chOff x="0" y="0"/>
            <a:chExt cx="9753600" cy="9753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9753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 self-improving learning mechanisms that acquire new skills without explicit programming.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497063" y="4284983"/>
            <a:ext cx="8529323" cy="1525019"/>
            <a:chOff x="0" y="0"/>
            <a:chExt cx="11372431" cy="203335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1133856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372342" cy="2033270"/>
            </a:xfrm>
            <a:custGeom>
              <a:avLst/>
              <a:gdLst/>
              <a:ahLst/>
              <a:cxnLst/>
              <a:rect r="r" b="b" t="t" l="l"/>
              <a:pathLst>
                <a:path h="2033270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2016379"/>
                  </a:lnTo>
                  <a:cubicBezTo>
                    <a:pt x="11372342" y="2025777"/>
                    <a:pt x="11364722" y="2033270"/>
                    <a:pt x="11355451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11355451" y="1999488"/>
                  </a:lnTo>
                  <a:lnTo>
                    <a:pt x="11355451" y="2016379"/>
                  </a:lnTo>
                  <a:lnTo>
                    <a:pt x="11338560" y="2016379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679943" y="4687319"/>
            <a:ext cx="683771" cy="683771"/>
            <a:chOff x="0" y="0"/>
            <a:chExt cx="911695" cy="91169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1606" cy="911608"/>
            </a:xfrm>
            <a:custGeom>
              <a:avLst/>
              <a:gdLst/>
              <a:ahLst/>
              <a:cxnLst/>
              <a:rect r="r" b="b" t="t" l="l"/>
              <a:pathLst>
                <a:path h="911608" w="911606">
                  <a:moveTo>
                    <a:pt x="16891" y="0"/>
                  </a:moveTo>
                  <a:lnTo>
                    <a:pt x="894715" y="0"/>
                  </a:lnTo>
                  <a:cubicBezTo>
                    <a:pt x="904113" y="0"/>
                    <a:pt x="911606" y="7620"/>
                    <a:pt x="911606" y="16891"/>
                  </a:cubicBezTo>
                  <a:lnTo>
                    <a:pt x="911606" y="894715"/>
                  </a:lnTo>
                  <a:cubicBezTo>
                    <a:pt x="911606" y="904113"/>
                    <a:pt x="903986" y="911606"/>
                    <a:pt x="894715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894715" y="877824"/>
                  </a:lnTo>
                  <a:lnTo>
                    <a:pt x="894715" y="894715"/>
                  </a:lnTo>
                  <a:lnTo>
                    <a:pt x="877824" y="894715"/>
                  </a:lnTo>
                  <a:lnTo>
                    <a:pt x="877824" y="16891"/>
                  </a:lnTo>
                  <a:lnTo>
                    <a:pt x="894715" y="16891"/>
                  </a:lnTo>
                  <a:lnTo>
                    <a:pt x="8947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765792" y="4754880"/>
            <a:ext cx="512064" cy="512064"/>
            <a:chOff x="0" y="0"/>
            <a:chExt cx="682752" cy="682752"/>
          </a:xfrm>
        </p:grpSpPr>
        <p:sp>
          <p:nvSpPr>
            <p:cNvPr name="Freeform 74" id="74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515600" y="4480560"/>
            <a:ext cx="7315200" cy="457200"/>
            <a:chOff x="0" y="0"/>
            <a:chExt cx="9753600" cy="6096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Human Collaboration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515600" y="4974336"/>
            <a:ext cx="7315200" cy="731520"/>
            <a:chOff x="0" y="0"/>
            <a:chExt cx="9753600" cy="9753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9753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Design systems that effectively collaborate with humans and understand human intentions.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27383" y="6241799"/>
            <a:ext cx="17033243" cy="3408683"/>
            <a:chOff x="0" y="0"/>
            <a:chExt cx="22710991" cy="454491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22677119" cy="4511040"/>
            </a:xfrm>
            <a:custGeom>
              <a:avLst/>
              <a:gdLst/>
              <a:ahLst/>
              <a:cxnLst/>
              <a:rect r="r" b="b" t="t" l="l"/>
              <a:pathLst>
                <a:path h="4511040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2710902" cy="4544822"/>
            </a:xfrm>
            <a:custGeom>
              <a:avLst/>
              <a:gdLst/>
              <a:ahLst/>
              <a:cxnLst/>
              <a:rect r="r" b="b" t="t" l="l"/>
              <a:pathLst>
                <a:path h="4544822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4527931"/>
                  </a:lnTo>
                  <a:cubicBezTo>
                    <a:pt x="22710902" y="4537329"/>
                    <a:pt x="22703282" y="4544822"/>
                    <a:pt x="22694010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22694010" y="4511040"/>
                  </a:lnTo>
                  <a:lnTo>
                    <a:pt x="22694010" y="4527931"/>
                  </a:lnTo>
                  <a:lnTo>
                    <a:pt x="22677120" y="4527931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05840" y="6400800"/>
            <a:ext cx="9144000" cy="512064"/>
            <a:chOff x="0" y="0"/>
            <a:chExt cx="12192000" cy="6827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2192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12192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AGI Vision Framework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005840" y="7095744"/>
            <a:ext cx="5303520" cy="402336"/>
            <a:chOff x="0" y="0"/>
            <a:chExt cx="7071360" cy="53644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071360" cy="536448"/>
            </a:xfrm>
            <a:custGeom>
              <a:avLst/>
              <a:gdLst/>
              <a:ahLst/>
              <a:cxnLst/>
              <a:rect r="r" b="b" t="t" l="l"/>
              <a:pathLst>
                <a:path h="5364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848" r="0" b="-206848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70713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Philosophy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05840" y="7534656"/>
            <a:ext cx="5212080" cy="914400"/>
            <a:chOff x="0" y="0"/>
            <a:chExt cx="6949440" cy="12192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949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064" r="0" b="-61064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6949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OpenCog aims to create a unified cognitive architecture integrating reasoning, learning, and attention mechanisms.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6583680" y="7095744"/>
            <a:ext cx="5303520" cy="402336"/>
            <a:chOff x="0" y="0"/>
            <a:chExt cx="7071360" cy="53644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071360" cy="536448"/>
            </a:xfrm>
            <a:custGeom>
              <a:avLst/>
              <a:gdLst/>
              <a:ahLst/>
              <a:cxnLst/>
              <a:rect r="r" b="b" t="t" l="l"/>
              <a:pathLst>
                <a:path h="5364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848" r="0" b="-206848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70713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Approach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6583680" y="7534656"/>
            <a:ext cx="5212080" cy="914400"/>
            <a:chOff x="0" y="0"/>
            <a:chExt cx="6949440" cy="12192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949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064" r="0" b="-6106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6949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Combines probabilistic logic, evolutionary learning, and attention allocation in a hypergraph knowledge base.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2161520" y="7095744"/>
            <a:ext cx="5303520" cy="402336"/>
            <a:chOff x="0" y="0"/>
            <a:chExt cx="7071360" cy="53644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071360" cy="536448"/>
            </a:xfrm>
            <a:custGeom>
              <a:avLst/>
              <a:gdLst/>
              <a:ahLst/>
              <a:cxnLst/>
              <a:rect r="r" b="b" t="t" l="l"/>
              <a:pathLst>
                <a:path h="5364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848" r="0" b="-206848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70713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Capabilities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161520" y="7534656"/>
            <a:ext cx="5212080" cy="914400"/>
            <a:chOff x="0" y="0"/>
            <a:chExt cx="6949440" cy="12192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949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064" r="0" b="-61064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6949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General intelligence, cross-domain learning, and human-like reasoning capabilities.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-12697" y="10173719"/>
            <a:ext cx="18313403" cy="125987"/>
            <a:chOff x="0" y="0"/>
            <a:chExt cx="24417871" cy="167983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-12697" y="10173719"/>
            <a:ext cx="11912603" cy="125987"/>
            <a:chOff x="0" y="0"/>
            <a:chExt cx="15883471" cy="167983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16891" y="16891"/>
              <a:ext cx="15849599" cy="134112"/>
            </a:xfrm>
            <a:custGeom>
              <a:avLst/>
              <a:gdLst/>
              <a:ahLst/>
              <a:cxnLst/>
              <a:rect r="r" b="b" t="t" l="l"/>
              <a:pathLst>
                <a:path h="134112" w="15849599">
                  <a:moveTo>
                    <a:pt x="0" y="0"/>
                  </a:moveTo>
                  <a:lnTo>
                    <a:pt x="15849599" y="0"/>
                  </a:lnTo>
                  <a:lnTo>
                    <a:pt x="158495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5883382" cy="167896"/>
            </a:xfrm>
            <a:custGeom>
              <a:avLst/>
              <a:gdLst/>
              <a:ahLst/>
              <a:cxnLst/>
              <a:rect r="r" b="b" t="t" l="l"/>
              <a:pathLst>
                <a:path h="167896" w="15883382">
                  <a:moveTo>
                    <a:pt x="16891" y="0"/>
                  </a:moveTo>
                  <a:lnTo>
                    <a:pt x="15866490" y="0"/>
                  </a:lnTo>
                  <a:cubicBezTo>
                    <a:pt x="15875890" y="0"/>
                    <a:pt x="15883382" y="7620"/>
                    <a:pt x="15883382" y="16891"/>
                  </a:cubicBezTo>
                  <a:lnTo>
                    <a:pt x="15883382" y="151003"/>
                  </a:lnTo>
                  <a:cubicBezTo>
                    <a:pt x="15883382" y="160401"/>
                    <a:pt x="15875763" y="167894"/>
                    <a:pt x="158664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15866490" y="134112"/>
                  </a:lnTo>
                  <a:lnTo>
                    <a:pt x="15866490" y="151003"/>
                  </a:lnTo>
                  <a:lnTo>
                    <a:pt x="15849600" y="151003"/>
                  </a:lnTo>
                  <a:lnTo>
                    <a:pt x="15849600" y="16891"/>
                  </a:lnTo>
                  <a:lnTo>
                    <a:pt x="15866490" y="16891"/>
                  </a:lnTo>
                  <a:lnTo>
                    <a:pt x="15866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82880"/>
            <a:ext cx="15544800" cy="694944"/>
            <a:chOff x="0" y="0"/>
            <a:chExt cx="2072640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7264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Cognitive Synergy: Multi-Paradigm Integration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2801600" cy="512064"/>
            <a:chOff x="0" y="0"/>
            <a:chExt cx="170688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AGI vision through unified cognitive architectures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44800" y="548640"/>
            <a:ext cx="2560320" cy="457200"/>
            <a:chOff x="0" y="0"/>
            <a:chExt cx="341376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0" cy="609600"/>
            </a:xfrm>
            <a:custGeom>
              <a:avLst/>
              <a:gdLst/>
              <a:ahLst/>
              <a:cxnLst/>
              <a:rect r="r" b="b" t="t" l="l"/>
              <a:pathLst>
                <a:path h="6096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413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10/20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1828800"/>
            <a:ext cx="512064" cy="512064"/>
            <a:chOff x="0" y="0"/>
            <a:chExt cx="682752" cy="68275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1828800"/>
            <a:ext cx="12801600" cy="548640"/>
            <a:chOff x="0" y="0"/>
            <a:chExt cx="170688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70688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Multi-Paradigm Cognitive Architecture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240263" y="1852679"/>
            <a:ext cx="5511803" cy="574043"/>
            <a:chOff x="0" y="0"/>
            <a:chExt cx="7349071" cy="7653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365760"/>
                  </a:moveTo>
                  <a:cubicBezTo>
                    <a:pt x="0" y="163703"/>
                    <a:pt x="170561" y="0"/>
                    <a:pt x="380873" y="0"/>
                  </a:cubicBezTo>
                  <a:lnTo>
                    <a:pt x="6934327" y="0"/>
                  </a:lnTo>
                  <a:cubicBezTo>
                    <a:pt x="7144766" y="0"/>
                    <a:pt x="7315200" y="163703"/>
                    <a:pt x="7315200" y="365760"/>
                  </a:cubicBezTo>
                  <a:cubicBezTo>
                    <a:pt x="7315200" y="567817"/>
                    <a:pt x="7144639" y="731520"/>
                    <a:pt x="6934327" y="731520"/>
                  </a:cubicBezTo>
                  <a:lnTo>
                    <a:pt x="381000" y="731520"/>
                  </a:lnTo>
                  <a:cubicBezTo>
                    <a:pt x="170561" y="731520"/>
                    <a:pt x="127" y="567817"/>
                    <a:pt x="127" y="36576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49110" cy="765302"/>
            </a:xfrm>
            <a:custGeom>
              <a:avLst/>
              <a:gdLst/>
              <a:ahLst/>
              <a:cxnLst/>
              <a:rect r="r" b="b" t="t" l="l"/>
              <a:pathLst>
                <a:path h="765302" w="7349110">
                  <a:moveTo>
                    <a:pt x="0" y="382651"/>
                  </a:moveTo>
                  <a:cubicBezTo>
                    <a:pt x="0" y="170688"/>
                    <a:pt x="178816" y="0"/>
                    <a:pt x="397891" y="0"/>
                  </a:cubicBezTo>
                  <a:lnTo>
                    <a:pt x="6951218" y="0"/>
                  </a:lnTo>
                  <a:lnTo>
                    <a:pt x="6951218" y="16891"/>
                  </a:lnTo>
                  <a:lnTo>
                    <a:pt x="6951218" y="0"/>
                  </a:lnTo>
                  <a:cubicBezTo>
                    <a:pt x="7170293" y="0"/>
                    <a:pt x="7349110" y="170688"/>
                    <a:pt x="7349110" y="382651"/>
                  </a:cubicBezTo>
                  <a:lnTo>
                    <a:pt x="7332218" y="382651"/>
                  </a:lnTo>
                  <a:lnTo>
                    <a:pt x="7349110" y="382651"/>
                  </a:lnTo>
                  <a:lnTo>
                    <a:pt x="7332218" y="382651"/>
                  </a:lnTo>
                  <a:lnTo>
                    <a:pt x="7349110" y="382651"/>
                  </a:lnTo>
                  <a:cubicBezTo>
                    <a:pt x="7349110" y="594614"/>
                    <a:pt x="7170293" y="765302"/>
                    <a:pt x="6951218" y="765302"/>
                  </a:cubicBezTo>
                  <a:lnTo>
                    <a:pt x="6951218" y="748411"/>
                  </a:lnTo>
                  <a:lnTo>
                    <a:pt x="6951218" y="765302"/>
                  </a:lnTo>
                  <a:lnTo>
                    <a:pt x="397891" y="765302"/>
                  </a:lnTo>
                  <a:lnTo>
                    <a:pt x="397891" y="748411"/>
                  </a:lnTo>
                  <a:lnTo>
                    <a:pt x="397891" y="765302"/>
                  </a:lnTo>
                  <a:cubicBezTo>
                    <a:pt x="178816" y="765429"/>
                    <a:pt x="0" y="594741"/>
                    <a:pt x="0" y="382651"/>
                  </a:cubicBezTo>
                  <a:lnTo>
                    <a:pt x="16891" y="382651"/>
                  </a:lnTo>
                  <a:lnTo>
                    <a:pt x="0" y="382651"/>
                  </a:lnTo>
                  <a:moveTo>
                    <a:pt x="33909" y="382651"/>
                  </a:moveTo>
                  <a:lnTo>
                    <a:pt x="16891" y="382651"/>
                  </a:lnTo>
                  <a:lnTo>
                    <a:pt x="33909" y="382651"/>
                  </a:lnTo>
                  <a:cubicBezTo>
                    <a:pt x="33909" y="574675"/>
                    <a:pt x="196215" y="731520"/>
                    <a:pt x="397891" y="731520"/>
                  </a:cubicBezTo>
                  <a:lnTo>
                    <a:pt x="6951218" y="731520"/>
                  </a:lnTo>
                  <a:cubicBezTo>
                    <a:pt x="7152894" y="731520"/>
                    <a:pt x="7315200" y="574675"/>
                    <a:pt x="7315200" y="382651"/>
                  </a:cubicBezTo>
                  <a:cubicBezTo>
                    <a:pt x="7315200" y="190627"/>
                    <a:pt x="7152894" y="33782"/>
                    <a:pt x="6951218" y="33782"/>
                  </a:cubicBezTo>
                  <a:lnTo>
                    <a:pt x="397891" y="33782"/>
                  </a:lnTo>
                  <a:lnTo>
                    <a:pt x="397891" y="16891"/>
                  </a:lnTo>
                  <a:lnTo>
                    <a:pt x="397891" y="33909"/>
                  </a:lnTo>
                  <a:cubicBezTo>
                    <a:pt x="196215" y="33909"/>
                    <a:pt x="33909" y="190627"/>
                    <a:pt x="33909" y="382651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252960" y="1865376"/>
            <a:ext cx="5486400" cy="548640"/>
            <a:chOff x="0" y="0"/>
            <a:chExt cx="731520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Integration: Neural + Symbolic + Probabilistic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7383" y="2547623"/>
            <a:ext cx="5511803" cy="5511803"/>
            <a:chOff x="0" y="0"/>
            <a:chExt cx="7349071" cy="73490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48982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7332091"/>
                  </a:lnTo>
                  <a:cubicBezTo>
                    <a:pt x="7348982" y="7341489"/>
                    <a:pt x="7341362" y="7348982"/>
                    <a:pt x="7332091" y="7348982"/>
                  </a:cubicBezTo>
                  <a:lnTo>
                    <a:pt x="16891" y="7348982"/>
                  </a:lnTo>
                  <a:cubicBezTo>
                    <a:pt x="7493" y="7348982"/>
                    <a:pt x="0" y="7341362"/>
                    <a:pt x="0" y="7332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32091"/>
                  </a:lnTo>
                  <a:lnTo>
                    <a:pt x="16891" y="7332091"/>
                  </a:lnTo>
                  <a:lnTo>
                    <a:pt x="16891" y="7315200"/>
                  </a:lnTo>
                  <a:lnTo>
                    <a:pt x="7332091" y="7315200"/>
                  </a:lnTo>
                  <a:lnTo>
                    <a:pt x="7332091" y="7332091"/>
                  </a:lnTo>
                  <a:lnTo>
                    <a:pt x="7315200" y="73320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" y="2743200"/>
            <a:ext cx="4937760" cy="475488"/>
            <a:chOff x="0" y="0"/>
            <a:chExt cx="6583680" cy="6339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83680" cy="633984"/>
            </a:xfrm>
            <a:custGeom>
              <a:avLst/>
              <a:gdLst/>
              <a:ahLst/>
              <a:cxnLst/>
              <a:rect r="r" b="b" t="t" l="l"/>
              <a:pathLst>
                <a:path h="63398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344" r="0" b="-15234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5836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Neural Networks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4400" y="3291840"/>
            <a:ext cx="4937760" cy="1005840"/>
            <a:chOff x="0" y="0"/>
            <a:chExt cx="6583680" cy="1341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83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Deep learning for pattern recognition, feature extraction, and statistical learning.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01703" y="4412999"/>
            <a:ext cx="4963163" cy="848363"/>
            <a:chOff x="0" y="0"/>
            <a:chExt cx="6617551" cy="11311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6583681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6174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114171"/>
                  </a:lnTo>
                  <a:cubicBezTo>
                    <a:pt x="6617462" y="1123569"/>
                    <a:pt x="6609842" y="1131062"/>
                    <a:pt x="66005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6600572" y="1097280"/>
                  </a:lnTo>
                  <a:lnTo>
                    <a:pt x="6600572" y="1114171"/>
                  </a:lnTo>
                  <a:lnTo>
                    <a:pt x="6583680" y="111417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84583" y="4632455"/>
            <a:ext cx="391163" cy="391163"/>
            <a:chOff x="0" y="0"/>
            <a:chExt cx="521551" cy="52155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91056" y="4572000"/>
            <a:ext cx="4023360" cy="512064"/>
            <a:chOff x="0" y="0"/>
            <a:chExt cx="536448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Pattern Recognition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01703" y="5418839"/>
            <a:ext cx="4963163" cy="848363"/>
            <a:chOff x="0" y="0"/>
            <a:chExt cx="6617551" cy="113115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6583681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6174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114171"/>
                  </a:lnTo>
                  <a:cubicBezTo>
                    <a:pt x="6617462" y="1123569"/>
                    <a:pt x="6609842" y="1131062"/>
                    <a:pt x="66005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6600572" y="1097280"/>
                  </a:lnTo>
                  <a:lnTo>
                    <a:pt x="6600572" y="1114171"/>
                  </a:lnTo>
                  <a:lnTo>
                    <a:pt x="6583680" y="111417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84583" y="5638295"/>
            <a:ext cx="391163" cy="391163"/>
            <a:chOff x="0" y="0"/>
            <a:chExt cx="521551" cy="52155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591056" y="5577840"/>
            <a:ext cx="4023360" cy="512064"/>
            <a:chOff x="0" y="0"/>
            <a:chExt cx="5364480" cy="6827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Learning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01703" y="6424679"/>
            <a:ext cx="4963163" cy="848363"/>
            <a:chOff x="0" y="0"/>
            <a:chExt cx="6617551" cy="113115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6583681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6174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114171"/>
                  </a:lnTo>
                  <a:cubicBezTo>
                    <a:pt x="6617462" y="1123569"/>
                    <a:pt x="6609842" y="1131062"/>
                    <a:pt x="66005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6600572" y="1097280"/>
                  </a:lnTo>
                  <a:lnTo>
                    <a:pt x="6600572" y="1114171"/>
                  </a:lnTo>
                  <a:lnTo>
                    <a:pt x="6583680" y="111417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84583" y="6644135"/>
            <a:ext cx="391163" cy="391163"/>
            <a:chOff x="0" y="0"/>
            <a:chExt cx="521551" cy="52155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591056" y="6583680"/>
            <a:ext cx="4023360" cy="512064"/>
            <a:chOff x="0" y="0"/>
            <a:chExt cx="5364480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Statistical Modeling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388103" y="2547623"/>
            <a:ext cx="5511803" cy="5511803"/>
            <a:chOff x="0" y="0"/>
            <a:chExt cx="7349071" cy="734907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48982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7332091"/>
                  </a:lnTo>
                  <a:cubicBezTo>
                    <a:pt x="7348982" y="7341489"/>
                    <a:pt x="7341362" y="7348982"/>
                    <a:pt x="7332091" y="7348982"/>
                  </a:cubicBezTo>
                  <a:lnTo>
                    <a:pt x="16891" y="7348982"/>
                  </a:lnTo>
                  <a:cubicBezTo>
                    <a:pt x="7493" y="7348982"/>
                    <a:pt x="0" y="7341362"/>
                    <a:pt x="0" y="7332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32091"/>
                  </a:lnTo>
                  <a:lnTo>
                    <a:pt x="16891" y="7332091"/>
                  </a:lnTo>
                  <a:lnTo>
                    <a:pt x="16891" y="7315200"/>
                  </a:lnTo>
                  <a:lnTo>
                    <a:pt x="7332091" y="7315200"/>
                  </a:lnTo>
                  <a:lnTo>
                    <a:pt x="7332091" y="7332091"/>
                  </a:lnTo>
                  <a:lnTo>
                    <a:pt x="7315200" y="73320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675120" y="2743200"/>
            <a:ext cx="4937760" cy="475488"/>
            <a:chOff x="0" y="0"/>
            <a:chExt cx="6583680" cy="6339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583680" cy="633984"/>
            </a:xfrm>
            <a:custGeom>
              <a:avLst/>
              <a:gdLst/>
              <a:ahLst/>
              <a:cxnLst/>
              <a:rect r="r" b="b" t="t" l="l"/>
              <a:pathLst>
                <a:path h="63398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344" r="0" b="-15234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5836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Symbolic AI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675120" y="3291840"/>
            <a:ext cx="4937760" cy="1005840"/>
            <a:chOff x="0" y="0"/>
            <a:chExt cx="6583680" cy="13411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583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65836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Logic-based reasoning, knowledge representation, and rule-based inference systems.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662423" y="4412999"/>
            <a:ext cx="4963163" cy="848363"/>
            <a:chOff x="0" y="0"/>
            <a:chExt cx="6617551" cy="113115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6583681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6174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114171"/>
                  </a:lnTo>
                  <a:cubicBezTo>
                    <a:pt x="6617462" y="1123569"/>
                    <a:pt x="6609842" y="1131062"/>
                    <a:pt x="66005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6600572" y="1097280"/>
                  </a:lnTo>
                  <a:lnTo>
                    <a:pt x="6600572" y="1114171"/>
                  </a:lnTo>
                  <a:lnTo>
                    <a:pt x="6583680" y="111417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845303" y="4632455"/>
            <a:ext cx="391163" cy="391163"/>
            <a:chOff x="0" y="0"/>
            <a:chExt cx="521551" cy="52155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7351776" y="4572000"/>
            <a:ext cx="4023360" cy="512064"/>
            <a:chOff x="0" y="0"/>
            <a:chExt cx="5364480" cy="6827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Logical Reasoning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662423" y="5418839"/>
            <a:ext cx="4963163" cy="848363"/>
            <a:chOff x="0" y="0"/>
            <a:chExt cx="6617551" cy="113115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6583681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6174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114171"/>
                  </a:lnTo>
                  <a:cubicBezTo>
                    <a:pt x="6617462" y="1123569"/>
                    <a:pt x="6609842" y="1131062"/>
                    <a:pt x="66005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6600572" y="1097280"/>
                  </a:lnTo>
                  <a:lnTo>
                    <a:pt x="6600572" y="1114171"/>
                  </a:lnTo>
                  <a:lnTo>
                    <a:pt x="6583680" y="111417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845303" y="5638295"/>
            <a:ext cx="391163" cy="391163"/>
            <a:chOff x="0" y="0"/>
            <a:chExt cx="521551" cy="52155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7351776" y="5577840"/>
            <a:ext cx="4023360" cy="512064"/>
            <a:chOff x="0" y="0"/>
            <a:chExt cx="5364480" cy="68275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Knowledge Graphs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662423" y="6424679"/>
            <a:ext cx="4963163" cy="848363"/>
            <a:chOff x="0" y="0"/>
            <a:chExt cx="6617551" cy="113115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6583681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1">
                  <a:moveTo>
                    <a:pt x="0" y="0"/>
                  </a:moveTo>
                  <a:lnTo>
                    <a:pt x="6583681" y="0"/>
                  </a:lnTo>
                  <a:lnTo>
                    <a:pt x="65836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6174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6617462">
                  <a:moveTo>
                    <a:pt x="16891" y="0"/>
                  </a:moveTo>
                  <a:lnTo>
                    <a:pt x="6600572" y="0"/>
                  </a:lnTo>
                  <a:cubicBezTo>
                    <a:pt x="6609969" y="0"/>
                    <a:pt x="6617462" y="7620"/>
                    <a:pt x="6617462" y="16891"/>
                  </a:cubicBezTo>
                  <a:lnTo>
                    <a:pt x="6617462" y="1114171"/>
                  </a:lnTo>
                  <a:cubicBezTo>
                    <a:pt x="6617462" y="1123569"/>
                    <a:pt x="6609842" y="1131062"/>
                    <a:pt x="66005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6600572" y="1097280"/>
                  </a:lnTo>
                  <a:lnTo>
                    <a:pt x="6600572" y="1114171"/>
                  </a:lnTo>
                  <a:lnTo>
                    <a:pt x="6583680" y="1114171"/>
                  </a:lnTo>
                  <a:lnTo>
                    <a:pt x="6583680" y="16891"/>
                  </a:lnTo>
                  <a:lnTo>
                    <a:pt x="6600572" y="16891"/>
                  </a:lnTo>
                  <a:lnTo>
                    <a:pt x="6600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6845303" y="6644135"/>
            <a:ext cx="391163" cy="391163"/>
            <a:chOff x="0" y="0"/>
            <a:chExt cx="521551" cy="52155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7351776" y="6583680"/>
            <a:ext cx="4023360" cy="512064"/>
            <a:chOff x="0" y="0"/>
            <a:chExt cx="5364480" cy="68275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Rule Engines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627383" y="8308343"/>
            <a:ext cx="4195067" cy="1268987"/>
            <a:chOff x="0" y="0"/>
            <a:chExt cx="5593423" cy="169198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6891" y="16891"/>
              <a:ext cx="5559552" cy="1658112"/>
            </a:xfrm>
            <a:custGeom>
              <a:avLst/>
              <a:gdLst/>
              <a:ahLst/>
              <a:cxnLst/>
              <a:rect r="r" b="b" t="t" l="l"/>
              <a:pathLst>
                <a:path h="1658112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593334" cy="1691894"/>
            </a:xfrm>
            <a:custGeom>
              <a:avLst/>
              <a:gdLst/>
              <a:ahLst/>
              <a:cxnLst/>
              <a:rect r="r" b="b" t="t" l="l"/>
              <a:pathLst>
                <a:path h="1691894" w="5593334">
                  <a:moveTo>
                    <a:pt x="16891" y="0"/>
                  </a:moveTo>
                  <a:lnTo>
                    <a:pt x="5576443" y="0"/>
                  </a:lnTo>
                  <a:cubicBezTo>
                    <a:pt x="5585841" y="0"/>
                    <a:pt x="5593334" y="7620"/>
                    <a:pt x="5593334" y="16891"/>
                  </a:cubicBezTo>
                  <a:lnTo>
                    <a:pt x="5593334" y="1675003"/>
                  </a:lnTo>
                  <a:cubicBezTo>
                    <a:pt x="5593334" y="1684401"/>
                    <a:pt x="5585714" y="1691894"/>
                    <a:pt x="5576443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5576443" y="1658112"/>
                  </a:lnTo>
                  <a:lnTo>
                    <a:pt x="5576443" y="1675003"/>
                  </a:lnTo>
                  <a:lnTo>
                    <a:pt x="5559552" y="1675003"/>
                  </a:lnTo>
                  <a:lnTo>
                    <a:pt x="5559552" y="16891"/>
                  </a:lnTo>
                  <a:lnTo>
                    <a:pt x="5576443" y="16891"/>
                  </a:lnTo>
                  <a:lnTo>
                    <a:pt x="55764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14400" y="8449056"/>
            <a:ext cx="1280160" cy="731520"/>
            <a:chOff x="0" y="0"/>
            <a:chExt cx="1706880" cy="97536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706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76200"/>
              <a:ext cx="170688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85%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2194560" y="8631936"/>
            <a:ext cx="2377440" cy="512064"/>
            <a:chOff x="0" y="0"/>
            <a:chExt cx="3169920" cy="68275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3169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Neural Coverage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5053079" y="8308343"/>
            <a:ext cx="4195067" cy="1268987"/>
            <a:chOff x="0" y="0"/>
            <a:chExt cx="5593423" cy="1691983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5559552" cy="1658112"/>
            </a:xfrm>
            <a:custGeom>
              <a:avLst/>
              <a:gdLst/>
              <a:ahLst/>
              <a:cxnLst/>
              <a:rect r="r" b="b" t="t" l="l"/>
              <a:pathLst>
                <a:path h="1658112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593334" cy="1691894"/>
            </a:xfrm>
            <a:custGeom>
              <a:avLst/>
              <a:gdLst/>
              <a:ahLst/>
              <a:cxnLst/>
              <a:rect r="r" b="b" t="t" l="l"/>
              <a:pathLst>
                <a:path h="1691894" w="5593334">
                  <a:moveTo>
                    <a:pt x="16891" y="0"/>
                  </a:moveTo>
                  <a:lnTo>
                    <a:pt x="5576443" y="0"/>
                  </a:lnTo>
                  <a:cubicBezTo>
                    <a:pt x="5585841" y="0"/>
                    <a:pt x="5593334" y="7620"/>
                    <a:pt x="5593334" y="16891"/>
                  </a:cubicBezTo>
                  <a:lnTo>
                    <a:pt x="5593334" y="1675003"/>
                  </a:lnTo>
                  <a:cubicBezTo>
                    <a:pt x="5593334" y="1684401"/>
                    <a:pt x="5585714" y="1691894"/>
                    <a:pt x="5576443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5576443" y="1658112"/>
                  </a:lnTo>
                  <a:lnTo>
                    <a:pt x="5576443" y="1675003"/>
                  </a:lnTo>
                  <a:lnTo>
                    <a:pt x="5559552" y="1675003"/>
                  </a:lnTo>
                  <a:lnTo>
                    <a:pt x="5559552" y="16891"/>
                  </a:lnTo>
                  <a:lnTo>
                    <a:pt x="5576443" y="16891"/>
                  </a:lnTo>
                  <a:lnTo>
                    <a:pt x="55764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5340096" y="8449056"/>
            <a:ext cx="1280160" cy="731520"/>
            <a:chOff x="0" y="0"/>
            <a:chExt cx="1706880" cy="97536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706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76200"/>
              <a:ext cx="170688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92%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6620256" y="8631936"/>
            <a:ext cx="2377440" cy="512064"/>
            <a:chOff x="0" y="0"/>
            <a:chExt cx="3169920" cy="68275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3169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Symbolic Accuracy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478775" y="8308343"/>
            <a:ext cx="4195067" cy="1268987"/>
            <a:chOff x="0" y="0"/>
            <a:chExt cx="5593423" cy="1691983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5559552" cy="1658112"/>
            </a:xfrm>
            <a:custGeom>
              <a:avLst/>
              <a:gdLst/>
              <a:ahLst/>
              <a:cxnLst/>
              <a:rect r="r" b="b" t="t" l="l"/>
              <a:pathLst>
                <a:path h="1658112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593334" cy="1691894"/>
            </a:xfrm>
            <a:custGeom>
              <a:avLst/>
              <a:gdLst/>
              <a:ahLst/>
              <a:cxnLst/>
              <a:rect r="r" b="b" t="t" l="l"/>
              <a:pathLst>
                <a:path h="1691894" w="5593334">
                  <a:moveTo>
                    <a:pt x="16891" y="0"/>
                  </a:moveTo>
                  <a:lnTo>
                    <a:pt x="5576443" y="0"/>
                  </a:lnTo>
                  <a:cubicBezTo>
                    <a:pt x="5585841" y="0"/>
                    <a:pt x="5593334" y="7620"/>
                    <a:pt x="5593334" y="16891"/>
                  </a:cubicBezTo>
                  <a:lnTo>
                    <a:pt x="5593334" y="1675003"/>
                  </a:lnTo>
                  <a:cubicBezTo>
                    <a:pt x="5593334" y="1684401"/>
                    <a:pt x="5585714" y="1691894"/>
                    <a:pt x="5576443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5576443" y="1658112"/>
                  </a:lnTo>
                  <a:lnTo>
                    <a:pt x="5576443" y="1675003"/>
                  </a:lnTo>
                  <a:lnTo>
                    <a:pt x="5559552" y="1675003"/>
                  </a:lnTo>
                  <a:lnTo>
                    <a:pt x="5559552" y="16891"/>
                  </a:lnTo>
                  <a:lnTo>
                    <a:pt x="5576443" y="16891"/>
                  </a:lnTo>
                  <a:lnTo>
                    <a:pt x="55764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9765792" y="8449056"/>
            <a:ext cx="1280160" cy="731520"/>
            <a:chOff x="0" y="0"/>
            <a:chExt cx="1706880" cy="97536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706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76200"/>
              <a:ext cx="170688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78%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1045952" y="8631936"/>
            <a:ext cx="2377440" cy="512064"/>
            <a:chOff x="0" y="0"/>
            <a:chExt cx="3169920" cy="68275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3169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Integration Score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3904471" y="8308343"/>
            <a:ext cx="4195067" cy="1268987"/>
            <a:chOff x="0" y="0"/>
            <a:chExt cx="5593423" cy="1691983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16891" y="16891"/>
              <a:ext cx="5559552" cy="1658112"/>
            </a:xfrm>
            <a:custGeom>
              <a:avLst/>
              <a:gdLst/>
              <a:ahLst/>
              <a:cxnLst/>
              <a:rect r="r" b="b" t="t" l="l"/>
              <a:pathLst>
                <a:path h="1658112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593334" cy="1691894"/>
            </a:xfrm>
            <a:custGeom>
              <a:avLst/>
              <a:gdLst/>
              <a:ahLst/>
              <a:cxnLst/>
              <a:rect r="r" b="b" t="t" l="l"/>
              <a:pathLst>
                <a:path h="1691894" w="5593334">
                  <a:moveTo>
                    <a:pt x="16891" y="0"/>
                  </a:moveTo>
                  <a:lnTo>
                    <a:pt x="5576443" y="0"/>
                  </a:lnTo>
                  <a:cubicBezTo>
                    <a:pt x="5585841" y="0"/>
                    <a:pt x="5593334" y="7620"/>
                    <a:pt x="5593334" y="16891"/>
                  </a:cubicBezTo>
                  <a:lnTo>
                    <a:pt x="5593334" y="1675003"/>
                  </a:lnTo>
                  <a:cubicBezTo>
                    <a:pt x="5593334" y="1684401"/>
                    <a:pt x="5585714" y="1691894"/>
                    <a:pt x="5576443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5576443" y="1658112"/>
                  </a:lnTo>
                  <a:lnTo>
                    <a:pt x="5576443" y="1675003"/>
                  </a:lnTo>
                  <a:lnTo>
                    <a:pt x="5559552" y="1675003"/>
                  </a:lnTo>
                  <a:lnTo>
                    <a:pt x="5559552" y="16891"/>
                  </a:lnTo>
                  <a:lnTo>
                    <a:pt x="5576443" y="16891"/>
                  </a:lnTo>
                  <a:lnTo>
                    <a:pt x="55764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4191488" y="8449056"/>
            <a:ext cx="1280160" cy="731520"/>
            <a:chOff x="0" y="0"/>
            <a:chExt cx="1706880" cy="97536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706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76200"/>
              <a:ext cx="170688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65%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5471648" y="8631936"/>
            <a:ext cx="2377440" cy="512064"/>
            <a:chOff x="0" y="0"/>
            <a:chExt cx="3169920" cy="68275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3169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AGI Progress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-12697" y="10173719"/>
            <a:ext cx="18313403" cy="125987"/>
            <a:chOff x="0" y="0"/>
            <a:chExt cx="24417871" cy="167983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-12697" y="10173719"/>
            <a:ext cx="11912603" cy="125987"/>
            <a:chOff x="0" y="0"/>
            <a:chExt cx="15883471" cy="167983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16891" y="16891"/>
              <a:ext cx="15849599" cy="134112"/>
            </a:xfrm>
            <a:custGeom>
              <a:avLst/>
              <a:gdLst/>
              <a:ahLst/>
              <a:cxnLst/>
              <a:rect r="r" b="b" t="t" l="l"/>
              <a:pathLst>
                <a:path h="134112" w="15849599">
                  <a:moveTo>
                    <a:pt x="0" y="0"/>
                  </a:moveTo>
                  <a:lnTo>
                    <a:pt x="15849599" y="0"/>
                  </a:lnTo>
                  <a:lnTo>
                    <a:pt x="158495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5883382" cy="167896"/>
            </a:xfrm>
            <a:custGeom>
              <a:avLst/>
              <a:gdLst/>
              <a:ahLst/>
              <a:cxnLst/>
              <a:rect r="r" b="b" t="t" l="l"/>
              <a:pathLst>
                <a:path h="167896" w="15883382">
                  <a:moveTo>
                    <a:pt x="16891" y="0"/>
                  </a:moveTo>
                  <a:lnTo>
                    <a:pt x="15866490" y="0"/>
                  </a:lnTo>
                  <a:cubicBezTo>
                    <a:pt x="15875890" y="0"/>
                    <a:pt x="15883382" y="7620"/>
                    <a:pt x="15883382" y="16891"/>
                  </a:cubicBezTo>
                  <a:lnTo>
                    <a:pt x="15883382" y="151003"/>
                  </a:lnTo>
                  <a:cubicBezTo>
                    <a:pt x="15883382" y="160401"/>
                    <a:pt x="15875763" y="167894"/>
                    <a:pt x="158664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15866490" y="134112"/>
                  </a:lnTo>
                  <a:lnTo>
                    <a:pt x="15866490" y="151003"/>
                  </a:lnTo>
                  <a:lnTo>
                    <a:pt x="15849600" y="151003"/>
                  </a:lnTo>
                  <a:lnTo>
                    <a:pt x="15849600" y="16891"/>
                  </a:lnTo>
                  <a:lnTo>
                    <a:pt x="15866490" y="16891"/>
                  </a:lnTo>
                  <a:lnTo>
                    <a:pt x="15866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Freeform 139" id="139"/>
          <p:cNvSpPr/>
          <p:nvPr/>
        </p:nvSpPr>
        <p:spPr>
          <a:xfrm flipH="false" flipV="false" rot="0">
            <a:off x="12147556" y="2683897"/>
            <a:ext cx="5344668" cy="5328971"/>
          </a:xfrm>
          <a:custGeom>
            <a:avLst/>
            <a:gdLst/>
            <a:ahLst/>
            <a:cxnLst/>
            <a:rect r="r" b="b" t="t" l="l"/>
            <a:pathLst>
              <a:path h="5328971" w="5344668">
                <a:moveTo>
                  <a:pt x="0" y="0"/>
                </a:moveTo>
                <a:lnTo>
                  <a:pt x="5344668" y="0"/>
                </a:lnTo>
                <a:lnTo>
                  <a:pt x="5344668" y="5328972"/>
                </a:lnTo>
                <a:lnTo>
                  <a:pt x="0" y="53289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82880"/>
            <a:ext cx="15544800" cy="694944"/>
            <a:chOff x="0" y="0"/>
            <a:chExt cx="2072640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7264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AGI Vision — Goals and Capabilities Framework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2801600" cy="512064"/>
            <a:chOff x="0" y="0"/>
            <a:chExt cx="170688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Understanding OpenCog's approach to AGI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44800" y="548640"/>
            <a:ext cx="2560320" cy="457200"/>
            <a:chOff x="0" y="0"/>
            <a:chExt cx="341376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0" cy="609600"/>
            </a:xfrm>
            <a:custGeom>
              <a:avLst/>
              <a:gdLst/>
              <a:ahLst/>
              <a:cxnLst/>
              <a:rect r="r" b="b" t="t" l="l"/>
              <a:pathLst>
                <a:path h="6096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413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11/20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1828800"/>
            <a:ext cx="512064" cy="512064"/>
            <a:chOff x="0" y="0"/>
            <a:chExt cx="682752" cy="68275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1828800"/>
            <a:ext cx="10972800" cy="548640"/>
            <a:chOff x="0" y="0"/>
            <a:chExt cx="146304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46304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OpenCog's AGI Vision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42983" y="1852679"/>
            <a:ext cx="6517643" cy="574043"/>
            <a:chOff x="0" y="0"/>
            <a:chExt cx="8690191" cy="76539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8690191" cy="765391"/>
              <a:chOff x="0" y="0"/>
              <a:chExt cx="8690191" cy="76539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22598" y="16891"/>
                <a:ext cx="8645047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8645047">
                    <a:moveTo>
                      <a:pt x="0" y="365760"/>
                    </a:moveTo>
                    <a:cubicBezTo>
                      <a:pt x="0" y="163703"/>
                      <a:pt x="228015" y="0"/>
                      <a:pt x="509381" y="0"/>
                    </a:cubicBezTo>
                    <a:lnTo>
                      <a:pt x="8135664" y="0"/>
                    </a:lnTo>
                    <a:cubicBezTo>
                      <a:pt x="8417031" y="0"/>
                      <a:pt x="8645047" y="163703"/>
                      <a:pt x="8645047" y="365760"/>
                    </a:cubicBezTo>
                    <a:cubicBezTo>
                      <a:pt x="8645047" y="567817"/>
                      <a:pt x="8417031" y="731520"/>
                      <a:pt x="8135664" y="731520"/>
                    </a:cubicBezTo>
                    <a:lnTo>
                      <a:pt x="509381" y="731520"/>
                    </a:lnTo>
                    <a:cubicBezTo>
                      <a:pt x="228015" y="731520"/>
                      <a:pt x="0" y="567817"/>
                      <a:pt x="0" y="365760"/>
                    </a:cubicBezTo>
                    <a:close/>
                  </a:path>
                </a:pathLst>
              </a:custGeom>
              <a:solidFill>
                <a:srgbClr val="EFF6FF"/>
              </a:solidFill>
            </p:spPr>
          </p:sp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690229" cy="765302"/>
              </a:xfrm>
              <a:custGeom>
                <a:avLst/>
                <a:gdLst/>
                <a:ahLst/>
                <a:cxnLst/>
                <a:rect r="r" b="b" t="t" l="l"/>
                <a:pathLst>
                  <a:path h="765302" w="8690229">
                    <a:moveTo>
                      <a:pt x="0" y="382651"/>
                    </a:moveTo>
                    <a:cubicBezTo>
                      <a:pt x="0" y="170688"/>
                      <a:pt x="239059" y="0"/>
                      <a:pt x="531979" y="0"/>
                    </a:cubicBezTo>
                    <a:lnTo>
                      <a:pt x="8158262" y="0"/>
                    </a:lnTo>
                    <a:lnTo>
                      <a:pt x="8158262" y="16891"/>
                    </a:lnTo>
                    <a:lnTo>
                      <a:pt x="8158262" y="0"/>
                    </a:lnTo>
                    <a:cubicBezTo>
                      <a:pt x="8451183" y="0"/>
                      <a:pt x="8690229" y="170688"/>
                      <a:pt x="8690229" y="382651"/>
                    </a:cubicBezTo>
                    <a:lnTo>
                      <a:pt x="8667645" y="382651"/>
                    </a:lnTo>
                    <a:lnTo>
                      <a:pt x="8690229" y="382651"/>
                    </a:lnTo>
                    <a:lnTo>
                      <a:pt x="8667645" y="382651"/>
                    </a:lnTo>
                    <a:lnTo>
                      <a:pt x="8690229" y="382651"/>
                    </a:lnTo>
                    <a:cubicBezTo>
                      <a:pt x="8690229" y="594614"/>
                      <a:pt x="8451183" y="765302"/>
                      <a:pt x="8158262" y="765302"/>
                    </a:cubicBezTo>
                    <a:lnTo>
                      <a:pt x="8158262" y="748411"/>
                    </a:lnTo>
                    <a:lnTo>
                      <a:pt x="8158262" y="765302"/>
                    </a:lnTo>
                    <a:lnTo>
                      <a:pt x="531979" y="765302"/>
                    </a:lnTo>
                    <a:lnTo>
                      <a:pt x="531979" y="748411"/>
                    </a:lnTo>
                    <a:lnTo>
                      <a:pt x="531979" y="765302"/>
                    </a:lnTo>
                    <a:cubicBezTo>
                      <a:pt x="239059" y="765429"/>
                      <a:pt x="0" y="594741"/>
                      <a:pt x="0" y="382651"/>
                    </a:cubicBezTo>
                    <a:lnTo>
                      <a:pt x="22598" y="382651"/>
                    </a:lnTo>
                    <a:lnTo>
                      <a:pt x="0" y="382651"/>
                    </a:lnTo>
                    <a:moveTo>
                      <a:pt x="45365" y="382651"/>
                    </a:moveTo>
                    <a:lnTo>
                      <a:pt x="22598" y="382651"/>
                    </a:lnTo>
                    <a:lnTo>
                      <a:pt x="45365" y="382651"/>
                    </a:lnTo>
                    <a:cubicBezTo>
                      <a:pt x="45365" y="574675"/>
                      <a:pt x="262337" y="731520"/>
                      <a:pt x="531979" y="731520"/>
                    </a:cubicBezTo>
                    <a:lnTo>
                      <a:pt x="8158262" y="731520"/>
                    </a:lnTo>
                    <a:cubicBezTo>
                      <a:pt x="8427905" y="731520"/>
                      <a:pt x="8644877" y="574675"/>
                      <a:pt x="8644877" y="382651"/>
                    </a:cubicBezTo>
                    <a:cubicBezTo>
                      <a:pt x="8644877" y="190627"/>
                      <a:pt x="8427905" y="33782"/>
                      <a:pt x="8158262" y="33782"/>
                    </a:cubicBezTo>
                    <a:lnTo>
                      <a:pt x="531979" y="33782"/>
                    </a:lnTo>
                    <a:lnTo>
                      <a:pt x="531979" y="16891"/>
                    </a:lnTo>
                    <a:lnTo>
                      <a:pt x="531979" y="33909"/>
                    </a:lnTo>
                    <a:cubicBezTo>
                      <a:pt x="262337" y="33909"/>
                      <a:pt x="45365" y="190627"/>
                      <a:pt x="45365" y="382651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356657" y="16929"/>
              <a:ext cx="8310868" cy="731520"/>
              <a:chOff x="0" y="0"/>
              <a:chExt cx="8310868" cy="73152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310868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8310868">
                    <a:moveTo>
                      <a:pt x="0" y="0"/>
                    </a:moveTo>
                    <a:lnTo>
                      <a:pt x="8310868" y="0"/>
                    </a:lnTo>
                    <a:lnTo>
                      <a:pt x="8310868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22117" r="22249" b="-122117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8310868" cy="7696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>
                    <a:solidFill>
                      <a:srgbClr val="3B82F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AGI Vision: Unified cognitive architecture</a:t>
                </a: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0">
            <a:off x="627383" y="2547623"/>
            <a:ext cx="10266683" cy="3500123"/>
            <a:chOff x="0" y="0"/>
            <a:chExt cx="13688911" cy="46668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3655039" cy="4632960"/>
            </a:xfrm>
            <a:custGeom>
              <a:avLst/>
              <a:gdLst/>
              <a:ahLst/>
              <a:cxnLst/>
              <a:rect r="r" b="b" t="t" l="l"/>
              <a:pathLst>
                <a:path h="463296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688822" cy="4666742"/>
            </a:xfrm>
            <a:custGeom>
              <a:avLst/>
              <a:gdLst/>
              <a:ahLst/>
              <a:cxnLst/>
              <a:rect r="r" b="b" t="t" l="l"/>
              <a:pathLst>
                <a:path h="4666742" w="13688822">
                  <a:moveTo>
                    <a:pt x="16891" y="0"/>
                  </a:moveTo>
                  <a:lnTo>
                    <a:pt x="13671930" y="0"/>
                  </a:lnTo>
                  <a:cubicBezTo>
                    <a:pt x="13681329" y="0"/>
                    <a:pt x="13688822" y="7620"/>
                    <a:pt x="13688822" y="16891"/>
                  </a:cubicBezTo>
                  <a:lnTo>
                    <a:pt x="13688822" y="4649851"/>
                  </a:lnTo>
                  <a:cubicBezTo>
                    <a:pt x="13688822" y="4659249"/>
                    <a:pt x="13681202" y="4666742"/>
                    <a:pt x="13671930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3671930" y="4632960"/>
                  </a:lnTo>
                  <a:lnTo>
                    <a:pt x="13671930" y="4649851"/>
                  </a:lnTo>
                  <a:lnTo>
                    <a:pt x="13655039" y="4649851"/>
                  </a:lnTo>
                  <a:lnTo>
                    <a:pt x="13655039" y="16891"/>
                  </a:lnTo>
                  <a:lnTo>
                    <a:pt x="13671930" y="16891"/>
                  </a:lnTo>
                  <a:lnTo>
                    <a:pt x="136719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05840" y="2706624"/>
            <a:ext cx="7315200" cy="475488"/>
            <a:chOff x="0" y="0"/>
            <a:chExt cx="9753600" cy="6339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9753600" cy="6911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Goals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05840" y="3255264"/>
            <a:ext cx="9692640" cy="768096"/>
            <a:chOff x="0" y="0"/>
            <a:chExt cx="12923520" cy="102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923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82" r="0" b="-19588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2923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OpenCog aims to create a unified cognitive architecture integrating multiple AI paradigms for human-level intelligence.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93143" y="4193543"/>
            <a:ext cx="4688843" cy="720347"/>
            <a:chOff x="0" y="0"/>
            <a:chExt cx="6251791" cy="9604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6217920" cy="926592"/>
            </a:xfrm>
            <a:custGeom>
              <a:avLst/>
              <a:gdLst/>
              <a:ahLst/>
              <a:cxnLst/>
              <a:rect r="r" b="b" t="t" l="l"/>
              <a:pathLst>
                <a:path h="92659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251702" cy="960376"/>
            </a:xfrm>
            <a:custGeom>
              <a:avLst/>
              <a:gdLst/>
              <a:ahLst/>
              <a:cxnLst/>
              <a:rect r="r" b="b" t="t" l="l"/>
              <a:pathLst>
                <a:path h="960376" w="6251702">
                  <a:moveTo>
                    <a:pt x="16891" y="0"/>
                  </a:moveTo>
                  <a:lnTo>
                    <a:pt x="6234811" y="0"/>
                  </a:lnTo>
                  <a:cubicBezTo>
                    <a:pt x="6244209" y="0"/>
                    <a:pt x="6251702" y="7620"/>
                    <a:pt x="6251702" y="16891"/>
                  </a:cubicBezTo>
                  <a:lnTo>
                    <a:pt x="6251702" y="943483"/>
                  </a:lnTo>
                  <a:cubicBezTo>
                    <a:pt x="6251702" y="952881"/>
                    <a:pt x="6244082" y="960374"/>
                    <a:pt x="62348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6234811" y="926592"/>
                  </a:lnTo>
                  <a:lnTo>
                    <a:pt x="6234811" y="943483"/>
                  </a:lnTo>
                  <a:lnTo>
                    <a:pt x="6217920" y="943483"/>
                  </a:lnTo>
                  <a:lnTo>
                    <a:pt x="6217920" y="16891"/>
                  </a:lnTo>
                  <a:lnTo>
                    <a:pt x="6234811" y="16891"/>
                  </a:lnTo>
                  <a:lnTo>
                    <a:pt x="6234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76023" y="4449575"/>
            <a:ext cx="208283" cy="208283"/>
            <a:chOff x="0" y="0"/>
            <a:chExt cx="277711" cy="2777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17904" y="4352544"/>
            <a:ext cx="4023360" cy="402336"/>
            <a:chOff x="0" y="0"/>
            <a:chExt cx="5364480" cy="5364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36448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Reasoning &amp; Logic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930903" y="4193543"/>
            <a:ext cx="4688843" cy="720347"/>
            <a:chOff x="0" y="0"/>
            <a:chExt cx="6251791" cy="96046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6217920" cy="926592"/>
            </a:xfrm>
            <a:custGeom>
              <a:avLst/>
              <a:gdLst/>
              <a:ahLst/>
              <a:cxnLst/>
              <a:rect r="r" b="b" t="t" l="l"/>
              <a:pathLst>
                <a:path h="92659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251702" cy="960376"/>
            </a:xfrm>
            <a:custGeom>
              <a:avLst/>
              <a:gdLst/>
              <a:ahLst/>
              <a:cxnLst/>
              <a:rect r="r" b="b" t="t" l="l"/>
              <a:pathLst>
                <a:path h="960376" w="6251702">
                  <a:moveTo>
                    <a:pt x="16891" y="0"/>
                  </a:moveTo>
                  <a:lnTo>
                    <a:pt x="6234811" y="0"/>
                  </a:lnTo>
                  <a:cubicBezTo>
                    <a:pt x="6244209" y="0"/>
                    <a:pt x="6251702" y="7620"/>
                    <a:pt x="6251702" y="16891"/>
                  </a:cubicBezTo>
                  <a:lnTo>
                    <a:pt x="6251702" y="943483"/>
                  </a:lnTo>
                  <a:cubicBezTo>
                    <a:pt x="6251702" y="952881"/>
                    <a:pt x="6244082" y="960374"/>
                    <a:pt x="62348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6234811" y="926592"/>
                  </a:lnTo>
                  <a:lnTo>
                    <a:pt x="6234811" y="943483"/>
                  </a:lnTo>
                  <a:lnTo>
                    <a:pt x="6217920" y="943483"/>
                  </a:lnTo>
                  <a:lnTo>
                    <a:pt x="6217920" y="16891"/>
                  </a:lnTo>
                  <a:lnTo>
                    <a:pt x="6234811" y="16891"/>
                  </a:lnTo>
                  <a:lnTo>
                    <a:pt x="6234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113783" y="4449575"/>
            <a:ext cx="208283" cy="208283"/>
            <a:chOff x="0" y="0"/>
            <a:chExt cx="277711" cy="2777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455664" y="4352544"/>
            <a:ext cx="4023360" cy="402336"/>
            <a:chOff x="0" y="0"/>
            <a:chExt cx="5364480" cy="5364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36448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Learning &amp; Adaptation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93143" y="5034791"/>
            <a:ext cx="4688843" cy="720347"/>
            <a:chOff x="0" y="0"/>
            <a:chExt cx="6251791" cy="96046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6217920" cy="926592"/>
            </a:xfrm>
            <a:custGeom>
              <a:avLst/>
              <a:gdLst/>
              <a:ahLst/>
              <a:cxnLst/>
              <a:rect r="r" b="b" t="t" l="l"/>
              <a:pathLst>
                <a:path h="92659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51702" cy="960376"/>
            </a:xfrm>
            <a:custGeom>
              <a:avLst/>
              <a:gdLst/>
              <a:ahLst/>
              <a:cxnLst/>
              <a:rect r="r" b="b" t="t" l="l"/>
              <a:pathLst>
                <a:path h="960376" w="6251702">
                  <a:moveTo>
                    <a:pt x="16891" y="0"/>
                  </a:moveTo>
                  <a:lnTo>
                    <a:pt x="6234811" y="0"/>
                  </a:lnTo>
                  <a:cubicBezTo>
                    <a:pt x="6244209" y="0"/>
                    <a:pt x="6251702" y="7620"/>
                    <a:pt x="6251702" y="16891"/>
                  </a:cubicBezTo>
                  <a:lnTo>
                    <a:pt x="6251702" y="943483"/>
                  </a:lnTo>
                  <a:cubicBezTo>
                    <a:pt x="6251702" y="952881"/>
                    <a:pt x="6244082" y="960374"/>
                    <a:pt x="62348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6234811" y="926592"/>
                  </a:lnTo>
                  <a:lnTo>
                    <a:pt x="6234811" y="943483"/>
                  </a:lnTo>
                  <a:lnTo>
                    <a:pt x="6217920" y="943483"/>
                  </a:lnTo>
                  <a:lnTo>
                    <a:pt x="6217920" y="16891"/>
                  </a:lnTo>
                  <a:lnTo>
                    <a:pt x="6234811" y="16891"/>
                  </a:lnTo>
                  <a:lnTo>
                    <a:pt x="6234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76023" y="5290823"/>
            <a:ext cx="208283" cy="208283"/>
            <a:chOff x="0" y="0"/>
            <a:chExt cx="277711" cy="27771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517904" y="5193792"/>
            <a:ext cx="4023360" cy="402336"/>
            <a:chOff x="0" y="0"/>
            <a:chExt cx="5364480" cy="53644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536448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Memory &amp; Knowledge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930903" y="5034791"/>
            <a:ext cx="4688843" cy="720347"/>
            <a:chOff x="0" y="0"/>
            <a:chExt cx="6251791" cy="96046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6217920" cy="926592"/>
            </a:xfrm>
            <a:custGeom>
              <a:avLst/>
              <a:gdLst/>
              <a:ahLst/>
              <a:cxnLst/>
              <a:rect r="r" b="b" t="t" l="l"/>
              <a:pathLst>
                <a:path h="92659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251702" cy="960376"/>
            </a:xfrm>
            <a:custGeom>
              <a:avLst/>
              <a:gdLst/>
              <a:ahLst/>
              <a:cxnLst/>
              <a:rect r="r" b="b" t="t" l="l"/>
              <a:pathLst>
                <a:path h="960376" w="6251702">
                  <a:moveTo>
                    <a:pt x="16891" y="0"/>
                  </a:moveTo>
                  <a:lnTo>
                    <a:pt x="6234811" y="0"/>
                  </a:lnTo>
                  <a:cubicBezTo>
                    <a:pt x="6244209" y="0"/>
                    <a:pt x="6251702" y="7620"/>
                    <a:pt x="6251702" y="16891"/>
                  </a:cubicBezTo>
                  <a:lnTo>
                    <a:pt x="6251702" y="943483"/>
                  </a:lnTo>
                  <a:cubicBezTo>
                    <a:pt x="6251702" y="952881"/>
                    <a:pt x="6244082" y="960374"/>
                    <a:pt x="62348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6234811" y="926592"/>
                  </a:lnTo>
                  <a:lnTo>
                    <a:pt x="6234811" y="943483"/>
                  </a:lnTo>
                  <a:lnTo>
                    <a:pt x="6217920" y="943483"/>
                  </a:lnTo>
                  <a:lnTo>
                    <a:pt x="6217920" y="16891"/>
                  </a:lnTo>
                  <a:lnTo>
                    <a:pt x="6234811" y="16891"/>
                  </a:lnTo>
                  <a:lnTo>
                    <a:pt x="6234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113783" y="5290823"/>
            <a:ext cx="208283" cy="208283"/>
            <a:chOff x="0" y="0"/>
            <a:chExt cx="277711" cy="27771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455664" y="5193792"/>
            <a:ext cx="4023360" cy="402336"/>
            <a:chOff x="0" y="0"/>
            <a:chExt cx="5364480" cy="5364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536448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Perception &amp; Action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27383" y="6296663"/>
            <a:ext cx="10266683" cy="1854203"/>
            <a:chOff x="0" y="0"/>
            <a:chExt cx="13688911" cy="247227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3655039" cy="2438400"/>
            </a:xfrm>
            <a:custGeom>
              <a:avLst/>
              <a:gdLst/>
              <a:ahLst/>
              <a:cxnLst/>
              <a:rect r="r" b="b" t="t" l="l"/>
              <a:pathLst>
                <a:path h="243840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3688822" cy="2472182"/>
            </a:xfrm>
            <a:custGeom>
              <a:avLst/>
              <a:gdLst/>
              <a:ahLst/>
              <a:cxnLst/>
              <a:rect r="r" b="b" t="t" l="l"/>
              <a:pathLst>
                <a:path h="2472182" w="13688822">
                  <a:moveTo>
                    <a:pt x="16891" y="0"/>
                  </a:moveTo>
                  <a:lnTo>
                    <a:pt x="13671930" y="0"/>
                  </a:lnTo>
                  <a:cubicBezTo>
                    <a:pt x="13681329" y="0"/>
                    <a:pt x="13688822" y="7620"/>
                    <a:pt x="13688822" y="16891"/>
                  </a:cubicBezTo>
                  <a:lnTo>
                    <a:pt x="13688822" y="2455291"/>
                  </a:lnTo>
                  <a:cubicBezTo>
                    <a:pt x="13688822" y="2464689"/>
                    <a:pt x="13681202" y="2472182"/>
                    <a:pt x="1367193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3671930" y="2438400"/>
                  </a:lnTo>
                  <a:lnTo>
                    <a:pt x="13671930" y="2455291"/>
                  </a:lnTo>
                  <a:lnTo>
                    <a:pt x="13655039" y="2455291"/>
                  </a:lnTo>
                  <a:lnTo>
                    <a:pt x="13655039" y="16891"/>
                  </a:lnTo>
                  <a:lnTo>
                    <a:pt x="13671930" y="16891"/>
                  </a:lnTo>
                  <a:lnTo>
                    <a:pt x="136719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05840" y="6455664"/>
            <a:ext cx="7315200" cy="475488"/>
            <a:chOff x="0" y="0"/>
            <a:chExt cx="9753600" cy="6339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9753600" cy="6911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Cognitive Synergy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05840" y="6986016"/>
            <a:ext cx="9692640" cy="950976"/>
            <a:chOff x="0" y="0"/>
            <a:chExt cx="12923520" cy="126796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2923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597" r="0" b="-14859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1292352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Combining symbolic reasoning, neural networks, and evolutionary learning for robust AGI capabilities.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284591" y="2683897"/>
            <a:ext cx="6517643" cy="6710677"/>
            <a:chOff x="0" y="0"/>
            <a:chExt cx="8690191" cy="894756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20229"/>
              <a:ext cx="8656320" cy="8907004"/>
            </a:xfrm>
            <a:custGeom>
              <a:avLst/>
              <a:gdLst/>
              <a:ahLst/>
              <a:cxnLst/>
              <a:rect r="r" b="b" t="t" l="l"/>
              <a:pathLst>
                <a:path h="8907004" w="8656320">
                  <a:moveTo>
                    <a:pt x="0" y="0"/>
                  </a:moveTo>
                  <a:lnTo>
                    <a:pt x="8656320" y="0"/>
                  </a:lnTo>
                  <a:lnTo>
                    <a:pt x="8656320" y="8907004"/>
                  </a:lnTo>
                  <a:lnTo>
                    <a:pt x="0" y="89070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690101" cy="8947462"/>
            </a:xfrm>
            <a:custGeom>
              <a:avLst/>
              <a:gdLst/>
              <a:ahLst/>
              <a:cxnLst/>
              <a:rect r="r" b="b" t="t" l="l"/>
              <a:pathLst>
                <a:path h="8947462" w="8690101">
                  <a:moveTo>
                    <a:pt x="16891" y="0"/>
                  </a:moveTo>
                  <a:lnTo>
                    <a:pt x="8673211" y="0"/>
                  </a:lnTo>
                  <a:cubicBezTo>
                    <a:pt x="8682609" y="0"/>
                    <a:pt x="8690101" y="9126"/>
                    <a:pt x="8690101" y="20229"/>
                  </a:cubicBezTo>
                  <a:lnTo>
                    <a:pt x="8690101" y="8927233"/>
                  </a:lnTo>
                  <a:cubicBezTo>
                    <a:pt x="8690101" y="8938489"/>
                    <a:pt x="8682482" y="8947462"/>
                    <a:pt x="8673211" y="8947462"/>
                  </a:cubicBezTo>
                  <a:lnTo>
                    <a:pt x="16891" y="8947462"/>
                  </a:lnTo>
                  <a:cubicBezTo>
                    <a:pt x="7493" y="8947462"/>
                    <a:pt x="0" y="8938337"/>
                    <a:pt x="0" y="8927233"/>
                  </a:cubicBezTo>
                  <a:lnTo>
                    <a:pt x="0" y="20229"/>
                  </a:lnTo>
                  <a:cubicBezTo>
                    <a:pt x="0" y="9126"/>
                    <a:pt x="7620" y="0"/>
                    <a:pt x="16891" y="0"/>
                  </a:cubicBezTo>
                  <a:moveTo>
                    <a:pt x="16891" y="40611"/>
                  </a:moveTo>
                  <a:lnTo>
                    <a:pt x="16891" y="20229"/>
                  </a:lnTo>
                  <a:lnTo>
                    <a:pt x="33909" y="20229"/>
                  </a:lnTo>
                  <a:lnTo>
                    <a:pt x="33909" y="8927233"/>
                  </a:lnTo>
                  <a:lnTo>
                    <a:pt x="16891" y="8927233"/>
                  </a:lnTo>
                  <a:lnTo>
                    <a:pt x="16891" y="8907004"/>
                  </a:lnTo>
                  <a:lnTo>
                    <a:pt x="8673211" y="8907004"/>
                  </a:lnTo>
                  <a:lnTo>
                    <a:pt x="8673211" y="8927233"/>
                  </a:lnTo>
                  <a:lnTo>
                    <a:pt x="8656320" y="8927233"/>
                  </a:lnTo>
                  <a:lnTo>
                    <a:pt x="8656320" y="20229"/>
                  </a:lnTo>
                  <a:lnTo>
                    <a:pt x="8673211" y="20229"/>
                  </a:lnTo>
                  <a:lnTo>
                    <a:pt x="8673211" y="40611"/>
                  </a:lnTo>
                  <a:lnTo>
                    <a:pt x="16891" y="4061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1417303" y="6479543"/>
            <a:ext cx="5969003" cy="683771"/>
            <a:chOff x="0" y="0"/>
            <a:chExt cx="7958671" cy="91169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7924800" cy="877824"/>
            </a:xfrm>
            <a:custGeom>
              <a:avLst/>
              <a:gdLst/>
              <a:ahLst/>
              <a:cxnLst/>
              <a:rect r="r" b="b" t="t" l="l"/>
              <a:pathLst>
                <a:path h="877824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958582" cy="911608"/>
            </a:xfrm>
            <a:custGeom>
              <a:avLst/>
              <a:gdLst/>
              <a:ahLst/>
              <a:cxnLst/>
              <a:rect r="r" b="b" t="t" l="l"/>
              <a:pathLst>
                <a:path h="911608" w="7958582">
                  <a:moveTo>
                    <a:pt x="16891" y="0"/>
                  </a:moveTo>
                  <a:lnTo>
                    <a:pt x="7941691" y="0"/>
                  </a:lnTo>
                  <a:cubicBezTo>
                    <a:pt x="7951089" y="0"/>
                    <a:pt x="7958582" y="7620"/>
                    <a:pt x="7958582" y="16891"/>
                  </a:cubicBezTo>
                  <a:lnTo>
                    <a:pt x="7958582" y="894715"/>
                  </a:lnTo>
                  <a:cubicBezTo>
                    <a:pt x="7958582" y="904113"/>
                    <a:pt x="7950962" y="911606"/>
                    <a:pt x="794169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7941691" y="877824"/>
                  </a:lnTo>
                  <a:lnTo>
                    <a:pt x="7941691" y="894715"/>
                  </a:lnTo>
                  <a:lnTo>
                    <a:pt x="7924800" y="894715"/>
                  </a:lnTo>
                  <a:lnTo>
                    <a:pt x="7924800" y="16891"/>
                  </a:lnTo>
                  <a:lnTo>
                    <a:pt x="7941691" y="16891"/>
                  </a:lnTo>
                  <a:lnTo>
                    <a:pt x="7941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1795760" y="6620256"/>
            <a:ext cx="4206240" cy="402336"/>
            <a:chOff x="0" y="0"/>
            <a:chExt cx="5608320" cy="53644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608320" cy="536448"/>
            </a:xfrm>
            <a:custGeom>
              <a:avLst/>
              <a:gdLst/>
              <a:ahLst/>
              <a:cxnLst/>
              <a:rect r="r" b="b" t="t" l="l"/>
              <a:pathLst>
                <a:path h="53644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56083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Reasoning Capability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5897863" y="6607559"/>
            <a:ext cx="1305563" cy="427739"/>
            <a:chOff x="0" y="0"/>
            <a:chExt cx="1740751" cy="57031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707007" cy="536448"/>
            </a:xfrm>
            <a:custGeom>
              <a:avLst/>
              <a:gdLst/>
              <a:ahLst/>
              <a:cxnLst/>
              <a:rect r="r" b="b" t="t" l="l"/>
              <a:pathLst>
                <a:path h="536448" w="1707007">
                  <a:moveTo>
                    <a:pt x="0" y="121920"/>
                  </a:moveTo>
                  <a:cubicBezTo>
                    <a:pt x="0" y="54610"/>
                    <a:pt x="56896" y="0"/>
                    <a:pt x="127127" y="0"/>
                  </a:cubicBezTo>
                  <a:lnTo>
                    <a:pt x="1579880" y="0"/>
                  </a:lnTo>
                  <a:cubicBezTo>
                    <a:pt x="1650111" y="0"/>
                    <a:pt x="1707007" y="54610"/>
                    <a:pt x="1707007" y="121920"/>
                  </a:cubicBezTo>
                  <a:lnTo>
                    <a:pt x="1707007" y="414528"/>
                  </a:lnTo>
                  <a:cubicBezTo>
                    <a:pt x="1707007" y="481838"/>
                    <a:pt x="1650111" y="536448"/>
                    <a:pt x="1579880" y="536448"/>
                  </a:cubicBezTo>
                  <a:lnTo>
                    <a:pt x="127127" y="536448"/>
                  </a:lnTo>
                  <a:cubicBezTo>
                    <a:pt x="56896" y="536448"/>
                    <a:pt x="0" y="481838"/>
                    <a:pt x="0" y="41452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740789" cy="570230"/>
            </a:xfrm>
            <a:custGeom>
              <a:avLst/>
              <a:gdLst/>
              <a:ahLst/>
              <a:cxnLst/>
              <a:rect r="r" b="b" t="t" l="l"/>
              <a:pathLst>
                <a:path h="570230" w="1740789">
                  <a:moveTo>
                    <a:pt x="0" y="138811"/>
                  </a:moveTo>
                  <a:cubicBezTo>
                    <a:pt x="0" y="61468"/>
                    <a:pt x="65151" y="0"/>
                    <a:pt x="144018" y="0"/>
                  </a:cubicBezTo>
                  <a:lnTo>
                    <a:pt x="1596771" y="0"/>
                  </a:lnTo>
                  <a:lnTo>
                    <a:pt x="1596771" y="16891"/>
                  </a:lnTo>
                  <a:lnTo>
                    <a:pt x="1596771" y="0"/>
                  </a:lnTo>
                  <a:cubicBezTo>
                    <a:pt x="1675638" y="0"/>
                    <a:pt x="1740789" y="61468"/>
                    <a:pt x="1740789" y="138811"/>
                  </a:cubicBezTo>
                  <a:lnTo>
                    <a:pt x="1723898" y="138811"/>
                  </a:lnTo>
                  <a:lnTo>
                    <a:pt x="1740789" y="138811"/>
                  </a:lnTo>
                  <a:lnTo>
                    <a:pt x="1740789" y="431419"/>
                  </a:lnTo>
                  <a:lnTo>
                    <a:pt x="1723898" y="431419"/>
                  </a:lnTo>
                  <a:lnTo>
                    <a:pt x="1740789" y="431419"/>
                  </a:lnTo>
                  <a:cubicBezTo>
                    <a:pt x="1740789" y="508762"/>
                    <a:pt x="1675638" y="570230"/>
                    <a:pt x="1596771" y="570230"/>
                  </a:cubicBezTo>
                  <a:lnTo>
                    <a:pt x="1596771" y="553339"/>
                  </a:lnTo>
                  <a:lnTo>
                    <a:pt x="1596771" y="570230"/>
                  </a:lnTo>
                  <a:lnTo>
                    <a:pt x="144018" y="570230"/>
                  </a:lnTo>
                  <a:lnTo>
                    <a:pt x="144018" y="553339"/>
                  </a:lnTo>
                  <a:lnTo>
                    <a:pt x="144018" y="570230"/>
                  </a:lnTo>
                  <a:cubicBezTo>
                    <a:pt x="65151" y="570357"/>
                    <a:pt x="0" y="508762"/>
                    <a:pt x="0" y="431419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431419"/>
                  </a:lnTo>
                  <a:lnTo>
                    <a:pt x="16891" y="431419"/>
                  </a:lnTo>
                  <a:lnTo>
                    <a:pt x="33909" y="431419"/>
                  </a:lnTo>
                  <a:cubicBezTo>
                    <a:pt x="33909" y="488696"/>
                    <a:pt x="82550" y="536448"/>
                    <a:pt x="144018" y="536448"/>
                  </a:cubicBezTo>
                  <a:lnTo>
                    <a:pt x="1596771" y="536448"/>
                  </a:lnTo>
                  <a:cubicBezTo>
                    <a:pt x="1658239" y="536448"/>
                    <a:pt x="1706880" y="488823"/>
                    <a:pt x="1706880" y="431419"/>
                  </a:cubicBezTo>
                  <a:lnTo>
                    <a:pt x="1706880" y="138811"/>
                  </a:lnTo>
                  <a:cubicBezTo>
                    <a:pt x="1706880" y="81534"/>
                    <a:pt x="1658239" y="33782"/>
                    <a:pt x="1596771" y="33782"/>
                  </a:cubicBezTo>
                  <a:lnTo>
                    <a:pt x="144018" y="33782"/>
                  </a:lnTo>
                  <a:lnTo>
                    <a:pt x="144018" y="16891"/>
                  </a:lnTo>
                  <a:lnTo>
                    <a:pt x="144018" y="33909"/>
                  </a:lnTo>
                  <a:cubicBezTo>
                    <a:pt x="82550" y="33909"/>
                    <a:pt x="33909" y="81534"/>
                    <a:pt x="33909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5910560" y="6620256"/>
            <a:ext cx="1280160" cy="402336"/>
            <a:chOff x="0" y="0"/>
            <a:chExt cx="1706880" cy="53644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706880" cy="536448"/>
            </a:xfrm>
            <a:custGeom>
              <a:avLst/>
              <a:gdLst/>
              <a:ahLst/>
              <a:cxnLst/>
              <a:rect r="r" b="b" t="t" l="l"/>
              <a:pathLst>
                <a:path h="53644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7068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417303" y="7247639"/>
            <a:ext cx="5969003" cy="683771"/>
            <a:chOff x="0" y="0"/>
            <a:chExt cx="7958671" cy="91169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7924800" cy="877824"/>
            </a:xfrm>
            <a:custGeom>
              <a:avLst/>
              <a:gdLst/>
              <a:ahLst/>
              <a:cxnLst/>
              <a:rect r="r" b="b" t="t" l="l"/>
              <a:pathLst>
                <a:path h="877824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958582" cy="911608"/>
            </a:xfrm>
            <a:custGeom>
              <a:avLst/>
              <a:gdLst/>
              <a:ahLst/>
              <a:cxnLst/>
              <a:rect r="r" b="b" t="t" l="l"/>
              <a:pathLst>
                <a:path h="911608" w="7958582">
                  <a:moveTo>
                    <a:pt x="16891" y="0"/>
                  </a:moveTo>
                  <a:lnTo>
                    <a:pt x="7941691" y="0"/>
                  </a:lnTo>
                  <a:cubicBezTo>
                    <a:pt x="7951089" y="0"/>
                    <a:pt x="7958582" y="7620"/>
                    <a:pt x="7958582" y="16891"/>
                  </a:cubicBezTo>
                  <a:lnTo>
                    <a:pt x="7958582" y="894715"/>
                  </a:lnTo>
                  <a:cubicBezTo>
                    <a:pt x="7958582" y="904113"/>
                    <a:pt x="7950962" y="911606"/>
                    <a:pt x="794169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7941691" y="877824"/>
                  </a:lnTo>
                  <a:lnTo>
                    <a:pt x="7941691" y="894715"/>
                  </a:lnTo>
                  <a:lnTo>
                    <a:pt x="7924800" y="894715"/>
                  </a:lnTo>
                  <a:lnTo>
                    <a:pt x="7924800" y="16891"/>
                  </a:lnTo>
                  <a:lnTo>
                    <a:pt x="7941691" y="16891"/>
                  </a:lnTo>
                  <a:lnTo>
                    <a:pt x="7941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1795760" y="7388352"/>
            <a:ext cx="4206240" cy="402336"/>
            <a:chOff x="0" y="0"/>
            <a:chExt cx="5608320" cy="53644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608320" cy="536448"/>
            </a:xfrm>
            <a:custGeom>
              <a:avLst/>
              <a:gdLst/>
              <a:ahLst/>
              <a:cxnLst/>
              <a:rect r="r" b="b" t="t" l="l"/>
              <a:pathLst>
                <a:path h="53644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56083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Learning Ability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5897863" y="7375655"/>
            <a:ext cx="1305563" cy="427739"/>
            <a:chOff x="0" y="0"/>
            <a:chExt cx="1740751" cy="57031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707007" cy="536448"/>
            </a:xfrm>
            <a:custGeom>
              <a:avLst/>
              <a:gdLst/>
              <a:ahLst/>
              <a:cxnLst/>
              <a:rect r="r" b="b" t="t" l="l"/>
              <a:pathLst>
                <a:path h="536448" w="1707007">
                  <a:moveTo>
                    <a:pt x="0" y="121920"/>
                  </a:moveTo>
                  <a:cubicBezTo>
                    <a:pt x="0" y="54610"/>
                    <a:pt x="56896" y="0"/>
                    <a:pt x="127127" y="0"/>
                  </a:cubicBezTo>
                  <a:lnTo>
                    <a:pt x="1579880" y="0"/>
                  </a:lnTo>
                  <a:cubicBezTo>
                    <a:pt x="1650111" y="0"/>
                    <a:pt x="1707007" y="54610"/>
                    <a:pt x="1707007" y="121920"/>
                  </a:cubicBezTo>
                  <a:lnTo>
                    <a:pt x="1707007" y="414528"/>
                  </a:lnTo>
                  <a:cubicBezTo>
                    <a:pt x="1707007" y="481838"/>
                    <a:pt x="1650111" y="536448"/>
                    <a:pt x="1579880" y="536448"/>
                  </a:cubicBezTo>
                  <a:lnTo>
                    <a:pt x="127127" y="536448"/>
                  </a:lnTo>
                  <a:cubicBezTo>
                    <a:pt x="56896" y="536448"/>
                    <a:pt x="0" y="481838"/>
                    <a:pt x="0" y="41452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740789" cy="570230"/>
            </a:xfrm>
            <a:custGeom>
              <a:avLst/>
              <a:gdLst/>
              <a:ahLst/>
              <a:cxnLst/>
              <a:rect r="r" b="b" t="t" l="l"/>
              <a:pathLst>
                <a:path h="570230" w="1740789">
                  <a:moveTo>
                    <a:pt x="0" y="138811"/>
                  </a:moveTo>
                  <a:cubicBezTo>
                    <a:pt x="0" y="61468"/>
                    <a:pt x="65151" y="0"/>
                    <a:pt x="144018" y="0"/>
                  </a:cubicBezTo>
                  <a:lnTo>
                    <a:pt x="1596771" y="0"/>
                  </a:lnTo>
                  <a:lnTo>
                    <a:pt x="1596771" y="16891"/>
                  </a:lnTo>
                  <a:lnTo>
                    <a:pt x="1596771" y="0"/>
                  </a:lnTo>
                  <a:cubicBezTo>
                    <a:pt x="1675638" y="0"/>
                    <a:pt x="1740789" y="61468"/>
                    <a:pt x="1740789" y="138811"/>
                  </a:cubicBezTo>
                  <a:lnTo>
                    <a:pt x="1723898" y="138811"/>
                  </a:lnTo>
                  <a:lnTo>
                    <a:pt x="1740789" y="138811"/>
                  </a:lnTo>
                  <a:lnTo>
                    <a:pt x="1740789" y="431419"/>
                  </a:lnTo>
                  <a:lnTo>
                    <a:pt x="1723898" y="431419"/>
                  </a:lnTo>
                  <a:lnTo>
                    <a:pt x="1740789" y="431419"/>
                  </a:lnTo>
                  <a:cubicBezTo>
                    <a:pt x="1740789" y="508762"/>
                    <a:pt x="1675638" y="570230"/>
                    <a:pt x="1596771" y="570230"/>
                  </a:cubicBezTo>
                  <a:lnTo>
                    <a:pt x="1596771" y="553339"/>
                  </a:lnTo>
                  <a:lnTo>
                    <a:pt x="1596771" y="570230"/>
                  </a:lnTo>
                  <a:lnTo>
                    <a:pt x="144018" y="570230"/>
                  </a:lnTo>
                  <a:lnTo>
                    <a:pt x="144018" y="553339"/>
                  </a:lnTo>
                  <a:lnTo>
                    <a:pt x="144018" y="570230"/>
                  </a:lnTo>
                  <a:cubicBezTo>
                    <a:pt x="65151" y="570357"/>
                    <a:pt x="0" y="508762"/>
                    <a:pt x="0" y="431419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431419"/>
                  </a:lnTo>
                  <a:lnTo>
                    <a:pt x="16891" y="431419"/>
                  </a:lnTo>
                  <a:lnTo>
                    <a:pt x="33909" y="431419"/>
                  </a:lnTo>
                  <a:cubicBezTo>
                    <a:pt x="33909" y="488696"/>
                    <a:pt x="82550" y="536448"/>
                    <a:pt x="144018" y="536448"/>
                  </a:cubicBezTo>
                  <a:lnTo>
                    <a:pt x="1596771" y="536448"/>
                  </a:lnTo>
                  <a:cubicBezTo>
                    <a:pt x="1658239" y="536448"/>
                    <a:pt x="1706880" y="488823"/>
                    <a:pt x="1706880" y="431419"/>
                  </a:cubicBezTo>
                  <a:lnTo>
                    <a:pt x="1706880" y="138811"/>
                  </a:lnTo>
                  <a:cubicBezTo>
                    <a:pt x="1706880" y="81534"/>
                    <a:pt x="1658239" y="33782"/>
                    <a:pt x="1596771" y="33782"/>
                  </a:cubicBezTo>
                  <a:lnTo>
                    <a:pt x="144018" y="33782"/>
                  </a:lnTo>
                  <a:lnTo>
                    <a:pt x="144018" y="16891"/>
                  </a:lnTo>
                  <a:lnTo>
                    <a:pt x="144018" y="33909"/>
                  </a:lnTo>
                  <a:cubicBezTo>
                    <a:pt x="82550" y="33909"/>
                    <a:pt x="33909" y="81534"/>
                    <a:pt x="33909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5910560" y="7388352"/>
            <a:ext cx="1280160" cy="402336"/>
            <a:chOff x="0" y="0"/>
            <a:chExt cx="1706880" cy="53644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706880" cy="536448"/>
            </a:xfrm>
            <a:custGeom>
              <a:avLst/>
              <a:gdLst/>
              <a:ahLst/>
              <a:cxnLst/>
              <a:rect r="r" b="b" t="t" l="l"/>
              <a:pathLst>
                <a:path h="53644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7068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Advanced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1417303" y="8015735"/>
            <a:ext cx="5969003" cy="683771"/>
            <a:chOff x="0" y="0"/>
            <a:chExt cx="7958671" cy="91169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7924800" cy="877824"/>
            </a:xfrm>
            <a:custGeom>
              <a:avLst/>
              <a:gdLst/>
              <a:ahLst/>
              <a:cxnLst/>
              <a:rect r="r" b="b" t="t" l="l"/>
              <a:pathLst>
                <a:path h="877824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7958582" cy="911608"/>
            </a:xfrm>
            <a:custGeom>
              <a:avLst/>
              <a:gdLst/>
              <a:ahLst/>
              <a:cxnLst/>
              <a:rect r="r" b="b" t="t" l="l"/>
              <a:pathLst>
                <a:path h="911608" w="7958582">
                  <a:moveTo>
                    <a:pt x="16891" y="0"/>
                  </a:moveTo>
                  <a:lnTo>
                    <a:pt x="7941691" y="0"/>
                  </a:lnTo>
                  <a:cubicBezTo>
                    <a:pt x="7951089" y="0"/>
                    <a:pt x="7958582" y="7620"/>
                    <a:pt x="7958582" y="16891"/>
                  </a:cubicBezTo>
                  <a:lnTo>
                    <a:pt x="7958582" y="894715"/>
                  </a:lnTo>
                  <a:cubicBezTo>
                    <a:pt x="7958582" y="904113"/>
                    <a:pt x="7950962" y="911606"/>
                    <a:pt x="794169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7941691" y="877824"/>
                  </a:lnTo>
                  <a:lnTo>
                    <a:pt x="7941691" y="894715"/>
                  </a:lnTo>
                  <a:lnTo>
                    <a:pt x="7924800" y="894715"/>
                  </a:lnTo>
                  <a:lnTo>
                    <a:pt x="7924800" y="16891"/>
                  </a:lnTo>
                  <a:lnTo>
                    <a:pt x="7941691" y="16891"/>
                  </a:lnTo>
                  <a:lnTo>
                    <a:pt x="7941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1795760" y="8156448"/>
            <a:ext cx="4206240" cy="402336"/>
            <a:chOff x="0" y="0"/>
            <a:chExt cx="5608320" cy="53644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608320" cy="536448"/>
            </a:xfrm>
            <a:custGeom>
              <a:avLst/>
              <a:gdLst/>
              <a:ahLst/>
              <a:cxnLst/>
              <a:rect r="r" b="b" t="t" l="l"/>
              <a:pathLst>
                <a:path h="536448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56083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Memory Management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5897863" y="8143751"/>
            <a:ext cx="1305563" cy="427739"/>
            <a:chOff x="0" y="0"/>
            <a:chExt cx="1740751" cy="57031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1707007" cy="536448"/>
            </a:xfrm>
            <a:custGeom>
              <a:avLst/>
              <a:gdLst/>
              <a:ahLst/>
              <a:cxnLst/>
              <a:rect r="r" b="b" t="t" l="l"/>
              <a:pathLst>
                <a:path h="536448" w="1707007">
                  <a:moveTo>
                    <a:pt x="0" y="121920"/>
                  </a:moveTo>
                  <a:cubicBezTo>
                    <a:pt x="0" y="54610"/>
                    <a:pt x="56896" y="0"/>
                    <a:pt x="127127" y="0"/>
                  </a:cubicBezTo>
                  <a:lnTo>
                    <a:pt x="1579880" y="0"/>
                  </a:lnTo>
                  <a:cubicBezTo>
                    <a:pt x="1650111" y="0"/>
                    <a:pt x="1707007" y="54610"/>
                    <a:pt x="1707007" y="121920"/>
                  </a:cubicBezTo>
                  <a:lnTo>
                    <a:pt x="1707007" y="414528"/>
                  </a:lnTo>
                  <a:cubicBezTo>
                    <a:pt x="1707007" y="481838"/>
                    <a:pt x="1650111" y="536448"/>
                    <a:pt x="1579880" y="536448"/>
                  </a:cubicBezTo>
                  <a:lnTo>
                    <a:pt x="127127" y="536448"/>
                  </a:lnTo>
                  <a:cubicBezTo>
                    <a:pt x="56896" y="536448"/>
                    <a:pt x="0" y="481838"/>
                    <a:pt x="0" y="41452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740789" cy="570230"/>
            </a:xfrm>
            <a:custGeom>
              <a:avLst/>
              <a:gdLst/>
              <a:ahLst/>
              <a:cxnLst/>
              <a:rect r="r" b="b" t="t" l="l"/>
              <a:pathLst>
                <a:path h="570230" w="1740789">
                  <a:moveTo>
                    <a:pt x="0" y="138811"/>
                  </a:moveTo>
                  <a:cubicBezTo>
                    <a:pt x="0" y="61468"/>
                    <a:pt x="65151" y="0"/>
                    <a:pt x="144018" y="0"/>
                  </a:cubicBezTo>
                  <a:lnTo>
                    <a:pt x="1596771" y="0"/>
                  </a:lnTo>
                  <a:lnTo>
                    <a:pt x="1596771" y="16891"/>
                  </a:lnTo>
                  <a:lnTo>
                    <a:pt x="1596771" y="0"/>
                  </a:lnTo>
                  <a:cubicBezTo>
                    <a:pt x="1675638" y="0"/>
                    <a:pt x="1740789" y="61468"/>
                    <a:pt x="1740789" y="138811"/>
                  </a:cubicBezTo>
                  <a:lnTo>
                    <a:pt x="1723898" y="138811"/>
                  </a:lnTo>
                  <a:lnTo>
                    <a:pt x="1740789" y="138811"/>
                  </a:lnTo>
                  <a:lnTo>
                    <a:pt x="1740789" y="431419"/>
                  </a:lnTo>
                  <a:lnTo>
                    <a:pt x="1723898" y="431419"/>
                  </a:lnTo>
                  <a:lnTo>
                    <a:pt x="1740789" y="431419"/>
                  </a:lnTo>
                  <a:cubicBezTo>
                    <a:pt x="1740789" y="508762"/>
                    <a:pt x="1675638" y="570230"/>
                    <a:pt x="1596771" y="570230"/>
                  </a:cubicBezTo>
                  <a:lnTo>
                    <a:pt x="1596771" y="553339"/>
                  </a:lnTo>
                  <a:lnTo>
                    <a:pt x="1596771" y="570230"/>
                  </a:lnTo>
                  <a:lnTo>
                    <a:pt x="144018" y="570230"/>
                  </a:lnTo>
                  <a:lnTo>
                    <a:pt x="144018" y="553339"/>
                  </a:lnTo>
                  <a:lnTo>
                    <a:pt x="144018" y="570230"/>
                  </a:lnTo>
                  <a:cubicBezTo>
                    <a:pt x="65151" y="570357"/>
                    <a:pt x="0" y="508762"/>
                    <a:pt x="0" y="431419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431419"/>
                  </a:lnTo>
                  <a:lnTo>
                    <a:pt x="16891" y="431419"/>
                  </a:lnTo>
                  <a:lnTo>
                    <a:pt x="33909" y="431419"/>
                  </a:lnTo>
                  <a:cubicBezTo>
                    <a:pt x="33909" y="488696"/>
                    <a:pt x="82550" y="536448"/>
                    <a:pt x="144018" y="536448"/>
                  </a:cubicBezTo>
                  <a:lnTo>
                    <a:pt x="1596771" y="536448"/>
                  </a:lnTo>
                  <a:cubicBezTo>
                    <a:pt x="1658239" y="536448"/>
                    <a:pt x="1706880" y="488823"/>
                    <a:pt x="1706880" y="431419"/>
                  </a:cubicBezTo>
                  <a:lnTo>
                    <a:pt x="1706880" y="138811"/>
                  </a:lnTo>
                  <a:cubicBezTo>
                    <a:pt x="1706880" y="81534"/>
                    <a:pt x="1658239" y="33782"/>
                    <a:pt x="1596771" y="33782"/>
                  </a:cubicBezTo>
                  <a:lnTo>
                    <a:pt x="144018" y="33782"/>
                  </a:lnTo>
                  <a:lnTo>
                    <a:pt x="144018" y="16891"/>
                  </a:lnTo>
                  <a:lnTo>
                    <a:pt x="144018" y="33909"/>
                  </a:lnTo>
                  <a:cubicBezTo>
                    <a:pt x="82550" y="33909"/>
                    <a:pt x="33909" y="81534"/>
                    <a:pt x="33909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5910560" y="8156448"/>
            <a:ext cx="1280160" cy="402336"/>
            <a:chOff x="0" y="0"/>
            <a:chExt cx="1706880" cy="53644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706880" cy="536448"/>
            </a:xfrm>
            <a:custGeom>
              <a:avLst/>
              <a:gdLst/>
              <a:ahLst/>
              <a:cxnLst/>
              <a:rect r="r" b="b" t="t" l="l"/>
              <a:pathLst>
                <a:path h="53644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17068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Robust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-12697" y="10173719"/>
            <a:ext cx="18313403" cy="125987"/>
            <a:chOff x="0" y="0"/>
            <a:chExt cx="24417871" cy="16798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24383999" cy="134112"/>
            </a:xfrm>
            <a:custGeom>
              <a:avLst/>
              <a:gdLst/>
              <a:ahLst/>
              <a:cxnLst/>
              <a:rect r="r" b="b" t="t" l="l"/>
              <a:pathLst>
                <a:path h="1341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4417782" cy="167896"/>
            </a:xfrm>
            <a:custGeom>
              <a:avLst/>
              <a:gdLst/>
              <a:ahLst/>
              <a:cxnLst/>
              <a:rect r="r" b="b" t="t" l="l"/>
              <a:pathLst>
                <a:path h="1678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51003"/>
                  </a:lnTo>
                  <a:cubicBezTo>
                    <a:pt x="24417782" y="160401"/>
                    <a:pt x="24410163" y="167894"/>
                    <a:pt x="24400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24400890" y="134112"/>
                  </a:lnTo>
                  <a:lnTo>
                    <a:pt x="24400890" y="151003"/>
                  </a:lnTo>
                  <a:lnTo>
                    <a:pt x="24384000" y="1510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-12697" y="10173719"/>
            <a:ext cx="13741403" cy="125987"/>
            <a:chOff x="0" y="0"/>
            <a:chExt cx="18321871" cy="167983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18287999" cy="134112"/>
            </a:xfrm>
            <a:custGeom>
              <a:avLst/>
              <a:gdLst/>
              <a:ahLst/>
              <a:cxnLst/>
              <a:rect r="r" b="b" t="t" l="l"/>
              <a:pathLst>
                <a:path h="134112" w="18287999">
                  <a:moveTo>
                    <a:pt x="0" y="0"/>
                  </a:moveTo>
                  <a:lnTo>
                    <a:pt x="18287999" y="0"/>
                  </a:lnTo>
                  <a:lnTo>
                    <a:pt x="18287999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8321782" cy="167896"/>
            </a:xfrm>
            <a:custGeom>
              <a:avLst/>
              <a:gdLst/>
              <a:ahLst/>
              <a:cxnLst/>
              <a:rect r="r" b="b" t="t" l="l"/>
              <a:pathLst>
                <a:path h="167896" w="18321782">
                  <a:moveTo>
                    <a:pt x="16891" y="0"/>
                  </a:moveTo>
                  <a:lnTo>
                    <a:pt x="18304890" y="0"/>
                  </a:lnTo>
                  <a:cubicBezTo>
                    <a:pt x="18314290" y="0"/>
                    <a:pt x="18321782" y="7620"/>
                    <a:pt x="18321782" y="16891"/>
                  </a:cubicBezTo>
                  <a:lnTo>
                    <a:pt x="18321782" y="151003"/>
                  </a:lnTo>
                  <a:cubicBezTo>
                    <a:pt x="18321782" y="160401"/>
                    <a:pt x="18314163" y="167894"/>
                    <a:pt x="18304890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18304890" y="134112"/>
                  </a:lnTo>
                  <a:lnTo>
                    <a:pt x="18304890" y="151003"/>
                  </a:lnTo>
                  <a:lnTo>
                    <a:pt x="18288000" y="151003"/>
                  </a:lnTo>
                  <a:lnTo>
                    <a:pt x="18288000" y="16891"/>
                  </a:lnTo>
                  <a:lnTo>
                    <a:pt x="18304890" y="16891"/>
                  </a:lnTo>
                  <a:lnTo>
                    <a:pt x="18304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Freeform 125" id="125"/>
          <p:cNvSpPr/>
          <p:nvPr/>
        </p:nvSpPr>
        <p:spPr>
          <a:xfrm flipH="false" flipV="false" rot="0">
            <a:off x="11517276" y="2483872"/>
            <a:ext cx="5356558" cy="3909946"/>
          </a:xfrm>
          <a:custGeom>
            <a:avLst/>
            <a:gdLst/>
            <a:ahLst/>
            <a:cxnLst/>
            <a:rect r="r" b="b" t="t" l="l"/>
            <a:pathLst>
              <a:path h="3909946" w="5356558">
                <a:moveTo>
                  <a:pt x="0" y="0"/>
                </a:moveTo>
                <a:lnTo>
                  <a:pt x="5356557" y="0"/>
                </a:lnTo>
                <a:lnTo>
                  <a:pt x="5356557" y="3909946"/>
                </a:lnTo>
                <a:lnTo>
                  <a:pt x="0" y="39099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82880"/>
            <a:ext cx="15544800" cy="694944"/>
            <a:chOff x="0" y="0"/>
            <a:chExt cx="2072640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7264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AtomSpace Architecture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2801600" cy="512064"/>
            <a:chOff x="0" y="0"/>
            <a:chExt cx="170688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Knowledge representation and storage in OpenCog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44800" y="548640"/>
            <a:ext cx="2560320" cy="457200"/>
            <a:chOff x="0" y="0"/>
            <a:chExt cx="341376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0" cy="609600"/>
            </a:xfrm>
            <a:custGeom>
              <a:avLst/>
              <a:gdLst/>
              <a:ahLst/>
              <a:cxnLst/>
              <a:rect r="r" b="b" t="t" l="l"/>
              <a:pathLst>
                <a:path h="6096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413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12/20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1828800"/>
            <a:ext cx="512064" cy="512064"/>
            <a:chOff x="0" y="0"/>
            <a:chExt cx="682752" cy="68275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1828800"/>
            <a:ext cx="12801600" cy="548640"/>
            <a:chOff x="0" y="0"/>
            <a:chExt cx="170688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70688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AtomSpace: The Hypergraph Knowledge Store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91623" y="1852679"/>
            <a:ext cx="5969003" cy="574043"/>
            <a:chOff x="0" y="0"/>
            <a:chExt cx="7958671" cy="7653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7924927" cy="731520"/>
            </a:xfrm>
            <a:custGeom>
              <a:avLst/>
              <a:gdLst/>
              <a:ahLst/>
              <a:cxnLst/>
              <a:rect r="r" b="b" t="t" l="l"/>
              <a:pathLst>
                <a:path h="731520" w="7924927">
                  <a:moveTo>
                    <a:pt x="0" y="365760"/>
                  </a:moveTo>
                  <a:cubicBezTo>
                    <a:pt x="0" y="163703"/>
                    <a:pt x="170561" y="0"/>
                    <a:pt x="381127" y="0"/>
                  </a:cubicBezTo>
                  <a:lnTo>
                    <a:pt x="7543800" y="0"/>
                  </a:lnTo>
                  <a:cubicBezTo>
                    <a:pt x="7754239" y="0"/>
                    <a:pt x="7924927" y="163703"/>
                    <a:pt x="7924927" y="365760"/>
                  </a:cubicBezTo>
                  <a:cubicBezTo>
                    <a:pt x="7924927" y="567817"/>
                    <a:pt x="7754366" y="731520"/>
                    <a:pt x="7543800" y="731520"/>
                  </a:cubicBezTo>
                  <a:lnTo>
                    <a:pt x="381127" y="731520"/>
                  </a:lnTo>
                  <a:cubicBezTo>
                    <a:pt x="170688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58710" cy="765302"/>
            </a:xfrm>
            <a:custGeom>
              <a:avLst/>
              <a:gdLst/>
              <a:ahLst/>
              <a:cxnLst/>
              <a:rect r="r" b="b" t="t" l="l"/>
              <a:pathLst>
                <a:path h="765302" w="7958710">
                  <a:moveTo>
                    <a:pt x="0" y="382651"/>
                  </a:moveTo>
                  <a:cubicBezTo>
                    <a:pt x="0" y="170688"/>
                    <a:pt x="178816" y="0"/>
                    <a:pt x="398018" y="0"/>
                  </a:cubicBezTo>
                  <a:lnTo>
                    <a:pt x="7560691" y="0"/>
                  </a:lnTo>
                  <a:lnTo>
                    <a:pt x="7560691" y="16891"/>
                  </a:lnTo>
                  <a:lnTo>
                    <a:pt x="7560691" y="0"/>
                  </a:lnTo>
                  <a:cubicBezTo>
                    <a:pt x="7779893" y="0"/>
                    <a:pt x="7958710" y="170688"/>
                    <a:pt x="7958710" y="382651"/>
                  </a:cubicBezTo>
                  <a:lnTo>
                    <a:pt x="7941818" y="382651"/>
                  </a:lnTo>
                  <a:lnTo>
                    <a:pt x="7958710" y="382651"/>
                  </a:lnTo>
                  <a:lnTo>
                    <a:pt x="7941818" y="382651"/>
                  </a:lnTo>
                  <a:lnTo>
                    <a:pt x="7958710" y="382651"/>
                  </a:lnTo>
                  <a:cubicBezTo>
                    <a:pt x="7958710" y="594614"/>
                    <a:pt x="7779893" y="765302"/>
                    <a:pt x="7560691" y="765302"/>
                  </a:cubicBezTo>
                  <a:lnTo>
                    <a:pt x="7560691" y="748411"/>
                  </a:lnTo>
                  <a:lnTo>
                    <a:pt x="7560691" y="765302"/>
                  </a:lnTo>
                  <a:lnTo>
                    <a:pt x="398018" y="765302"/>
                  </a:lnTo>
                  <a:lnTo>
                    <a:pt x="398018" y="748411"/>
                  </a:lnTo>
                  <a:lnTo>
                    <a:pt x="398018" y="765302"/>
                  </a:lnTo>
                  <a:cubicBezTo>
                    <a:pt x="178816" y="765429"/>
                    <a:pt x="0" y="594741"/>
                    <a:pt x="0" y="382651"/>
                  </a:cubicBezTo>
                  <a:lnTo>
                    <a:pt x="16891" y="382651"/>
                  </a:lnTo>
                  <a:lnTo>
                    <a:pt x="0" y="382651"/>
                  </a:lnTo>
                  <a:moveTo>
                    <a:pt x="33909" y="382651"/>
                  </a:moveTo>
                  <a:lnTo>
                    <a:pt x="16891" y="382651"/>
                  </a:lnTo>
                  <a:lnTo>
                    <a:pt x="33909" y="382651"/>
                  </a:lnTo>
                  <a:cubicBezTo>
                    <a:pt x="33909" y="574675"/>
                    <a:pt x="196215" y="731520"/>
                    <a:pt x="398018" y="731520"/>
                  </a:cubicBezTo>
                  <a:lnTo>
                    <a:pt x="7560691" y="731520"/>
                  </a:lnTo>
                  <a:cubicBezTo>
                    <a:pt x="7762494" y="731520"/>
                    <a:pt x="7924800" y="574675"/>
                    <a:pt x="7924800" y="382651"/>
                  </a:cubicBezTo>
                  <a:cubicBezTo>
                    <a:pt x="7924800" y="190627"/>
                    <a:pt x="7762494" y="33782"/>
                    <a:pt x="7560691" y="33782"/>
                  </a:cubicBezTo>
                  <a:lnTo>
                    <a:pt x="398018" y="33782"/>
                  </a:lnTo>
                  <a:lnTo>
                    <a:pt x="398018" y="16891"/>
                  </a:lnTo>
                  <a:lnTo>
                    <a:pt x="398018" y="33909"/>
                  </a:lnTo>
                  <a:cubicBezTo>
                    <a:pt x="196215" y="33909"/>
                    <a:pt x="33909" y="190627"/>
                    <a:pt x="33909" y="382651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704320" y="1865376"/>
            <a:ext cx="5943600" cy="548640"/>
            <a:chOff x="0" y="0"/>
            <a:chExt cx="792480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924800" cy="731520"/>
            </a:xfrm>
            <a:custGeom>
              <a:avLst/>
              <a:gdLst/>
              <a:ahLst/>
              <a:cxnLst/>
              <a:rect r="r" b="b" t="t" l="l"/>
              <a:pathLst>
                <a:path h="73152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924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Component: Knowledge Storage &amp; Retrieval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31520" y="2547623"/>
            <a:ext cx="11089643" cy="3234690"/>
            <a:chOff x="0" y="0"/>
            <a:chExt cx="14786191" cy="4312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7031" y="22739"/>
              <a:ext cx="14752038" cy="4267323"/>
            </a:xfrm>
            <a:custGeom>
              <a:avLst/>
              <a:gdLst/>
              <a:ahLst/>
              <a:cxnLst/>
              <a:rect r="r" b="b" t="t" l="l"/>
              <a:pathLst>
                <a:path h="4267323" w="14752038">
                  <a:moveTo>
                    <a:pt x="0" y="0"/>
                  </a:moveTo>
                  <a:lnTo>
                    <a:pt x="14752038" y="0"/>
                  </a:lnTo>
                  <a:lnTo>
                    <a:pt x="14752038" y="4267323"/>
                  </a:lnTo>
                  <a:lnTo>
                    <a:pt x="0" y="426732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786102" cy="4312800"/>
            </a:xfrm>
            <a:custGeom>
              <a:avLst/>
              <a:gdLst/>
              <a:ahLst/>
              <a:cxnLst/>
              <a:rect r="r" b="b" t="t" l="l"/>
              <a:pathLst>
                <a:path h="4312800" w="14786102">
                  <a:moveTo>
                    <a:pt x="17031" y="0"/>
                  </a:moveTo>
                  <a:lnTo>
                    <a:pt x="14769069" y="0"/>
                  </a:lnTo>
                  <a:cubicBezTo>
                    <a:pt x="14778548" y="0"/>
                    <a:pt x="14786102" y="10258"/>
                    <a:pt x="14786102" y="22739"/>
                  </a:cubicBezTo>
                  <a:lnTo>
                    <a:pt x="14786102" y="4290062"/>
                  </a:lnTo>
                  <a:cubicBezTo>
                    <a:pt x="14786102" y="4302714"/>
                    <a:pt x="14778419" y="4312800"/>
                    <a:pt x="14769069" y="4312800"/>
                  </a:cubicBezTo>
                  <a:lnTo>
                    <a:pt x="17031" y="4312800"/>
                  </a:lnTo>
                  <a:cubicBezTo>
                    <a:pt x="7555" y="4312800"/>
                    <a:pt x="0" y="4302542"/>
                    <a:pt x="0" y="4290062"/>
                  </a:cubicBezTo>
                  <a:lnTo>
                    <a:pt x="0" y="22739"/>
                  </a:lnTo>
                  <a:cubicBezTo>
                    <a:pt x="0" y="10258"/>
                    <a:pt x="7683" y="0"/>
                    <a:pt x="17031" y="0"/>
                  </a:cubicBezTo>
                  <a:moveTo>
                    <a:pt x="17031" y="45648"/>
                  </a:moveTo>
                  <a:lnTo>
                    <a:pt x="17031" y="22739"/>
                  </a:lnTo>
                  <a:lnTo>
                    <a:pt x="34191" y="22739"/>
                  </a:lnTo>
                  <a:lnTo>
                    <a:pt x="34191" y="4290062"/>
                  </a:lnTo>
                  <a:lnTo>
                    <a:pt x="17031" y="4290062"/>
                  </a:lnTo>
                  <a:lnTo>
                    <a:pt x="17031" y="4267323"/>
                  </a:lnTo>
                  <a:lnTo>
                    <a:pt x="14769069" y="4267323"/>
                  </a:lnTo>
                  <a:lnTo>
                    <a:pt x="14769069" y="4290062"/>
                  </a:lnTo>
                  <a:lnTo>
                    <a:pt x="14752039" y="4290062"/>
                  </a:lnTo>
                  <a:lnTo>
                    <a:pt x="14752039" y="22739"/>
                  </a:lnTo>
                  <a:lnTo>
                    <a:pt x="14769069" y="22739"/>
                  </a:lnTo>
                  <a:lnTo>
                    <a:pt x="14769069" y="45648"/>
                  </a:lnTo>
                  <a:lnTo>
                    <a:pt x="17031" y="4564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05840" y="2706624"/>
            <a:ext cx="10058400" cy="475488"/>
            <a:chOff x="0" y="0"/>
            <a:chExt cx="13411200" cy="6339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411200" cy="633984"/>
            </a:xfrm>
            <a:custGeom>
              <a:avLst/>
              <a:gdLst/>
              <a:ahLst/>
              <a:cxnLst/>
              <a:rect r="r" b="b" t="t" l="l"/>
              <a:pathLst>
                <a:path h="633984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183" r="0" b="-36218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3411200" cy="6911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AtomSpace?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05840" y="3255264"/>
            <a:ext cx="10424160" cy="1463040"/>
            <a:chOff x="0" y="0"/>
            <a:chExt cx="13898880" cy="1950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8988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389888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AtomSpace is a hypergraph-based knowledge representation system serving as the central storage and retrieval mechanism for OpenCog. It combines symbolic AI with probabilistic reasoning, enabling efficient storage and manipulation of complex knowledge structures.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93143" y="5144519"/>
            <a:ext cx="3408683" cy="500891"/>
            <a:chOff x="0" y="0"/>
            <a:chExt cx="4544911" cy="6678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4511167" cy="633984"/>
            </a:xfrm>
            <a:custGeom>
              <a:avLst/>
              <a:gdLst/>
              <a:ahLst/>
              <a:cxnLst/>
              <a:rect r="r" b="b" t="t" l="l"/>
              <a:pathLst>
                <a:path h="633984" w="4511167">
                  <a:moveTo>
                    <a:pt x="0" y="243840"/>
                  </a:moveTo>
                  <a:cubicBezTo>
                    <a:pt x="0" y="109220"/>
                    <a:pt x="114173" y="0"/>
                    <a:pt x="255016" y="0"/>
                  </a:cubicBezTo>
                  <a:lnTo>
                    <a:pt x="4256151" y="0"/>
                  </a:lnTo>
                  <a:cubicBezTo>
                    <a:pt x="4396994" y="0"/>
                    <a:pt x="4511167" y="109220"/>
                    <a:pt x="4511167" y="243840"/>
                  </a:cubicBezTo>
                  <a:lnTo>
                    <a:pt x="4511167" y="390144"/>
                  </a:lnTo>
                  <a:cubicBezTo>
                    <a:pt x="4511167" y="524764"/>
                    <a:pt x="4396994" y="633984"/>
                    <a:pt x="4256151" y="633984"/>
                  </a:cubicBezTo>
                  <a:lnTo>
                    <a:pt x="255016" y="633984"/>
                  </a:lnTo>
                  <a:cubicBezTo>
                    <a:pt x="114173" y="633984"/>
                    <a:pt x="0" y="524764"/>
                    <a:pt x="0" y="390144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44949" cy="667766"/>
            </a:xfrm>
            <a:custGeom>
              <a:avLst/>
              <a:gdLst/>
              <a:ahLst/>
              <a:cxnLst/>
              <a:rect r="r" b="b" t="t" l="l"/>
              <a:pathLst>
                <a:path h="667766" w="4544949">
                  <a:moveTo>
                    <a:pt x="0" y="260731"/>
                  </a:moveTo>
                  <a:cubicBezTo>
                    <a:pt x="0" y="116078"/>
                    <a:pt x="122428" y="0"/>
                    <a:pt x="271907" y="0"/>
                  </a:cubicBezTo>
                  <a:lnTo>
                    <a:pt x="4273042" y="0"/>
                  </a:lnTo>
                  <a:lnTo>
                    <a:pt x="4273042" y="16891"/>
                  </a:lnTo>
                  <a:lnTo>
                    <a:pt x="4273042" y="0"/>
                  </a:lnTo>
                  <a:cubicBezTo>
                    <a:pt x="4422521" y="0"/>
                    <a:pt x="4544949" y="116078"/>
                    <a:pt x="4544949" y="260731"/>
                  </a:cubicBezTo>
                  <a:lnTo>
                    <a:pt x="4528058" y="260731"/>
                  </a:lnTo>
                  <a:lnTo>
                    <a:pt x="4544949" y="260731"/>
                  </a:lnTo>
                  <a:lnTo>
                    <a:pt x="4544949" y="407035"/>
                  </a:lnTo>
                  <a:lnTo>
                    <a:pt x="4528058" y="407035"/>
                  </a:lnTo>
                  <a:lnTo>
                    <a:pt x="4544949" y="407035"/>
                  </a:lnTo>
                  <a:cubicBezTo>
                    <a:pt x="4544949" y="551815"/>
                    <a:pt x="4422521" y="667766"/>
                    <a:pt x="4273042" y="667766"/>
                  </a:cubicBezTo>
                  <a:lnTo>
                    <a:pt x="4273042" y="650875"/>
                  </a:lnTo>
                  <a:lnTo>
                    <a:pt x="4273042" y="667766"/>
                  </a:lnTo>
                  <a:lnTo>
                    <a:pt x="271907" y="667766"/>
                  </a:lnTo>
                  <a:lnTo>
                    <a:pt x="271907" y="650875"/>
                  </a:lnTo>
                  <a:lnTo>
                    <a:pt x="271907" y="667766"/>
                  </a:lnTo>
                  <a:cubicBezTo>
                    <a:pt x="122428" y="667893"/>
                    <a:pt x="0" y="551815"/>
                    <a:pt x="0" y="407035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407035"/>
                  </a:lnTo>
                  <a:lnTo>
                    <a:pt x="16891" y="407035"/>
                  </a:lnTo>
                  <a:lnTo>
                    <a:pt x="33909" y="407035"/>
                  </a:lnTo>
                  <a:cubicBezTo>
                    <a:pt x="33909" y="531622"/>
                    <a:pt x="139700" y="633984"/>
                    <a:pt x="271907" y="633984"/>
                  </a:cubicBezTo>
                  <a:lnTo>
                    <a:pt x="4273042" y="633984"/>
                  </a:lnTo>
                  <a:cubicBezTo>
                    <a:pt x="4405249" y="633984"/>
                    <a:pt x="4511040" y="531749"/>
                    <a:pt x="4511040" y="407035"/>
                  </a:cubicBezTo>
                  <a:lnTo>
                    <a:pt x="4511040" y="260731"/>
                  </a:lnTo>
                  <a:cubicBezTo>
                    <a:pt x="4511040" y="136144"/>
                    <a:pt x="4405249" y="33782"/>
                    <a:pt x="4273042" y="33782"/>
                  </a:cubicBezTo>
                  <a:lnTo>
                    <a:pt x="271907" y="33782"/>
                  </a:lnTo>
                  <a:lnTo>
                    <a:pt x="271907" y="16891"/>
                  </a:lnTo>
                  <a:lnTo>
                    <a:pt x="271907" y="33909"/>
                  </a:lnTo>
                  <a:cubicBezTo>
                    <a:pt x="139700" y="33909"/>
                    <a:pt x="33909" y="136144"/>
                    <a:pt x="33909" y="260731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05840" y="5157216"/>
            <a:ext cx="3383280" cy="475488"/>
            <a:chOff x="0" y="0"/>
            <a:chExt cx="4511040" cy="6339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511040" cy="633984"/>
            </a:xfrm>
            <a:custGeom>
              <a:avLst/>
              <a:gdLst/>
              <a:ahLst/>
              <a:cxnLst/>
              <a:rect r="r" b="b" t="t" l="l"/>
              <a:pathLst>
                <a:path h="633984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5110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Hypergraph Structure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650743" y="5144519"/>
            <a:ext cx="3408683" cy="500891"/>
            <a:chOff x="0" y="0"/>
            <a:chExt cx="4544911" cy="66785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4511167" cy="633984"/>
            </a:xfrm>
            <a:custGeom>
              <a:avLst/>
              <a:gdLst/>
              <a:ahLst/>
              <a:cxnLst/>
              <a:rect r="r" b="b" t="t" l="l"/>
              <a:pathLst>
                <a:path h="633984" w="4511167">
                  <a:moveTo>
                    <a:pt x="0" y="243840"/>
                  </a:moveTo>
                  <a:cubicBezTo>
                    <a:pt x="0" y="109220"/>
                    <a:pt x="114173" y="0"/>
                    <a:pt x="255016" y="0"/>
                  </a:cubicBezTo>
                  <a:lnTo>
                    <a:pt x="4256151" y="0"/>
                  </a:lnTo>
                  <a:cubicBezTo>
                    <a:pt x="4396994" y="0"/>
                    <a:pt x="4511167" y="109220"/>
                    <a:pt x="4511167" y="243840"/>
                  </a:cubicBezTo>
                  <a:lnTo>
                    <a:pt x="4511167" y="390144"/>
                  </a:lnTo>
                  <a:cubicBezTo>
                    <a:pt x="4511167" y="524764"/>
                    <a:pt x="4396994" y="633984"/>
                    <a:pt x="4256151" y="633984"/>
                  </a:cubicBezTo>
                  <a:lnTo>
                    <a:pt x="255016" y="633984"/>
                  </a:lnTo>
                  <a:cubicBezTo>
                    <a:pt x="114173" y="633984"/>
                    <a:pt x="0" y="524764"/>
                    <a:pt x="0" y="390144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44949" cy="667766"/>
            </a:xfrm>
            <a:custGeom>
              <a:avLst/>
              <a:gdLst/>
              <a:ahLst/>
              <a:cxnLst/>
              <a:rect r="r" b="b" t="t" l="l"/>
              <a:pathLst>
                <a:path h="667766" w="4544949">
                  <a:moveTo>
                    <a:pt x="0" y="260731"/>
                  </a:moveTo>
                  <a:cubicBezTo>
                    <a:pt x="0" y="116078"/>
                    <a:pt x="122428" y="0"/>
                    <a:pt x="271907" y="0"/>
                  </a:cubicBezTo>
                  <a:lnTo>
                    <a:pt x="4273042" y="0"/>
                  </a:lnTo>
                  <a:lnTo>
                    <a:pt x="4273042" y="16891"/>
                  </a:lnTo>
                  <a:lnTo>
                    <a:pt x="4273042" y="0"/>
                  </a:lnTo>
                  <a:cubicBezTo>
                    <a:pt x="4422521" y="0"/>
                    <a:pt x="4544949" y="116078"/>
                    <a:pt x="4544949" y="260731"/>
                  </a:cubicBezTo>
                  <a:lnTo>
                    <a:pt x="4528058" y="260731"/>
                  </a:lnTo>
                  <a:lnTo>
                    <a:pt x="4544949" y="260731"/>
                  </a:lnTo>
                  <a:lnTo>
                    <a:pt x="4544949" y="407035"/>
                  </a:lnTo>
                  <a:lnTo>
                    <a:pt x="4528058" y="407035"/>
                  </a:lnTo>
                  <a:lnTo>
                    <a:pt x="4544949" y="407035"/>
                  </a:lnTo>
                  <a:cubicBezTo>
                    <a:pt x="4544949" y="551815"/>
                    <a:pt x="4422521" y="667766"/>
                    <a:pt x="4273042" y="667766"/>
                  </a:cubicBezTo>
                  <a:lnTo>
                    <a:pt x="4273042" y="650875"/>
                  </a:lnTo>
                  <a:lnTo>
                    <a:pt x="4273042" y="667766"/>
                  </a:lnTo>
                  <a:lnTo>
                    <a:pt x="271907" y="667766"/>
                  </a:lnTo>
                  <a:lnTo>
                    <a:pt x="271907" y="650875"/>
                  </a:lnTo>
                  <a:lnTo>
                    <a:pt x="271907" y="667766"/>
                  </a:lnTo>
                  <a:cubicBezTo>
                    <a:pt x="122428" y="667893"/>
                    <a:pt x="0" y="551815"/>
                    <a:pt x="0" y="407035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407035"/>
                  </a:lnTo>
                  <a:lnTo>
                    <a:pt x="16891" y="407035"/>
                  </a:lnTo>
                  <a:lnTo>
                    <a:pt x="33909" y="407035"/>
                  </a:lnTo>
                  <a:cubicBezTo>
                    <a:pt x="33909" y="531622"/>
                    <a:pt x="139700" y="633984"/>
                    <a:pt x="271907" y="633984"/>
                  </a:cubicBezTo>
                  <a:lnTo>
                    <a:pt x="4273042" y="633984"/>
                  </a:lnTo>
                  <a:cubicBezTo>
                    <a:pt x="4405249" y="633984"/>
                    <a:pt x="4511040" y="531749"/>
                    <a:pt x="4511040" y="407035"/>
                  </a:cubicBezTo>
                  <a:lnTo>
                    <a:pt x="4511040" y="260731"/>
                  </a:lnTo>
                  <a:cubicBezTo>
                    <a:pt x="4511040" y="136144"/>
                    <a:pt x="4405249" y="33782"/>
                    <a:pt x="4273042" y="33782"/>
                  </a:cubicBezTo>
                  <a:lnTo>
                    <a:pt x="271907" y="33782"/>
                  </a:lnTo>
                  <a:lnTo>
                    <a:pt x="271907" y="16891"/>
                  </a:lnTo>
                  <a:lnTo>
                    <a:pt x="271907" y="33909"/>
                  </a:lnTo>
                  <a:cubicBezTo>
                    <a:pt x="139700" y="33909"/>
                    <a:pt x="33909" y="136144"/>
                    <a:pt x="33909" y="260731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4663440" y="5157216"/>
            <a:ext cx="3383280" cy="475488"/>
            <a:chOff x="0" y="0"/>
            <a:chExt cx="4511040" cy="63398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511040" cy="633984"/>
            </a:xfrm>
            <a:custGeom>
              <a:avLst/>
              <a:gdLst/>
              <a:ahLst/>
              <a:cxnLst/>
              <a:rect r="r" b="b" t="t" l="l"/>
              <a:pathLst>
                <a:path h="633984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5110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Truth Values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308343" y="5144519"/>
            <a:ext cx="3408683" cy="500891"/>
            <a:chOff x="0" y="0"/>
            <a:chExt cx="4544911" cy="66785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4511167" cy="633984"/>
            </a:xfrm>
            <a:custGeom>
              <a:avLst/>
              <a:gdLst/>
              <a:ahLst/>
              <a:cxnLst/>
              <a:rect r="r" b="b" t="t" l="l"/>
              <a:pathLst>
                <a:path h="633984" w="4511167">
                  <a:moveTo>
                    <a:pt x="0" y="243840"/>
                  </a:moveTo>
                  <a:cubicBezTo>
                    <a:pt x="0" y="109220"/>
                    <a:pt x="114173" y="0"/>
                    <a:pt x="255016" y="0"/>
                  </a:cubicBezTo>
                  <a:lnTo>
                    <a:pt x="4256151" y="0"/>
                  </a:lnTo>
                  <a:cubicBezTo>
                    <a:pt x="4396994" y="0"/>
                    <a:pt x="4511167" y="109220"/>
                    <a:pt x="4511167" y="243840"/>
                  </a:cubicBezTo>
                  <a:lnTo>
                    <a:pt x="4511167" y="390144"/>
                  </a:lnTo>
                  <a:cubicBezTo>
                    <a:pt x="4511167" y="524764"/>
                    <a:pt x="4396994" y="633984"/>
                    <a:pt x="4256151" y="633984"/>
                  </a:cubicBezTo>
                  <a:lnTo>
                    <a:pt x="255016" y="633984"/>
                  </a:lnTo>
                  <a:cubicBezTo>
                    <a:pt x="114173" y="633984"/>
                    <a:pt x="0" y="524764"/>
                    <a:pt x="0" y="390144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44949" cy="667766"/>
            </a:xfrm>
            <a:custGeom>
              <a:avLst/>
              <a:gdLst/>
              <a:ahLst/>
              <a:cxnLst/>
              <a:rect r="r" b="b" t="t" l="l"/>
              <a:pathLst>
                <a:path h="667766" w="4544949">
                  <a:moveTo>
                    <a:pt x="0" y="260731"/>
                  </a:moveTo>
                  <a:cubicBezTo>
                    <a:pt x="0" y="116078"/>
                    <a:pt x="122428" y="0"/>
                    <a:pt x="271907" y="0"/>
                  </a:cubicBezTo>
                  <a:lnTo>
                    <a:pt x="4273042" y="0"/>
                  </a:lnTo>
                  <a:lnTo>
                    <a:pt x="4273042" y="16891"/>
                  </a:lnTo>
                  <a:lnTo>
                    <a:pt x="4273042" y="0"/>
                  </a:lnTo>
                  <a:cubicBezTo>
                    <a:pt x="4422521" y="0"/>
                    <a:pt x="4544949" y="116078"/>
                    <a:pt x="4544949" y="260731"/>
                  </a:cubicBezTo>
                  <a:lnTo>
                    <a:pt x="4528058" y="260731"/>
                  </a:lnTo>
                  <a:lnTo>
                    <a:pt x="4544949" y="260731"/>
                  </a:lnTo>
                  <a:lnTo>
                    <a:pt x="4544949" y="407035"/>
                  </a:lnTo>
                  <a:lnTo>
                    <a:pt x="4528058" y="407035"/>
                  </a:lnTo>
                  <a:lnTo>
                    <a:pt x="4544949" y="407035"/>
                  </a:lnTo>
                  <a:cubicBezTo>
                    <a:pt x="4544949" y="551815"/>
                    <a:pt x="4422521" y="667766"/>
                    <a:pt x="4273042" y="667766"/>
                  </a:cubicBezTo>
                  <a:lnTo>
                    <a:pt x="4273042" y="650875"/>
                  </a:lnTo>
                  <a:lnTo>
                    <a:pt x="4273042" y="667766"/>
                  </a:lnTo>
                  <a:lnTo>
                    <a:pt x="271907" y="667766"/>
                  </a:lnTo>
                  <a:lnTo>
                    <a:pt x="271907" y="650875"/>
                  </a:lnTo>
                  <a:lnTo>
                    <a:pt x="271907" y="667766"/>
                  </a:lnTo>
                  <a:cubicBezTo>
                    <a:pt x="122428" y="667893"/>
                    <a:pt x="0" y="551815"/>
                    <a:pt x="0" y="407035"/>
                  </a:cubicBezTo>
                  <a:lnTo>
                    <a:pt x="0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lnTo>
                    <a:pt x="33909" y="407035"/>
                  </a:lnTo>
                  <a:lnTo>
                    <a:pt x="16891" y="407035"/>
                  </a:lnTo>
                  <a:lnTo>
                    <a:pt x="33909" y="407035"/>
                  </a:lnTo>
                  <a:cubicBezTo>
                    <a:pt x="33909" y="531622"/>
                    <a:pt x="139700" y="633984"/>
                    <a:pt x="271907" y="633984"/>
                  </a:cubicBezTo>
                  <a:lnTo>
                    <a:pt x="4273042" y="633984"/>
                  </a:lnTo>
                  <a:cubicBezTo>
                    <a:pt x="4405249" y="633984"/>
                    <a:pt x="4511040" y="531749"/>
                    <a:pt x="4511040" y="407035"/>
                  </a:cubicBezTo>
                  <a:lnTo>
                    <a:pt x="4511040" y="260731"/>
                  </a:lnTo>
                  <a:cubicBezTo>
                    <a:pt x="4511040" y="136144"/>
                    <a:pt x="4405249" y="33782"/>
                    <a:pt x="4273042" y="33782"/>
                  </a:cubicBezTo>
                  <a:lnTo>
                    <a:pt x="271907" y="33782"/>
                  </a:lnTo>
                  <a:lnTo>
                    <a:pt x="271907" y="16891"/>
                  </a:lnTo>
                  <a:lnTo>
                    <a:pt x="271907" y="33909"/>
                  </a:lnTo>
                  <a:cubicBezTo>
                    <a:pt x="139700" y="33909"/>
                    <a:pt x="33909" y="136144"/>
                    <a:pt x="33909" y="260731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321040" y="5157216"/>
            <a:ext cx="3383280" cy="475488"/>
            <a:chOff x="0" y="0"/>
            <a:chExt cx="4511040" cy="63398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511040" cy="633984"/>
            </a:xfrm>
            <a:custGeom>
              <a:avLst/>
              <a:gdLst/>
              <a:ahLst/>
              <a:cxnLst/>
              <a:rect r="r" b="b" t="t" l="l"/>
              <a:pathLst>
                <a:path h="633984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5110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Pattern Matching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93143" y="5839463"/>
            <a:ext cx="3408683" cy="1122683"/>
            <a:chOff x="0" y="0"/>
            <a:chExt cx="4544911" cy="149691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4511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544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4544822">
                  <a:moveTo>
                    <a:pt x="16891" y="0"/>
                  </a:moveTo>
                  <a:lnTo>
                    <a:pt x="4527931" y="0"/>
                  </a:lnTo>
                  <a:cubicBezTo>
                    <a:pt x="4537329" y="0"/>
                    <a:pt x="4544822" y="7620"/>
                    <a:pt x="4544822" y="16891"/>
                  </a:cubicBezTo>
                  <a:lnTo>
                    <a:pt x="4544822" y="1479931"/>
                  </a:lnTo>
                  <a:cubicBezTo>
                    <a:pt x="4544822" y="1489329"/>
                    <a:pt x="4537202" y="1496822"/>
                    <a:pt x="452793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4527931" y="1463040"/>
                  </a:lnTo>
                  <a:lnTo>
                    <a:pt x="4527931" y="1479931"/>
                  </a:lnTo>
                  <a:lnTo>
                    <a:pt x="4511040" y="1479931"/>
                  </a:lnTo>
                  <a:lnTo>
                    <a:pt x="4511040" y="16891"/>
                  </a:lnTo>
                  <a:lnTo>
                    <a:pt x="4527931" y="16891"/>
                  </a:lnTo>
                  <a:lnTo>
                    <a:pt x="4527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05840" y="5925312"/>
            <a:ext cx="3383280" cy="585216"/>
            <a:chOff x="0" y="0"/>
            <a:chExt cx="4511040" cy="78028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511040" cy="780288"/>
            </a:xfrm>
            <a:custGeom>
              <a:avLst/>
              <a:gdLst/>
              <a:ahLst/>
              <a:cxnLst/>
              <a:rect r="r" b="b" t="t" l="l"/>
              <a:pathLst>
                <a:path h="78028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47" r="0" b="-6264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76200"/>
              <a:ext cx="451104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15+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05840" y="6510528"/>
            <a:ext cx="3383280" cy="402336"/>
            <a:chOff x="0" y="0"/>
            <a:chExt cx="4511040" cy="5364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511040" cy="536448"/>
            </a:xfrm>
            <a:custGeom>
              <a:avLst/>
              <a:gdLst/>
              <a:ahLst/>
              <a:cxnLst/>
              <a:rect r="r" b="b" t="t" l="l"/>
              <a:pathLst>
                <a:path h="53644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851" r="0" b="-11385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45110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 Types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614167" y="5839463"/>
            <a:ext cx="3408683" cy="1122683"/>
            <a:chOff x="0" y="0"/>
            <a:chExt cx="4544911" cy="149691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4511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544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4544822">
                  <a:moveTo>
                    <a:pt x="16891" y="0"/>
                  </a:moveTo>
                  <a:lnTo>
                    <a:pt x="4527931" y="0"/>
                  </a:lnTo>
                  <a:cubicBezTo>
                    <a:pt x="4537329" y="0"/>
                    <a:pt x="4544822" y="7620"/>
                    <a:pt x="4544822" y="16891"/>
                  </a:cubicBezTo>
                  <a:lnTo>
                    <a:pt x="4544822" y="1479931"/>
                  </a:lnTo>
                  <a:cubicBezTo>
                    <a:pt x="4544822" y="1489329"/>
                    <a:pt x="4537202" y="1496822"/>
                    <a:pt x="452793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4527931" y="1463040"/>
                  </a:lnTo>
                  <a:lnTo>
                    <a:pt x="4527931" y="1479931"/>
                  </a:lnTo>
                  <a:lnTo>
                    <a:pt x="4511040" y="1479931"/>
                  </a:lnTo>
                  <a:lnTo>
                    <a:pt x="4511040" y="16891"/>
                  </a:lnTo>
                  <a:lnTo>
                    <a:pt x="4527931" y="16891"/>
                  </a:lnTo>
                  <a:lnTo>
                    <a:pt x="4527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4626864" y="5925312"/>
            <a:ext cx="3383280" cy="585216"/>
            <a:chOff x="0" y="0"/>
            <a:chExt cx="4511040" cy="7802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511040" cy="780288"/>
            </a:xfrm>
            <a:custGeom>
              <a:avLst/>
              <a:gdLst/>
              <a:ahLst/>
              <a:cxnLst/>
              <a:rect r="r" b="b" t="t" l="l"/>
              <a:pathLst>
                <a:path h="78028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47" r="0" b="-6264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76200"/>
              <a:ext cx="451104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20+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4626864" y="6510528"/>
            <a:ext cx="3383280" cy="402336"/>
            <a:chOff x="0" y="0"/>
            <a:chExt cx="4511040" cy="53644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511040" cy="536448"/>
            </a:xfrm>
            <a:custGeom>
              <a:avLst/>
              <a:gdLst/>
              <a:ahLst/>
              <a:cxnLst/>
              <a:rect r="r" b="b" t="t" l="l"/>
              <a:pathLst>
                <a:path h="53644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851" r="0" b="-11385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45110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Link Types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235191" y="5839463"/>
            <a:ext cx="3408683" cy="1122683"/>
            <a:chOff x="0" y="0"/>
            <a:chExt cx="4544911" cy="149691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4511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544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4544822">
                  <a:moveTo>
                    <a:pt x="16891" y="0"/>
                  </a:moveTo>
                  <a:lnTo>
                    <a:pt x="4527931" y="0"/>
                  </a:lnTo>
                  <a:cubicBezTo>
                    <a:pt x="4537329" y="0"/>
                    <a:pt x="4544822" y="7620"/>
                    <a:pt x="4544822" y="16891"/>
                  </a:cubicBezTo>
                  <a:lnTo>
                    <a:pt x="4544822" y="1479931"/>
                  </a:lnTo>
                  <a:cubicBezTo>
                    <a:pt x="4544822" y="1489329"/>
                    <a:pt x="4537202" y="1496822"/>
                    <a:pt x="452793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4527931" y="1463040"/>
                  </a:lnTo>
                  <a:lnTo>
                    <a:pt x="4527931" y="1479931"/>
                  </a:lnTo>
                  <a:lnTo>
                    <a:pt x="4511040" y="1479931"/>
                  </a:lnTo>
                  <a:lnTo>
                    <a:pt x="4511040" y="16891"/>
                  </a:lnTo>
                  <a:lnTo>
                    <a:pt x="4527931" y="16891"/>
                  </a:lnTo>
                  <a:lnTo>
                    <a:pt x="4527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8247888" y="5925312"/>
            <a:ext cx="3383280" cy="585216"/>
            <a:chOff x="0" y="0"/>
            <a:chExt cx="4511040" cy="78028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511040" cy="780288"/>
            </a:xfrm>
            <a:custGeom>
              <a:avLst/>
              <a:gdLst/>
              <a:ahLst/>
              <a:cxnLst/>
              <a:rect r="r" b="b" t="t" l="l"/>
              <a:pathLst>
                <a:path h="78028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47" r="0" b="-62647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76200"/>
              <a:ext cx="451104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∞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247888" y="6510528"/>
            <a:ext cx="3383280" cy="402336"/>
            <a:chOff x="0" y="0"/>
            <a:chExt cx="4511040" cy="53644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511040" cy="536448"/>
            </a:xfrm>
            <a:custGeom>
              <a:avLst/>
              <a:gdLst/>
              <a:ahLst/>
              <a:cxnLst/>
              <a:rect r="r" b="b" t="t" l="l"/>
              <a:pathLst>
                <a:path h="53644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851" r="0" b="-11385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45110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Scalability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27383" y="7174487"/>
            <a:ext cx="10998203" cy="2402843"/>
            <a:chOff x="0" y="0"/>
            <a:chExt cx="14664271" cy="320379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14630399" cy="3169920"/>
            </a:xfrm>
            <a:custGeom>
              <a:avLst/>
              <a:gdLst/>
              <a:ahLst/>
              <a:cxnLst/>
              <a:rect r="r" b="b" t="t" l="l"/>
              <a:pathLst>
                <a:path h="3169920" w="14630399">
                  <a:moveTo>
                    <a:pt x="0" y="0"/>
                  </a:moveTo>
                  <a:lnTo>
                    <a:pt x="14630399" y="0"/>
                  </a:lnTo>
                  <a:lnTo>
                    <a:pt x="14630399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46641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14664182">
                  <a:moveTo>
                    <a:pt x="16891" y="0"/>
                  </a:moveTo>
                  <a:lnTo>
                    <a:pt x="14647290" y="0"/>
                  </a:lnTo>
                  <a:cubicBezTo>
                    <a:pt x="14656690" y="0"/>
                    <a:pt x="14664182" y="7620"/>
                    <a:pt x="14664182" y="16891"/>
                  </a:cubicBezTo>
                  <a:lnTo>
                    <a:pt x="14664182" y="3186811"/>
                  </a:lnTo>
                  <a:cubicBezTo>
                    <a:pt x="14664182" y="3196209"/>
                    <a:pt x="14656563" y="3203702"/>
                    <a:pt x="14647290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14647290" y="3169920"/>
                  </a:lnTo>
                  <a:lnTo>
                    <a:pt x="14647290" y="3186811"/>
                  </a:lnTo>
                  <a:lnTo>
                    <a:pt x="14630400" y="3186811"/>
                  </a:lnTo>
                  <a:lnTo>
                    <a:pt x="14630400" y="16891"/>
                  </a:lnTo>
                  <a:lnTo>
                    <a:pt x="14647290" y="16891"/>
                  </a:lnTo>
                  <a:lnTo>
                    <a:pt x="14647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005840" y="7315200"/>
            <a:ext cx="9144000" cy="475488"/>
            <a:chOff x="0" y="0"/>
            <a:chExt cx="12192000" cy="63398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2192000" cy="633984"/>
            </a:xfrm>
            <a:custGeom>
              <a:avLst/>
              <a:gdLst/>
              <a:ahLst/>
              <a:cxnLst/>
              <a:rect r="r" b="b" t="t" l="l"/>
              <a:pathLst>
                <a:path h="63398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21920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Node Types Overview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93143" y="7887719"/>
            <a:ext cx="2549147" cy="1305563"/>
            <a:chOff x="0" y="0"/>
            <a:chExt cx="3398863" cy="174075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891" y="16891"/>
              <a:ext cx="3364992" cy="1706880"/>
            </a:xfrm>
            <a:custGeom>
              <a:avLst/>
              <a:gdLst/>
              <a:ahLst/>
              <a:cxnLst/>
              <a:rect r="r" b="b" t="t" l="l"/>
              <a:pathLst>
                <a:path h="170688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398774" cy="1740662"/>
            </a:xfrm>
            <a:custGeom>
              <a:avLst/>
              <a:gdLst/>
              <a:ahLst/>
              <a:cxnLst/>
              <a:rect r="r" b="b" t="t" l="l"/>
              <a:pathLst>
                <a:path h="1740662" w="3398774">
                  <a:moveTo>
                    <a:pt x="16891" y="0"/>
                  </a:moveTo>
                  <a:lnTo>
                    <a:pt x="3381883" y="0"/>
                  </a:lnTo>
                  <a:cubicBezTo>
                    <a:pt x="3391281" y="0"/>
                    <a:pt x="3398774" y="7620"/>
                    <a:pt x="3398774" y="16891"/>
                  </a:cubicBezTo>
                  <a:lnTo>
                    <a:pt x="3398774" y="1723771"/>
                  </a:lnTo>
                  <a:cubicBezTo>
                    <a:pt x="3398774" y="1733169"/>
                    <a:pt x="3391154" y="1740662"/>
                    <a:pt x="3381883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3381883" y="1706880"/>
                  </a:lnTo>
                  <a:lnTo>
                    <a:pt x="3381883" y="1723771"/>
                  </a:lnTo>
                  <a:lnTo>
                    <a:pt x="3364992" y="1723771"/>
                  </a:lnTo>
                  <a:lnTo>
                    <a:pt x="3364992" y="16891"/>
                  </a:lnTo>
                  <a:lnTo>
                    <a:pt x="3381883" y="16891"/>
                  </a:lnTo>
                  <a:lnTo>
                    <a:pt x="33818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097280" y="7973568"/>
            <a:ext cx="2340864" cy="475488"/>
            <a:chOff x="0" y="0"/>
            <a:chExt cx="3121152" cy="63398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121152" cy="633984"/>
            </a:xfrm>
            <a:custGeom>
              <a:avLst/>
              <a:gdLst/>
              <a:ahLst/>
              <a:cxnLst/>
              <a:rect r="r" b="b" t="t" l="l"/>
              <a:pathLst>
                <a:path h="633984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26" r="0" b="-45926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312115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ConceptNode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097280" y="8503920"/>
            <a:ext cx="2340864" cy="402336"/>
            <a:chOff x="0" y="0"/>
            <a:chExt cx="3121152" cy="53644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121152" cy="536448"/>
            </a:xfrm>
            <a:custGeom>
              <a:avLst/>
              <a:gdLst/>
              <a:ahLst/>
              <a:cxnLst/>
              <a:rect r="r" b="b" t="t" l="l"/>
              <a:pathLst>
                <a:path h="536448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67" r="0" b="-6336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312115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Entities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3644903" y="7887719"/>
            <a:ext cx="2549147" cy="1305563"/>
            <a:chOff x="0" y="0"/>
            <a:chExt cx="3398863" cy="174075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3364992" cy="1706880"/>
            </a:xfrm>
            <a:custGeom>
              <a:avLst/>
              <a:gdLst/>
              <a:ahLst/>
              <a:cxnLst/>
              <a:rect r="r" b="b" t="t" l="l"/>
              <a:pathLst>
                <a:path h="170688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398774" cy="1740662"/>
            </a:xfrm>
            <a:custGeom>
              <a:avLst/>
              <a:gdLst/>
              <a:ahLst/>
              <a:cxnLst/>
              <a:rect r="r" b="b" t="t" l="l"/>
              <a:pathLst>
                <a:path h="1740662" w="3398774">
                  <a:moveTo>
                    <a:pt x="16891" y="0"/>
                  </a:moveTo>
                  <a:lnTo>
                    <a:pt x="3381883" y="0"/>
                  </a:lnTo>
                  <a:cubicBezTo>
                    <a:pt x="3391281" y="0"/>
                    <a:pt x="3398774" y="7620"/>
                    <a:pt x="3398774" y="16891"/>
                  </a:cubicBezTo>
                  <a:lnTo>
                    <a:pt x="3398774" y="1723771"/>
                  </a:lnTo>
                  <a:cubicBezTo>
                    <a:pt x="3398774" y="1733169"/>
                    <a:pt x="3391154" y="1740662"/>
                    <a:pt x="3381883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3381883" y="1706880"/>
                  </a:lnTo>
                  <a:lnTo>
                    <a:pt x="3381883" y="1723771"/>
                  </a:lnTo>
                  <a:lnTo>
                    <a:pt x="3364992" y="1723771"/>
                  </a:lnTo>
                  <a:lnTo>
                    <a:pt x="3364992" y="16891"/>
                  </a:lnTo>
                  <a:lnTo>
                    <a:pt x="3381883" y="16891"/>
                  </a:lnTo>
                  <a:lnTo>
                    <a:pt x="33818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3749040" y="7973568"/>
            <a:ext cx="2340864" cy="475488"/>
            <a:chOff x="0" y="0"/>
            <a:chExt cx="3121152" cy="63398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121152" cy="633984"/>
            </a:xfrm>
            <a:custGeom>
              <a:avLst/>
              <a:gdLst/>
              <a:ahLst/>
              <a:cxnLst/>
              <a:rect r="r" b="b" t="t" l="l"/>
              <a:pathLst>
                <a:path h="633984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26" r="0" b="-45926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312115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PredicateNode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3749040" y="8503920"/>
            <a:ext cx="2340864" cy="402336"/>
            <a:chOff x="0" y="0"/>
            <a:chExt cx="3121152" cy="53644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121152" cy="536448"/>
            </a:xfrm>
            <a:custGeom>
              <a:avLst/>
              <a:gdLst/>
              <a:ahLst/>
              <a:cxnLst/>
              <a:rect r="r" b="b" t="t" l="l"/>
              <a:pathLst>
                <a:path h="536448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67" r="0" b="-6336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312115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Relations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6296663" y="7887719"/>
            <a:ext cx="2549147" cy="1305563"/>
            <a:chOff x="0" y="0"/>
            <a:chExt cx="3398863" cy="174075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6891" y="16891"/>
              <a:ext cx="3364992" cy="1706880"/>
            </a:xfrm>
            <a:custGeom>
              <a:avLst/>
              <a:gdLst/>
              <a:ahLst/>
              <a:cxnLst/>
              <a:rect r="r" b="b" t="t" l="l"/>
              <a:pathLst>
                <a:path h="170688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398774" cy="1740662"/>
            </a:xfrm>
            <a:custGeom>
              <a:avLst/>
              <a:gdLst/>
              <a:ahLst/>
              <a:cxnLst/>
              <a:rect r="r" b="b" t="t" l="l"/>
              <a:pathLst>
                <a:path h="1740662" w="3398774">
                  <a:moveTo>
                    <a:pt x="16891" y="0"/>
                  </a:moveTo>
                  <a:lnTo>
                    <a:pt x="3381883" y="0"/>
                  </a:lnTo>
                  <a:cubicBezTo>
                    <a:pt x="3391281" y="0"/>
                    <a:pt x="3398774" y="7620"/>
                    <a:pt x="3398774" y="16891"/>
                  </a:cubicBezTo>
                  <a:lnTo>
                    <a:pt x="3398774" y="1723771"/>
                  </a:lnTo>
                  <a:cubicBezTo>
                    <a:pt x="3398774" y="1733169"/>
                    <a:pt x="3391154" y="1740662"/>
                    <a:pt x="3381883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3381883" y="1706880"/>
                  </a:lnTo>
                  <a:lnTo>
                    <a:pt x="3381883" y="1723771"/>
                  </a:lnTo>
                  <a:lnTo>
                    <a:pt x="3364992" y="1723771"/>
                  </a:lnTo>
                  <a:lnTo>
                    <a:pt x="3364992" y="16891"/>
                  </a:lnTo>
                  <a:lnTo>
                    <a:pt x="3381883" y="16891"/>
                  </a:lnTo>
                  <a:lnTo>
                    <a:pt x="33818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6400800" y="7973568"/>
            <a:ext cx="2340864" cy="475488"/>
            <a:chOff x="0" y="0"/>
            <a:chExt cx="3121152" cy="63398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121152" cy="633984"/>
            </a:xfrm>
            <a:custGeom>
              <a:avLst/>
              <a:gdLst/>
              <a:ahLst/>
              <a:cxnLst/>
              <a:rect r="r" b="b" t="t" l="l"/>
              <a:pathLst>
                <a:path h="633984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26" r="0" b="-45926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312115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NumberNode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6400800" y="8503920"/>
            <a:ext cx="2340864" cy="402336"/>
            <a:chOff x="0" y="0"/>
            <a:chExt cx="3121152" cy="53644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121152" cy="536448"/>
            </a:xfrm>
            <a:custGeom>
              <a:avLst/>
              <a:gdLst/>
              <a:ahLst/>
              <a:cxnLst/>
              <a:rect r="r" b="b" t="t" l="l"/>
              <a:pathLst>
                <a:path h="536448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67" r="0" b="-63367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312115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Values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8948423" y="7887719"/>
            <a:ext cx="2549147" cy="1305563"/>
            <a:chOff x="0" y="0"/>
            <a:chExt cx="3398863" cy="1740751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16891" y="16891"/>
              <a:ext cx="3364992" cy="1706880"/>
            </a:xfrm>
            <a:custGeom>
              <a:avLst/>
              <a:gdLst/>
              <a:ahLst/>
              <a:cxnLst/>
              <a:rect r="r" b="b" t="t" l="l"/>
              <a:pathLst>
                <a:path h="170688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398774" cy="1740662"/>
            </a:xfrm>
            <a:custGeom>
              <a:avLst/>
              <a:gdLst/>
              <a:ahLst/>
              <a:cxnLst/>
              <a:rect r="r" b="b" t="t" l="l"/>
              <a:pathLst>
                <a:path h="1740662" w="3398774">
                  <a:moveTo>
                    <a:pt x="16891" y="0"/>
                  </a:moveTo>
                  <a:lnTo>
                    <a:pt x="3381883" y="0"/>
                  </a:lnTo>
                  <a:cubicBezTo>
                    <a:pt x="3391281" y="0"/>
                    <a:pt x="3398774" y="7620"/>
                    <a:pt x="3398774" y="16891"/>
                  </a:cubicBezTo>
                  <a:lnTo>
                    <a:pt x="3398774" y="1723771"/>
                  </a:lnTo>
                  <a:cubicBezTo>
                    <a:pt x="3398774" y="1733169"/>
                    <a:pt x="3391154" y="1740662"/>
                    <a:pt x="3381883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3381883" y="1706880"/>
                  </a:lnTo>
                  <a:lnTo>
                    <a:pt x="3381883" y="1723771"/>
                  </a:lnTo>
                  <a:lnTo>
                    <a:pt x="3364992" y="1723771"/>
                  </a:lnTo>
                  <a:lnTo>
                    <a:pt x="3364992" y="16891"/>
                  </a:lnTo>
                  <a:lnTo>
                    <a:pt x="3381883" y="16891"/>
                  </a:lnTo>
                  <a:lnTo>
                    <a:pt x="33818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052560" y="7973568"/>
            <a:ext cx="2340864" cy="475488"/>
            <a:chOff x="0" y="0"/>
            <a:chExt cx="3121152" cy="633984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121152" cy="633984"/>
            </a:xfrm>
            <a:custGeom>
              <a:avLst/>
              <a:gdLst/>
              <a:ahLst/>
              <a:cxnLst/>
              <a:rect r="r" b="b" t="t" l="l"/>
              <a:pathLst>
                <a:path h="633984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26" r="0" b="-45926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312115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SchemaNode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052560" y="8503920"/>
            <a:ext cx="2340864" cy="402336"/>
            <a:chOff x="0" y="0"/>
            <a:chExt cx="3121152" cy="53644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121152" cy="536448"/>
            </a:xfrm>
            <a:custGeom>
              <a:avLst/>
              <a:gdLst/>
              <a:ahLst/>
              <a:cxnLst/>
              <a:rect r="r" b="b" t="t" l="l"/>
              <a:pathLst>
                <a:path h="536448" w="3121152">
                  <a:moveTo>
                    <a:pt x="0" y="0"/>
                  </a:moveTo>
                  <a:lnTo>
                    <a:pt x="3121152" y="0"/>
                  </a:lnTo>
                  <a:lnTo>
                    <a:pt x="312115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67" r="0" b="-63367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3121152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Functions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1874503" y="2547623"/>
            <a:ext cx="5786123" cy="2494283"/>
            <a:chOff x="0" y="0"/>
            <a:chExt cx="7714831" cy="3325711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16891" y="16891"/>
              <a:ext cx="76809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714742" cy="3325622"/>
            </a:xfrm>
            <a:custGeom>
              <a:avLst/>
              <a:gdLst/>
              <a:ahLst/>
              <a:cxnLst/>
              <a:rect r="r" b="b" t="t" l="l"/>
              <a:pathLst>
                <a:path h="3325622" w="7714742">
                  <a:moveTo>
                    <a:pt x="16891" y="0"/>
                  </a:moveTo>
                  <a:lnTo>
                    <a:pt x="7697851" y="0"/>
                  </a:lnTo>
                  <a:cubicBezTo>
                    <a:pt x="7707249" y="0"/>
                    <a:pt x="7714742" y="7620"/>
                    <a:pt x="7714742" y="16891"/>
                  </a:cubicBezTo>
                  <a:lnTo>
                    <a:pt x="7714742" y="3308731"/>
                  </a:lnTo>
                  <a:cubicBezTo>
                    <a:pt x="7714742" y="3318129"/>
                    <a:pt x="7707122" y="3325622"/>
                    <a:pt x="769785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7697851" y="3291840"/>
                  </a:lnTo>
                  <a:lnTo>
                    <a:pt x="7697851" y="3308731"/>
                  </a:lnTo>
                  <a:lnTo>
                    <a:pt x="7680960" y="3308731"/>
                  </a:lnTo>
                  <a:lnTo>
                    <a:pt x="7680960" y="16891"/>
                  </a:lnTo>
                  <a:lnTo>
                    <a:pt x="7697851" y="16891"/>
                  </a:lnTo>
                  <a:lnTo>
                    <a:pt x="769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2161520" y="2706624"/>
            <a:ext cx="5212080" cy="475488"/>
            <a:chOff x="0" y="0"/>
            <a:chExt cx="6949440" cy="63398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949440" cy="633984"/>
            </a:xfrm>
            <a:custGeom>
              <a:avLst/>
              <a:gdLst/>
              <a:ahLst/>
              <a:cxnLst/>
              <a:rect r="r" b="b" t="t" l="l"/>
              <a:pathLst>
                <a:path h="6339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586" r="0" b="-163586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69494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Hypergraph Structure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2161520" y="3255264"/>
            <a:ext cx="5212080" cy="1463040"/>
            <a:chOff x="0" y="0"/>
            <a:chExt cx="6949440" cy="195072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9494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15" r="0" b="-19415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694944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AtomSpace uses a hypergraph where edges can connect any number of nodes, enabling complex knowledge representation.</a:t>
              </a:r>
            </a:p>
          </p:txBody>
        </p:sp>
      </p:grpSp>
      <p:pic>
        <p:nvPicPr>
          <p:cNvPr name="Picture 130" id="130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1925938" y="5632704"/>
            <a:ext cx="6179182" cy="34457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30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82880"/>
            <a:ext cx="15544800" cy="694944"/>
            <a:chOff x="0" y="0"/>
            <a:chExt cx="2072640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7264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Nodes in AtomSpace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2801600" cy="512064"/>
            <a:chOff x="0" y="0"/>
            <a:chExt cx="170688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Fundamental building blocks of knowledge representation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44800" y="548640"/>
            <a:ext cx="2560320" cy="457200"/>
            <a:chOff x="0" y="0"/>
            <a:chExt cx="341376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0" cy="609600"/>
            </a:xfrm>
            <a:custGeom>
              <a:avLst/>
              <a:gdLst/>
              <a:ahLst/>
              <a:cxnLst/>
              <a:rect r="r" b="b" t="t" l="l"/>
              <a:pathLst>
                <a:path h="6096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413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13/20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1828800"/>
            <a:ext cx="512064" cy="512064"/>
            <a:chOff x="0" y="0"/>
            <a:chExt cx="682752" cy="68275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1828800"/>
            <a:ext cx="10972800" cy="548640"/>
            <a:chOff x="0" y="0"/>
            <a:chExt cx="146304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46304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Nodes in AtomSpace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508743" y="1852679"/>
            <a:ext cx="6151883" cy="574043"/>
            <a:chOff x="0" y="0"/>
            <a:chExt cx="8202511" cy="7653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365760"/>
                  </a:moveTo>
                  <a:cubicBezTo>
                    <a:pt x="0" y="163703"/>
                    <a:pt x="170688" y="0"/>
                    <a:pt x="381127" y="0"/>
                  </a:cubicBezTo>
                  <a:lnTo>
                    <a:pt x="7787513" y="0"/>
                  </a:lnTo>
                  <a:cubicBezTo>
                    <a:pt x="7997952" y="0"/>
                    <a:pt x="8168640" y="163703"/>
                    <a:pt x="8168640" y="365760"/>
                  </a:cubicBezTo>
                  <a:cubicBezTo>
                    <a:pt x="8168640" y="567817"/>
                    <a:pt x="7997952" y="731520"/>
                    <a:pt x="7787513" y="731520"/>
                  </a:cubicBezTo>
                  <a:lnTo>
                    <a:pt x="381127" y="731520"/>
                  </a:lnTo>
                  <a:cubicBezTo>
                    <a:pt x="170688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02423" cy="765302"/>
            </a:xfrm>
            <a:custGeom>
              <a:avLst/>
              <a:gdLst/>
              <a:ahLst/>
              <a:cxnLst/>
              <a:rect r="r" b="b" t="t" l="l"/>
              <a:pathLst>
                <a:path h="765302" w="8202423">
                  <a:moveTo>
                    <a:pt x="0" y="382651"/>
                  </a:moveTo>
                  <a:cubicBezTo>
                    <a:pt x="0" y="170688"/>
                    <a:pt x="178816" y="0"/>
                    <a:pt x="398018" y="0"/>
                  </a:cubicBezTo>
                  <a:lnTo>
                    <a:pt x="7804404" y="0"/>
                  </a:lnTo>
                  <a:lnTo>
                    <a:pt x="7804404" y="16891"/>
                  </a:lnTo>
                  <a:lnTo>
                    <a:pt x="7804404" y="0"/>
                  </a:lnTo>
                  <a:cubicBezTo>
                    <a:pt x="8023606" y="0"/>
                    <a:pt x="8202423" y="170688"/>
                    <a:pt x="8202423" y="382651"/>
                  </a:cubicBezTo>
                  <a:lnTo>
                    <a:pt x="8185531" y="382651"/>
                  </a:lnTo>
                  <a:lnTo>
                    <a:pt x="8202423" y="382651"/>
                  </a:lnTo>
                  <a:lnTo>
                    <a:pt x="8185531" y="382651"/>
                  </a:lnTo>
                  <a:lnTo>
                    <a:pt x="8202423" y="382651"/>
                  </a:lnTo>
                  <a:cubicBezTo>
                    <a:pt x="8202423" y="594614"/>
                    <a:pt x="8023606" y="765302"/>
                    <a:pt x="7804404" y="765302"/>
                  </a:cubicBezTo>
                  <a:lnTo>
                    <a:pt x="7804404" y="748411"/>
                  </a:lnTo>
                  <a:lnTo>
                    <a:pt x="7804404" y="765302"/>
                  </a:lnTo>
                  <a:lnTo>
                    <a:pt x="398018" y="765302"/>
                  </a:lnTo>
                  <a:lnTo>
                    <a:pt x="398018" y="748411"/>
                  </a:lnTo>
                  <a:lnTo>
                    <a:pt x="398018" y="765302"/>
                  </a:lnTo>
                  <a:cubicBezTo>
                    <a:pt x="178816" y="765429"/>
                    <a:pt x="0" y="594741"/>
                    <a:pt x="0" y="382651"/>
                  </a:cubicBezTo>
                  <a:lnTo>
                    <a:pt x="16891" y="382651"/>
                  </a:lnTo>
                  <a:lnTo>
                    <a:pt x="0" y="382651"/>
                  </a:lnTo>
                  <a:moveTo>
                    <a:pt x="33909" y="382651"/>
                  </a:moveTo>
                  <a:lnTo>
                    <a:pt x="16891" y="382651"/>
                  </a:lnTo>
                  <a:lnTo>
                    <a:pt x="33909" y="382651"/>
                  </a:lnTo>
                  <a:cubicBezTo>
                    <a:pt x="33909" y="574675"/>
                    <a:pt x="196342" y="731520"/>
                    <a:pt x="398145" y="731520"/>
                  </a:cubicBezTo>
                  <a:lnTo>
                    <a:pt x="7804404" y="731520"/>
                  </a:lnTo>
                  <a:cubicBezTo>
                    <a:pt x="8006207" y="731520"/>
                    <a:pt x="8168640" y="574675"/>
                    <a:pt x="8168640" y="382651"/>
                  </a:cubicBezTo>
                  <a:cubicBezTo>
                    <a:pt x="8168640" y="190627"/>
                    <a:pt x="8006207" y="33782"/>
                    <a:pt x="7804404" y="33782"/>
                  </a:cubicBezTo>
                  <a:lnTo>
                    <a:pt x="398018" y="33782"/>
                  </a:lnTo>
                  <a:lnTo>
                    <a:pt x="398018" y="16891"/>
                  </a:lnTo>
                  <a:lnTo>
                    <a:pt x="398018" y="33909"/>
                  </a:lnTo>
                  <a:cubicBezTo>
                    <a:pt x="196215" y="33909"/>
                    <a:pt x="33909" y="190754"/>
                    <a:pt x="33909" y="382651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521440" y="1865376"/>
            <a:ext cx="6126480" cy="548640"/>
            <a:chOff x="0" y="0"/>
            <a:chExt cx="816864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16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AtomSpace: Nodes, Links, and TruthValues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7383" y="2584199"/>
            <a:ext cx="10632443" cy="2037083"/>
            <a:chOff x="0" y="0"/>
            <a:chExt cx="14176591" cy="27161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4142719" cy="2682240"/>
            </a:xfrm>
            <a:custGeom>
              <a:avLst/>
              <a:gdLst/>
              <a:ahLst/>
              <a:cxnLst/>
              <a:rect r="r" b="b" t="t" l="l"/>
              <a:pathLst>
                <a:path h="2682240" w="14142719">
                  <a:moveTo>
                    <a:pt x="0" y="0"/>
                  </a:moveTo>
                  <a:lnTo>
                    <a:pt x="14142719" y="0"/>
                  </a:lnTo>
                  <a:lnTo>
                    <a:pt x="1414271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17650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4176502">
                  <a:moveTo>
                    <a:pt x="16891" y="0"/>
                  </a:moveTo>
                  <a:lnTo>
                    <a:pt x="14159610" y="0"/>
                  </a:lnTo>
                  <a:cubicBezTo>
                    <a:pt x="14169008" y="0"/>
                    <a:pt x="14176502" y="7620"/>
                    <a:pt x="14176502" y="16891"/>
                  </a:cubicBezTo>
                  <a:lnTo>
                    <a:pt x="14176502" y="2699131"/>
                  </a:lnTo>
                  <a:cubicBezTo>
                    <a:pt x="14176502" y="2708529"/>
                    <a:pt x="14168882" y="2716022"/>
                    <a:pt x="1415961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4159610" y="2682240"/>
                  </a:lnTo>
                  <a:lnTo>
                    <a:pt x="14159610" y="2699131"/>
                  </a:lnTo>
                  <a:lnTo>
                    <a:pt x="14142720" y="2699131"/>
                  </a:lnTo>
                  <a:lnTo>
                    <a:pt x="14142720" y="16891"/>
                  </a:lnTo>
                  <a:lnTo>
                    <a:pt x="14159610" y="16891"/>
                  </a:lnTo>
                  <a:lnTo>
                    <a:pt x="14159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27383" y="2584199"/>
            <a:ext cx="848363" cy="2037083"/>
            <a:chOff x="0" y="0"/>
            <a:chExt cx="1131151" cy="271611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097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106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2699131"/>
                  </a:lnTo>
                  <a:cubicBezTo>
                    <a:pt x="1131062" y="2708529"/>
                    <a:pt x="1123442" y="2716022"/>
                    <a:pt x="111417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114171" y="2682240"/>
                  </a:lnTo>
                  <a:lnTo>
                    <a:pt x="1114171" y="2699131"/>
                  </a:lnTo>
                  <a:lnTo>
                    <a:pt x="1097280" y="2699131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45920" y="2724912"/>
            <a:ext cx="8961120" cy="512064"/>
            <a:chOff x="0" y="0"/>
            <a:chExt cx="11948160" cy="682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948160" cy="682752"/>
            </a:xfrm>
            <a:custGeom>
              <a:avLst/>
              <a:gdLst/>
              <a:ahLst/>
              <a:cxnLst/>
              <a:rect r="r" b="b" t="t" l="l"/>
              <a:pathLst>
                <a:path h="682752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194816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ConceptNode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645920" y="3273552"/>
            <a:ext cx="6949440" cy="694944"/>
            <a:chOff x="0" y="0"/>
            <a:chExt cx="9265920" cy="9265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265920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2659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Represents abstract concepts, ideas, or categories.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45920" y="3986784"/>
            <a:ext cx="8961120" cy="457200"/>
            <a:chOff x="0" y="0"/>
            <a:chExt cx="1194816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948160" cy="609600"/>
            </a:xfrm>
            <a:custGeom>
              <a:avLst/>
              <a:gdLst/>
              <a:ahLst/>
              <a:cxnLst/>
              <a:rect r="r" b="b" t="t" l="l"/>
              <a:pathLst>
                <a:path h="60960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906" r="0" b="-33190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19481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Example: "human", "animal", "friend"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33223" y="3974087"/>
            <a:ext cx="2311403" cy="446027"/>
            <a:chOff x="0" y="0"/>
            <a:chExt cx="3081871" cy="59470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3048000" cy="560832"/>
            </a:xfrm>
            <a:custGeom>
              <a:avLst/>
              <a:gdLst/>
              <a:ahLst/>
              <a:cxnLst/>
              <a:rect r="r" b="b" t="t" l="l"/>
              <a:pathLst>
                <a:path h="560832" w="3048000">
                  <a:moveTo>
                    <a:pt x="0" y="146304"/>
                  </a:moveTo>
                  <a:cubicBezTo>
                    <a:pt x="0" y="65532"/>
                    <a:pt x="68707" y="0"/>
                    <a:pt x="153416" y="0"/>
                  </a:cubicBezTo>
                  <a:lnTo>
                    <a:pt x="2894584" y="0"/>
                  </a:lnTo>
                  <a:cubicBezTo>
                    <a:pt x="2979293" y="0"/>
                    <a:pt x="3048000" y="65532"/>
                    <a:pt x="3048000" y="146304"/>
                  </a:cubicBezTo>
                  <a:lnTo>
                    <a:pt x="3048000" y="414528"/>
                  </a:lnTo>
                  <a:cubicBezTo>
                    <a:pt x="3048000" y="495300"/>
                    <a:pt x="2979293" y="560832"/>
                    <a:pt x="2894584" y="560832"/>
                  </a:cubicBezTo>
                  <a:lnTo>
                    <a:pt x="153416" y="560832"/>
                  </a:lnTo>
                  <a:cubicBezTo>
                    <a:pt x="68707" y="560832"/>
                    <a:pt x="0" y="495300"/>
                    <a:pt x="0" y="41452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81782" cy="594614"/>
            </a:xfrm>
            <a:custGeom>
              <a:avLst/>
              <a:gdLst/>
              <a:ahLst/>
              <a:cxnLst/>
              <a:rect r="r" b="b" t="t" l="l"/>
              <a:pathLst>
                <a:path h="594614" w="3081782">
                  <a:moveTo>
                    <a:pt x="0" y="163195"/>
                  </a:moveTo>
                  <a:cubicBezTo>
                    <a:pt x="0" y="72390"/>
                    <a:pt x="77089" y="0"/>
                    <a:pt x="170307" y="0"/>
                  </a:cubicBezTo>
                  <a:lnTo>
                    <a:pt x="2911475" y="0"/>
                  </a:lnTo>
                  <a:lnTo>
                    <a:pt x="2911475" y="16891"/>
                  </a:lnTo>
                  <a:lnTo>
                    <a:pt x="2911475" y="0"/>
                  </a:lnTo>
                  <a:cubicBezTo>
                    <a:pt x="3004820" y="0"/>
                    <a:pt x="3081782" y="72390"/>
                    <a:pt x="3081782" y="163195"/>
                  </a:cubicBezTo>
                  <a:lnTo>
                    <a:pt x="3064891" y="163195"/>
                  </a:lnTo>
                  <a:lnTo>
                    <a:pt x="3081782" y="163195"/>
                  </a:lnTo>
                  <a:lnTo>
                    <a:pt x="3081782" y="431419"/>
                  </a:lnTo>
                  <a:lnTo>
                    <a:pt x="3064891" y="431419"/>
                  </a:lnTo>
                  <a:lnTo>
                    <a:pt x="3081782" y="431419"/>
                  </a:lnTo>
                  <a:cubicBezTo>
                    <a:pt x="3081782" y="522351"/>
                    <a:pt x="3004693" y="594614"/>
                    <a:pt x="2911475" y="594614"/>
                  </a:cubicBezTo>
                  <a:lnTo>
                    <a:pt x="2911475" y="577723"/>
                  </a:lnTo>
                  <a:lnTo>
                    <a:pt x="2911475" y="594614"/>
                  </a:lnTo>
                  <a:lnTo>
                    <a:pt x="170307" y="594614"/>
                  </a:lnTo>
                  <a:lnTo>
                    <a:pt x="170307" y="577723"/>
                  </a:lnTo>
                  <a:lnTo>
                    <a:pt x="170307" y="594614"/>
                  </a:lnTo>
                  <a:cubicBezTo>
                    <a:pt x="77089" y="594741"/>
                    <a:pt x="0" y="522351"/>
                    <a:pt x="0" y="431419"/>
                  </a:cubicBezTo>
                  <a:lnTo>
                    <a:pt x="0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lnTo>
                    <a:pt x="33909" y="431419"/>
                  </a:lnTo>
                  <a:lnTo>
                    <a:pt x="16891" y="431419"/>
                  </a:lnTo>
                  <a:lnTo>
                    <a:pt x="33909" y="431419"/>
                  </a:lnTo>
                  <a:cubicBezTo>
                    <a:pt x="33909" y="502158"/>
                    <a:pt x="94234" y="560832"/>
                    <a:pt x="170434" y="560832"/>
                  </a:cubicBezTo>
                  <a:lnTo>
                    <a:pt x="2911475" y="560832"/>
                  </a:lnTo>
                  <a:cubicBezTo>
                    <a:pt x="2987675" y="560832"/>
                    <a:pt x="3048000" y="502158"/>
                    <a:pt x="3048000" y="431419"/>
                  </a:cubicBezTo>
                  <a:lnTo>
                    <a:pt x="3048000" y="163195"/>
                  </a:lnTo>
                  <a:cubicBezTo>
                    <a:pt x="3048000" y="92456"/>
                    <a:pt x="2987675" y="33782"/>
                    <a:pt x="2911475" y="33782"/>
                  </a:cubicBezTo>
                  <a:lnTo>
                    <a:pt x="170307" y="33782"/>
                  </a:lnTo>
                  <a:lnTo>
                    <a:pt x="170307" y="16891"/>
                  </a:lnTo>
                  <a:lnTo>
                    <a:pt x="170307" y="33909"/>
                  </a:lnTo>
                  <a:cubicBezTo>
                    <a:pt x="94107" y="33909"/>
                    <a:pt x="33782" y="92583"/>
                    <a:pt x="33782" y="163322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5920" y="3986784"/>
            <a:ext cx="2286000" cy="420624"/>
            <a:chOff x="0" y="0"/>
            <a:chExt cx="3048000" cy="56083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48000" cy="560832"/>
            </a:xfrm>
            <a:custGeom>
              <a:avLst/>
              <a:gdLst/>
              <a:ahLst/>
              <a:cxnLst/>
              <a:rect r="r" b="b" t="t" l="l"/>
              <a:pathLst>
                <a:path h="56083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896" r="0" b="-5589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04800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Concept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102103" y="3974087"/>
            <a:ext cx="2311403" cy="446027"/>
            <a:chOff x="0" y="0"/>
            <a:chExt cx="3081871" cy="59470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3048000" cy="560832"/>
            </a:xfrm>
            <a:custGeom>
              <a:avLst/>
              <a:gdLst/>
              <a:ahLst/>
              <a:cxnLst/>
              <a:rect r="r" b="b" t="t" l="l"/>
              <a:pathLst>
                <a:path h="560832" w="3048000">
                  <a:moveTo>
                    <a:pt x="0" y="146304"/>
                  </a:moveTo>
                  <a:cubicBezTo>
                    <a:pt x="0" y="65532"/>
                    <a:pt x="68707" y="0"/>
                    <a:pt x="153416" y="0"/>
                  </a:cubicBezTo>
                  <a:lnTo>
                    <a:pt x="2894584" y="0"/>
                  </a:lnTo>
                  <a:cubicBezTo>
                    <a:pt x="2979293" y="0"/>
                    <a:pt x="3048000" y="65532"/>
                    <a:pt x="3048000" y="146304"/>
                  </a:cubicBezTo>
                  <a:lnTo>
                    <a:pt x="3048000" y="414528"/>
                  </a:lnTo>
                  <a:cubicBezTo>
                    <a:pt x="3048000" y="495300"/>
                    <a:pt x="2979293" y="560832"/>
                    <a:pt x="2894584" y="560832"/>
                  </a:cubicBezTo>
                  <a:lnTo>
                    <a:pt x="153416" y="560832"/>
                  </a:lnTo>
                  <a:cubicBezTo>
                    <a:pt x="68707" y="560832"/>
                    <a:pt x="0" y="495300"/>
                    <a:pt x="0" y="41452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81782" cy="594614"/>
            </a:xfrm>
            <a:custGeom>
              <a:avLst/>
              <a:gdLst/>
              <a:ahLst/>
              <a:cxnLst/>
              <a:rect r="r" b="b" t="t" l="l"/>
              <a:pathLst>
                <a:path h="594614" w="3081782">
                  <a:moveTo>
                    <a:pt x="0" y="163195"/>
                  </a:moveTo>
                  <a:cubicBezTo>
                    <a:pt x="0" y="72390"/>
                    <a:pt x="77089" y="0"/>
                    <a:pt x="170307" y="0"/>
                  </a:cubicBezTo>
                  <a:lnTo>
                    <a:pt x="2911475" y="0"/>
                  </a:lnTo>
                  <a:lnTo>
                    <a:pt x="2911475" y="16891"/>
                  </a:lnTo>
                  <a:lnTo>
                    <a:pt x="2911475" y="0"/>
                  </a:lnTo>
                  <a:cubicBezTo>
                    <a:pt x="3004820" y="0"/>
                    <a:pt x="3081782" y="72390"/>
                    <a:pt x="3081782" y="163195"/>
                  </a:cubicBezTo>
                  <a:lnTo>
                    <a:pt x="3064891" y="163195"/>
                  </a:lnTo>
                  <a:lnTo>
                    <a:pt x="3081782" y="163195"/>
                  </a:lnTo>
                  <a:lnTo>
                    <a:pt x="3081782" y="431419"/>
                  </a:lnTo>
                  <a:lnTo>
                    <a:pt x="3064891" y="431419"/>
                  </a:lnTo>
                  <a:lnTo>
                    <a:pt x="3081782" y="431419"/>
                  </a:lnTo>
                  <a:cubicBezTo>
                    <a:pt x="3081782" y="522351"/>
                    <a:pt x="3004693" y="594614"/>
                    <a:pt x="2911475" y="594614"/>
                  </a:cubicBezTo>
                  <a:lnTo>
                    <a:pt x="2911475" y="577723"/>
                  </a:lnTo>
                  <a:lnTo>
                    <a:pt x="2911475" y="594614"/>
                  </a:lnTo>
                  <a:lnTo>
                    <a:pt x="170307" y="594614"/>
                  </a:lnTo>
                  <a:lnTo>
                    <a:pt x="170307" y="577723"/>
                  </a:lnTo>
                  <a:lnTo>
                    <a:pt x="170307" y="594614"/>
                  </a:lnTo>
                  <a:cubicBezTo>
                    <a:pt x="77089" y="594741"/>
                    <a:pt x="0" y="522351"/>
                    <a:pt x="0" y="431419"/>
                  </a:cubicBezTo>
                  <a:lnTo>
                    <a:pt x="0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lnTo>
                    <a:pt x="33909" y="431419"/>
                  </a:lnTo>
                  <a:lnTo>
                    <a:pt x="16891" y="431419"/>
                  </a:lnTo>
                  <a:lnTo>
                    <a:pt x="33909" y="431419"/>
                  </a:lnTo>
                  <a:cubicBezTo>
                    <a:pt x="33909" y="502158"/>
                    <a:pt x="94234" y="560832"/>
                    <a:pt x="170434" y="560832"/>
                  </a:cubicBezTo>
                  <a:lnTo>
                    <a:pt x="2911475" y="560832"/>
                  </a:lnTo>
                  <a:cubicBezTo>
                    <a:pt x="2987675" y="560832"/>
                    <a:pt x="3048000" y="502158"/>
                    <a:pt x="3048000" y="431419"/>
                  </a:cubicBezTo>
                  <a:lnTo>
                    <a:pt x="3048000" y="163195"/>
                  </a:lnTo>
                  <a:cubicBezTo>
                    <a:pt x="3048000" y="92456"/>
                    <a:pt x="2987675" y="33782"/>
                    <a:pt x="2911475" y="33782"/>
                  </a:cubicBezTo>
                  <a:lnTo>
                    <a:pt x="170307" y="33782"/>
                  </a:lnTo>
                  <a:lnTo>
                    <a:pt x="170307" y="16891"/>
                  </a:lnTo>
                  <a:lnTo>
                    <a:pt x="170307" y="33909"/>
                  </a:lnTo>
                  <a:cubicBezTo>
                    <a:pt x="94107" y="33909"/>
                    <a:pt x="33782" y="92583"/>
                    <a:pt x="33782" y="163322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4114800" y="3986784"/>
            <a:ext cx="2286000" cy="420624"/>
            <a:chOff x="0" y="0"/>
            <a:chExt cx="3048000" cy="56083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048000" cy="560832"/>
            </a:xfrm>
            <a:custGeom>
              <a:avLst/>
              <a:gdLst/>
              <a:ahLst/>
              <a:cxnLst/>
              <a:rect r="r" b="b" t="t" l="l"/>
              <a:pathLst>
                <a:path h="56083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896" r="0" b="-5589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304800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Entity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570983" y="3974087"/>
            <a:ext cx="2311403" cy="446027"/>
            <a:chOff x="0" y="0"/>
            <a:chExt cx="3081871" cy="59470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3048000" cy="560832"/>
            </a:xfrm>
            <a:custGeom>
              <a:avLst/>
              <a:gdLst/>
              <a:ahLst/>
              <a:cxnLst/>
              <a:rect r="r" b="b" t="t" l="l"/>
              <a:pathLst>
                <a:path h="560832" w="3048000">
                  <a:moveTo>
                    <a:pt x="0" y="146304"/>
                  </a:moveTo>
                  <a:cubicBezTo>
                    <a:pt x="0" y="65532"/>
                    <a:pt x="68707" y="0"/>
                    <a:pt x="153416" y="0"/>
                  </a:cubicBezTo>
                  <a:lnTo>
                    <a:pt x="2894584" y="0"/>
                  </a:lnTo>
                  <a:cubicBezTo>
                    <a:pt x="2979293" y="0"/>
                    <a:pt x="3048000" y="65532"/>
                    <a:pt x="3048000" y="146304"/>
                  </a:cubicBezTo>
                  <a:lnTo>
                    <a:pt x="3048000" y="414528"/>
                  </a:lnTo>
                  <a:cubicBezTo>
                    <a:pt x="3048000" y="495300"/>
                    <a:pt x="2979293" y="560832"/>
                    <a:pt x="2894584" y="560832"/>
                  </a:cubicBezTo>
                  <a:lnTo>
                    <a:pt x="153416" y="560832"/>
                  </a:lnTo>
                  <a:cubicBezTo>
                    <a:pt x="68707" y="560832"/>
                    <a:pt x="0" y="495300"/>
                    <a:pt x="0" y="41452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081782" cy="594614"/>
            </a:xfrm>
            <a:custGeom>
              <a:avLst/>
              <a:gdLst/>
              <a:ahLst/>
              <a:cxnLst/>
              <a:rect r="r" b="b" t="t" l="l"/>
              <a:pathLst>
                <a:path h="594614" w="3081782">
                  <a:moveTo>
                    <a:pt x="0" y="163195"/>
                  </a:moveTo>
                  <a:cubicBezTo>
                    <a:pt x="0" y="72390"/>
                    <a:pt x="77089" y="0"/>
                    <a:pt x="170307" y="0"/>
                  </a:cubicBezTo>
                  <a:lnTo>
                    <a:pt x="2911475" y="0"/>
                  </a:lnTo>
                  <a:lnTo>
                    <a:pt x="2911475" y="16891"/>
                  </a:lnTo>
                  <a:lnTo>
                    <a:pt x="2911475" y="0"/>
                  </a:lnTo>
                  <a:cubicBezTo>
                    <a:pt x="3004820" y="0"/>
                    <a:pt x="3081782" y="72390"/>
                    <a:pt x="3081782" y="163195"/>
                  </a:cubicBezTo>
                  <a:lnTo>
                    <a:pt x="3064891" y="163195"/>
                  </a:lnTo>
                  <a:lnTo>
                    <a:pt x="3081782" y="163195"/>
                  </a:lnTo>
                  <a:lnTo>
                    <a:pt x="3081782" y="431419"/>
                  </a:lnTo>
                  <a:lnTo>
                    <a:pt x="3064891" y="431419"/>
                  </a:lnTo>
                  <a:lnTo>
                    <a:pt x="3081782" y="431419"/>
                  </a:lnTo>
                  <a:cubicBezTo>
                    <a:pt x="3081782" y="522351"/>
                    <a:pt x="3004693" y="594614"/>
                    <a:pt x="2911475" y="594614"/>
                  </a:cubicBezTo>
                  <a:lnTo>
                    <a:pt x="2911475" y="577723"/>
                  </a:lnTo>
                  <a:lnTo>
                    <a:pt x="2911475" y="594614"/>
                  </a:lnTo>
                  <a:lnTo>
                    <a:pt x="170307" y="594614"/>
                  </a:lnTo>
                  <a:lnTo>
                    <a:pt x="170307" y="577723"/>
                  </a:lnTo>
                  <a:lnTo>
                    <a:pt x="170307" y="594614"/>
                  </a:lnTo>
                  <a:cubicBezTo>
                    <a:pt x="77089" y="594741"/>
                    <a:pt x="0" y="522351"/>
                    <a:pt x="0" y="431419"/>
                  </a:cubicBezTo>
                  <a:lnTo>
                    <a:pt x="0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lnTo>
                    <a:pt x="33909" y="431419"/>
                  </a:lnTo>
                  <a:lnTo>
                    <a:pt x="16891" y="431419"/>
                  </a:lnTo>
                  <a:lnTo>
                    <a:pt x="33909" y="431419"/>
                  </a:lnTo>
                  <a:cubicBezTo>
                    <a:pt x="33909" y="502158"/>
                    <a:pt x="94234" y="560832"/>
                    <a:pt x="170434" y="560832"/>
                  </a:cubicBezTo>
                  <a:lnTo>
                    <a:pt x="2911475" y="560832"/>
                  </a:lnTo>
                  <a:cubicBezTo>
                    <a:pt x="2987675" y="560832"/>
                    <a:pt x="3048000" y="502158"/>
                    <a:pt x="3048000" y="431419"/>
                  </a:cubicBezTo>
                  <a:lnTo>
                    <a:pt x="3048000" y="163195"/>
                  </a:lnTo>
                  <a:cubicBezTo>
                    <a:pt x="3048000" y="92456"/>
                    <a:pt x="2987675" y="33782"/>
                    <a:pt x="2911475" y="33782"/>
                  </a:cubicBezTo>
                  <a:lnTo>
                    <a:pt x="170307" y="33782"/>
                  </a:lnTo>
                  <a:lnTo>
                    <a:pt x="170307" y="16891"/>
                  </a:lnTo>
                  <a:lnTo>
                    <a:pt x="170307" y="33909"/>
                  </a:lnTo>
                  <a:cubicBezTo>
                    <a:pt x="94107" y="33909"/>
                    <a:pt x="33782" y="92583"/>
                    <a:pt x="33782" y="163322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583680" y="3986784"/>
            <a:ext cx="2286000" cy="420624"/>
            <a:chOff x="0" y="0"/>
            <a:chExt cx="3048000" cy="56083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048000" cy="560832"/>
            </a:xfrm>
            <a:custGeom>
              <a:avLst/>
              <a:gdLst/>
              <a:ahLst/>
              <a:cxnLst/>
              <a:rect r="r" b="b" t="t" l="l"/>
              <a:pathLst>
                <a:path h="56083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896" r="0" b="-5589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04800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27383" y="4870199"/>
            <a:ext cx="10632443" cy="2060953"/>
            <a:chOff x="0" y="0"/>
            <a:chExt cx="14176591" cy="274793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7089"/>
              <a:ext cx="14142719" cy="2713669"/>
            </a:xfrm>
            <a:custGeom>
              <a:avLst/>
              <a:gdLst/>
              <a:ahLst/>
              <a:cxnLst/>
              <a:rect r="r" b="b" t="t" l="l"/>
              <a:pathLst>
                <a:path h="2713669" w="14142719">
                  <a:moveTo>
                    <a:pt x="0" y="0"/>
                  </a:moveTo>
                  <a:lnTo>
                    <a:pt x="14142719" y="0"/>
                  </a:lnTo>
                  <a:lnTo>
                    <a:pt x="14142719" y="2713669"/>
                  </a:lnTo>
                  <a:lnTo>
                    <a:pt x="0" y="271366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176502" cy="2747847"/>
            </a:xfrm>
            <a:custGeom>
              <a:avLst/>
              <a:gdLst/>
              <a:ahLst/>
              <a:cxnLst/>
              <a:rect r="r" b="b" t="t" l="l"/>
              <a:pathLst>
                <a:path h="2747847" w="14176502">
                  <a:moveTo>
                    <a:pt x="16891" y="0"/>
                  </a:moveTo>
                  <a:lnTo>
                    <a:pt x="14159610" y="0"/>
                  </a:lnTo>
                  <a:cubicBezTo>
                    <a:pt x="14169008" y="0"/>
                    <a:pt x="14176502" y="7709"/>
                    <a:pt x="14176502" y="17089"/>
                  </a:cubicBezTo>
                  <a:lnTo>
                    <a:pt x="14176502" y="2730758"/>
                  </a:lnTo>
                  <a:cubicBezTo>
                    <a:pt x="14176502" y="2740266"/>
                    <a:pt x="14168882" y="2747847"/>
                    <a:pt x="14159610" y="2747847"/>
                  </a:cubicBezTo>
                  <a:lnTo>
                    <a:pt x="16891" y="2747847"/>
                  </a:lnTo>
                  <a:cubicBezTo>
                    <a:pt x="7493" y="2747847"/>
                    <a:pt x="0" y="2740138"/>
                    <a:pt x="0" y="2730758"/>
                  </a:cubicBezTo>
                  <a:lnTo>
                    <a:pt x="0" y="17089"/>
                  </a:lnTo>
                  <a:cubicBezTo>
                    <a:pt x="0" y="7709"/>
                    <a:pt x="7620" y="0"/>
                    <a:pt x="16891" y="0"/>
                  </a:cubicBezTo>
                  <a:moveTo>
                    <a:pt x="16891" y="34306"/>
                  </a:moveTo>
                  <a:lnTo>
                    <a:pt x="16891" y="17089"/>
                  </a:lnTo>
                  <a:lnTo>
                    <a:pt x="33909" y="17089"/>
                  </a:lnTo>
                  <a:lnTo>
                    <a:pt x="33909" y="2730758"/>
                  </a:lnTo>
                  <a:lnTo>
                    <a:pt x="16891" y="2730758"/>
                  </a:lnTo>
                  <a:lnTo>
                    <a:pt x="16891" y="2713669"/>
                  </a:lnTo>
                  <a:lnTo>
                    <a:pt x="14159610" y="2713669"/>
                  </a:lnTo>
                  <a:lnTo>
                    <a:pt x="14159610" y="2730758"/>
                  </a:lnTo>
                  <a:lnTo>
                    <a:pt x="14142720" y="2730758"/>
                  </a:lnTo>
                  <a:lnTo>
                    <a:pt x="14142720" y="17089"/>
                  </a:lnTo>
                  <a:lnTo>
                    <a:pt x="14159610" y="17089"/>
                  </a:lnTo>
                  <a:lnTo>
                    <a:pt x="14159610" y="34306"/>
                  </a:lnTo>
                  <a:lnTo>
                    <a:pt x="16891" y="3430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27383" y="4870199"/>
            <a:ext cx="848363" cy="2037083"/>
            <a:chOff x="0" y="0"/>
            <a:chExt cx="1131151" cy="271611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1097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3106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2699131"/>
                  </a:lnTo>
                  <a:cubicBezTo>
                    <a:pt x="1131062" y="2708529"/>
                    <a:pt x="1123442" y="2716022"/>
                    <a:pt x="111417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114171" y="2682240"/>
                  </a:lnTo>
                  <a:lnTo>
                    <a:pt x="1114171" y="2699131"/>
                  </a:lnTo>
                  <a:lnTo>
                    <a:pt x="1097280" y="2699131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645920" y="5010912"/>
            <a:ext cx="8961120" cy="512064"/>
            <a:chOff x="0" y="0"/>
            <a:chExt cx="11948160" cy="6827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948160" cy="682752"/>
            </a:xfrm>
            <a:custGeom>
              <a:avLst/>
              <a:gdLst/>
              <a:ahLst/>
              <a:cxnLst/>
              <a:rect r="r" b="b" t="t" l="l"/>
              <a:pathLst>
                <a:path h="682752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1194816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NumberNode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645920" y="5373757"/>
            <a:ext cx="6949440" cy="694944"/>
            <a:chOff x="0" y="0"/>
            <a:chExt cx="9265920" cy="9265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265920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92659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Represents numeric values and quantities.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645920" y="6014466"/>
            <a:ext cx="3931920" cy="787812"/>
            <a:chOff x="0" y="0"/>
            <a:chExt cx="7470991" cy="149691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7437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470901" cy="1496822"/>
            </a:xfrm>
            <a:custGeom>
              <a:avLst/>
              <a:gdLst/>
              <a:ahLst/>
              <a:cxnLst/>
              <a:rect r="r" b="b" t="t" l="l"/>
              <a:pathLst>
                <a:path h="149682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479931"/>
                  </a:lnTo>
                  <a:cubicBezTo>
                    <a:pt x="7470901" y="1489329"/>
                    <a:pt x="7463282" y="1496822"/>
                    <a:pt x="745401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7454011" y="1463040"/>
                  </a:lnTo>
                  <a:lnTo>
                    <a:pt x="7454011" y="1479931"/>
                  </a:lnTo>
                  <a:lnTo>
                    <a:pt x="7437120" y="1479931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828798" y="5980176"/>
            <a:ext cx="3566165" cy="950976"/>
            <a:chOff x="0" y="0"/>
            <a:chExt cx="4754886" cy="126796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754887" cy="1267968"/>
            </a:xfrm>
            <a:custGeom>
              <a:avLst/>
              <a:gdLst/>
              <a:ahLst/>
              <a:cxnLst/>
              <a:rect r="r" b="b" t="t" l="l"/>
              <a:pathLst>
                <a:path h="1267968" w="4754887">
                  <a:moveTo>
                    <a:pt x="0" y="0"/>
                  </a:moveTo>
                  <a:lnTo>
                    <a:pt x="4754887" y="0"/>
                  </a:lnTo>
                  <a:lnTo>
                    <a:pt x="4754887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540" r="-51281" b="-6054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4754886" cy="1277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(NumberNode "42")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(NumberNode "3.14159")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27383" y="7156199"/>
            <a:ext cx="10632443" cy="2037083"/>
            <a:chOff x="0" y="0"/>
            <a:chExt cx="14176591" cy="271611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14142719" cy="2682240"/>
            </a:xfrm>
            <a:custGeom>
              <a:avLst/>
              <a:gdLst/>
              <a:ahLst/>
              <a:cxnLst/>
              <a:rect r="r" b="b" t="t" l="l"/>
              <a:pathLst>
                <a:path h="2682240" w="14142719">
                  <a:moveTo>
                    <a:pt x="0" y="0"/>
                  </a:moveTo>
                  <a:lnTo>
                    <a:pt x="14142719" y="0"/>
                  </a:lnTo>
                  <a:lnTo>
                    <a:pt x="1414271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417650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4176502">
                  <a:moveTo>
                    <a:pt x="16891" y="0"/>
                  </a:moveTo>
                  <a:lnTo>
                    <a:pt x="14159610" y="0"/>
                  </a:lnTo>
                  <a:cubicBezTo>
                    <a:pt x="14169008" y="0"/>
                    <a:pt x="14176502" y="7620"/>
                    <a:pt x="14176502" y="16891"/>
                  </a:cubicBezTo>
                  <a:lnTo>
                    <a:pt x="14176502" y="2699131"/>
                  </a:lnTo>
                  <a:cubicBezTo>
                    <a:pt x="14176502" y="2708529"/>
                    <a:pt x="14168882" y="2716022"/>
                    <a:pt x="1415961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4159610" y="2682240"/>
                  </a:lnTo>
                  <a:lnTo>
                    <a:pt x="14159610" y="2699131"/>
                  </a:lnTo>
                  <a:lnTo>
                    <a:pt x="14142720" y="2699131"/>
                  </a:lnTo>
                  <a:lnTo>
                    <a:pt x="14142720" y="16891"/>
                  </a:lnTo>
                  <a:lnTo>
                    <a:pt x="14159610" y="16891"/>
                  </a:lnTo>
                  <a:lnTo>
                    <a:pt x="14159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627383" y="7156199"/>
            <a:ext cx="848363" cy="2037083"/>
            <a:chOff x="0" y="0"/>
            <a:chExt cx="1131151" cy="271611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1097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3106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2699131"/>
                  </a:lnTo>
                  <a:cubicBezTo>
                    <a:pt x="1131062" y="2708529"/>
                    <a:pt x="1123442" y="2716022"/>
                    <a:pt x="111417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114171" y="2682240"/>
                  </a:lnTo>
                  <a:lnTo>
                    <a:pt x="1114171" y="2699131"/>
                  </a:lnTo>
                  <a:lnTo>
                    <a:pt x="1097280" y="2699131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645920" y="7296912"/>
            <a:ext cx="8961120" cy="512064"/>
            <a:chOff x="0" y="0"/>
            <a:chExt cx="11948160" cy="6827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948160" cy="682752"/>
            </a:xfrm>
            <a:custGeom>
              <a:avLst/>
              <a:gdLst/>
              <a:ahLst/>
              <a:cxnLst/>
              <a:rect r="r" b="b" t="t" l="l"/>
              <a:pathLst>
                <a:path h="682752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1194816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VariableNode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645920" y="7845552"/>
            <a:ext cx="6949440" cy="694944"/>
            <a:chOff x="0" y="0"/>
            <a:chExt cx="9265920" cy="92659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265920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92659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Represents variables in logical expressions and queries used in pattern matching.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633223" y="8546087"/>
            <a:ext cx="2311403" cy="446027"/>
            <a:chOff x="0" y="0"/>
            <a:chExt cx="3081871" cy="59470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3048000" cy="560832"/>
            </a:xfrm>
            <a:custGeom>
              <a:avLst/>
              <a:gdLst/>
              <a:ahLst/>
              <a:cxnLst/>
              <a:rect r="r" b="b" t="t" l="l"/>
              <a:pathLst>
                <a:path h="560832" w="3048000">
                  <a:moveTo>
                    <a:pt x="0" y="146304"/>
                  </a:moveTo>
                  <a:cubicBezTo>
                    <a:pt x="0" y="65532"/>
                    <a:pt x="68707" y="0"/>
                    <a:pt x="153416" y="0"/>
                  </a:cubicBezTo>
                  <a:lnTo>
                    <a:pt x="2894584" y="0"/>
                  </a:lnTo>
                  <a:cubicBezTo>
                    <a:pt x="2979293" y="0"/>
                    <a:pt x="3048000" y="65532"/>
                    <a:pt x="3048000" y="146304"/>
                  </a:cubicBezTo>
                  <a:lnTo>
                    <a:pt x="3048000" y="414528"/>
                  </a:lnTo>
                  <a:cubicBezTo>
                    <a:pt x="3048000" y="495300"/>
                    <a:pt x="2979293" y="560832"/>
                    <a:pt x="2894584" y="560832"/>
                  </a:cubicBezTo>
                  <a:lnTo>
                    <a:pt x="153416" y="560832"/>
                  </a:lnTo>
                  <a:cubicBezTo>
                    <a:pt x="68707" y="560832"/>
                    <a:pt x="0" y="495300"/>
                    <a:pt x="0" y="41452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081782" cy="594614"/>
            </a:xfrm>
            <a:custGeom>
              <a:avLst/>
              <a:gdLst/>
              <a:ahLst/>
              <a:cxnLst/>
              <a:rect r="r" b="b" t="t" l="l"/>
              <a:pathLst>
                <a:path h="594614" w="3081782">
                  <a:moveTo>
                    <a:pt x="0" y="163195"/>
                  </a:moveTo>
                  <a:cubicBezTo>
                    <a:pt x="0" y="72390"/>
                    <a:pt x="77089" y="0"/>
                    <a:pt x="170307" y="0"/>
                  </a:cubicBezTo>
                  <a:lnTo>
                    <a:pt x="2911475" y="0"/>
                  </a:lnTo>
                  <a:lnTo>
                    <a:pt x="2911475" y="16891"/>
                  </a:lnTo>
                  <a:lnTo>
                    <a:pt x="2911475" y="0"/>
                  </a:lnTo>
                  <a:cubicBezTo>
                    <a:pt x="3004820" y="0"/>
                    <a:pt x="3081782" y="72390"/>
                    <a:pt x="3081782" y="163195"/>
                  </a:cubicBezTo>
                  <a:lnTo>
                    <a:pt x="3064891" y="163195"/>
                  </a:lnTo>
                  <a:lnTo>
                    <a:pt x="3081782" y="163195"/>
                  </a:lnTo>
                  <a:lnTo>
                    <a:pt x="3081782" y="431419"/>
                  </a:lnTo>
                  <a:lnTo>
                    <a:pt x="3064891" y="431419"/>
                  </a:lnTo>
                  <a:lnTo>
                    <a:pt x="3081782" y="431419"/>
                  </a:lnTo>
                  <a:cubicBezTo>
                    <a:pt x="3081782" y="522351"/>
                    <a:pt x="3004693" y="594614"/>
                    <a:pt x="2911475" y="594614"/>
                  </a:cubicBezTo>
                  <a:lnTo>
                    <a:pt x="2911475" y="577723"/>
                  </a:lnTo>
                  <a:lnTo>
                    <a:pt x="2911475" y="594614"/>
                  </a:lnTo>
                  <a:lnTo>
                    <a:pt x="170307" y="594614"/>
                  </a:lnTo>
                  <a:lnTo>
                    <a:pt x="170307" y="577723"/>
                  </a:lnTo>
                  <a:lnTo>
                    <a:pt x="170307" y="594614"/>
                  </a:lnTo>
                  <a:cubicBezTo>
                    <a:pt x="77089" y="594741"/>
                    <a:pt x="0" y="522351"/>
                    <a:pt x="0" y="431419"/>
                  </a:cubicBezTo>
                  <a:lnTo>
                    <a:pt x="0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lnTo>
                    <a:pt x="33909" y="431419"/>
                  </a:lnTo>
                  <a:lnTo>
                    <a:pt x="16891" y="431419"/>
                  </a:lnTo>
                  <a:lnTo>
                    <a:pt x="33909" y="431419"/>
                  </a:lnTo>
                  <a:cubicBezTo>
                    <a:pt x="33909" y="502158"/>
                    <a:pt x="94234" y="560832"/>
                    <a:pt x="170434" y="560832"/>
                  </a:cubicBezTo>
                  <a:lnTo>
                    <a:pt x="2911475" y="560832"/>
                  </a:lnTo>
                  <a:cubicBezTo>
                    <a:pt x="2987675" y="560832"/>
                    <a:pt x="3048000" y="502158"/>
                    <a:pt x="3048000" y="431419"/>
                  </a:cubicBezTo>
                  <a:lnTo>
                    <a:pt x="3048000" y="163195"/>
                  </a:lnTo>
                  <a:cubicBezTo>
                    <a:pt x="3048000" y="92456"/>
                    <a:pt x="2987675" y="33782"/>
                    <a:pt x="2911475" y="33782"/>
                  </a:cubicBezTo>
                  <a:lnTo>
                    <a:pt x="170307" y="33782"/>
                  </a:lnTo>
                  <a:lnTo>
                    <a:pt x="170307" y="16891"/>
                  </a:lnTo>
                  <a:lnTo>
                    <a:pt x="170307" y="33909"/>
                  </a:lnTo>
                  <a:cubicBezTo>
                    <a:pt x="94107" y="33909"/>
                    <a:pt x="33782" y="92583"/>
                    <a:pt x="33782" y="163322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645920" y="8558784"/>
            <a:ext cx="2286000" cy="420624"/>
            <a:chOff x="0" y="0"/>
            <a:chExt cx="3048000" cy="56083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048000" cy="560832"/>
            </a:xfrm>
            <a:custGeom>
              <a:avLst/>
              <a:gdLst/>
              <a:ahLst/>
              <a:cxnLst/>
              <a:rect r="r" b="b" t="t" l="l"/>
              <a:pathLst>
                <a:path h="56083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896" r="0" b="-55896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304800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Variable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4102103" y="8546087"/>
            <a:ext cx="2311403" cy="446027"/>
            <a:chOff x="0" y="0"/>
            <a:chExt cx="3081871" cy="594703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3048000" cy="560832"/>
            </a:xfrm>
            <a:custGeom>
              <a:avLst/>
              <a:gdLst/>
              <a:ahLst/>
              <a:cxnLst/>
              <a:rect r="r" b="b" t="t" l="l"/>
              <a:pathLst>
                <a:path h="560832" w="3048000">
                  <a:moveTo>
                    <a:pt x="0" y="146304"/>
                  </a:moveTo>
                  <a:cubicBezTo>
                    <a:pt x="0" y="65532"/>
                    <a:pt x="68707" y="0"/>
                    <a:pt x="153416" y="0"/>
                  </a:cubicBezTo>
                  <a:lnTo>
                    <a:pt x="2894584" y="0"/>
                  </a:lnTo>
                  <a:cubicBezTo>
                    <a:pt x="2979293" y="0"/>
                    <a:pt x="3048000" y="65532"/>
                    <a:pt x="3048000" y="146304"/>
                  </a:cubicBezTo>
                  <a:lnTo>
                    <a:pt x="3048000" y="414528"/>
                  </a:lnTo>
                  <a:cubicBezTo>
                    <a:pt x="3048000" y="495300"/>
                    <a:pt x="2979293" y="560832"/>
                    <a:pt x="2894584" y="560832"/>
                  </a:cubicBezTo>
                  <a:lnTo>
                    <a:pt x="153416" y="560832"/>
                  </a:lnTo>
                  <a:cubicBezTo>
                    <a:pt x="68707" y="560832"/>
                    <a:pt x="0" y="495300"/>
                    <a:pt x="0" y="41452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081782" cy="594614"/>
            </a:xfrm>
            <a:custGeom>
              <a:avLst/>
              <a:gdLst/>
              <a:ahLst/>
              <a:cxnLst/>
              <a:rect r="r" b="b" t="t" l="l"/>
              <a:pathLst>
                <a:path h="594614" w="3081782">
                  <a:moveTo>
                    <a:pt x="0" y="163195"/>
                  </a:moveTo>
                  <a:cubicBezTo>
                    <a:pt x="0" y="72390"/>
                    <a:pt x="77089" y="0"/>
                    <a:pt x="170307" y="0"/>
                  </a:cubicBezTo>
                  <a:lnTo>
                    <a:pt x="2911475" y="0"/>
                  </a:lnTo>
                  <a:lnTo>
                    <a:pt x="2911475" y="16891"/>
                  </a:lnTo>
                  <a:lnTo>
                    <a:pt x="2911475" y="0"/>
                  </a:lnTo>
                  <a:cubicBezTo>
                    <a:pt x="3004820" y="0"/>
                    <a:pt x="3081782" y="72390"/>
                    <a:pt x="3081782" y="163195"/>
                  </a:cubicBezTo>
                  <a:lnTo>
                    <a:pt x="3064891" y="163195"/>
                  </a:lnTo>
                  <a:lnTo>
                    <a:pt x="3081782" y="163195"/>
                  </a:lnTo>
                  <a:lnTo>
                    <a:pt x="3081782" y="431419"/>
                  </a:lnTo>
                  <a:lnTo>
                    <a:pt x="3064891" y="431419"/>
                  </a:lnTo>
                  <a:lnTo>
                    <a:pt x="3081782" y="431419"/>
                  </a:lnTo>
                  <a:cubicBezTo>
                    <a:pt x="3081782" y="522351"/>
                    <a:pt x="3004693" y="594614"/>
                    <a:pt x="2911475" y="594614"/>
                  </a:cubicBezTo>
                  <a:lnTo>
                    <a:pt x="2911475" y="577723"/>
                  </a:lnTo>
                  <a:lnTo>
                    <a:pt x="2911475" y="594614"/>
                  </a:lnTo>
                  <a:lnTo>
                    <a:pt x="170307" y="594614"/>
                  </a:lnTo>
                  <a:lnTo>
                    <a:pt x="170307" y="577723"/>
                  </a:lnTo>
                  <a:lnTo>
                    <a:pt x="170307" y="594614"/>
                  </a:lnTo>
                  <a:cubicBezTo>
                    <a:pt x="77089" y="594741"/>
                    <a:pt x="0" y="522351"/>
                    <a:pt x="0" y="431419"/>
                  </a:cubicBezTo>
                  <a:lnTo>
                    <a:pt x="0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lnTo>
                    <a:pt x="33909" y="431419"/>
                  </a:lnTo>
                  <a:lnTo>
                    <a:pt x="16891" y="431419"/>
                  </a:lnTo>
                  <a:lnTo>
                    <a:pt x="33909" y="431419"/>
                  </a:lnTo>
                  <a:cubicBezTo>
                    <a:pt x="33909" y="502158"/>
                    <a:pt x="94234" y="560832"/>
                    <a:pt x="170434" y="560832"/>
                  </a:cubicBezTo>
                  <a:lnTo>
                    <a:pt x="2911475" y="560832"/>
                  </a:lnTo>
                  <a:cubicBezTo>
                    <a:pt x="2987675" y="560832"/>
                    <a:pt x="3048000" y="502158"/>
                    <a:pt x="3048000" y="431419"/>
                  </a:cubicBezTo>
                  <a:lnTo>
                    <a:pt x="3048000" y="163195"/>
                  </a:lnTo>
                  <a:cubicBezTo>
                    <a:pt x="3048000" y="92456"/>
                    <a:pt x="2987675" y="33782"/>
                    <a:pt x="2911475" y="33782"/>
                  </a:cubicBezTo>
                  <a:lnTo>
                    <a:pt x="170307" y="33782"/>
                  </a:lnTo>
                  <a:lnTo>
                    <a:pt x="170307" y="16891"/>
                  </a:lnTo>
                  <a:lnTo>
                    <a:pt x="170307" y="33909"/>
                  </a:lnTo>
                  <a:cubicBezTo>
                    <a:pt x="94107" y="33909"/>
                    <a:pt x="33782" y="92583"/>
                    <a:pt x="33782" y="163322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4114800" y="8558784"/>
            <a:ext cx="2286000" cy="420624"/>
            <a:chOff x="0" y="0"/>
            <a:chExt cx="3048000" cy="56083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048000" cy="560832"/>
            </a:xfrm>
            <a:custGeom>
              <a:avLst/>
              <a:gdLst/>
              <a:ahLst/>
              <a:cxnLst/>
              <a:rect r="r" b="b" t="t" l="l"/>
              <a:pathLst>
                <a:path h="56083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896" r="0" b="-55896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304800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Query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1600183" y="2584199"/>
            <a:ext cx="6060443" cy="5603243"/>
            <a:chOff x="0" y="0"/>
            <a:chExt cx="8080591" cy="747099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16891" y="16891"/>
              <a:ext cx="8046720" cy="7437120"/>
            </a:xfrm>
            <a:custGeom>
              <a:avLst/>
              <a:gdLst/>
              <a:ahLst/>
              <a:cxnLst/>
              <a:rect r="r" b="b" t="t" l="l"/>
              <a:pathLst>
                <a:path h="74371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437120"/>
                  </a:lnTo>
                  <a:lnTo>
                    <a:pt x="0" y="7437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080501" cy="7470901"/>
            </a:xfrm>
            <a:custGeom>
              <a:avLst/>
              <a:gdLst/>
              <a:ahLst/>
              <a:cxnLst/>
              <a:rect r="r" b="b" t="t" l="l"/>
              <a:pathLst>
                <a:path h="7470901" w="8080501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7454011"/>
                  </a:lnTo>
                  <a:cubicBezTo>
                    <a:pt x="8080501" y="7463409"/>
                    <a:pt x="8072882" y="7470901"/>
                    <a:pt x="8063611" y="7470901"/>
                  </a:cubicBezTo>
                  <a:lnTo>
                    <a:pt x="16891" y="7470901"/>
                  </a:lnTo>
                  <a:cubicBezTo>
                    <a:pt x="7493" y="7470901"/>
                    <a:pt x="0" y="7463282"/>
                    <a:pt x="0" y="7454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54011"/>
                  </a:lnTo>
                  <a:lnTo>
                    <a:pt x="16891" y="7454011"/>
                  </a:lnTo>
                  <a:lnTo>
                    <a:pt x="16891" y="7437120"/>
                  </a:lnTo>
                  <a:lnTo>
                    <a:pt x="8063611" y="7437120"/>
                  </a:lnTo>
                  <a:lnTo>
                    <a:pt x="8063611" y="7454011"/>
                  </a:lnTo>
                  <a:lnTo>
                    <a:pt x="8046720" y="7454011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1887200" y="2779776"/>
            <a:ext cx="5486400" cy="475488"/>
            <a:chOff x="0" y="0"/>
            <a:chExt cx="7315200" cy="63398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7315200" cy="633984"/>
            </a:xfrm>
            <a:custGeom>
              <a:avLst/>
              <a:gdLst/>
              <a:ahLst/>
              <a:cxnLst/>
              <a:rect r="r" b="b" t="t" l="l"/>
              <a:pathLst>
                <a:path h="6339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73152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Hypergraph Structure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1874503" y="3370583"/>
            <a:ext cx="5511803" cy="3317243"/>
            <a:chOff x="0" y="0"/>
            <a:chExt cx="7349071" cy="442299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73152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5"/>
              <a:stretch>
                <a:fillRect l="0" t="-4477" r="0" b="-4477"/>
              </a:stretch>
            </a:blip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348982" cy="4422902"/>
            </a:xfrm>
            <a:custGeom>
              <a:avLst/>
              <a:gdLst/>
              <a:ahLst/>
              <a:cxnLst/>
              <a:rect r="r" b="b" t="t" l="l"/>
              <a:pathLst>
                <a:path h="442290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406011"/>
                  </a:lnTo>
                  <a:cubicBezTo>
                    <a:pt x="7348982" y="4415409"/>
                    <a:pt x="7341362" y="4422902"/>
                    <a:pt x="7332091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7332091" y="4389120"/>
                  </a:lnTo>
                  <a:lnTo>
                    <a:pt x="7332091" y="4406011"/>
                  </a:lnTo>
                  <a:lnTo>
                    <a:pt x="7315200" y="44060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1874503" y="6845303"/>
            <a:ext cx="2677163" cy="1086107"/>
            <a:chOff x="0" y="0"/>
            <a:chExt cx="3569551" cy="1448143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16891" y="16891"/>
              <a:ext cx="35356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569462" cy="1448054"/>
            </a:xfrm>
            <a:custGeom>
              <a:avLst/>
              <a:gdLst/>
              <a:ahLst/>
              <a:cxnLst/>
              <a:rect r="r" b="b" t="t" l="l"/>
              <a:pathLst>
                <a:path h="1448054" w="3569462">
                  <a:moveTo>
                    <a:pt x="16891" y="0"/>
                  </a:moveTo>
                  <a:lnTo>
                    <a:pt x="3552571" y="0"/>
                  </a:lnTo>
                  <a:cubicBezTo>
                    <a:pt x="3561969" y="0"/>
                    <a:pt x="3569462" y="7620"/>
                    <a:pt x="3569462" y="16891"/>
                  </a:cubicBezTo>
                  <a:lnTo>
                    <a:pt x="3569462" y="1431163"/>
                  </a:lnTo>
                  <a:cubicBezTo>
                    <a:pt x="3569462" y="1440561"/>
                    <a:pt x="3561842" y="1448054"/>
                    <a:pt x="355257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3552571" y="1414272"/>
                  </a:lnTo>
                  <a:lnTo>
                    <a:pt x="3552571" y="1431163"/>
                  </a:lnTo>
                  <a:lnTo>
                    <a:pt x="3535680" y="1431163"/>
                  </a:lnTo>
                  <a:lnTo>
                    <a:pt x="3535680" y="16891"/>
                  </a:lnTo>
                  <a:lnTo>
                    <a:pt x="3552571" y="16891"/>
                  </a:lnTo>
                  <a:lnTo>
                    <a:pt x="3552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1887200" y="6912864"/>
            <a:ext cx="2651760" cy="512064"/>
            <a:chOff x="0" y="0"/>
            <a:chExt cx="3535680" cy="68275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53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04" r="0" b="-50904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47625"/>
              <a:ext cx="3535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Conceptual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1887200" y="7424928"/>
            <a:ext cx="2651760" cy="402336"/>
            <a:chOff x="0" y="0"/>
            <a:chExt cx="3535680" cy="53644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53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3535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4800583" y="6845303"/>
            <a:ext cx="2677163" cy="1086107"/>
            <a:chOff x="0" y="0"/>
            <a:chExt cx="3569551" cy="1448143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16891" y="16891"/>
              <a:ext cx="35356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569462" cy="1448054"/>
            </a:xfrm>
            <a:custGeom>
              <a:avLst/>
              <a:gdLst/>
              <a:ahLst/>
              <a:cxnLst/>
              <a:rect r="r" b="b" t="t" l="l"/>
              <a:pathLst>
                <a:path h="1448054" w="3569462">
                  <a:moveTo>
                    <a:pt x="16891" y="0"/>
                  </a:moveTo>
                  <a:lnTo>
                    <a:pt x="3552571" y="0"/>
                  </a:lnTo>
                  <a:cubicBezTo>
                    <a:pt x="3561969" y="0"/>
                    <a:pt x="3569462" y="7620"/>
                    <a:pt x="3569462" y="16891"/>
                  </a:cubicBezTo>
                  <a:lnTo>
                    <a:pt x="3569462" y="1431163"/>
                  </a:lnTo>
                  <a:cubicBezTo>
                    <a:pt x="3569462" y="1440561"/>
                    <a:pt x="3561842" y="1448054"/>
                    <a:pt x="355257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3552571" y="1414272"/>
                  </a:lnTo>
                  <a:lnTo>
                    <a:pt x="3552571" y="1431163"/>
                  </a:lnTo>
                  <a:lnTo>
                    <a:pt x="3535680" y="1431163"/>
                  </a:lnTo>
                  <a:lnTo>
                    <a:pt x="3535680" y="16891"/>
                  </a:lnTo>
                  <a:lnTo>
                    <a:pt x="3552571" y="16891"/>
                  </a:lnTo>
                  <a:lnTo>
                    <a:pt x="3552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4813280" y="6912864"/>
            <a:ext cx="2651760" cy="512064"/>
            <a:chOff x="0" y="0"/>
            <a:chExt cx="3535680" cy="68275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53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04" r="0" b="-50904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47625"/>
              <a:ext cx="3535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Numeric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4813280" y="7424928"/>
            <a:ext cx="2651760" cy="402336"/>
            <a:chOff x="0" y="0"/>
            <a:chExt cx="3535680" cy="53644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53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3535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Values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960103" y="-12697"/>
            <a:ext cx="7340603" cy="1579883"/>
            <a:chOff x="0" y="0"/>
            <a:chExt cx="9787471" cy="21065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73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2089531"/>
                  </a:lnTo>
                  <a:cubicBezTo>
                    <a:pt x="9787382" y="2098929"/>
                    <a:pt x="9779762" y="2106422"/>
                    <a:pt x="977049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9770491" y="2072640"/>
                  </a:lnTo>
                  <a:lnTo>
                    <a:pt x="9770491" y="2089531"/>
                  </a:lnTo>
                  <a:lnTo>
                    <a:pt x="9753600" y="2089531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" y="182880"/>
            <a:ext cx="15544800" cy="694944"/>
            <a:chOff x="0" y="0"/>
            <a:chExt cx="20726400" cy="9265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07264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Links and TruthValues in AtomSpace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914400"/>
            <a:ext cx="12801600" cy="512064"/>
            <a:chOff x="0" y="0"/>
            <a:chExt cx="1706880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Understanding knowledge representation in OpenCog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544800" y="548640"/>
            <a:ext cx="2560320" cy="457200"/>
            <a:chOff x="0" y="0"/>
            <a:chExt cx="341376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13760" cy="609600"/>
            </a:xfrm>
            <a:custGeom>
              <a:avLst/>
              <a:gdLst/>
              <a:ahLst/>
              <a:cxnLst/>
              <a:rect r="r" b="b" t="t" l="l"/>
              <a:pathLst>
                <a:path h="6096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413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14/20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1828800"/>
            <a:ext cx="512064" cy="512064"/>
            <a:chOff x="0" y="0"/>
            <a:chExt cx="682752" cy="682752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71600" y="1828800"/>
            <a:ext cx="11887200" cy="548640"/>
            <a:chOff x="0" y="0"/>
            <a:chExt cx="158496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849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58496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Links and TruthValues in AtomSpace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508743" y="1852679"/>
            <a:ext cx="6151883" cy="574043"/>
            <a:chOff x="0" y="0"/>
            <a:chExt cx="8202511" cy="7653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365760"/>
                  </a:moveTo>
                  <a:cubicBezTo>
                    <a:pt x="0" y="163703"/>
                    <a:pt x="170688" y="0"/>
                    <a:pt x="381127" y="0"/>
                  </a:cubicBezTo>
                  <a:lnTo>
                    <a:pt x="7787513" y="0"/>
                  </a:lnTo>
                  <a:cubicBezTo>
                    <a:pt x="7997952" y="0"/>
                    <a:pt x="8168640" y="163703"/>
                    <a:pt x="8168640" y="365760"/>
                  </a:cubicBezTo>
                  <a:cubicBezTo>
                    <a:pt x="8168640" y="567817"/>
                    <a:pt x="7997952" y="731520"/>
                    <a:pt x="7787513" y="731520"/>
                  </a:cubicBezTo>
                  <a:lnTo>
                    <a:pt x="381127" y="731520"/>
                  </a:lnTo>
                  <a:cubicBezTo>
                    <a:pt x="170688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02423" cy="765302"/>
            </a:xfrm>
            <a:custGeom>
              <a:avLst/>
              <a:gdLst/>
              <a:ahLst/>
              <a:cxnLst/>
              <a:rect r="r" b="b" t="t" l="l"/>
              <a:pathLst>
                <a:path h="765302" w="8202423">
                  <a:moveTo>
                    <a:pt x="0" y="382651"/>
                  </a:moveTo>
                  <a:cubicBezTo>
                    <a:pt x="0" y="170688"/>
                    <a:pt x="178816" y="0"/>
                    <a:pt x="398018" y="0"/>
                  </a:cubicBezTo>
                  <a:lnTo>
                    <a:pt x="7804404" y="0"/>
                  </a:lnTo>
                  <a:lnTo>
                    <a:pt x="7804404" y="16891"/>
                  </a:lnTo>
                  <a:lnTo>
                    <a:pt x="7804404" y="0"/>
                  </a:lnTo>
                  <a:cubicBezTo>
                    <a:pt x="8023606" y="0"/>
                    <a:pt x="8202423" y="170688"/>
                    <a:pt x="8202423" y="382651"/>
                  </a:cubicBezTo>
                  <a:lnTo>
                    <a:pt x="8185531" y="382651"/>
                  </a:lnTo>
                  <a:lnTo>
                    <a:pt x="8202423" y="382651"/>
                  </a:lnTo>
                  <a:lnTo>
                    <a:pt x="8185531" y="382651"/>
                  </a:lnTo>
                  <a:lnTo>
                    <a:pt x="8202423" y="382651"/>
                  </a:lnTo>
                  <a:cubicBezTo>
                    <a:pt x="8202423" y="594614"/>
                    <a:pt x="8023606" y="765302"/>
                    <a:pt x="7804404" y="765302"/>
                  </a:cubicBezTo>
                  <a:lnTo>
                    <a:pt x="7804404" y="748411"/>
                  </a:lnTo>
                  <a:lnTo>
                    <a:pt x="7804404" y="765302"/>
                  </a:lnTo>
                  <a:lnTo>
                    <a:pt x="398018" y="765302"/>
                  </a:lnTo>
                  <a:lnTo>
                    <a:pt x="398018" y="748411"/>
                  </a:lnTo>
                  <a:lnTo>
                    <a:pt x="398018" y="765302"/>
                  </a:lnTo>
                  <a:cubicBezTo>
                    <a:pt x="178816" y="765429"/>
                    <a:pt x="0" y="594741"/>
                    <a:pt x="0" y="382651"/>
                  </a:cubicBezTo>
                  <a:lnTo>
                    <a:pt x="16891" y="382651"/>
                  </a:lnTo>
                  <a:lnTo>
                    <a:pt x="0" y="382651"/>
                  </a:lnTo>
                  <a:moveTo>
                    <a:pt x="33909" y="382651"/>
                  </a:moveTo>
                  <a:lnTo>
                    <a:pt x="16891" y="382651"/>
                  </a:lnTo>
                  <a:lnTo>
                    <a:pt x="33909" y="382651"/>
                  </a:lnTo>
                  <a:cubicBezTo>
                    <a:pt x="33909" y="574675"/>
                    <a:pt x="196342" y="731520"/>
                    <a:pt x="398145" y="731520"/>
                  </a:cubicBezTo>
                  <a:lnTo>
                    <a:pt x="7804404" y="731520"/>
                  </a:lnTo>
                  <a:cubicBezTo>
                    <a:pt x="8006207" y="731520"/>
                    <a:pt x="8168640" y="574675"/>
                    <a:pt x="8168640" y="382651"/>
                  </a:cubicBezTo>
                  <a:cubicBezTo>
                    <a:pt x="8168640" y="190627"/>
                    <a:pt x="8006207" y="33782"/>
                    <a:pt x="7804404" y="33782"/>
                  </a:cubicBezTo>
                  <a:lnTo>
                    <a:pt x="398018" y="33782"/>
                  </a:lnTo>
                  <a:lnTo>
                    <a:pt x="398018" y="16891"/>
                  </a:lnTo>
                  <a:lnTo>
                    <a:pt x="398018" y="33909"/>
                  </a:lnTo>
                  <a:cubicBezTo>
                    <a:pt x="196215" y="33909"/>
                    <a:pt x="33909" y="190754"/>
                    <a:pt x="33909" y="382651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521440" y="1865376"/>
            <a:ext cx="6126480" cy="548640"/>
            <a:chOff x="0" y="0"/>
            <a:chExt cx="816864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68640" cy="731520"/>
            </a:xfrm>
            <a:custGeom>
              <a:avLst/>
              <a:gdLst/>
              <a:ahLst/>
              <a:cxnLst/>
              <a:rect r="r" b="b" t="t" l="l"/>
              <a:pathLst>
                <a:path h="73152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582" r="0" b="-16758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168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AtomSpace: Nodes, Links, and TruthValues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27383" y="2547623"/>
            <a:ext cx="8255003" cy="3774443"/>
            <a:chOff x="0" y="0"/>
            <a:chExt cx="11006671" cy="50325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0972800" cy="4998720"/>
            </a:xfrm>
            <a:custGeom>
              <a:avLst/>
              <a:gdLst/>
              <a:ahLst/>
              <a:cxnLst/>
              <a:rect r="r" b="b" t="t" l="l"/>
              <a:pathLst>
                <a:path h="49987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998720"/>
                  </a:lnTo>
                  <a:lnTo>
                    <a:pt x="0" y="49987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006582" cy="5032502"/>
            </a:xfrm>
            <a:custGeom>
              <a:avLst/>
              <a:gdLst/>
              <a:ahLst/>
              <a:cxnLst/>
              <a:rect r="r" b="b" t="t" l="l"/>
              <a:pathLst>
                <a:path h="50325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5015611"/>
                  </a:lnTo>
                  <a:cubicBezTo>
                    <a:pt x="11006582" y="5025009"/>
                    <a:pt x="10998962" y="5032502"/>
                    <a:pt x="10989691" y="5032502"/>
                  </a:cubicBezTo>
                  <a:lnTo>
                    <a:pt x="16891" y="5032502"/>
                  </a:lnTo>
                  <a:cubicBezTo>
                    <a:pt x="7493" y="5032502"/>
                    <a:pt x="0" y="5024882"/>
                    <a:pt x="0" y="5015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15611"/>
                  </a:lnTo>
                  <a:lnTo>
                    <a:pt x="16891" y="5015611"/>
                  </a:lnTo>
                  <a:lnTo>
                    <a:pt x="16891" y="4998720"/>
                  </a:lnTo>
                  <a:lnTo>
                    <a:pt x="10989691" y="4998720"/>
                  </a:lnTo>
                  <a:lnTo>
                    <a:pt x="10989691" y="5015611"/>
                  </a:lnTo>
                  <a:lnTo>
                    <a:pt x="10972800" y="50156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5840" y="2706624"/>
            <a:ext cx="7315200" cy="475488"/>
            <a:chOff x="0" y="0"/>
            <a:chExt cx="9753600" cy="6339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9753600" cy="6911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Link Types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93143" y="3315719"/>
            <a:ext cx="3683003" cy="903227"/>
            <a:chOff x="0" y="0"/>
            <a:chExt cx="4910671" cy="12043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10582" cy="1204216"/>
            </a:xfrm>
            <a:custGeom>
              <a:avLst/>
              <a:gdLst/>
              <a:ahLst/>
              <a:cxnLst/>
              <a:rect r="r" b="b" t="t" l="l"/>
              <a:pathLst>
                <a:path h="1204216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187323"/>
                  </a:lnTo>
                  <a:cubicBezTo>
                    <a:pt x="4910582" y="1196721"/>
                    <a:pt x="4902962" y="1204214"/>
                    <a:pt x="489369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4893691" y="1170432"/>
                  </a:lnTo>
                  <a:lnTo>
                    <a:pt x="4893691" y="1187323"/>
                  </a:lnTo>
                  <a:lnTo>
                    <a:pt x="4876800" y="118732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39447" y="3571751"/>
            <a:ext cx="391163" cy="391163"/>
            <a:chOff x="0" y="0"/>
            <a:chExt cx="521551" cy="52155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645920" y="3419856"/>
            <a:ext cx="2926080" cy="402336"/>
            <a:chOff x="0" y="0"/>
            <a:chExt cx="3901440" cy="5364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901440" cy="536448"/>
            </a:xfrm>
            <a:custGeom>
              <a:avLst/>
              <a:gdLst/>
              <a:ahLst/>
              <a:cxnLst/>
              <a:rect r="r" b="b" t="t" l="l"/>
              <a:pathLst>
                <a:path h="53644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390144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ListLink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645920" y="3803904"/>
            <a:ext cx="2926080" cy="329184"/>
            <a:chOff x="0" y="0"/>
            <a:chExt cx="3901440" cy="43891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901440" cy="438912"/>
            </a:xfrm>
            <a:custGeom>
              <a:avLst/>
              <a:gdLst/>
              <a:ahLst/>
              <a:cxnLst/>
              <a:rect r="r" b="b" t="t" l="l"/>
              <a:pathLst>
                <a:path h="43891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9014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Ordered collection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925063" y="3315719"/>
            <a:ext cx="3683003" cy="903227"/>
            <a:chOff x="0" y="0"/>
            <a:chExt cx="4910671" cy="120430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10582" cy="1204216"/>
            </a:xfrm>
            <a:custGeom>
              <a:avLst/>
              <a:gdLst/>
              <a:ahLst/>
              <a:cxnLst/>
              <a:rect r="r" b="b" t="t" l="l"/>
              <a:pathLst>
                <a:path h="1204216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187323"/>
                  </a:lnTo>
                  <a:cubicBezTo>
                    <a:pt x="4910582" y="1196721"/>
                    <a:pt x="4902962" y="1204214"/>
                    <a:pt x="489369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4893691" y="1170432"/>
                  </a:lnTo>
                  <a:lnTo>
                    <a:pt x="4893691" y="1187323"/>
                  </a:lnTo>
                  <a:lnTo>
                    <a:pt x="4876800" y="118732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5071367" y="3571751"/>
            <a:ext cx="391163" cy="391163"/>
            <a:chOff x="0" y="0"/>
            <a:chExt cx="521551" cy="52155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577840" y="3419856"/>
            <a:ext cx="2926080" cy="402336"/>
            <a:chOff x="0" y="0"/>
            <a:chExt cx="3901440" cy="5364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901440" cy="536448"/>
            </a:xfrm>
            <a:custGeom>
              <a:avLst/>
              <a:gdLst/>
              <a:ahLst/>
              <a:cxnLst/>
              <a:rect r="r" b="b" t="t" l="l"/>
              <a:pathLst>
                <a:path h="53644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390144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SetLink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577840" y="3803904"/>
            <a:ext cx="2926080" cy="329184"/>
            <a:chOff x="0" y="0"/>
            <a:chExt cx="3901440" cy="43891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901440" cy="438912"/>
            </a:xfrm>
            <a:custGeom>
              <a:avLst/>
              <a:gdLst/>
              <a:ahLst/>
              <a:cxnLst/>
              <a:rect r="r" b="b" t="t" l="l"/>
              <a:pathLst>
                <a:path h="43891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9014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Unordered collection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93143" y="4321559"/>
            <a:ext cx="3683003" cy="903227"/>
            <a:chOff x="0" y="0"/>
            <a:chExt cx="4910671" cy="120430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910582" cy="1204216"/>
            </a:xfrm>
            <a:custGeom>
              <a:avLst/>
              <a:gdLst/>
              <a:ahLst/>
              <a:cxnLst/>
              <a:rect r="r" b="b" t="t" l="l"/>
              <a:pathLst>
                <a:path h="1204216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187323"/>
                  </a:lnTo>
                  <a:cubicBezTo>
                    <a:pt x="4910582" y="1196721"/>
                    <a:pt x="4902962" y="1204214"/>
                    <a:pt x="489369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4893691" y="1170432"/>
                  </a:lnTo>
                  <a:lnTo>
                    <a:pt x="4893691" y="1187323"/>
                  </a:lnTo>
                  <a:lnTo>
                    <a:pt x="4876800" y="118732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39447" y="4577591"/>
            <a:ext cx="391163" cy="391163"/>
            <a:chOff x="0" y="0"/>
            <a:chExt cx="521551" cy="52155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645920" y="4425696"/>
            <a:ext cx="2926080" cy="402336"/>
            <a:chOff x="0" y="0"/>
            <a:chExt cx="3901440" cy="5364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901440" cy="536448"/>
            </a:xfrm>
            <a:custGeom>
              <a:avLst/>
              <a:gdLst/>
              <a:ahLst/>
              <a:cxnLst/>
              <a:rect r="r" b="b" t="t" l="l"/>
              <a:pathLst>
                <a:path h="53644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390144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EvaluationLink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645920" y="4809744"/>
            <a:ext cx="2926080" cy="329184"/>
            <a:chOff x="0" y="0"/>
            <a:chExt cx="3901440" cy="43891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901440" cy="438912"/>
            </a:xfrm>
            <a:custGeom>
              <a:avLst/>
              <a:gdLst/>
              <a:ahLst/>
              <a:cxnLst/>
              <a:rect r="r" b="b" t="t" l="l"/>
              <a:pathLst>
                <a:path h="43891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9014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Predicate evaluation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4925063" y="4321559"/>
            <a:ext cx="3683003" cy="903227"/>
            <a:chOff x="0" y="0"/>
            <a:chExt cx="4910671" cy="120430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48768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910582" cy="1204216"/>
            </a:xfrm>
            <a:custGeom>
              <a:avLst/>
              <a:gdLst/>
              <a:ahLst/>
              <a:cxnLst/>
              <a:rect r="r" b="b" t="t" l="l"/>
              <a:pathLst>
                <a:path h="1204216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187323"/>
                  </a:lnTo>
                  <a:cubicBezTo>
                    <a:pt x="4910582" y="1196721"/>
                    <a:pt x="4902962" y="1204214"/>
                    <a:pt x="4893691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4893691" y="1170432"/>
                  </a:lnTo>
                  <a:lnTo>
                    <a:pt x="4893691" y="1187323"/>
                  </a:lnTo>
                  <a:lnTo>
                    <a:pt x="4876800" y="118732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5071367" y="4577591"/>
            <a:ext cx="391163" cy="391163"/>
            <a:chOff x="0" y="0"/>
            <a:chExt cx="521551" cy="52155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5577840" y="4425696"/>
            <a:ext cx="2926080" cy="402336"/>
            <a:chOff x="0" y="0"/>
            <a:chExt cx="3901440" cy="53644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901440" cy="536448"/>
            </a:xfrm>
            <a:custGeom>
              <a:avLst/>
              <a:gdLst/>
              <a:ahLst/>
              <a:cxnLst/>
              <a:rect r="r" b="b" t="t" l="l"/>
              <a:pathLst>
                <a:path h="536448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390144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InheritanceLink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577840" y="4809744"/>
            <a:ext cx="2926080" cy="329184"/>
            <a:chOff x="0" y="0"/>
            <a:chExt cx="3901440" cy="43891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901440" cy="438912"/>
            </a:xfrm>
            <a:custGeom>
              <a:avLst/>
              <a:gdLst/>
              <a:ahLst/>
              <a:cxnLst/>
              <a:rect r="r" b="b" t="t" l="l"/>
              <a:pathLst>
                <a:path h="43891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39014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IS-A relationship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27383" y="6570983"/>
            <a:ext cx="8255003" cy="2951483"/>
            <a:chOff x="0" y="0"/>
            <a:chExt cx="11006671" cy="393531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109728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1006582" cy="3935222"/>
            </a:xfrm>
            <a:custGeom>
              <a:avLst/>
              <a:gdLst/>
              <a:ahLst/>
              <a:cxnLst/>
              <a:rect r="r" b="b" t="t" l="l"/>
              <a:pathLst>
                <a:path h="39352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918331"/>
                  </a:lnTo>
                  <a:cubicBezTo>
                    <a:pt x="11006582" y="3927729"/>
                    <a:pt x="10998962" y="3935222"/>
                    <a:pt x="1098969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0989691" y="3901440"/>
                  </a:lnTo>
                  <a:lnTo>
                    <a:pt x="10989691" y="3918331"/>
                  </a:lnTo>
                  <a:lnTo>
                    <a:pt x="10972800" y="39183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05840" y="6729984"/>
            <a:ext cx="7315200" cy="475488"/>
            <a:chOff x="0" y="0"/>
            <a:chExt cx="9753600" cy="63398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9753600" cy="6911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TruthValue Types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01703" y="7302503"/>
            <a:ext cx="1890779" cy="610619"/>
            <a:chOff x="0" y="0"/>
            <a:chExt cx="2521039" cy="81415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2487168" cy="780288"/>
            </a:xfrm>
            <a:custGeom>
              <a:avLst/>
              <a:gdLst/>
              <a:ahLst/>
              <a:cxnLst/>
              <a:rect r="r" b="b" t="t" l="l"/>
              <a:pathLst>
                <a:path h="78028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520950" cy="814072"/>
            </a:xfrm>
            <a:custGeom>
              <a:avLst/>
              <a:gdLst/>
              <a:ahLst/>
              <a:cxnLst/>
              <a:rect r="r" b="b" t="t" l="l"/>
              <a:pathLst>
                <a:path h="814072" w="2520950">
                  <a:moveTo>
                    <a:pt x="16891" y="0"/>
                  </a:moveTo>
                  <a:lnTo>
                    <a:pt x="2504059" y="0"/>
                  </a:lnTo>
                  <a:cubicBezTo>
                    <a:pt x="2513457" y="0"/>
                    <a:pt x="2520950" y="7620"/>
                    <a:pt x="2520950" y="16891"/>
                  </a:cubicBezTo>
                  <a:lnTo>
                    <a:pt x="2520950" y="797179"/>
                  </a:lnTo>
                  <a:cubicBezTo>
                    <a:pt x="2520950" y="806577"/>
                    <a:pt x="2513330" y="814070"/>
                    <a:pt x="2504059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504059" y="780288"/>
                  </a:lnTo>
                  <a:lnTo>
                    <a:pt x="2504059" y="797179"/>
                  </a:lnTo>
                  <a:lnTo>
                    <a:pt x="2487168" y="797179"/>
                  </a:lnTo>
                  <a:lnTo>
                    <a:pt x="2487168" y="16891"/>
                  </a:lnTo>
                  <a:lnTo>
                    <a:pt x="2504059" y="16891"/>
                  </a:lnTo>
                  <a:lnTo>
                    <a:pt x="25040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14400" y="7315200"/>
            <a:ext cx="1865376" cy="585216"/>
            <a:chOff x="0" y="0"/>
            <a:chExt cx="2487168" cy="78028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487168" cy="780288"/>
            </a:xfrm>
            <a:custGeom>
              <a:avLst/>
              <a:gdLst/>
              <a:ahLst/>
              <a:cxnLst/>
              <a:rect r="r" b="b" t="t" l="l"/>
              <a:pathLst>
                <a:path h="78028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08" r="0" b="-1210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248716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2858519" y="7302503"/>
            <a:ext cx="1890779" cy="610619"/>
            <a:chOff x="0" y="0"/>
            <a:chExt cx="2521039" cy="81415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2487168" cy="780288"/>
            </a:xfrm>
            <a:custGeom>
              <a:avLst/>
              <a:gdLst/>
              <a:ahLst/>
              <a:cxnLst/>
              <a:rect r="r" b="b" t="t" l="l"/>
              <a:pathLst>
                <a:path h="78028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520950" cy="814072"/>
            </a:xfrm>
            <a:custGeom>
              <a:avLst/>
              <a:gdLst/>
              <a:ahLst/>
              <a:cxnLst/>
              <a:rect r="r" b="b" t="t" l="l"/>
              <a:pathLst>
                <a:path h="814072" w="2520950">
                  <a:moveTo>
                    <a:pt x="16891" y="0"/>
                  </a:moveTo>
                  <a:lnTo>
                    <a:pt x="2504059" y="0"/>
                  </a:lnTo>
                  <a:cubicBezTo>
                    <a:pt x="2513457" y="0"/>
                    <a:pt x="2520950" y="7620"/>
                    <a:pt x="2520950" y="16891"/>
                  </a:cubicBezTo>
                  <a:lnTo>
                    <a:pt x="2520950" y="797179"/>
                  </a:lnTo>
                  <a:cubicBezTo>
                    <a:pt x="2520950" y="806577"/>
                    <a:pt x="2513330" y="814070"/>
                    <a:pt x="2504059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504059" y="780288"/>
                  </a:lnTo>
                  <a:lnTo>
                    <a:pt x="2504059" y="797179"/>
                  </a:lnTo>
                  <a:lnTo>
                    <a:pt x="2487168" y="797179"/>
                  </a:lnTo>
                  <a:lnTo>
                    <a:pt x="2487168" y="16891"/>
                  </a:lnTo>
                  <a:lnTo>
                    <a:pt x="2504059" y="16891"/>
                  </a:lnTo>
                  <a:lnTo>
                    <a:pt x="25040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2871216" y="7315200"/>
            <a:ext cx="1865376" cy="585216"/>
            <a:chOff x="0" y="0"/>
            <a:chExt cx="2487168" cy="78028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487168" cy="780288"/>
            </a:xfrm>
            <a:custGeom>
              <a:avLst/>
              <a:gdLst/>
              <a:ahLst/>
              <a:cxnLst/>
              <a:rect r="r" b="b" t="t" l="l"/>
              <a:pathLst>
                <a:path h="78028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08" r="0" b="-12108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248716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Strength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4815335" y="7302503"/>
            <a:ext cx="1890779" cy="610619"/>
            <a:chOff x="0" y="0"/>
            <a:chExt cx="2521039" cy="81415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16891" y="16891"/>
              <a:ext cx="2487168" cy="780288"/>
            </a:xfrm>
            <a:custGeom>
              <a:avLst/>
              <a:gdLst/>
              <a:ahLst/>
              <a:cxnLst/>
              <a:rect r="r" b="b" t="t" l="l"/>
              <a:pathLst>
                <a:path h="78028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520950" cy="814072"/>
            </a:xfrm>
            <a:custGeom>
              <a:avLst/>
              <a:gdLst/>
              <a:ahLst/>
              <a:cxnLst/>
              <a:rect r="r" b="b" t="t" l="l"/>
              <a:pathLst>
                <a:path h="814072" w="2520950">
                  <a:moveTo>
                    <a:pt x="16891" y="0"/>
                  </a:moveTo>
                  <a:lnTo>
                    <a:pt x="2504059" y="0"/>
                  </a:lnTo>
                  <a:cubicBezTo>
                    <a:pt x="2513457" y="0"/>
                    <a:pt x="2520950" y="7620"/>
                    <a:pt x="2520950" y="16891"/>
                  </a:cubicBezTo>
                  <a:lnTo>
                    <a:pt x="2520950" y="797179"/>
                  </a:lnTo>
                  <a:cubicBezTo>
                    <a:pt x="2520950" y="806577"/>
                    <a:pt x="2513330" y="814070"/>
                    <a:pt x="2504059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504059" y="780288"/>
                  </a:lnTo>
                  <a:lnTo>
                    <a:pt x="2504059" y="797179"/>
                  </a:lnTo>
                  <a:lnTo>
                    <a:pt x="2487168" y="797179"/>
                  </a:lnTo>
                  <a:lnTo>
                    <a:pt x="2487168" y="16891"/>
                  </a:lnTo>
                  <a:lnTo>
                    <a:pt x="2504059" y="16891"/>
                  </a:lnTo>
                  <a:lnTo>
                    <a:pt x="25040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4828032" y="7315200"/>
            <a:ext cx="1865376" cy="585216"/>
            <a:chOff x="0" y="0"/>
            <a:chExt cx="2487168" cy="78028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487168" cy="780288"/>
            </a:xfrm>
            <a:custGeom>
              <a:avLst/>
              <a:gdLst/>
              <a:ahLst/>
              <a:cxnLst/>
              <a:rect r="r" b="b" t="t" l="l"/>
              <a:pathLst>
                <a:path h="78028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08" r="0" b="-12108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248716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Confidence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6772151" y="7302503"/>
            <a:ext cx="1890779" cy="610619"/>
            <a:chOff x="0" y="0"/>
            <a:chExt cx="2521039" cy="814159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2487168" cy="780288"/>
            </a:xfrm>
            <a:custGeom>
              <a:avLst/>
              <a:gdLst/>
              <a:ahLst/>
              <a:cxnLst/>
              <a:rect r="r" b="b" t="t" l="l"/>
              <a:pathLst>
                <a:path h="78028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520950" cy="814072"/>
            </a:xfrm>
            <a:custGeom>
              <a:avLst/>
              <a:gdLst/>
              <a:ahLst/>
              <a:cxnLst/>
              <a:rect r="r" b="b" t="t" l="l"/>
              <a:pathLst>
                <a:path h="814072" w="2520950">
                  <a:moveTo>
                    <a:pt x="16891" y="0"/>
                  </a:moveTo>
                  <a:lnTo>
                    <a:pt x="2504059" y="0"/>
                  </a:lnTo>
                  <a:cubicBezTo>
                    <a:pt x="2513457" y="0"/>
                    <a:pt x="2520950" y="7620"/>
                    <a:pt x="2520950" y="16891"/>
                  </a:cubicBezTo>
                  <a:lnTo>
                    <a:pt x="2520950" y="797179"/>
                  </a:lnTo>
                  <a:cubicBezTo>
                    <a:pt x="2520950" y="806577"/>
                    <a:pt x="2513330" y="814070"/>
                    <a:pt x="2504059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504059" y="780288"/>
                  </a:lnTo>
                  <a:lnTo>
                    <a:pt x="2504059" y="797179"/>
                  </a:lnTo>
                  <a:lnTo>
                    <a:pt x="2487168" y="797179"/>
                  </a:lnTo>
                  <a:lnTo>
                    <a:pt x="2487168" y="16891"/>
                  </a:lnTo>
                  <a:lnTo>
                    <a:pt x="2504059" y="16891"/>
                  </a:lnTo>
                  <a:lnTo>
                    <a:pt x="25040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6784848" y="7315200"/>
            <a:ext cx="1865376" cy="585216"/>
            <a:chOff x="0" y="0"/>
            <a:chExt cx="2487168" cy="78028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487168" cy="780288"/>
            </a:xfrm>
            <a:custGeom>
              <a:avLst/>
              <a:gdLst/>
              <a:ahLst/>
              <a:cxnLst/>
              <a:rect r="r" b="b" t="t" l="l"/>
              <a:pathLst>
                <a:path h="780288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08" r="0" b="-12108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248716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Count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01703" y="7960871"/>
            <a:ext cx="1890779" cy="574043"/>
            <a:chOff x="0" y="0"/>
            <a:chExt cx="2521039" cy="765391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16891" y="16891"/>
              <a:ext cx="2487168" cy="731520"/>
            </a:xfrm>
            <a:custGeom>
              <a:avLst/>
              <a:gdLst/>
              <a:ahLst/>
              <a:cxnLst/>
              <a:rect r="r" b="b" t="t" l="l"/>
              <a:pathLst>
                <a:path h="731520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520950" cy="765304"/>
            </a:xfrm>
            <a:custGeom>
              <a:avLst/>
              <a:gdLst/>
              <a:ahLst/>
              <a:cxnLst/>
              <a:rect r="r" b="b" t="t" l="l"/>
              <a:pathLst>
                <a:path h="765304" w="2520950">
                  <a:moveTo>
                    <a:pt x="16891" y="0"/>
                  </a:moveTo>
                  <a:lnTo>
                    <a:pt x="2504059" y="0"/>
                  </a:lnTo>
                  <a:cubicBezTo>
                    <a:pt x="2513457" y="0"/>
                    <a:pt x="2520950" y="7620"/>
                    <a:pt x="2520950" y="16891"/>
                  </a:cubicBezTo>
                  <a:lnTo>
                    <a:pt x="2520950" y="748411"/>
                  </a:lnTo>
                  <a:cubicBezTo>
                    <a:pt x="2520950" y="757809"/>
                    <a:pt x="2513330" y="765302"/>
                    <a:pt x="2504059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504059" y="731520"/>
                  </a:lnTo>
                  <a:lnTo>
                    <a:pt x="2504059" y="748411"/>
                  </a:lnTo>
                  <a:lnTo>
                    <a:pt x="2487168" y="748411"/>
                  </a:lnTo>
                  <a:lnTo>
                    <a:pt x="2487168" y="16891"/>
                  </a:lnTo>
                  <a:lnTo>
                    <a:pt x="2504059" y="16891"/>
                  </a:lnTo>
                  <a:lnTo>
                    <a:pt x="25040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14400" y="7973568"/>
            <a:ext cx="1865376" cy="548640"/>
            <a:chOff x="0" y="0"/>
            <a:chExt cx="2487168" cy="73152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487168" cy="731520"/>
            </a:xfrm>
            <a:custGeom>
              <a:avLst/>
              <a:gdLst/>
              <a:ahLst/>
              <a:cxnLst/>
              <a:rect r="r" b="b" t="t" l="l"/>
              <a:pathLst>
                <a:path h="731520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24871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SimpleTV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2858519" y="7960871"/>
            <a:ext cx="1890779" cy="574043"/>
            <a:chOff x="0" y="0"/>
            <a:chExt cx="2521039" cy="765391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16891" y="16891"/>
              <a:ext cx="2487168" cy="731520"/>
            </a:xfrm>
            <a:custGeom>
              <a:avLst/>
              <a:gdLst/>
              <a:ahLst/>
              <a:cxnLst/>
              <a:rect r="r" b="b" t="t" l="l"/>
              <a:pathLst>
                <a:path h="731520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520950" cy="765304"/>
            </a:xfrm>
            <a:custGeom>
              <a:avLst/>
              <a:gdLst/>
              <a:ahLst/>
              <a:cxnLst/>
              <a:rect r="r" b="b" t="t" l="l"/>
              <a:pathLst>
                <a:path h="765304" w="2520950">
                  <a:moveTo>
                    <a:pt x="16891" y="0"/>
                  </a:moveTo>
                  <a:lnTo>
                    <a:pt x="2504059" y="0"/>
                  </a:lnTo>
                  <a:cubicBezTo>
                    <a:pt x="2513457" y="0"/>
                    <a:pt x="2520950" y="7620"/>
                    <a:pt x="2520950" y="16891"/>
                  </a:cubicBezTo>
                  <a:lnTo>
                    <a:pt x="2520950" y="748411"/>
                  </a:lnTo>
                  <a:cubicBezTo>
                    <a:pt x="2520950" y="757809"/>
                    <a:pt x="2513330" y="765302"/>
                    <a:pt x="2504059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504059" y="731520"/>
                  </a:lnTo>
                  <a:lnTo>
                    <a:pt x="2504059" y="748411"/>
                  </a:lnTo>
                  <a:lnTo>
                    <a:pt x="2487168" y="748411"/>
                  </a:lnTo>
                  <a:lnTo>
                    <a:pt x="2487168" y="16891"/>
                  </a:lnTo>
                  <a:lnTo>
                    <a:pt x="2504059" y="16891"/>
                  </a:lnTo>
                  <a:lnTo>
                    <a:pt x="25040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2871216" y="7973568"/>
            <a:ext cx="1865376" cy="548640"/>
            <a:chOff x="0" y="0"/>
            <a:chExt cx="2487168" cy="73152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487168" cy="731520"/>
            </a:xfrm>
            <a:custGeom>
              <a:avLst/>
              <a:gdLst/>
              <a:ahLst/>
              <a:cxnLst/>
              <a:rect r="r" b="b" t="t" l="l"/>
              <a:pathLst>
                <a:path h="731520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24871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0.85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4815335" y="7960871"/>
            <a:ext cx="1890779" cy="574043"/>
            <a:chOff x="0" y="0"/>
            <a:chExt cx="2521039" cy="765391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16891" y="16891"/>
              <a:ext cx="2487168" cy="731520"/>
            </a:xfrm>
            <a:custGeom>
              <a:avLst/>
              <a:gdLst/>
              <a:ahLst/>
              <a:cxnLst/>
              <a:rect r="r" b="b" t="t" l="l"/>
              <a:pathLst>
                <a:path h="731520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520950" cy="765304"/>
            </a:xfrm>
            <a:custGeom>
              <a:avLst/>
              <a:gdLst/>
              <a:ahLst/>
              <a:cxnLst/>
              <a:rect r="r" b="b" t="t" l="l"/>
              <a:pathLst>
                <a:path h="765304" w="2520950">
                  <a:moveTo>
                    <a:pt x="16891" y="0"/>
                  </a:moveTo>
                  <a:lnTo>
                    <a:pt x="2504059" y="0"/>
                  </a:lnTo>
                  <a:cubicBezTo>
                    <a:pt x="2513457" y="0"/>
                    <a:pt x="2520950" y="7620"/>
                    <a:pt x="2520950" y="16891"/>
                  </a:cubicBezTo>
                  <a:lnTo>
                    <a:pt x="2520950" y="748411"/>
                  </a:lnTo>
                  <a:cubicBezTo>
                    <a:pt x="2520950" y="757809"/>
                    <a:pt x="2513330" y="765302"/>
                    <a:pt x="2504059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504059" y="731520"/>
                  </a:lnTo>
                  <a:lnTo>
                    <a:pt x="2504059" y="748411"/>
                  </a:lnTo>
                  <a:lnTo>
                    <a:pt x="2487168" y="748411"/>
                  </a:lnTo>
                  <a:lnTo>
                    <a:pt x="2487168" y="16891"/>
                  </a:lnTo>
                  <a:lnTo>
                    <a:pt x="2504059" y="16891"/>
                  </a:lnTo>
                  <a:lnTo>
                    <a:pt x="25040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828032" y="7973568"/>
            <a:ext cx="1865376" cy="548640"/>
            <a:chOff x="0" y="0"/>
            <a:chExt cx="2487168" cy="73152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487168" cy="731520"/>
            </a:xfrm>
            <a:custGeom>
              <a:avLst/>
              <a:gdLst/>
              <a:ahLst/>
              <a:cxnLst/>
              <a:rect r="r" b="b" t="t" l="l"/>
              <a:pathLst>
                <a:path h="731520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24871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0.95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6772151" y="7960871"/>
            <a:ext cx="1890779" cy="574043"/>
            <a:chOff x="0" y="0"/>
            <a:chExt cx="2521039" cy="765391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16891" y="16891"/>
              <a:ext cx="2487168" cy="731520"/>
            </a:xfrm>
            <a:custGeom>
              <a:avLst/>
              <a:gdLst/>
              <a:ahLst/>
              <a:cxnLst/>
              <a:rect r="r" b="b" t="t" l="l"/>
              <a:pathLst>
                <a:path h="731520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520950" cy="765304"/>
            </a:xfrm>
            <a:custGeom>
              <a:avLst/>
              <a:gdLst/>
              <a:ahLst/>
              <a:cxnLst/>
              <a:rect r="r" b="b" t="t" l="l"/>
              <a:pathLst>
                <a:path h="765304" w="2520950">
                  <a:moveTo>
                    <a:pt x="16891" y="0"/>
                  </a:moveTo>
                  <a:lnTo>
                    <a:pt x="2504059" y="0"/>
                  </a:lnTo>
                  <a:cubicBezTo>
                    <a:pt x="2513457" y="0"/>
                    <a:pt x="2520950" y="7620"/>
                    <a:pt x="2520950" y="16891"/>
                  </a:cubicBezTo>
                  <a:lnTo>
                    <a:pt x="2520950" y="748411"/>
                  </a:lnTo>
                  <a:cubicBezTo>
                    <a:pt x="2520950" y="757809"/>
                    <a:pt x="2513330" y="765302"/>
                    <a:pt x="2504059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504059" y="731520"/>
                  </a:lnTo>
                  <a:lnTo>
                    <a:pt x="2504059" y="748411"/>
                  </a:lnTo>
                  <a:lnTo>
                    <a:pt x="2487168" y="748411"/>
                  </a:lnTo>
                  <a:lnTo>
                    <a:pt x="2487168" y="16891"/>
                  </a:lnTo>
                  <a:lnTo>
                    <a:pt x="2504059" y="16891"/>
                  </a:lnTo>
                  <a:lnTo>
                    <a:pt x="25040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6784848" y="7973568"/>
            <a:ext cx="1865376" cy="548640"/>
            <a:chOff x="0" y="0"/>
            <a:chExt cx="2487168" cy="73152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487168" cy="731520"/>
            </a:xfrm>
            <a:custGeom>
              <a:avLst/>
              <a:gdLst/>
              <a:ahLst/>
              <a:cxnLst/>
              <a:rect r="r" b="b" t="t" l="l"/>
              <a:pathLst>
                <a:path h="731520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38100"/>
              <a:ext cx="24871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901703" y="8600951"/>
            <a:ext cx="1890779" cy="574043"/>
            <a:chOff x="0" y="0"/>
            <a:chExt cx="2521039" cy="765391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16891" y="16891"/>
              <a:ext cx="2487168" cy="731520"/>
            </a:xfrm>
            <a:custGeom>
              <a:avLst/>
              <a:gdLst/>
              <a:ahLst/>
              <a:cxnLst/>
              <a:rect r="r" b="b" t="t" l="l"/>
              <a:pathLst>
                <a:path h="731520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520950" cy="765304"/>
            </a:xfrm>
            <a:custGeom>
              <a:avLst/>
              <a:gdLst/>
              <a:ahLst/>
              <a:cxnLst/>
              <a:rect r="r" b="b" t="t" l="l"/>
              <a:pathLst>
                <a:path h="765304" w="2520950">
                  <a:moveTo>
                    <a:pt x="16891" y="0"/>
                  </a:moveTo>
                  <a:lnTo>
                    <a:pt x="2504059" y="0"/>
                  </a:lnTo>
                  <a:cubicBezTo>
                    <a:pt x="2513457" y="0"/>
                    <a:pt x="2520950" y="7620"/>
                    <a:pt x="2520950" y="16891"/>
                  </a:cubicBezTo>
                  <a:lnTo>
                    <a:pt x="2520950" y="748411"/>
                  </a:lnTo>
                  <a:cubicBezTo>
                    <a:pt x="2520950" y="757809"/>
                    <a:pt x="2513330" y="765302"/>
                    <a:pt x="2504059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504059" y="731520"/>
                  </a:lnTo>
                  <a:lnTo>
                    <a:pt x="2504059" y="748411"/>
                  </a:lnTo>
                  <a:lnTo>
                    <a:pt x="2487168" y="748411"/>
                  </a:lnTo>
                  <a:lnTo>
                    <a:pt x="2487168" y="16891"/>
                  </a:lnTo>
                  <a:lnTo>
                    <a:pt x="2504059" y="16891"/>
                  </a:lnTo>
                  <a:lnTo>
                    <a:pt x="25040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14400" y="8613648"/>
            <a:ext cx="1865376" cy="548640"/>
            <a:chOff x="0" y="0"/>
            <a:chExt cx="2487168" cy="73152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487168" cy="731520"/>
            </a:xfrm>
            <a:custGeom>
              <a:avLst/>
              <a:gdLst/>
              <a:ahLst/>
              <a:cxnLst/>
              <a:rect r="r" b="b" t="t" l="l"/>
              <a:pathLst>
                <a:path h="731520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38100"/>
              <a:ext cx="24871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CountTV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2858519" y="8600951"/>
            <a:ext cx="1890779" cy="574043"/>
            <a:chOff x="0" y="0"/>
            <a:chExt cx="2521039" cy="765391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16891" y="16891"/>
              <a:ext cx="2487168" cy="731520"/>
            </a:xfrm>
            <a:custGeom>
              <a:avLst/>
              <a:gdLst/>
              <a:ahLst/>
              <a:cxnLst/>
              <a:rect r="r" b="b" t="t" l="l"/>
              <a:pathLst>
                <a:path h="731520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520950" cy="765304"/>
            </a:xfrm>
            <a:custGeom>
              <a:avLst/>
              <a:gdLst/>
              <a:ahLst/>
              <a:cxnLst/>
              <a:rect r="r" b="b" t="t" l="l"/>
              <a:pathLst>
                <a:path h="765304" w="2520950">
                  <a:moveTo>
                    <a:pt x="16891" y="0"/>
                  </a:moveTo>
                  <a:lnTo>
                    <a:pt x="2504059" y="0"/>
                  </a:lnTo>
                  <a:cubicBezTo>
                    <a:pt x="2513457" y="0"/>
                    <a:pt x="2520950" y="7620"/>
                    <a:pt x="2520950" y="16891"/>
                  </a:cubicBezTo>
                  <a:lnTo>
                    <a:pt x="2520950" y="748411"/>
                  </a:lnTo>
                  <a:cubicBezTo>
                    <a:pt x="2520950" y="757809"/>
                    <a:pt x="2513330" y="765302"/>
                    <a:pt x="2504059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504059" y="731520"/>
                  </a:lnTo>
                  <a:lnTo>
                    <a:pt x="2504059" y="748411"/>
                  </a:lnTo>
                  <a:lnTo>
                    <a:pt x="2487168" y="748411"/>
                  </a:lnTo>
                  <a:lnTo>
                    <a:pt x="2487168" y="16891"/>
                  </a:lnTo>
                  <a:lnTo>
                    <a:pt x="2504059" y="16891"/>
                  </a:lnTo>
                  <a:lnTo>
                    <a:pt x="25040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2871216" y="8613648"/>
            <a:ext cx="1865376" cy="548640"/>
            <a:chOff x="0" y="0"/>
            <a:chExt cx="2487168" cy="73152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487168" cy="731520"/>
            </a:xfrm>
            <a:custGeom>
              <a:avLst/>
              <a:gdLst/>
              <a:ahLst/>
              <a:cxnLst/>
              <a:rect r="r" b="b" t="t" l="l"/>
              <a:pathLst>
                <a:path h="731520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24871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0.75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4815335" y="8600951"/>
            <a:ext cx="1890779" cy="574043"/>
            <a:chOff x="0" y="0"/>
            <a:chExt cx="2521039" cy="765391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16891" y="16891"/>
              <a:ext cx="2487168" cy="731520"/>
            </a:xfrm>
            <a:custGeom>
              <a:avLst/>
              <a:gdLst/>
              <a:ahLst/>
              <a:cxnLst/>
              <a:rect r="r" b="b" t="t" l="l"/>
              <a:pathLst>
                <a:path h="731520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520950" cy="765304"/>
            </a:xfrm>
            <a:custGeom>
              <a:avLst/>
              <a:gdLst/>
              <a:ahLst/>
              <a:cxnLst/>
              <a:rect r="r" b="b" t="t" l="l"/>
              <a:pathLst>
                <a:path h="765304" w="2520950">
                  <a:moveTo>
                    <a:pt x="16891" y="0"/>
                  </a:moveTo>
                  <a:lnTo>
                    <a:pt x="2504059" y="0"/>
                  </a:lnTo>
                  <a:cubicBezTo>
                    <a:pt x="2513457" y="0"/>
                    <a:pt x="2520950" y="7620"/>
                    <a:pt x="2520950" y="16891"/>
                  </a:cubicBezTo>
                  <a:lnTo>
                    <a:pt x="2520950" y="748411"/>
                  </a:lnTo>
                  <a:cubicBezTo>
                    <a:pt x="2520950" y="757809"/>
                    <a:pt x="2513330" y="765302"/>
                    <a:pt x="2504059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504059" y="731520"/>
                  </a:lnTo>
                  <a:lnTo>
                    <a:pt x="2504059" y="748411"/>
                  </a:lnTo>
                  <a:lnTo>
                    <a:pt x="2487168" y="748411"/>
                  </a:lnTo>
                  <a:lnTo>
                    <a:pt x="2487168" y="16891"/>
                  </a:lnTo>
                  <a:lnTo>
                    <a:pt x="2504059" y="16891"/>
                  </a:lnTo>
                  <a:lnTo>
                    <a:pt x="25040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4828032" y="8613648"/>
            <a:ext cx="1865376" cy="548640"/>
            <a:chOff x="0" y="0"/>
            <a:chExt cx="2487168" cy="73152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487168" cy="731520"/>
            </a:xfrm>
            <a:custGeom>
              <a:avLst/>
              <a:gdLst/>
              <a:ahLst/>
              <a:cxnLst/>
              <a:rect r="r" b="b" t="t" l="l"/>
              <a:pathLst>
                <a:path h="731520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24871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0.90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6772151" y="8600951"/>
            <a:ext cx="1890779" cy="574043"/>
            <a:chOff x="0" y="0"/>
            <a:chExt cx="2521039" cy="765391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16891" y="16891"/>
              <a:ext cx="2487168" cy="731520"/>
            </a:xfrm>
            <a:custGeom>
              <a:avLst/>
              <a:gdLst/>
              <a:ahLst/>
              <a:cxnLst/>
              <a:rect r="r" b="b" t="t" l="l"/>
              <a:pathLst>
                <a:path h="731520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520950" cy="765304"/>
            </a:xfrm>
            <a:custGeom>
              <a:avLst/>
              <a:gdLst/>
              <a:ahLst/>
              <a:cxnLst/>
              <a:rect r="r" b="b" t="t" l="l"/>
              <a:pathLst>
                <a:path h="765304" w="2520950">
                  <a:moveTo>
                    <a:pt x="16891" y="0"/>
                  </a:moveTo>
                  <a:lnTo>
                    <a:pt x="2504059" y="0"/>
                  </a:lnTo>
                  <a:cubicBezTo>
                    <a:pt x="2513457" y="0"/>
                    <a:pt x="2520950" y="7620"/>
                    <a:pt x="2520950" y="16891"/>
                  </a:cubicBezTo>
                  <a:lnTo>
                    <a:pt x="2520950" y="748411"/>
                  </a:lnTo>
                  <a:cubicBezTo>
                    <a:pt x="2520950" y="757809"/>
                    <a:pt x="2513330" y="765302"/>
                    <a:pt x="2504059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504059" y="731520"/>
                  </a:lnTo>
                  <a:lnTo>
                    <a:pt x="2504059" y="748411"/>
                  </a:lnTo>
                  <a:lnTo>
                    <a:pt x="2487168" y="748411"/>
                  </a:lnTo>
                  <a:lnTo>
                    <a:pt x="2487168" y="16891"/>
                  </a:lnTo>
                  <a:lnTo>
                    <a:pt x="2504059" y="16891"/>
                  </a:lnTo>
                  <a:lnTo>
                    <a:pt x="25040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6784848" y="8613648"/>
            <a:ext cx="1865376" cy="548640"/>
            <a:chOff x="0" y="0"/>
            <a:chExt cx="2487168" cy="73152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487168" cy="731520"/>
            </a:xfrm>
            <a:custGeom>
              <a:avLst/>
              <a:gdLst/>
              <a:ahLst/>
              <a:cxnLst/>
              <a:rect r="r" b="b" t="t" l="l"/>
              <a:pathLst>
                <a:path h="731520" w="2487168">
                  <a:moveTo>
                    <a:pt x="0" y="0"/>
                  </a:moveTo>
                  <a:lnTo>
                    <a:pt x="2487168" y="0"/>
                  </a:lnTo>
                  <a:lnTo>
                    <a:pt x="24871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38100"/>
              <a:ext cx="24871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9131303" y="2547623"/>
            <a:ext cx="8529323" cy="5511803"/>
            <a:chOff x="0" y="0"/>
            <a:chExt cx="11372431" cy="7349071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16891" y="16891"/>
              <a:ext cx="11338560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1372342" cy="7348982"/>
            </a:xfrm>
            <a:custGeom>
              <a:avLst/>
              <a:gdLst/>
              <a:ahLst/>
              <a:cxnLst/>
              <a:rect r="r" b="b" t="t" l="l"/>
              <a:pathLst>
                <a:path h="7348982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7332091"/>
                  </a:lnTo>
                  <a:cubicBezTo>
                    <a:pt x="11372342" y="7341489"/>
                    <a:pt x="11364722" y="7348982"/>
                    <a:pt x="11355451" y="7348982"/>
                  </a:cubicBezTo>
                  <a:lnTo>
                    <a:pt x="16891" y="7348982"/>
                  </a:lnTo>
                  <a:cubicBezTo>
                    <a:pt x="7493" y="7348982"/>
                    <a:pt x="0" y="7341362"/>
                    <a:pt x="0" y="7332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32091"/>
                  </a:lnTo>
                  <a:lnTo>
                    <a:pt x="16891" y="7332091"/>
                  </a:lnTo>
                  <a:lnTo>
                    <a:pt x="16891" y="7315200"/>
                  </a:lnTo>
                  <a:lnTo>
                    <a:pt x="11355451" y="7315200"/>
                  </a:lnTo>
                  <a:lnTo>
                    <a:pt x="11355451" y="7332091"/>
                  </a:lnTo>
                  <a:lnTo>
                    <a:pt x="11338560" y="7332091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9418320" y="2706624"/>
            <a:ext cx="7315200" cy="475488"/>
            <a:chOff x="0" y="0"/>
            <a:chExt cx="9753600" cy="633984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57150"/>
              <a:ext cx="9753600" cy="6911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Code Example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9405623" y="3315719"/>
            <a:ext cx="7980683" cy="4414523"/>
            <a:chOff x="0" y="0"/>
            <a:chExt cx="10640911" cy="5886031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16891" y="16891"/>
              <a:ext cx="10607040" cy="5852160"/>
            </a:xfrm>
            <a:custGeom>
              <a:avLst/>
              <a:gdLst/>
              <a:ahLst/>
              <a:cxnLst/>
              <a:rect r="r" b="b" t="t" l="l"/>
              <a:pathLst>
                <a:path h="585216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852160"/>
                  </a:lnTo>
                  <a:lnTo>
                    <a:pt x="0" y="585216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0640822" cy="5885942"/>
            </a:xfrm>
            <a:custGeom>
              <a:avLst/>
              <a:gdLst/>
              <a:ahLst/>
              <a:cxnLst/>
              <a:rect r="r" b="b" t="t" l="l"/>
              <a:pathLst>
                <a:path h="5885942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5869051"/>
                  </a:lnTo>
                  <a:cubicBezTo>
                    <a:pt x="10640822" y="5878449"/>
                    <a:pt x="10633202" y="5885942"/>
                    <a:pt x="10623931" y="5885942"/>
                  </a:cubicBezTo>
                  <a:lnTo>
                    <a:pt x="16891" y="5885942"/>
                  </a:lnTo>
                  <a:cubicBezTo>
                    <a:pt x="7493" y="5885942"/>
                    <a:pt x="0" y="5878322"/>
                    <a:pt x="0" y="5869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869051"/>
                  </a:lnTo>
                  <a:lnTo>
                    <a:pt x="16891" y="5869051"/>
                  </a:lnTo>
                  <a:lnTo>
                    <a:pt x="16891" y="5852160"/>
                  </a:lnTo>
                  <a:lnTo>
                    <a:pt x="10623931" y="5852160"/>
                  </a:lnTo>
                  <a:lnTo>
                    <a:pt x="10623931" y="5869051"/>
                  </a:lnTo>
                  <a:lnTo>
                    <a:pt x="10607040" y="586905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9601200" y="3438144"/>
            <a:ext cx="7589520" cy="310896"/>
            <a:chOff x="0" y="0"/>
            <a:chExt cx="10119360" cy="414528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101193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664" r="0" b="-425664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0"/>
              <a:ext cx="1011936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 Define a node with TruthValue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9601200" y="3730752"/>
            <a:ext cx="7589520" cy="310896"/>
            <a:chOff x="0" y="0"/>
            <a:chExt cx="10119360" cy="414528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101193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664" r="0" b="-425664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0"/>
              <a:ext cx="1011936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(Node "ConceptA"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9601200" y="4023360"/>
            <a:ext cx="7589520" cy="310896"/>
            <a:chOff x="0" y="0"/>
            <a:chExt cx="10119360" cy="414528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101193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664" r="0" b="-425664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0"/>
              <a:ext cx="1011936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(SimpleTruthValue 0.8 0.9))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9601200" y="4608576"/>
            <a:ext cx="7589520" cy="310896"/>
            <a:chOff x="0" y="0"/>
            <a:chExt cx="10119360" cy="414528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101193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664" r="0" b="-425664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0"/>
              <a:ext cx="1011936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 Create a link between nodes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9601200" y="4901184"/>
            <a:ext cx="7589520" cy="310896"/>
            <a:chOff x="0" y="0"/>
            <a:chExt cx="10119360" cy="414528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101193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664" r="0" b="-425664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0"/>
              <a:ext cx="1011936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(ListLink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9601200" y="5193792"/>
            <a:ext cx="7589520" cy="310896"/>
            <a:chOff x="0" y="0"/>
            <a:chExt cx="10119360" cy="414528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101193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664" r="0" b="-425664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0"/>
              <a:ext cx="1011936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(Node "ConceptA")</a:t>
              </a:r>
            </a:p>
          </p:txBody>
        </p:sp>
      </p:grpSp>
      <p:grpSp>
        <p:nvGrpSpPr>
          <p:cNvPr name="Group 187" id="187"/>
          <p:cNvGrpSpPr/>
          <p:nvPr/>
        </p:nvGrpSpPr>
        <p:grpSpPr>
          <a:xfrm rot="0">
            <a:off x="9601200" y="5486400"/>
            <a:ext cx="7589520" cy="310896"/>
            <a:chOff x="0" y="0"/>
            <a:chExt cx="10119360" cy="414528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101193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664" r="0" b="-425664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0"/>
              <a:ext cx="1011936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(Node "ConceptB")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9601200" y="5779008"/>
            <a:ext cx="7589520" cy="310896"/>
            <a:chOff x="0" y="0"/>
            <a:chExt cx="10119360" cy="414528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101193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664" r="0" b="-425664"/>
              </a:stretch>
            </a:blipFill>
          </p:spPr>
        </p:sp>
        <p:sp>
          <p:nvSpPr>
            <p:cNvPr name="TextBox 192" id="192"/>
            <p:cNvSpPr txBox="true"/>
            <p:nvPr/>
          </p:nvSpPr>
          <p:spPr>
            <a:xfrm>
              <a:off x="0" y="0"/>
              <a:ext cx="1011936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(SimpleTruthValue 0.7 0.85))</a:t>
              </a:r>
            </a:p>
          </p:txBody>
        </p:sp>
      </p:grpSp>
      <p:grpSp>
        <p:nvGrpSpPr>
          <p:cNvPr name="Group 193" id="193"/>
          <p:cNvGrpSpPr/>
          <p:nvPr/>
        </p:nvGrpSpPr>
        <p:grpSpPr>
          <a:xfrm rot="0">
            <a:off x="9601200" y="6364224"/>
            <a:ext cx="7589520" cy="310896"/>
            <a:chOff x="0" y="0"/>
            <a:chExt cx="10119360" cy="414528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101193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664" r="0" b="-425664"/>
              </a:stretch>
            </a:blipFill>
          </p:spPr>
        </p:sp>
        <p:sp>
          <p:nvSpPr>
            <p:cNvPr name="TextBox 195" id="195"/>
            <p:cNvSpPr txBox="true"/>
            <p:nvPr/>
          </p:nvSpPr>
          <p:spPr>
            <a:xfrm>
              <a:off x="0" y="0"/>
              <a:ext cx="1011936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 EvaluationLink for predicates</a:t>
              </a:r>
            </a:p>
          </p:txBody>
        </p:sp>
      </p:grpSp>
      <p:grpSp>
        <p:nvGrpSpPr>
          <p:cNvPr name="Group 196" id="196"/>
          <p:cNvGrpSpPr/>
          <p:nvPr/>
        </p:nvGrpSpPr>
        <p:grpSpPr>
          <a:xfrm rot="0">
            <a:off x="9601200" y="6656832"/>
            <a:ext cx="7589520" cy="310896"/>
            <a:chOff x="0" y="0"/>
            <a:chExt cx="10119360" cy="414528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101193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664" r="0" b="-425664"/>
              </a:stretch>
            </a:blipFill>
          </p:spPr>
        </p:sp>
        <p:sp>
          <p:nvSpPr>
            <p:cNvPr name="TextBox 198" id="198"/>
            <p:cNvSpPr txBox="true"/>
            <p:nvPr/>
          </p:nvSpPr>
          <p:spPr>
            <a:xfrm>
              <a:off x="0" y="0"/>
              <a:ext cx="1011936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(EvaluationLink</a:t>
              </a:r>
            </a:p>
          </p:txBody>
        </p:sp>
      </p:grpSp>
      <p:grpSp>
        <p:nvGrpSpPr>
          <p:cNvPr name="Group 199" id="199"/>
          <p:cNvGrpSpPr/>
          <p:nvPr/>
        </p:nvGrpSpPr>
        <p:grpSpPr>
          <a:xfrm rot="0">
            <a:off x="9601200" y="6949440"/>
            <a:ext cx="7589520" cy="310896"/>
            <a:chOff x="0" y="0"/>
            <a:chExt cx="10119360" cy="414528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101193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664" r="0" b="-425664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0"/>
              <a:ext cx="1011936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(PredicateNode "is_related")</a:t>
              </a: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9601200" y="7242048"/>
            <a:ext cx="7589520" cy="310896"/>
            <a:chOff x="0" y="0"/>
            <a:chExt cx="10119360" cy="414528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101193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664" r="0" b="-425664"/>
              </a:stretch>
            </a:blipFill>
          </p:spPr>
        </p:sp>
        <p:sp>
          <p:nvSpPr>
            <p:cNvPr name="TextBox 204" id="204"/>
            <p:cNvSpPr txBox="true"/>
            <p:nvPr/>
          </p:nvSpPr>
          <p:spPr>
            <a:xfrm>
              <a:off x="0" y="0"/>
              <a:ext cx="1011936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(ListLink (Node "A") (Node "B")))</a:t>
              </a:r>
            </a:p>
          </p:txBody>
        </p:sp>
      </p:grpSp>
      <p:grpSp>
        <p:nvGrpSpPr>
          <p:cNvPr name="Group 205" id="205"/>
          <p:cNvGrpSpPr/>
          <p:nvPr/>
        </p:nvGrpSpPr>
        <p:grpSpPr>
          <a:xfrm rot="0">
            <a:off x="9131303" y="8308343"/>
            <a:ext cx="8529323" cy="1214123"/>
            <a:chOff x="0" y="0"/>
            <a:chExt cx="11372431" cy="1618831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16891" y="16891"/>
              <a:ext cx="113385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113723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1372342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1601851"/>
                  </a:lnTo>
                  <a:cubicBezTo>
                    <a:pt x="11372342" y="1611249"/>
                    <a:pt x="11364722" y="1618742"/>
                    <a:pt x="1135545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1355451" y="1584960"/>
                  </a:lnTo>
                  <a:lnTo>
                    <a:pt x="11355451" y="1601851"/>
                  </a:lnTo>
                  <a:lnTo>
                    <a:pt x="11338560" y="1601851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8" id="208"/>
          <p:cNvGrpSpPr/>
          <p:nvPr/>
        </p:nvGrpSpPr>
        <p:grpSpPr>
          <a:xfrm rot="0">
            <a:off x="9131303" y="8308343"/>
            <a:ext cx="135131" cy="1214123"/>
            <a:chOff x="0" y="0"/>
            <a:chExt cx="180175" cy="1618831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16891" y="16891"/>
              <a:ext cx="146304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180086" cy="1618742"/>
            </a:xfrm>
            <a:custGeom>
              <a:avLst/>
              <a:gdLst/>
              <a:ahLst/>
              <a:cxnLst/>
              <a:rect r="r" b="b" t="t" l="l"/>
              <a:pathLst>
                <a:path h="16187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01851"/>
                  </a:lnTo>
                  <a:cubicBezTo>
                    <a:pt x="180086" y="1611249"/>
                    <a:pt x="172466" y="1618742"/>
                    <a:pt x="163195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63195" y="1584960"/>
                  </a:lnTo>
                  <a:lnTo>
                    <a:pt x="163195" y="1601851"/>
                  </a:lnTo>
                  <a:lnTo>
                    <a:pt x="146304" y="1601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11" id="211"/>
          <p:cNvGrpSpPr/>
          <p:nvPr/>
        </p:nvGrpSpPr>
        <p:grpSpPr>
          <a:xfrm rot="0">
            <a:off x="9418320" y="8412480"/>
            <a:ext cx="8046720" cy="1024128"/>
            <a:chOff x="0" y="0"/>
            <a:chExt cx="10728960" cy="1365504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107289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213" id="213"/>
            <p:cNvSpPr txBox="true"/>
            <p:nvPr/>
          </p:nvSpPr>
          <p:spPr>
            <a:xfrm>
              <a:off x="0" y="-38100"/>
              <a:ext cx="10728960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Truth Values represent uncertainty in knowledge. Links connect atoms to form semantic networks. EvaluationLinks apply predicates to arguments.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82880"/>
            <a:ext cx="15544800" cy="797272"/>
            <a:chOff x="0" y="0"/>
            <a:chExt cx="20726400" cy="10630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1063030"/>
            </a:xfrm>
            <a:custGeom>
              <a:avLst/>
              <a:gdLst/>
              <a:ahLst/>
              <a:cxnLst/>
              <a:rect r="r" b="b" t="t" l="l"/>
              <a:pathLst>
                <a:path h="106303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326" r="0" b="-32349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726400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Hypergraph Visualization — AtomSpace Structure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2801600" cy="512064"/>
            <a:chOff x="0" y="0"/>
            <a:chExt cx="170688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Understanding knowledge representation in OpenCog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44800" y="548640"/>
            <a:ext cx="2560320" cy="457200"/>
            <a:chOff x="0" y="0"/>
            <a:chExt cx="341376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0" cy="609600"/>
            </a:xfrm>
            <a:custGeom>
              <a:avLst/>
              <a:gdLst/>
              <a:ahLst/>
              <a:cxnLst/>
              <a:rect r="r" b="b" t="t" l="l"/>
              <a:pathLst>
                <a:path h="6096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413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15/20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1828800"/>
            <a:ext cx="512064" cy="512064"/>
            <a:chOff x="0" y="0"/>
            <a:chExt cx="682752" cy="68275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1828800"/>
            <a:ext cx="11887200" cy="548640"/>
            <a:chOff x="0" y="0"/>
            <a:chExt cx="15849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49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58496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AtomSpace Hypergraph Architecture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741376" y="1973498"/>
            <a:ext cx="8827810" cy="453225"/>
            <a:chOff x="0" y="0"/>
            <a:chExt cx="14908111" cy="7653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148742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874240">
                  <a:moveTo>
                    <a:pt x="0" y="365760"/>
                  </a:moveTo>
                  <a:cubicBezTo>
                    <a:pt x="0" y="163703"/>
                    <a:pt x="170942" y="0"/>
                    <a:pt x="381762" y="0"/>
                  </a:cubicBezTo>
                  <a:lnTo>
                    <a:pt x="14492478" y="0"/>
                  </a:lnTo>
                  <a:cubicBezTo>
                    <a:pt x="14703297" y="0"/>
                    <a:pt x="14874240" y="163703"/>
                    <a:pt x="14874240" y="365760"/>
                  </a:cubicBezTo>
                  <a:cubicBezTo>
                    <a:pt x="14874240" y="567817"/>
                    <a:pt x="14703297" y="731520"/>
                    <a:pt x="14492478" y="731520"/>
                  </a:cubicBezTo>
                  <a:lnTo>
                    <a:pt x="381889" y="731520"/>
                  </a:lnTo>
                  <a:cubicBezTo>
                    <a:pt x="171069" y="731520"/>
                    <a:pt x="127" y="567817"/>
                    <a:pt x="127" y="36576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908149" cy="765302"/>
            </a:xfrm>
            <a:custGeom>
              <a:avLst/>
              <a:gdLst/>
              <a:ahLst/>
              <a:cxnLst/>
              <a:rect r="r" b="b" t="t" l="l"/>
              <a:pathLst>
                <a:path h="765302" w="14908149">
                  <a:moveTo>
                    <a:pt x="0" y="382651"/>
                  </a:moveTo>
                  <a:cubicBezTo>
                    <a:pt x="0" y="170688"/>
                    <a:pt x="179197" y="0"/>
                    <a:pt x="398780" y="0"/>
                  </a:cubicBezTo>
                  <a:lnTo>
                    <a:pt x="14509369" y="0"/>
                  </a:lnTo>
                  <a:lnTo>
                    <a:pt x="14509369" y="16891"/>
                  </a:lnTo>
                  <a:lnTo>
                    <a:pt x="14509369" y="0"/>
                  </a:lnTo>
                  <a:cubicBezTo>
                    <a:pt x="14728952" y="0"/>
                    <a:pt x="14908149" y="170688"/>
                    <a:pt x="14908149" y="382651"/>
                  </a:cubicBezTo>
                  <a:lnTo>
                    <a:pt x="14891258" y="382651"/>
                  </a:lnTo>
                  <a:lnTo>
                    <a:pt x="14908149" y="382651"/>
                  </a:lnTo>
                  <a:lnTo>
                    <a:pt x="14891258" y="382651"/>
                  </a:lnTo>
                  <a:lnTo>
                    <a:pt x="14908149" y="382651"/>
                  </a:lnTo>
                  <a:cubicBezTo>
                    <a:pt x="14908149" y="594741"/>
                    <a:pt x="14728952" y="765302"/>
                    <a:pt x="14509369" y="765302"/>
                  </a:cubicBezTo>
                  <a:lnTo>
                    <a:pt x="14509369" y="748411"/>
                  </a:lnTo>
                  <a:lnTo>
                    <a:pt x="14509369" y="765302"/>
                  </a:lnTo>
                  <a:lnTo>
                    <a:pt x="398780" y="765302"/>
                  </a:lnTo>
                  <a:lnTo>
                    <a:pt x="398780" y="748411"/>
                  </a:lnTo>
                  <a:lnTo>
                    <a:pt x="398780" y="765302"/>
                  </a:lnTo>
                  <a:cubicBezTo>
                    <a:pt x="179197" y="765429"/>
                    <a:pt x="0" y="594741"/>
                    <a:pt x="0" y="382651"/>
                  </a:cubicBezTo>
                  <a:lnTo>
                    <a:pt x="16891" y="382651"/>
                  </a:lnTo>
                  <a:lnTo>
                    <a:pt x="0" y="382651"/>
                  </a:lnTo>
                  <a:moveTo>
                    <a:pt x="33909" y="382651"/>
                  </a:moveTo>
                  <a:lnTo>
                    <a:pt x="16891" y="382651"/>
                  </a:lnTo>
                  <a:lnTo>
                    <a:pt x="33909" y="382651"/>
                  </a:lnTo>
                  <a:cubicBezTo>
                    <a:pt x="33909" y="574675"/>
                    <a:pt x="196596" y="731520"/>
                    <a:pt x="398780" y="731520"/>
                  </a:cubicBezTo>
                  <a:lnTo>
                    <a:pt x="14509369" y="731520"/>
                  </a:lnTo>
                  <a:cubicBezTo>
                    <a:pt x="14711553" y="731520"/>
                    <a:pt x="14874239" y="574675"/>
                    <a:pt x="14874239" y="382651"/>
                  </a:cubicBezTo>
                  <a:cubicBezTo>
                    <a:pt x="14874239" y="190627"/>
                    <a:pt x="14711553" y="33782"/>
                    <a:pt x="14509369" y="33782"/>
                  </a:cubicBezTo>
                  <a:lnTo>
                    <a:pt x="398780" y="33782"/>
                  </a:lnTo>
                  <a:lnTo>
                    <a:pt x="398780" y="16891"/>
                  </a:lnTo>
                  <a:lnTo>
                    <a:pt x="398780" y="33909"/>
                  </a:lnTo>
                  <a:cubicBezTo>
                    <a:pt x="196596" y="33909"/>
                    <a:pt x="33909" y="190754"/>
                    <a:pt x="33909" y="382651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741376" y="1980486"/>
            <a:ext cx="8815104" cy="433530"/>
            <a:chOff x="0" y="0"/>
            <a:chExt cx="1487424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874239" cy="731520"/>
            </a:xfrm>
            <a:custGeom>
              <a:avLst/>
              <a:gdLst/>
              <a:ahLst/>
              <a:cxnLst/>
              <a:rect r="r" b="b" t="t" l="l"/>
              <a:pathLst>
                <a:path h="731520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195" r="0" b="-34619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4874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Hypergraph structure enables complex knowledge representation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03493" y="3200405"/>
            <a:ext cx="8437883" cy="6426203"/>
            <a:chOff x="0" y="0"/>
            <a:chExt cx="11250511" cy="85682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121664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0"/>
                  </a:lnTo>
                  <a:lnTo>
                    <a:pt x="0" y="8534400"/>
                  </a:lnTo>
                  <a:close/>
                </a:path>
              </a:pathLst>
            </a:custGeom>
            <a:blipFill>
              <a:blip r:embed="rId5"/>
              <a:stretch>
                <a:fillRect l="0" t="-460" r="0" b="-46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250422" cy="8568182"/>
            </a:xfrm>
            <a:custGeom>
              <a:avLst/>
              <a:gdLst/>
              <a:ahLst/>
              <a:cxnLst/>
              <a:rect r="r" b="b" t="t" l="l"/>
              <a:pathLst>
                <a:path h="856818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8551291"/>
                  </a:lnTo>
                  <a:cubicBezTo>
                    <a:pt x="11250422" y="8560689"/>
                    <a:pt x="11242802" y="8568182"/>
                    <a:pt x="11233531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11233531" y="8534400"/>
                  </a:lnTo>
                  <a:lnTo>
                    <a:pt x="11233531" y="8551291"/>
                  </a:lnTo>
                  <a:lnTo>
                    <a:pt x="11216640" y="855129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05840" y="2706624"/>
            <a:ext cx="7315200" cy="475488"/>
            <a:chOff x="0" y="0"/>
            <a:chExt cx="9753600" cy="6339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9753600" cy="6911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Hypergraph Structure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14183" y="2547623"/>
            <a:ext cx="8346443" cy="3865883"/>
            <a:chOff x="0" y="0"/>
            <a:chExt cx="11128591" cy="51545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109472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28501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5137531"/>
                  </a:lnTo>
                  <a:cubicBezTo>
                    <a:pt x="11128501" y="5146929"/>
                    <a:pt x="11120882" y="5154422"/>
                    <a:pt x="1111161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1111611" y="5120640"/>
                  </a:lnTo>
                  <a:lnTo>
                    <a:pt x="11111611" y="5137531"/>
                  </a:lnTo>
                  <a:lnTo>
                    <a:pt x="11094720" y="513753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656064" y="2706624"/>
            <a:ext cx="7315200" cy="475488"/>
            <a:chOff x="0" y="0"/>
            <a:chExt cx="9753600" cy="6339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9753600" cy="6911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Concepts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43367" y="3370583"/>
            <a:ext cx="3865883" cy="939803"/>
            <a:chOff x="0" y="0"/>
            <a:chExt cx="5154511" cy="12530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544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236091"/>
                  </a:lnTo>
                  <a:cubicBezTo>
                    <a:pt x="5154422" y="1245489"/>
                    <a:pt x="5146802" y="1252982"/>
                    <a:pt x="51375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137531" y="1219200"/>
                  </a:lnTo>
                  <a:lnTo>
                    <a:pt x="5137531" y="1236091"/>
                  </a:lnTo>
                  <a:lnTo>
                    <a:pt x="5120640" y="12360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789671" y="3736343"/>
            <a:ext cx="208283" cy="208283"/>
            <a:chOff x="0" y="0"/>
            <a:chExt cx="277711" cy="2777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113264" y="3474720"/>
            <a:ext cx="3291840" cy="402336"/>
            <a:chOff x="0" y="0"/>
            <a:chExt cx="4389120" cy="5364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389120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389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Nodes (Atoms)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113264" y="3877056"/>
            <a:ext cx="3291840" cy="329184"/>
            <a:chOff x="0" y="0"/>
            <a:chExt cx="4389120" cy="43891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89120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389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Basic units of knowledge representation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666727" y="3370583"/>
            <a:ext cx="3865883" cy="939803"/>
            <a:chOff x="0" y="0"/>
            <a:chExt cx="5154511" cy="125307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544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236091"/>
                  </a:lnTo>
                  <a:cubicBezTo>
                    <a:pt x="5154422" y="1245489"/>
                    <a:pt x="5146802" y="1252982"/>
                    <a:pt x="51375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137531" y="1219200"/>
                  </a:lnTo>
                  <a:lnTo>
                    <a:pt x="5137531" y="1236091"/>
                  </a:lnTo>
                  <a:lnTo>
                    <a:pt x="5120640" y="12360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813031" y="3736343"/>
            <a:ext cx="208283" cy="208283"/>
            <a:chOff x="0" y="0"/>
            <a:chExt cx="277711" cy="27771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4136624" y="3474720"/>
            <a:ext cx="3291840" cy="402336"/>
            <a:chOff x="0" y="0"/>
            <a:chExt cx="4389120" cy="5364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389120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389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Links (Edges)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136624" y="3877056"/>
            <a:ext cx="3291840" cy="329184"/>
            <a:chOff x="0" y="0"/>
            <a:chExt cx="4389120" cy="43891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89120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4389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Connect nodes with relationships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643367" y="4467863"/>
            <a:ext cx="3865883" cy="939803"/>
            <a:chOff x="0" y="0"/>
            <a:chExt cx="5154511" cy="125307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1544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236091"/>
                  </a:lnTo>
                  <a:cubicBezTo>
                    <a:pt x="5154422" y="1245489"/>
                    <a:pt x="5146802" y="1252982"/>
                    <a:pt x="51375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137531" y="1219200"/>
                  </a:lnTo>
                  <a:lnTo>
                    <a:pt x="5137531" y="1236091"/>
                  </a:lnTo>
                  <a:lnTo>
                    <a:pt x="5120640" y="12360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789671" y="4833623"/>
            <a:ext cx="208283" cy="208283"/>
            <a:chOff x="0" y="0"/>
            <a:chExt cx="277711" cy="27771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113264" y="4572000"/>
            <a:ext cx="3291840" cy="402336"/>
            <a:chOff x="0" y="0"/>
            <a:chExt cx="4389120" cy="53644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389120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4389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TruthValues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113264" y="4974336"/>
            <a:ext cx="3291840" cy="329184"/>
            <a:chOff x="0" y="0"/>
            <a:chExt cx="4389120" cy="43891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389120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4389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Probability and confidence metrics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666727" y="4467863"/>
            <a:ext cx="3865883" cy="939803"/>
            <a:chOff x="0" y="0"/>
            <a:chExt cx="5154511" cy="125307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1544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236091"/>
                  </a:lnTo>
                  <a:cubicBezTo>
                    <a:pt x="5154422" y="1245489"/>
                    <a:pt x="5146802" y="1252982"/>
                    <a:pt x="51375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137531" y="1219200"/>
                  </a:lnTo>
                  <a:lnTo>
                    <a:pt x="5137531" y="1236091"/>
                  </a:lnTo>
                  <a:lnTo>
                    <a:pt x="5120640" y="123609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3813031" y="4833623"/>
            <a:ext cx="208283" cy="208283"/>
            <a:chOff x="0" y="0"/>
            <a:chExt cx="277711" cy="27771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4136624" y="4572000"/>
            <a:ext cx="3291840" cy="402336"/>
            <a:chOff x="0" y="0"/>
            <a:chExt cx="4389120" cy="53644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389120" cy="536448"/>
            </a:xfrm>
            <a:custGeom>
              <a:avLst/>
              <a:gdLst/>
              <a:ahLst/>
              <a:cxnLst/>
              <a:rect r="r" b="b" t="t" l="l"/>
              <a:pathLst>
                <a:path h="53644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4389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AtomSpace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4136624" y="4974336"/>
            <a:ext cx="3291840" cy="329184"/>
            <a:chOff x="0" y="0"/>
            <a:chExt cx="4389120" cy="43891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389120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4389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Unified knowledge store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314183" y="6607559"/>
            <a:ext cx="8346443" cy="2366267"/>
            <a:chOff x="0" y="0"/>
            <a:chExt cx="11128591" cy="315502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891" y="16891"/>
              <a:ext cx="11094720" cy="3121152"/>
            </a:xfrm>
            <a:custGeom>
              <a:avLst/>
              <a:gdLst/>
              <a:ahLst/>
              <a:cxnLst/>
              <a:rect r="r" b="b" t="t" l="l"/>
              <a:pathLst>
                <a:path h="31211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1128501" cy="3154934"/>
            </a:xfrm>
            <a:custGeom>
              <a:avLst/>
              <a:gdLst/>
              <a:ahLst/>
              <a:cxnLst/>
              <a:rect r="r" b="b" t="t" l="l"/>
              <a:pathLst>
                <a:path h="315493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3138043"/>
                  </a:lnTo>
                  <a:cubicBezTo>
                    <a:pt x="11128501" y="3147441"/>
                    <a:pt x="11120882" y="3154934"/>
                    <a:pt x="1111161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11111611" y="3121152"/>
                  </a:lnTo>
                  <a:lnTo>
                    <a:pt x="11111611" y="3138043"/>
                  </a:lnTo>
                  <a:lnTo>
                    <a:pt x="11094720" y="313804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314183" y="6607559"/>
            <a:ext cx="8346443" cy="574043"/>
            <a:chOff x="0" y="0"/>
            <a:chExt cx="11128591" cy="76539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1128501" cy="765304"/>
            </a:xfrm>
            <a:custGeom>
              <a:avLst/>
              <a:gdLst/>
              <a:ahLst/>
              <a:cxnLst/>
              <a:rect r="r" b="b" t="t" l="l"/>
              <a:pathLst>
                <a:path h="76530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748411"/>
                  </a:lnTo>
                  <a:cubicBezTo>
                    <a:pt x="11128501" y="757809"/>
                    <a:pt x="11120882" y="765302"/>
                    <a:pt x="111116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1111611" y="731520"/>
                  </a:lnTo>
                  <a:lnTo>
                    <a:pt x="11111611" y="748411"/>
                  </a:lnTo>
                  <a:lnTo>
                    <a:pt x="11094720" y="7484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509760" y="6675120"/>
            <a:ext cx="1828800" cy="438912"/>
            <a:chOff x="0" y="0"/>
            <a:chExt cx="2438400" cy="58521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Scheme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314183" y="7156199"/>
            <a:ext cx="8346443" cy="1671323"/>
            <a:chOff x="0" y="0"/>
            <a:chExt cx="11128591" cy="222843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11094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1128501" cy="2228342"/>
            </a:xfrm>
            <a:custGeom>
              <a:avLst/>
              <a:gdLst/>
              <a:ahLst/>
              <a:cxnLst/>
              <a:rect r="r" b="b" t="t" l="l"/>
              <a:pathLst>
                <a:path h="222834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211451"/>
                  </a:lnTo>
                  <a:cubicBezTo>
                    <a:pt x="11128501" y="2220849"/>
                    <a:pt x="11120882" y="2228342"/>
                    <a:pt x="1111161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1111611" y="2194560"/>
                  </a:lnTo>
                  <a:lnTo>
                    <a:pt x="11111611" y="2211451"/>
                  </a:lnTo>
                  <a:lnTo>
                    <a:pt x="11094720" y="221145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509760" y="7156199"/>
            <a:ext cx="7955280" cy="1554480"/>
            <a:chOff x="0" y="0"/>
            <a:chExt cx="10607040" cy="2072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6070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717" r="0" b="-49717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10607040" cy="2082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 Create a node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(ConceptNode "Human")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 Create a link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(InheritanceLink (ConceptNode "Socrates") (ConceptNode "Human"))</a:t>
              </a:r>
            </a:p>
          </p:txBody>
        </p:sp>
      </p:grpSp>
      <p:sp>
        <p:nvSpPr>
          <p:cNvPr name="Freeform 100" id="100"/>
          <p:cNvSpPr/>
          <p:nvPr/>
        </p:nvSpPr>
        <p:spPr>
          <a:xfrm flipH="false" flipV="false" rot="0">
            <a:off x="9431894" y="6746881"/>
            <a:ext cx="8100717" cy="1820386"/>
          </a:xfrm>
          <a:custGeom>
            <a:avLst/>
            <a:gdLst/>
            <a:ahLst/>
            <a:cxnLst/>
            <a:rect r="r" b="b" t="t" l="l"/>
            <a:pathLst>
              <a:path h="1820386" w="8100717">
                <a:moveTo>
                  <a:pt x="0" y="0"/>
                </a:moveTo>
                <a:lnTo>
                  <a:pt x="8100716" y="0"/>
                </a:lnTo>
                <a:lnTo>
                  <a:pt x="8100716" y="1820386"/>
                </a:lnTo>
                <a:lnTo>
                  <a:pt x="0" y="18203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9431894" y="6746881"/>
            <a:ext cx="8100717" cy="1820386"/>
          </a:xfrm>
          <a:custGeom>
            <a:avLst/>
            <a:gdLst/>
            <a:ahLst/>
            <a:cxnLst/>
            <a:rect r="r" b="b" t="t" l="l"/>
            <a:pathLst>
              <a:path h="1820386" w="8100717">
                <a:moveTo>
                  <a:pt x="0" y="0"/>
                </a:moveTo>
                <a:lnTo>
                  <a:pt x="8100716" y="0"/>
                </a:lnTo>
                <a:lnTo>
                  <a:pt x="8100716" y="1820386"/>
                </a:lnTo>
                <a:lnTo>
                  <a:pt x="0" y="18203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960103" y="-12697"/>
            <a:ext cx="7340603" cy="1579883"/>
            <a:chOff x="0" y="0"/>
            <a:chExt cx="9787471" cy="21065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73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2089531"/>
                  </a:lnTo>
                  <a:cubicBezTo>
                    <a:pt x="9787382" y="2098929"/>
                    <a:pt x="9779762" y="2106422"/>
                    <a:pt x="977049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9770491" y="2072640"/>
                  </a:lnTo>
                  <a:lnTo>
                    <a:pt x="9770491" y="2089531"/>
                  </a:lnTo>
                  <a:lnTo>
                    <a:pt x="9753600" y="2089531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1520" y="182880"/>
            <a:ext cx="15544800" cy="694944"/>
            <a:chOff x="0" y="0"/>
            <a:chExt cx="20726400" cy="9265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07264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Scheme Code Example — AtomSpace Operations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914400"/>
            <a:ext cx="12801600" cy="512064"/>
            <a:chOff x="0" y="0"/>
            <a:chExt cx="1706880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Basic AtomSpace manipulation using Scheme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544800" y="548640"/>
            <a:ext cx="2560320" cy="457200"/>
            <a:chOff x="0" y="0"/>
            <a:chExt cx="341376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13760" cy="609600"/>
            </a:xfrm>
            <a:custGeom>
              <a:avLst/>
              <a:gdLst/>
              <a:ahLst/>
              <a:cxnLst/>
              <a:rect r="r" b="b" t="t" l="l"/>
              <a:pathLst>
                <a:path h="6096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413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16/20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1828800"/>
            <a:ext cx="512064" cy="512064"/>
            <a:chOff x="0" y="0"/>
            <a:chExt cx="682752" cy="682752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71600" y="1828800"/>
            <a:ext cx="11887200" cy="548640"/>
            <a:chOff x="0" y="0"/>
            <a:chExt cx="158496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849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58496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AtomSpace Operations in Scheme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788903" y="1852679"/>
            <a:ext cx="4871723" cy="574043"/>
            <a:chOff x="0" y="0"/>
            <a:chExt cx="6495631" cy="7653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6461887" cy="731520"/>
            </a:xfrm>
            <a:custGeom>
              <a:avLst/>
              <a:gdLst/>
              <a:ahLst/>
              <a:cxnLst/>
              <a:rect r="r" b="b" t="t" l="l"/>
              <a:pathLst>
                <a:path h="731520" w="6461887">
                  <a:moveTo>
                    <a:pt x="0" y="365760"/>
                  </a:moveTo>
                  <a:cubicBezTo>
                    <a:pt x="0" y="163703"/>
                    <a:pt x="170434" y="0"/>
                    <a:pt x="380746" y="0"/>
                  </a:cubicBezTo>
                  <a:lnTo>
                    <a:pt x="6081141" y="0"/>
                  </a:lnTo>
                  <a:cubicBezTo>
                    <a:pt x="6291453" y="0"/>
                    <a:pt x="6461887" y="163703"/>
                    <a:pt x="6461887" y="365760"/>
                  </a:cubicBezTo>
                  <a:cubicBezTo>
                    <a:pt x="6461887" y="567817"/>
                    <a:pt x="6291453" y="731520"/>
                    <a:pt x="6081141" y="731520"/>
                  </a:cubicBezTo>
                  <a:lnTo>
                    <a:pt x="380746" y="731520"/>
                  </a:lnTo>
                  <a:cubicBezTo>
                    <a:pt x="170434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95669" cy="765302"/>
            </a:xfrm>
            <a:custGeom>
              <a:avLst/>
              <a:gdLst/>
              <a:ahLst/>
              <a:cxnLst/>
              <a:rect r="r" b="b" t="t" l="l"/>
              <a:pathLst>
                <a:path h="765302" w="6495669">
                  <a:moveTo>
                    <a:pt x="0" y="382651"/>
                  </a:moveTo>
                  <a:cubicBezTo>
                    <a:pt x="0" y="170688"/>
                    <a:pt x="178689" y="0"/>
                    <a:pt x="397637" y="0"/>
                  </a:cubicBezTo>
                  <a:lnTo>
                    <a:pt x="6098032" y="0"/>
                  </a:lnTo>
                  <a:lnTo>
                    <a:pt x="6098032" y="16891"/>
                  </a:lnTo>
                  <a:lnTo>
                    <a:pt x="6098032" y="0"/>
                  </a:lnTo>
                  <a:cubicBezTo>
                    <a:pt x="6316980" y="0"/>
                    <a:pt x="6495669" y="170688"/>
                    <a:pt x="6495669" y="382651"/>
                  </a:cubicBezTo>
                  <a:lnTo>
                    <a:pt x="6478778" y="382651"/>
                  </a:lnTo>
                  <a:lnTo>
                    <a:pt x="6495669" y="382651"/>
                  </a:lnTo>
                  <a:lnTo>
                    <a:pt x="6478778" y="382651"/>
                  </a:lnTo>
                  <a:lnTo>
                    <a:pt x="6495669" y="382651"/>
                  </a:lnTo>
                  <a:cubicBezTo>
                    <a:pt x="6495669" y="594614"/>
                    <a:pt x="6316980" y="765302"/>
                    <a:pt x="6098032" y="765302"/>
                  </a:cubicBezTo>
                  <a:lnTo>
                    <a:pt x="6098032" y="748411"/>
                  </a:lnTo>
                  <a:lnTo>
                    <a:pt x="6098032" y="765302"/>
                  </a:lnTo>
                  <a:lnTo>
                    <a:pt x="397637" y="765302"/>
                  </a:lnTo>
                  <a:lnTo>
                    <a:pt x="397637" y="748411"/>
                  </a:lnTo>
                  <a:lnTo>
                    <a:pt x="397637" y="765302"/>
                  </a:lnTo>
                  <a:cubicBezTo>
                    <a:pt x="178689" y="765429"/>
                    <a:pt x="0" y="594741"/>
                    <a:pt x="0" y="382651"/>
                  </a:cubicBezTo>
                  <a:lnTo>
                    <a:pt x="16891" y="382651"/>
                  </a:lnTo>
                  <a:lnTo>
                    <a:pt x="0" y="382651"/>
                  </a:lnTo>
                  <a:moveTo>
                    <a:pt x="33909" y="382651"/>
                  </a:moveTo>
                  <a:lnTo>
                    <a:pt x="16891" y="382651"/>
                  </a:lnTo>
                  <a:lnTo>
                    <a:pt x="33909" y="382651"/>
                  </a:lnTo>
                  <a:cubicBezTo>
                    <a:pt x="33909" y="574675"/>
                    <a:pt x="196088" y="731520"/>
                    <a:pt x="397637" y="731520"/>
                  </a:cubicBezTo>
                  <a:lnTo>
                    <a:pt x="6098032" y="731520"/>
                  </a:lnTo>
                  <a:cubicBezTo>
                    <a:pt x="6299581" y="731520"/>
                    <a:pt x="6461760" y="574675"/>
                    <a:pt x="6461760" y="382651"/>
                  </a:cubicBezTo>
                  <a:cubicBezTo>
                    <a:pt x="6461760" y="190627"/>
                    <a:pt x="6299581" y="33782"/>
                    <a:pt x="6098032" y="33782"/>
                  </a:cubicBezTo>
                  <a:lnTo>
                    <a:pt x="397637" y="33782"/>
                  </a:lnTo>
                  <a:lnTo>
                    <a:pt x="397637" y="16891"/>
                  </a:lnTo>
                  <a:lnTo>
                    <a:pt x="397637" y="33909"/>
                  </a:lnTo>
                  <a:cubicBezTo>
                    <a:pt x="196088" y="33909"/>
                    <a:pt x="33909" y="190627"/>
                    <a:pt x="33909" y="382651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801600" y="1865376"/>
            <a:ext cx="4846320" cy="548640"/>
            <a:chOff x="0" y="0"/>
            <a:chExt cx="646176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61760" cy="731520"/>
            </a:xfrm>
            <a:custGeom>
              <a:avLst/>
              <a:gdLst/>
              <a:ahLst/>
              <a:cxnLst/>
              <a:rect r="r" b="b" t="t" l="l"/>
              <a:pathLst>
                <a:path h="7315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461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Scheme API for AtomSpace manipulation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27383" y="2547623"/>
            <a:ext cx="8346443" cy="7706363"/>
            <a:chOff x="0" y="0"/>
            <a:chExt cx="11128591" cy="102751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1094720" cy="10241281"/>
            </a:xfrm>
            <a:custGeom>
              <a:avLst/>
              <a:gdLst/>
              <a:ahLst/>
              <a:cxnLst/>
              <a:rect r="r" b="b" t="t" l="l"/>
              <a:pathLst>
                <a:path h="10241281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0241281"/>
                  </a:lnTo>
                  <a:lnTo>
                    <a:pt x="0" y="102412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128501" cy="10275062"/>
            </a:xfrm>
            <a:custGeom>
              <a:avLst/>
              <a:gdLst/>
              <a:ahLst/>
              <a:cxnLst/>
              <a:rect r="r" b="b" t="t" l="l"/>
              <a:pathLst>
                <a:path h="1027506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0258172"/>
                  </a:lnTo>
                  <a:cubicBezTo>
                    <a:pt x="11128501" y="10267569"/>
                    <a:pt x="11120882" y="10275062"/>
                    <a:pt x="11111611" y="10275062"/>
                  </a:cubicBezTo>
                  <a:lnTo>
                    <a:pt x="16891" y="10275062"/>
                  </a:lnTo>
                  <a:cubicBezTo>
                    <a:pt x="7493" y="10275062"/>
                    <a:pt x="0" y="10267442"/>
                    <a:pt x="0" y="102581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58172"/>
                  </a:lnTo>
                  <a:lnTo>
                    <a:pt x="16891" y="10258172"/>
                  </a:lnTo>
                  <a:lnTo>
                    <a:pt x="16891" y="10241280"/>
                  </a:lnTo>
                  <a:lnTo>
                    <a:pt x="11111611" y="10241280"/>
                  </a:lnTo>
                  <a:lnTo>
                    <a:pt x="11111611" y="10258172"/>
                  </a:lnTo>
                  <a:lnTo>
                    <a:pt x="11094720" y="10258172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27383" y="2547623"/>
            <a:ext cx="8346443" cy="665483"/>
            <a:chOff x="0" y="0"/>
            <a:chExt cx="11128591" cy="8873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1094720" cy="853440"/>
            </a:xfrm>
            <a:custGeom>
              <a:avLst/>
              <a:gdLst/>
              <a:ahLst/>
              <a:cxnLst/>
              <a:rect r="r" b="b" t="t" l="l"/>
              <a:pathLst>
                <a:path h="8534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28501" cy="887224"/>
            </a:xfrm>
            <a:custGeom>
              <a:avLst/>
              <a:gdLst/>
              <a:ahLst/>
              <a:cxnLst/>
              <a:rect r="r" b="b" t="t" l="l"/>
              <a:pathLst>
                <a:path h="88722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870331"/>
                  </a:lnTo>
                  <a:cubicBezTo>
                    <a:pt x="11128501" y="879729"/>
                    <a:pt x="11120882" y="887222"/>
                    <a:pt x="1111161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11111611" y="853440"/>
                  </a:lnTo>
                  <a:lnTo>
                    <a:pt x="11111611" y="870331"/>
                  </a:lnTo>
                  <a:lnTo>
                    <a:pt x="11094720" y="87033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14400" y="2651760"/>
            <a:ext cx="7680960" cy="475488"/>
            <a:chOff x="0" y="0"/>
            <a:chExt cx="10241280" cy="6339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41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58" r="0" b="-26475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2412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Basic AtomSpace Operations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27383" y="3187703"/>
            <a:ext cx="8346443" cy="5146043"/>
            <a:chOff x="0" y="0"/>
            <a:chExt cx="11128591" cy="68613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10947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128501" cy="6861301"/>
            </a:xfrm>
            <a:custGeom>
              <a:avLst/>
              <a:gdLst/>
              <a:ahLst/>
              <a:cxnLst/>
              <a:rect r="r" b="b" t="t" l="l"/>
              <a:pathLst>
                <a:path h="6861301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6844411"/>
                  </a:lnTo>
                  <a:cubicBezTo>
                    <a:pt x="11128501" y="6853809"/>
                    <a:pt x="11120882" y="6861301"/>
                    <a:pt x="11111611" y="6861301"/>
                  </a:cubicBezTo>
                  <a:lnTo>
                    <a:pt x="16891" y="6861301"/>
                  </a:lnTo>
                  <a:cubicBezTo>
                    <a:pt x="7493" y="6861301"/>
                    <a:pt x="0" y="6853682"/>
                    <a:pt x="0" y="6844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44411"/>
                  </a:lnTo>
                  <a:lnTo>
                    <a:pt x="16891" y="6844411"/>
                  </a:lnTo>
                  <a:lnTo>
                    <a:pt x="16891" y="6827520"/>
                  </a:lnTo>
                  <a:lnTo>
                    <a:pt x="11111611" y="6827520"/>
                  </a:lnTo>
                  <a:lnTo>
                    <a:pt x="11111611" y="6844411"/>
                  </a:lnTo>
                  <a:lnTo>
                    <a:pt x="11094720" y="68444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22960" y="3291840"/>
            <a:ext cx="7955280" cy="384048"/>
            <a:chOff x="0" y="0"/>
            <a:chExt cx="10607040" cy="5120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106070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;; Load the AtomSpace module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2960" y="3694176"/>
            <a:ext cx="7955280" cy="384048"/>
            <a:chOff x="0" y="0"/>
            <a:chExt cx="10607040" cy="5120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06070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(use-modules (opencog) (opencog exec))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22960" y="4498848"/>
            <a:ext cx="7955280" cy="384048"/>
            <a:chOff x="0" y="0"/>
            <a:chExt cx="10607040" cy="51206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106070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;; Create a simple concept node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22960" y="4901184"/>
            <a:ext cx="7955280" cy="384048"/>
            <a:chOff x="0" y="0"/>
            <a:chExt cx="10607040" cy="5120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06070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(define human (ConceptNode "Human"))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5303520"/>
            <a:ext cx="7955280" cy="384048"/>
            <a:chOff x="0" y="0"/>
            <a:chExt cx="10607040" cy="51206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06070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(define mammal (ConceptNode "Mammal"))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22960" y="6108192"/>
            <a:ext cx="7955280" cy="384048"/>
            <a:chOff x="0" y="0"/>
            <a:chExt cx="10607040" cy="51206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106070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;; Create inheritance link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22960" y="6510528"/>
            <a:ext cx="7955280" cy="384048"/>
            <a:chOff x="0" y="0"/>
            <a:chExt cx="10607040" cy="5120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106070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(define inheritance (InheritanceLink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22960" y="6912864"/>
            <a:ext cx="7955280" cy="384048"/>
            <a:chOff x="0" y="0"/>
            <a:chExt cx="10607040" cy="51206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06070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(ConceptNode "Human")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2960" y="7315200"/>
            <a:ext cx="7955280" cy="384048"/>
            <a:chOff x="0" y="0"/>
            <a:chExt cx="10607040" cy="51206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106070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(ConceptNode "Mammal")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22960" y="7717536"/>
            <a:ext cx="7955280" cy="384048"/>
            <a:chOff x="0" y="0"/>
            <a:chExt cx="10607040" cy="51206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106070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(stv 0.9 0.8)))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27383" y="8363207"/>
            <a:ext cx="8346443" cy="1397003"/>
            <a:chOff x="0" y="0"/>
            <a:chExt cx="11128591" cy="186267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11094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128501" cy="1862582"/>
            </a:xfrm>
            <a:custGeom>
              <a:avLst/>
              <a:gdLst/>
              <a:ahLst/>
              <a:cxnLst/>
              <a:rect r="r" b="b" t="t" l="l"/>
              <a:pathLst>
                <a:path h="186258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845691"/>
                  </a:lnTo>
                  <a:cubicBezTo>
                    <a:pt x="11128501" y="1855089"/>
                    <a:pt x="11120882" y="1862582"/>
                    <a:pt x="1111161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1111611" y="1828800"/>
                  </a:lnTo>
                  <a:lnTo>
                    <a:pt x="11111611" y="1845691"/>
                  </a:lnTo>
                  <a:lnTo>
                    <a:pt x="11094720" y="184569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6EFAC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05840" y="8467344"/>
            <a:ext cx="3657600" cy="402336"/>
            <a:chOff x="0" y="0"/>
            <a:chExt cx="4876800" cy="53644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48768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05840" y="8887968"/>
            <a:ext cx="7772400" cy="694944"/>
            <a:chOff x="0" y="0"/>
            <a:chExt cx="10363200" cy="9265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363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924" r="0" b="-16792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1036320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665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(InheritanceLink (stv 0.95 0.9) (ConceptNode "Human") (ConceptNode "Mammal"))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314183" y="2547623"/>
            <a:ext cx="8346443" cy="7706363"/>
            <a:chOff x="0" y="0"/>
            <a:chExt cx="11128591" cy="1027515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11094720" cy="10241281"/>
            </a:xfrm>
            <a:custGeom>
              <a:avLst/>
              <a:gdLst/>
              <a:ahLst/>
              <a:cxnLst/>
              <a:rect r="r" b="b" t="t" l="l"/>
              <a:pathLst>
                <a:path h="10241281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0241281"/>
                  </a:lnTo>
                  <a:lnTo>
                    <a:pt x="0" y="102412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128501" cy="10275062"/>
            </a:xfrm>
            <a:custGeom>
              <a:avLst/>
              <a:gdLst/>
              <a:ahLst/>
              <a:cxnLst/>
              <a:rect r="r" b="b" t="t" l="l"/>
              <a:pathLst>
                <a:path h="1027506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0258172"/>
                  </a:lnTo>
                  <a:cubicBezTo>
                    <a:pt x="11128501" y="10267569"/>
                    <a:pt x="11120882" y="10275062"/>
                    <a:pt x="11111611" y="10275062"/>
                  </a:cubicBezTo>
                  <a:lnTo>
                    <a:pt x="16891" y="10275062"/>
                  </a:lnTo>
                  <a:cubicBezTo>
                    <a:pt x="7493" y="10275062"/>
                    <a:pt x="0" y="10267442"/>
                    <a:pt x="0" y="102581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58172"/>
                  </a:lnTo>
                  <a:lnTo>
                    <a:pt x="16891" y="10258172"/>
                  </a:lnTo>
                  <a:lnTo>
                    <a:pt x="16891" y="10241280"/>
                  </a:lnTo>
                  <a:lnTo>
                    <a:pt x="11111611" y="10241280"/>
                  </a:lnTo>
                  <a:lnTo>
                    <a:pt x="11111611" y="10258172"/>
                  </a:lnTo>
                  <a:lnTo>
                    <a:pt x="11094720" y="10258172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314183" y="2547623"/>
            <a:ext cx="8346443" cy="665483"/>
            <a:chOff x="0" y="0"/>
            <a:chExt cx="11128591" cy="88731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11094720" cy="853440"/>
            </a:xfrm>
            <a:custGeom>
              <a:avLst/>
              <a:gdLst/>
              <a:ahLst/>
              <a:cxnLst/>
              <a:rect r="r" b="b" t="t" l="l"/>
              <a:pathLst>
                <a:path h="8534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1128501" cy="887224"/>
            </a:xfrm>
            <a:custGeom>
              <a:avLst/>
              <a:gdLst/>
              <a:ahLst/>
              <a:cxnLst/>
              <a:rect r="r" b="b" t="t" l="l"/>
              <a:pathLst>
                <a:path h="88722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870331"/>
                  </a:lnTo>
                  <a:cubicBezTo>
                    <a:pt x="11128501" y="879729"/>
                    <a:pt x="11120882" y="887222"/>
                    <a:pt x="1111161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11111611" y="853440"/>
                  </a:lnTo>
                  <a:lnTo>
                    <a:pt x="11111611" y="870331"/>
                  </a:lnTo>
                  <a:lnTo>
                    <a:pt x="11094720" y="87033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601200" y="2651760"/>
            <a:ext cx="7680960" cy="475488"/>
            <a:chOff x="0" y="0"/>
            <a:chExt cx="10241280" cy="63398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241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58" r="0" b="-26475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102412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Advanced Operations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314183" y="3187703"/>
            <a:ext cx="8346443" cy="5146043"/>
            <a:chOff x="0" y="0"/>
            <a:chExt cx="11128591" cy="686139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110947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1128501" cy="6861301"/>
            </a:xfrm>
            <a:custGeom>
              <a:avLst/>
              <a:gdLst/>
              <a:ahLst/>
              <a:cxnLst/>
              <a:rect r="r" b="b" t="t" l="l"/>
              <a:pathLst>
                <a:path h="6861301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6844411"/>
                  </a:lnTo>
                  <a:cubicBezTo>
                    <a:pt x="11128501" y="6853809"/>
                    <a:pt x="11120882" y="6861301"/>
                    <a:pt x="11111611" y="6861301"/>
                  </a:cubicBezTo>
                  <a:lnTo>
                    <a:pt x="16891" y="6861301"/>
                  </a:lnTo>
                  <a:cubicBezTo>
                    <a:pt x="7493" y="6861301"/>
                    <a:pt x="0" y="6853682"/>
                    <a:pt x="0" y="6844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44411"/>
                  </a:lnTo>
                  <a:lnTo>
                    <a:pt x="16891" y="6844411"/>
                  </a:lnTo>
                  <a:lnTo>
                    <a:pt x="16891" y="6827520"/>
                  </a:lnTo>
                  <a:lnTo>
                    <a:pt x="11111611" y="6827520"/>
                  </a:lnTo>
                  <a:lnTo>
                    <a:pt x="11111611" y="6844411"/>
                  </a:lnTo>
                  <a:lnTo>
                    <a:pt x="11094720" y="68444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509760" y="3291840"/>
            <a:ext cx="7955280" cy="384048"/>
            <a:chOff x="0" y="0"/>
            <a:chExt cx="10607040" cy="51206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106070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;; Pattern matching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509760" y="3694176"/>
            <a:ext cx="7955280" cy="384048"/>
            <a:chOff x="0" y="0"/>
            <a:chExt cx="10607040" cy="51206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106070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(define pattern (BindLink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509760" y="4096512"/>
            <a:ext cx="7955280" cy="384048"/>
            <a:chOff x="0" y="0"/>
            <a:chExt cx="10607040" cy="51206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106070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(VariableNode "$X")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509760" y="4498848"/>
            <a:ext cx="7955280" cy="384048"/>
            <a:chOff x="0" y="0"/>
            <a:chExt cx="10607040" cy="51206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106070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(InheritanceLink (VariableNode "$X")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509760" y="4901184"/>
            <a:ext cx="7955280" cy="384048"/>
            <a:chOff x="0" y="0"/>
            <a:chExt cx="10607040" cy="51206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106070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(ConceptNode "Mammal"))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509760" y="5303520"/>
            <a:ext cx="7955280" cy="384048"/>
            <a:chOff x="0" y="0"/>
            <a:chExt cx="10607040" cy="51206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9525"/>
              <a:ext cx="106070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(VariableNode "$X")))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509760" y="6108192"/>
            <a:ext cx="7955280" cy="384048"/>
            <a:chOff x="0" y="0"/>
            <a:chExt cx="10607040" cy="51206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9525"/>
              <a:ext cx="106070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;; Execute pattern matching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509760" y="6510528"/>
            <a:ext cx="7955280" cy="384048"/>
            <a:chOff x="0" y="0"/>
            <a:chExt cx="10607040" cy="512064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9525"/>
              <a:ext cx="1060704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(cog-execute! pattern)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314183" y="8363207"/>
            <a:ext cx="8346443" cy="1397003"/>
            <a:chOff x="0" y="0"/>
            <a:chExt cx="11128591" cy="186267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11094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1128501" cy="1862582"/>
            </a:xfrm>
            <a:custGeom>
              <a:avLst/>
              <a:gdLst/>
              <a:ahLst/>
              <a:cxnLst/>
              <a:rect r="r" b="b" t="t" l="l"/>
              <a:pathLst>
                <a:path h="186258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845691"/>
                  </a:lnTo>
                  <a:cubicBezTo>
                    <a:pt x="11128501" y="1855089"/>
                    <a:pt x="11120882" y="1862582"/>
                    <a:pt x="1111161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1111611" y="1828800"/>
                  </a:lnTo>
                  <a:lnTo>
                    <a:pt x="11111611" y="1845691"/>
                  </a:lnTo>
                  <a:lnTo>
                    <a:pt x="11094720" y="184569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6EFAC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9656064" y="8467344"/>
            <a:ext cx="3657600" cy="402336"/>
            <a:chOff x="0" y="0"/>
            <a:chExt cx="4876800" cy="53644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48768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656064" y="8887968"/>
            <a:ext cx="7772400" cy="694944"/>
            <a:chOff x="0" y="0"/>
            <a:chExt cx="10363200" cy="92659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0363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924" r="0" b="-167924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9525"/>
              <a:ext cx="1036320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665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Pattern matching executed successfully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665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Found: Human, Dog, Cat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82880"/>
            <a:ext cx="15544800" cy="694944"/>
            <a:chOff x="0" y="0"/>
            <a:chExt cx="2072640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7264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AtomSpace API Code Example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2801600" cy="512064"/>
            <a:chOff x="0" y="0"/>
            <a:chExt cx="170688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Working with OpenCog using Python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44800" y="548640"/>
            <a:ext cx="2560320" cy="457200"/>
            <a:chOff x="0" y="0"/>
            <a:chExt cx="341376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0" cy="609600"/>
            </a:xfrm>
            <a:custGeom>
              <a:avLst/>
              <a:gdLst/>
              <a:ahLst/>
              <a:cxnLst/>
              <a:rect r="r" b="b" t="t" l="l"/>
              <a:pathLst>
                <a:path h="6096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413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17/20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1828800"/>
            <a:ext cx="512064" cy="512064"/>
            <a:chOff x="0" y="0"/>
            <a:chExt cx="682752" cy="68275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1828800"/>
            <a:ext cx="11887200" cy="548640"/>
            <a:chOff x="0" y="0"/>
            <a:chExt cx="15849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49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58496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AtomSpace API Example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7383" y="2547623"/>
            <a:ext cx="11168377" cy="7556878"/>
            <a:chOff x="0" y="0"/>
            <a:chExt cx="14891169" cy="100758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600" y="16563"/>
              <a:ext cx="14857881" cy="10042623"/>
            </a:xfrm>
            <a:custGeom>
              <a:avLst/>
              <a:gdLst/>
              <a:ahLst/>
              <a:cxnLst/>
              <a:rect r="r" b="b" t="t" l="l"/>
              <a:pathLst>
                <a:path h="10042623" w="14857881">
                  <a:moveTo>
                    <a:pt x="0" y="0"/>
                  </a:moveTo>
                  <a:lnTo>
                    <a:pt x="14857881" y="0"/>
                  </a:lnTo>
                  <a:lnTo>
                    <a:pt x="14857881" y="10042624"/>
                  </a:lnTo>
                  <a:lnTo>
                    <a:pt x="0" y="100426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891082" cy="10075750"/>
            </a:xfrm>
            <a:custGeom>
              <a:avLst/>
              <a:gdLst/>
              <a:ahLst/>
              <a:cxnLst/>
              <a:rect r="r" b="b" t="t" l="l"/>
              <a:pathLst>
                <a:path h="10075750" w="14891082">
                  <a:moveTo>
                    <a:pt x="16600" y="0"/>
                  </a:moveTo>
                  <a:lnTo>
                    <a:pt x="14874481" y="0"/>
                  </a:lnTo>
                  <a:cubicBezTo>
                    <a:pt x="14883718" y="0"/>
                    <a:pt x="14891082" y="7472"/>
                    <a:pt x="14891082" y="16563"/>
                  </a:cubicBezTo>
                  <a:lnTo>
                    <a:pt x="14891082" y="10059187"/>
                  </a:lnTo>
                  <a:cubicBezTo>
                    <a:pt x="14891082" y="10068402"/>
                    <a:pt x="14883594" y="10075750"/>
                    <a:pt x="14874481" y="10075750"/>
                  </a:cubicBezTo>
                  <a:lnTo>
                    <a:pt x="16600" y="10075750"/>
                  </a:lnTo>
                  <a:cubicBezTo>
                    <a:pt x="7364" y="10075750"/>
                    <a:pt x="0" y="10068278"/>
                    <a:pt x="0" y="10059187"/>
                  </a:cubicBezTo>
                  <a:lnTo>
                    <a:pt x="0" y="16563"/>
                  </a:lnTo>
                  <a:cubicBezTo>
                    <a:pt x="0" y="7472"/>
                    <a:pt x="7489" y="0"/>
                    <a:pt x="16600" y="0"/>
                  </a:cubicBezTo>
                  <a:moveTo>
                    <a:pt x="16600" y="33251"/>
                  </a:moveTo>
                  <a:lnTo>
                    <a:pt x="16600" y="16563"/>
                  </a:lnTo>
                  <a:lnTo>
                    <a:pt x="33325" y="16563"/>
                  </a:lnTo>
                  <a:lnTo>
                    <a:pt x="33325" y="10059187"/>
                  </a:lnTo>
                  <a:lnTo>
                    <a:pt x="16600" y="10059187"/>
                  </a:lnTo>
                  <a:lnTo>
                    <a:pt x="16600" y="10042623"/>
                  </a:lnTo>
                  <a:lnTo>
                    <a:pt x="14874481" y="10042623"/>
                  </a:lnTo>
                  <a:lnTo>
                    <a:pt x="14874481" y="10059187"/>
                  </a:lnTo>
                  <a:lnTo>
                    <a:pt x="14857882" y="10059187"/>
                  </a:lnTo>
                  <a:lnTo>
                    <a:pt x="14857882" y="16563"/>
                  </a:lnTo>
                  <a:lnTo>
                    <a:pt x="14874481" y="16563"/>
                  </a:lnTo>
                  <a:lnTo>
                    <a:pt x="14874481" y="33251"/>
                  </a:lnTo>
                  <a:lnTo>
                    <a:pt x="16600" y="332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27383" y="2547623"/>
            <a:ext cx="11168377" cy="610619"/>
            <a:chOff x="0" y="0"/>
            <a:chExt cx="14891169" cy="81415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600" y="16891"/>
              <a:ext cx="14857881" cy="780288"/>
            </a:xfrm>
            <a:custGeom>
              <a:avLst/>
              <a:gdLst/>
              <a:ahLst/>
              <a:cxnLst/>
              <a:rect r="r" b="b" t="t" l="l"/>
              <a:pathLst>
                <a:path h="780288" w="14857881">
                  <a:moveTo>
                    <a:pt x="0" y="0"/>
                  </a:moveTo>
                  <a:lnTo>
                    <a:pt x="14857881" y="0"/>
                  </a:lnTo>
                  <a:lnTo>
                    <a:pt x="14857881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891082" cy="814072"/>
            </a:xfrm>
            <a:custGeom>
              <a:avLst/>
              <a:gdLst/>
              <a:ahLst/>
              <a:cxnLst/>
              <a:rect r="r" b="b" t="t" l="l"/>
              <a:pathLst>
                <a:path h="814072" w="14891082">
                  <a:moveTo>
                    <a:pt x="16600" y="0"/>
                  </a:moveTo>
                  <a:lnTo>
                    <a:pt x="14874481" y="0"/>
                  </a:lnTo>
                  <a:cubicBezTo>
                    <a:pt x="14883718" y="0"/>
                    <a:pt x="14891082" y="7620"/>
                    <a:pt x="14891082" y="16891"/>
                  </a:cubicBezTo>
                  <a:lnTo>
                    <a:pt x="14891082" y="797179"/>
                  </a:lnTo>
                  <a:cubicBezTo>
                    <a:pt x="14891082" y="806577"/>
                    <a:pt x="14883594" y="814070"/>
                    <a:pt x="14874481" y="814070"/>
                  </a:cubicBezTo>
                  <a:lnTo>
                    <a:pt x="16600" y="814070"/>
                  </a:lnTo>
                  <a:cubicBezTo>
                    <a:pt x="7489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489" y="0"/>
                    <a:pt x="16600" y="0"/>
                  </a:cubicBezTo>
                  <a:moveTo>
                    <a:pt x="16600" y="33909"/>
                  </a:moveTo>
                  <a:lnTo>
                    <a:pt x="16600" y="16891"/>
                  </a:lnTo>
                  <a:lnTo>
                    <a:pt x="33325" y="16891"/>
                  </a:lnTo>
                  <a:lnTo>
                    <a:pt x="33325" y="797179"/>
                  </a:lnTo>
                  <a:lnTo>
                    <a:pt x="16600" y="797179"/>
                  </a:lnTo>
                  <a:lnTo>
                    <a:pt x="16600" y="780288"/>
                  </a:lnTo>
                  <a:lnTo>
                    <a:pt x="14874481" y="780288"/>
                  </a:lnTo>
                  <a:lnTo>
                    <a:pt x="14874481" y="797179"/>
                  </a:lnTo>
                  <a:lnTo>
                    <a:pt x="14857882" y="797179"/>
                  </a:lnTo>
                  <a:lnTo>
                    <a:pt x="14857882" y="16891"/>
                  </a:lnTo>
                  <a:lnTo>
                    <a:pt x="14874481" y="16891"/>
                  </a:lnTo>
                  <a:lnTo>
                    <a:pt x="14874481" y="33909"/>
                  </a:lnTo>
                  <a:lnTo>
                    <a:pt x="16600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50976" y="2633472"/>
            <a:ext cx="7315200" cy="457200"/>
            <a:chOff x="0" y="0"/>
            <a:chExt cx="9753600" cy="609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8FA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medical_reasoner.py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27383" y="3132839"/>
            <a:ext cx="11168377" cy="6572507"/>
            <a:chOff x="0" y="0"/>
            <a:chExt cx="14891169" cy="876334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600" y="16891"/>
              <a:ext cx="14857881" cy="8729472"/>
            </a:xfrm>
            <a:custGeom>
              <a:avLst/>
              <a:gdLst/>
              <a:ahLst/>
              <a:cxnLst/>
              <a:rect r="r" b="b" t="t" l="l"/>
              <a:pathLst>
                <a:path h="8729472" w="14857881">
                  <a:moveTo>
                    <a:pt x="0" y="0"/>
                  </a:moveTo>
                  <a:lnTo>
                    <a:pt x="14857881" y="0"/>
                  </a:lnTo>
                  <a:lnTo>
                    <a:pt x="14857881" y="8729472"/>
                  </a:lnTo>
                  <a:lnTo>
                    <a:pt x="0" y="8729472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891082" cy="8763254"/>
            </a:xfrm>
            <a:custGeom>
              <a:avLst/>
              <a:gdLst/>
              <a:ahLst/>
              <a:cxnLst/>
              <a:rect r="r" b="b" t="t" l="l"/>
              <a:pathLst>
                <a:path h="8763254" w="14891082">
                  <a:moveTo>
                    <a:pt x="16600" y="0"/>
                  </a:moveTo>
                  <a:lnTo>
                    <a:pt x="14874481" y="0"/>
                  </a:lnTo>
                  <a:cubicBezTo>
                    <a:pt x="14883718" y="0"/>
                    <a:pt x="14891082" y="7620"/>
                    <a:pt x="14891082" y="16891"/>
                  </a:cubicBezTo>
                  <a:lnTo>
                    <a:pt x="14891082" y="8746363"/>
                  </a:lnTo>
                  <a:cubicBezTo>
                    <a:pt x="14891082" y="8755761"/>
                    <a:pt x="14883594" y="8763254"/>
                    <a:pt x="14874481" y="8763254"/>
                  </a:cubicBezTo>
                  <a:lnTo>
                    <a:pt x="16600" y="8763254"/>
                  </a:lnTo>
                  <a:cubicBezTo>
                    <a:pt x="7364" y="8763254"/>
                    <a:pt x="0" y="8755634"/>
                    <a:pt x="0" y="8746363"/>
                  </a:cubicBezTo>
                  <a:lnTo>
                    <a:pt x="0" y="16891"/>
                  </a:lnTo>
                  <a:cubicBezTo>
                    <a:pt x="0" y="7620"/>
                    <a:pt x="7489" y="0"/>
                    <a:pt x="16600" y="0"/>
                  </a:cubicBezTo>
                  <a:moveTo>
                    <a:pt x="16600" y="33909"/>
                  </a:moveTo>
                  <a:lnTo>
                    <a:pt x="16600" y="16891"/>
                  </a:lnTo>
                  <a:lnTo>
                    <a:pt x="33325" y="16891"/>
                  </a:lnTo>
                  <a:lnTo>
                    <a:pt x="33325" y="8746363"/>
                  </a:lnTo>
                  <a:lnTo>
                    <a:pt x="16600" y="8746363"/>
                  </a:lnTo>
                  <a:lnTo>
                    <a:pt x="16600" y="8729472"/>
                  </a:lnTo>
                  <a:lnTo>
                    <a:pt x="14874481" y="8729472"/>
                  </a:lnTo>
                  <a:lnTo>
                    <a:pt x="14874481" y="8746363"/>
                  </a:lnTo>
                  <a:lnTo>
                    <a:pt x="14857882" y="8746363"/>
                  </a:lnTo>
                  <a:lnTo>
                    <a:pt x="14857882" y="16891"/>
                  </a:lnTo>
                  <a:lnTo>
                    <a:pt x="14874481" y="16891"/>
                  </a:lnTo>
                  <a:lnTo>
                    <a:pt x="14874481" y="33909"/>
                  </a:lnTo>
                  <a:lnTo>
                    <a:pt x="16600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3236976"/>
            <a:ext cx="10972800" cy="292608"/>
            <a:chOff x="0" y="0"/>
            <a:chExt cx="14630400" cy="3901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30400" cy="390144"/>
            </a:xfrm>
            <a:custGeom>
              <a:avLst/>
              <a:gdLst/>
              <a:ahLst/>
              <a:cxnLst/>
              <a:rect r="r" b="b" t="t" l="l"/>
              <a:pathLst>
                <a:path h="39014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14630400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import opencog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3529584"/>
            <a:ext cx="10972800" cy="292608"/>
            <a:chOff x="0" y="0"/>
            <a:chExt cx="14630400" cy="39014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00" cy="390144"/>
            </a:xfrm>
            <a:custGeom>
              <a:avLst/>
              <a:gdLst/>
              <a:ahLst/>
              <a:cxnLst/>
              <a:rect r="r" b="b" t="t" l="l"/>
              <a:pathLst>
                <a:path h="39014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4630400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from opencog.atomspace import AtomSpace, TruthValue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3822192"/>
            <a:ext cx="10972800" cy="292608"/>
            <a:chOff x="0" y="0"/>
            <a:chExt cx="14630400" cy="3901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30400" cy="390144"/>
            </a:xfrm>
            <a:custGeom>
              <a:avLst/>
              <a:gdLst/>
              <a:ahLst/>
              <a:cxnLst/>
              <a:rect r="r" b="b" t="t" l="l"/>
              <a:pathLst>
                <a:path h="39014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4630400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from opencog.type_constructors import *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4114800"/>
            <a:ext cx="10972800" cy="292608"/>
            <a:chOff x="0" y="0"/>
            <a:chExt cx="14630400" cy="3901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30400" cy="390144"/>
            </a:xfrm>
            <a:custGeom>
              <a:avLst/>
              <a:gdLst/>
              <a:ahLst/>
              <a:cxnLst/>
              <a:rect r="r" b="b" t="t" l="l"/>
              <a:pathLst>
                <a:path h="39014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14630400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from opencog.pln import PLNReasoner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2960" y="4700016"/>
            <a:ext cx="10972800" cy="292608"/>
            <a:chOff x="0" y="0"/>
            <a:chExt cx="14630400" cy="3901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630400" cy="390144"/>
            </a:xfrm>
            <a:custGeom>
              <a:avLst/>
              <a:gdLst/>
              <a:ahLst/>
              <a:cxnLst/>
              <a:rect r="r" b="b" t="t" l="l"/>
              <a:pathLst>
                <a:path h="39014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4630400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Initialize AtomSpace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22960" y="4992624"/>
            <a:ext cx="10972800" cy="292608"/>
            <a:chOff x="0" y="0"/>
            <a:chExt cx="14630400" cy="3901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30400" cy="390144"/>
            </a:xfrm>
            <a:custGeom>
              <a:avLst/>
              <a:gdLst/>
              <a:ahLst/>
              <a:cxnLst/>
              <a:rect r="r" b="b" t="t" l="l"/>
              <a:pathLst>
                <a:path h="39014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14630400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atomspace = AtomSpace()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22960" y="5285232"/>
            <a:ext cx="10972800" cy="292608"/>
            <a:chOff x="0" y="0"/>
            <a:chExt cx="14630400" cy="3901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630400" cy="390144"/>
            </a:xfrm>
            <a:custGeom>
              <a:avLst/>
              <a:gdLst/>
              <a:ahLst/>
              <a:cxnLst/>
              <a:rect r="r" b="b" t="t" l="l"/>
              <a:pathLst>
                <a:path h="39014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4630400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reasoner = PLNReasoner(atomspace)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5870448"/>
            <a:ext cx="10972800" cy="292608"/>
            <a:chOff x="0" y="0"/>
            <a:chExt cx="14630400" cy="3901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630400" cy="390144"/>
            </a:xfrm>
            <a:custGeom>
              <a:avLst/>
              <a:gdLst/>
              <a:ahLst/>
              <a:cxnLst/>
              <a:rect r="r" b="b" t="t" l="l"/>
              <a:pathLst>
                <a:path h="39014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4630400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Define medical knowledge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22960" y="6163056"/>
            <a:ext cx="10972800" cy="292608"/>
            <a:chOff x="0" y="0"/>
            <a:chExt cx="14630400" cy="39014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630400" cy="390144"/>
            </a:xfrm>
            <a:custGeom>
              <a:avLst/>
              <a:gdLst/>
              <a:ahLst/>
              <a:cxnLst/>
              <a:rect r="r" b="b" t="t" l="l"/>
              <a:pathLst>
                <a:path h="39014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14630400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fever = ConceptNode("fever", atomspace)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22960" y="6455664"/>
            <a:ext cx="10972800" cy="292608"/>
            <a:chOff x="0" y="0"/>
            <a:chExt cx="14630400" cy="39014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630400" cy="390144"/>
            </a:xfrm>
            <a:custGeom>
              <a:avLst/>
              <a:gdLst/>
              <a:ahLst/>
              <a:cxnLst/>
              <a:rect r="r" b="b" t="t" l="l"/>
              <a:pathLst>
                <a:path h="39014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14630400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cough = ConceptNode("cough", atomspace)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22960" y="6748272"/>
            <a:ext cx="10972800" cy="292608"/>
            <a:chOff x="0" y="0"/>
            <a:chExt cx="14630400" cy="39014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630400" cy="390144"/>
            </a:xfrm>
            <a:custGeom>
              <a:avLst/>
              <a:gdLst/>
              <a:ahLst/>
              <a:cxnLst/>
              <a:rect r="r" b="b" t="t" l="l"/>
              <a:pathLst>
                <a:path h="39014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4630400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flu   = ConceptNode("flu",   atomspace)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2960" y="7333488"/>
            <a:ext cx="10972800" cy="292608"/>
            <a:chOff x="0" y="0"/>
            <a:chExt cx="14630400" cy="39014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4630400" cy="390144"/>
            </a:xfrm>
            <a:custGeom>
              <a:avLst/>
              <a:gdLst/>
              <a:ahLst/>
              <a:cxnLst/>
              <a:rect r="r" b="b" t="t" l="l"/>
              <a:pathLst>
                <a:path h="39014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14630400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Add inheritance links with truth values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22960" y="7626096"/>
            <a:ext cx="10972800" cy="292608"/>
            <a:chOff x="0" y="0"/>
            <a:chExt cx="14630400" cy="39014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4630400" cy="390144"/>
            </a:xfrm>
            <a:custGeom>
              <a:avLst/>
              <a:gdLst/>
              <a:ahLst/>
              <a:cxnLst/>
              <a:rect r="r" b="b" t="t" l="l"/>
              <a:pathLst>
                <a:path h="39014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14630400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link1 = InheritanceLink(fever, flu)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22960" y="7918704"/>
            <a:ext cx="10972800" cy="292608"/>
            <a:chOff x="0" y="0"/>
            <a:chExt cx="14630400" cy="39014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630400" cy="390144"/>
            </a:xfrm>
            <a:custGeom>
              <a:avLst/>
              <a:gdLst/>
              <a:ahLst/>
              <a:cxnLst/>
              <a:rect r="r" b="b" t="t" l="l"/>
              <a:pathLst>
                <a:path h="39014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14630400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link1.setTruthValue(TruthValue(0.8, 0.9))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22960" y="8503920"/>
            <a:ext cx="10972800" cy="292608"/>
            <a:chOff x="0" y="0"/>
            <a:chExt cx="14630400" cy="39014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630400" cy="390144"/>
            </a:xfrm>
            <a:custGeom>
              <a:avLst/>
              <a:gdLst/>
              <a:ahLst/>
              <a:cxnLst/>
              <a:rect r="r" b="b" t="t" l="l"/>
              <a:pathLst>
                <a:path h="39014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14630400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Perform backward chaining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22960" y="8796528"/>
            <a:ext cx="10972800" cy="292608"/>
            <a:chOff x="0" y="0"/>
            <a:chExt cx="14630400" cy="39014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4630400" cy="390144"/>
            </a:xfrm>
            <a:custGeom>
              <a:avLst/>
              <a:gdLst/>
              <a:ahLst/>
              <a:cxnLst/>
              <a:rect r="r" b="b" t="t" l="l"/>
              <a:pathLst>
                <a:path h="39014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14630400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DE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result = reasoner.backwardChain(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822960" y="9089136"/>
            <a:ext cx="10972800" cy="292608"/>
            <a:chOff x="0" y="0"/>
            <a:chExt cx="14630400" cy="39014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4630400" cy="390144"/>
            </a:xfrm>
            <a:custGeom>
              <a:avLst/>
              <a:gdLst/>
              <a:ahLst/>
              <a:cxnLst/>
              <a:rect r="r" b="b" t="t" l="l"/>
              <a:pathLst>
                <a:path h="39014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14630400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target=flu, evidence=[fever, cough],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822960" y="9381744"/>
            <a:ext cx="10972800" cy="292608"/>
            <a:chOff x="0" y="0"/>
            <a:chExt cx="14630400" cy="39014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4630400" cy="390144"/>
            </a:xfrm>
            <a:custGeom>
              <a:avLst/>
              <a:gdLst/>
              <a:ahLst/>
              <a:cxnLst/>
              <a:rect r="r" b="b" t="t" l="l"/>
              <a:pathLst>
                <a:path h="39014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14630400" cy="399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max_depth=3)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240263" y="2547623"/>
            <a:ext cx="5420363" cy="2558796"/>
            <a:chOff x="0" y="0"/>
            <a:chExt cx="7227151" cy="341172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891" y="18265"/>
              <a:ext cx="7193281" cy="3375101"/>
            </a:xfrm>
            <a:custGeom>
              <a:avLst/>
              <a:gdLst/>
              <a:ahLst/>
              <a:cxnLst/>
              <a:rect r="r" b="b" t="t" l="l"/>
              <a:pathLst>
                <a:path h="3375101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3375102"/>
                  </a:lnTo>
                  <a:lnTo>
                    <a:pt x="0" y="3375102"/>
                  </a:ln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227062" cy="3411632"/>
            </a:xfrm>
            <a:custGeom>
              <a:avLst/>
              <a:gdLst/>
              <a:ahLst/>
              <a:cxnLst/>
              <a:rect r="r" b="b" t="t" l="l"/>
              <a:pathLst>
                <a:path h="341163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8240"/>
                    <a:pt x="7227062" y="18265"/>
                  </a:cubicBezTo>
                  <a:lnTo>
                    <a:pt x="7227062" y="3393367"/>
                  </a:lnTo>
                  <a:cubicBezTo>
                    <a:pt x="7227062" y="3403529"/>
                    <a:pt x="7219442" y="3411632"/>
                    <a:pt x="7210172" y="3411632"/>
                  </a:cubicBezTo>
                  <a:lnTo>
                    <a:pt x="16891" y="3411632"/>
                  </a:lnTo>
                  <a:cubicBezTo>
                    <a:pt x="7493" y="3411632"/>
                    <a:pt x="0" y="3403392"/>
                    <a:pt x="0" y="3393367"/>
                  </a:cubicBezTo>
                  <a:lnTo>
                    <a:pt x="0" y="18265"/>
                  </a:lnTo>
                  <a:cubicBezTo>
                    <a:pt x="0" y="8240"/>
                    <a:pt x="7620" y="0"/>
                    <a:pt x="16891" y="0"/>
                  </a:cubicBezTo>
                  <a:moveTo>
                    <a:pt x="16891" y="36668"/>
                  </a:moveTo>
                  <a:lnTo>
                    <a:pt x="16891" y="18265"/>
                  </a:lnTo>
                  <a:lnTo>
                    <a:pt x="33909" y="18265"/>
                  </a:lnTo>
                  <a:lnTo>
                    <a:pt x="33909" y="3393367"/>
                  </a:lnTo>
                  <a:lnTo>
                    <a:pt x="16891" y="3393367"/>
                  </a:lnTo>
                  <a:lnTo>
                    <a:pt x="16891" y="3375101"/>
                  </a:lnTo>
                  <a:lnTo>
                    <a:pt x="7210172" y="3375101"/>
                  </a:lnTo>
                  <a:lnTo>
                    <a:pt x="7210172" y="3393367"/>
                  </a:lnTo>
                  <a:lnTo>
                    <a:pt x="7193280" y="3393367"/>
                  </a:lnTo>
                  <a:lnTo>
                    <a:pt x="7193280" y="18265"/>
                  </a:lnTo>
                  <a:lnTo>
                    <a:pt x="7210172" y="18265"/>
                  </a:lnTo>
                  <a:lnTo>
                    <a:pt x="7210172" y="36668"/>
                  </a:lnTo>
                  <a:lnTo>
                    <a:pt x="16891" y="36668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2582144" y="2670048"/>
            <a:ext cx="4572000" cy="438912"/>
            <a:chOff x="0" y="0"/>
            <a:chExt cx="6096000" cy="58521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096000" cy="585216"/>
            </a:xfrm>
            <a:custGeom>
              <a:avLst/>
              <a:gdLst/>
              <a:ahLst/>
              <a:cxnLst/>
              <a:rect r="r" b="b" t="t" l="l"/>
              <a:pathLst>
                <a:path h="58521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969" r="0" b="-152969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60960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65F4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2582144" y="3182112"/>
            <a:ext cx="4937760" cy="457200"/>
            <a:chOff x="0" y="0"/>
            <a:chExt cx="6583680" cy="6096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583680" cy="609600"/>
            </a:xfrm>
            <a:custGeom>
              <a:avLst/>
              <a:gdLst/>
              <a:ahLst/>
              <a:cxnLst/>
              <a:rect r="r" b="b" t="t" l="l"/>
              <a:pathLst>
                <a:path h="6096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658368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0B98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✓ Inference complete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582144" y="3675888"/>
            <a:ext cx="4937760" cy="457200"/>
            <a:chOff x="0" y="0"/>
            <a:chExt cx="6583680" cy="6096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583680" cy="609600"/>
            </a:xfrm>
            <a:custGeom>
              <a:avLst/>
              <a:gdLst/>
              <a:ahLst/>
              <a:cxnLst/>
              <a:rect r="r" b="b" t="t" l="l"/>
              <a:pathLst>
                <a:path h="6096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658368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Confidence:  0.85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2582144" y="4169664"/>
            <a:ext cx="4937760" cy="457200"/>
            <a:chOff x="0" y="0"/>
            <a:chExt cx="6583680" cy="6096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583680" cy="609600"/>
            </a:xfrm>
            <a:custGeom>
              <a:avLst/>
              <a:gdLst/>
              <a:ahLst/>
              <a:cxnLst/>
              <a:rect r="r" b="b" t="t" l="l"/>
              <a:pathLst>
                <a:path h="6096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658368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Evidence:  2 nodes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2582144" y="4663440"/>
            <a:ext cx="4937760" cy="457200"/>
            <a:chOff x="0" y="0"/>
            <a:chExt cx="6583680" cy="6096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583680" cy="609600"/>
            </a:xfrm>
            <a:custGeom>
              <a:avLst/>
              <a:gdLst/>
              <a:ahLst/>
              <a:cxnLst/>
              <a:rect r="r" b="b" t="t" l="l"/>
              <a:pathLst>
                <a:path h="6096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658368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Rules applied:  5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2240263" y="5144519"/>
            <a:ext cx="5420363" cy="2677163"/>
            <a:chOff x="0" y="0"/>
            <a:chExt cx="7227151" cy="356955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6891" y="16891"/>
              <a:ext cx="7193281" cy="3535680"/>
            </a:xfrm>
            <a:custGeom>
              <a:avLst/>
              <a:gdLst/>
              <a:ahLst/>
              <a:cxnLst/>
              <a:rect r="r" b="b" t="t" l="l"/>
              <a:pathLst>
                <a:path h="35356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227062" cy="3569462"/>
            </a:xfrm>
            <a:custGeom>
              <a:avLst/>
              <a:gdLst/>
              <a:ahLst/>
              <a:cxnLst/>
              <a:rect r="r" b="b" t="t" l="l"/>
              <a:pathLst>
                <a:path h="356946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3552571"/>
                  </a:lnTo>
                  <a:cubicBezTo>
                    <a:pt x="7227062" y="3561969"/>
                    <a:pt x="7219442" y="3569462"/>
                    <a:pt x="7210172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7210172" y="3535680"/>
                  </a:lnTo>
                  <a:lnTo>
                    <a:pt x="7210172" y="3552571"/>
                  </a:lnTo>
                  <a:lnTo>
                    <a:pt x="7193280" y="35525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2582144" y="5303520"/>
            <a:ext cx="4754880" cy="438912"/>
            <a:chOff x="0" y="0"/>
            <a:chExt cx="6339840" cy="58521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6339840" cy="585216"/>
            </a:xfrm>
            <a:custGeom>
              <a:avLst/>
              <a:gdLst/>
              <a:ahLst/>
              <a:cxnLst/>
              <a:rect r="r" b="b" t="t" l="l"/>
              <a:pathLst>
                <a:path h="585216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63398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Methods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2582144" y="5815584"/>
            <a:ext cx="4937760" cy="438912"/>
            <a:chOff x="0" y="0"/>
            <a:chExt cx="6583680" cy="58521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583680" cy="585216"/>
            </a:xfrm>
            <a:custGeom>
              <a:avLst/>
              <a:gdLst/>
              <a:ahLst/>
              <a:cxnLst/>
              <a:rect r="r" b="b" t="t" l="l"/>
              <a:pathLst>
                <a:path h="58521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65836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ConceptNode()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2582144" y="6291072"/>
            <a:ext cx="4937760" cy="438912"/>
            <a:chOff x="0" y="0"/>
            <a:chExt cx="6583680" cy="58521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583680" cy="585216"/>
            </a:xfrm>
            <a:custGeom>
              <a:avLst/>
              <a:gdLst/>
              <a:ahLst/>
              <a:cxnLst/>
              <a:rect r="r" b="b" t="t" l="l"/>
              <a:pathLst>
                <a:path h="58521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65836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InheritanceLink()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2582144" y="6766560"/>
            <a:ext cx="4937760" cy="438912"/>
            <a:chOff x="0" y="0"/>
            <a:chExt cx="6583680" cy="58521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583680" cy="585216"/>
            </a:xfrm>
            <a:custGeom>
              <a:avLst/>
              <a:gdLst/>
              <a:ahLst/>
              <a:cxnLst/>
              <a:rect r="r" b="b" t="t" l="l"/>
              <a:pathLst>
                <a:path h="58521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65836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setTruthValue()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2582144" y="7242048"/>
            <a:ext cx="4937760" cy="438912"/>
            <a:chOff x="0" y="0"/>
            <a:chExt cx="6583680" cy="58521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583680" cy="585216"/>
            </a:xfrm>
            <a:custGeom>
              <a:avLst/>
              <a:gdLst/>
              <a:ahLst/>
              <a:cxnLst/>
              <a:rect r="r" b="b" t="t" l="l"/>
              <a:pathLst>
                <a:path h="58521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65836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backwardChain()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2240263" y="7997447"/>
            <a:ext cx="5420363" cy="2256539"/>
            <a:chOff x="0" y="0"/>
            <a:chExt cx="7227151" cy="3008719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16891" y="16891"/>
              <a:ext cx="7193281" cy="2974848"/>
            </a:xfrm>
            <a:custGeom>
              <a:avLst/>
              <a:gdLst/>
              <a:ahLst/>
              <a:cxnLst/>
              <a:rect r="r" b="b" t="t" l="l"/>
              <a:pathLst>
                <a:path h="2974848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227062" cy="3008630"/>
            </a:xfrm>
            <a:custGeom>
              <a:avLst/>
              <a:gdLst/>
              <a:ahLst/>
              <a:cxnLst/>
              <a:rect r="r" b="b" t="t" l="l"/>
              <a:pathLst>
                <a:path h="3008630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2991739"/>
                  </a:lnTo>
                  <a:cubicBezTo>
                    <a:pt x="7227062" y="3001137"/>
                    <a:pt x="7219442" y="3008630"/>
                    <a:pt x="7210172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7210172" y="2974848"/>
                  </a:lnTo>
                  <a:lnTo>
                    <a:pt x="7210172" y="2991739"/>
                  </a:lnTo>
                  <a:lnTo>
                    <a:pt x="7193280" y="2991739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2582144" y="8119872"/>
            <a:ext cx="4937760" cy="438912"/>
            <a:chOff x="0" y="0"/>
            <a:chExt cx="6583680" cy="58521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583680" cy="585216"/>
            </a:xfrm>
            <a:custGeom>
              <a:avLst/>
              <a:gdLst/>
              <a:ahLst/>
              <a:cxnLst/>
              <a:rect r="r" b="b" t="t" l="l"/>
              <a:pathLst>
                <a:path h="58521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47625"/>
              <a:ext cx="65836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240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Concepts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2582144" y="8595360"/>
            <a:ext cx="4937760" cy="1499616"/>
            <a:chOff x="0" y="0"/>
            <a:chExt cx="6583680" cy="199948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583680" cy="1999488"/>
            </a:xfrm>
            <a:custGeom>
              <a:avLst/>
              <a:gdLst/>
              <a:ahLst/>
              <a:cxnLst/>
              <a:rect r="r" b="b" t="t" l="l"/>
              <a:pathLst>
                <a:path h="19994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58" r="0" b="-14158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6583680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2400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AtomSpace API allows creation of nodes, links, and logical inference using Python. Demonstrates medical knowledge representation and reasoning.</a:t>
              </a:r>
            </a:p>
          </p:txBody>
        </p:sp>
      </p:grpSp>
      <p:sp>
        <p:nvSpPr>
          <p:cNvPr name="Freeform 130" id="130"/>
          <p:cNvSpPr/>
          <p:nvPr/>
        </p:nvSpPr>
        <p:spPr>
          <a:xfrm flipH="false" flipV="false" rot="0">
            <a:off x="627383" y="3090672"/>
            <a:ext cx="11168377" cy="7013829"/>
          </a:xfrm>
          <a:custGeom>
            <a:avLst/>
            <a:gdLst/>
            <a:ahLst/>
            <a:cxnLst/>
            <a:rect r="r" b="b" t="t" l="l"/>
            <a:pathLst>
              <a:path h="7013829" w="11168377">
                <a:moveTo>
                  <a:pt x="0" y="0"/>
                </a:moveTo>
                <a:lnTo>
                  <a:pt x="11168377" y="0"/>
                </a:lnTo>
                <a:lnTo>
                  <a:pt x="11168377" y="7013829"/>
                </a:lnTo>
                <a:lnTo>
                  <a:pt x="0" y="70138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11" t="-3554" r="-1511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82880"/>
            <a:ext cx="15544800" cy="694944"/>
            <a:chOff x="0" y="0"/>
            <a:chExt cx="2072640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7264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Components 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2801600" cy="512064"/>
            <a:chOff x="0" y="0"/>
            <a:chExt cx="170688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PLN, MOSES, Pattern Miner, CogServer, ECAN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44800" y="548640"/>
            <a:ext cx="2560320" cy="457200"/>
            <a:chOff x="0" y="0"/>
            <a:chExt cx="341376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0" cy="609600"/>
            </a:xfrm>
            <a:custGeom>
              <a:avLst/>
              <a:gdLst/>
              <a:ahLst/>
              <a:cxnLst/>
              <a:rect r="r" b="b" t="t" l="l"/>
              <a:pathLst>
                <a:path h="6096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413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18/20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1828800"/>
            <a:ext cx="512064" cy="512064"/>
            <a:chOff x="0" y="0"/>
            <a:chExt cx="682752" cy="68275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1828800"/>
            <a:ext cx="11887200" cy="548640"/>
            <a:chOff x="0" y="0"/>
            <a:chExt cx="15849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49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58496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Key Components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874503" y="1852679"/>
            <a:ext cx="5786123" cy="574043"/>
            <a:chOff x="0" y="0"/>
            <a:chExt cx="7714831" cy="7653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7680960" cy="731520"/>
            </a:xfrm>
            <a:custGeom>
              <a:avLst/>
              <a:gdLst/>
              <a:ahLst/>
              <a:cxnLst/>
              <a:rect r="r" b="b" t="t" l="l"/>
              <a:pathLst>
                <a:path h="731520" w="7680960">
                  <a:moveTo>
                    <a:pt x="0" y="365760"/>
                  </a:moveTo>
                  <a:cubicBezTo>
                    <a:pt x="0" y="163703"/>
                    <a:pt x="170561" y="0"/>
                    <a:pt x="381000" y="0"/>
                  </a:cubicBezTo>
                  <a:lnTo>
                    <a:pt x="7299960" y="0"/>
                  </a:lnTo>
                  <a:cubicBezTo>
                    <a:pt x="7510399" y="0"/>
                    <a:pt x="7680960" y="163703"/>
                    <a:pt x="7680960" y="365760"/>
                  </a:cubicBezTo>
                  <a:cubicBezTo>
                    <a:pt x="7680960" y="567817"/>
                    <a:pt x="7510399" y="731520"/>
                    <a:pt x="7299960" y="731520"/>
                  </a:cubicBezTo>
                  <a:lnTo>
                    <a:pt x="381000" y="731520"/>
                  </a:lnTo>
                  <a:cubicBezTo>
                    <a:pt x="170561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714742" cy="765302"/>
            </a:xfrm>
            <a:custGeom>
              <a:avLst/>
              <a:gdLst/>
              <a:ahLst/>
              <a:cxnLst/>
              <a:rect r="r" b="b" t="t" l="l"/>
              <a:pathLst>
                <a:path h="765302" w="7714742">
                  <a:moveTo>
                    <a:pt x="0" y="382651"/>
                  </a:moveTo>
                  <a:cubicBezTo>
                    <a:pt x="0" y="170688"/>
                    <a:pt x="178816" y="0"/>
                    <a:pt x="397891" y="0"/>
                  </a:cubicBezTo>
                  <a:lnTo>
                    <a:pt x="7316851" y="0"/>
                  </a:lnTo>
                  <a:lnTo>
                    <a:pt x="7316851" y="16891"/>
                  </a:lnTo>
                  <a:lnTo>
                    <a:pt x="7316851" y="0"/>
                  </a:lnTo>
                  <a:cubicBezTo>
                    <a:pt x="7535926" y="0"/>
                    <a:pt x="7714742" y="170688"/>
                    <a:pt x="7714742" y="382651"/>
                  </a:cubicBezTo>
                  <a:lnTo>
                    <a:pt x="7697851" y="382651"/>
                  </a:lnTo>
                  <a:lnTo>
                    <a:pt x="7714742" y="382651"/>
                  </a:lnTo>
                  <a:lnTo>
                    <a:pt x="7697851" y="382651"/>
                  </a:lnTo>
                  <a:lnTo>
                    <a:pt x="7714742" y="382651"/>
                  </a:lnTo>
                  <a:cubicBezTo>
                    <a:pt x="7714742" y="594614"/>
                    <a:pt x="7535926" y="765302"/>
                    <a:pt x="7316851" y="765302"/>
                  </a:cubicBezTo>
                  <a:lnTo>
                    <a:pt x="7316851" y="748411"/>
                  </a:lnTo>
                  <a:lnTo>
                    <a:pt x="7316851" y="765302"/>
                  </a:lnTo>
                  <a:lnTo>
                    <a:pt x="397891" y="765302"/>
                  </a:lnTo>
                  <a:lnTo>
                    <a:pt x="397891" y="748411"/>
                  </a:lnTo>
                  <a:lnTo>
                    <a:pt x="397891" y="765302"/>
                  </a:lnTo>
                  <a:cubicBezTo>
                    <a:pt x="178816" y="765429"/>
                    <a:pt x="0" y="594741"/>
                    <a:pt x="0" y="382651"/>
                  </a:cubicBezTo>
                  <a:lnTo>
                    <a:pt x="16891" y="382651"/>
                  </a:lnTo>
                  <a:lnTo>
                    <a:pt x="0" y="382651"/>
                  </a:lnTo>
                  <a:moveTo>
                    <a:pt x="33909" y="382651"/>
                  </a:moveTo>
                  <a:lnTo>
                    <a:pt x="16891" y="382651"/>
                  </a:lnTo>
                  <a:lnTo>
                    <a:pt x="33909" y="382651"/>
                  </a:lnTo>
                  <a:cubicBezTo>
                    <a:pt x="33909" y="574675"/>
                    <a:pt x="196215" y="731520"/>
                    <a:pt x="398018" y="731520"/>
                  </a:cubicBezTo>
                  <a:lnTo>
                    <a:pt x="7316978" y="731520"/>
                  </a:lnTo>
                  <a:cubicBezTo>
                    <a:pt x="7518653" y="731520"/>
                    <a:pt x="7681087" y="574675"/>
                    <a:pt x="7681087" y="382651"/>
                  </a:cubicBezTo>
                  <a:cubicBezTo>
                    <a:pt x="7681087" y="190627"/>
                    <a:pt x="7518781" y="33782"/>
                    <a:pt x="7316978" y="33782"/>
                  </a:cubicBezTo>
                  <a:lnTo>
                    <a:pt x="397891" y="33782"/>
                  </a:lnTo>
                  <a:lnTo>
                    <a:pt x="397891" y="16891"/>
                  </a:lnTo>
                  <a:lnTo>
                    <a:pt x="397891" y="33909"/>
                  </a:lnTo>
                  <a:cubicBezTo>
                    <a:pt x="196215" y="33909"/>
                    <a:pt x="33909" y="190627"/>
                    <a:pt x="33909" y="382651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887200" y="1865376"/>
            <a:ext cx="5760720" cy="548640"/>
            <a:chOff x="0" y="0"/>
            <a:chExt cx="768096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80960" cy="731520"/>
            </a:xfrm>
            <a:custGeom>
              <a:avLst/>
              <a:gdLst/>
              <a:ahLst/>
              <a:cxnLst/>
              <a:rect r="r" b="b" t="t" l="l"/>
              <a:pathLst>
                <a:path h="7315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680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components for AGI reasoning and learning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7383" y="2547623"/>
            <a:ext cx="5603243" cy="6334763"/>
            <a:chOff x="0" y="0"/>
            <a:chExt cx="7470991" cy="84463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7437120" cy="8412481"/>
            </a:xfrm>
            <a:custGeom>
              <a:avLst/>
              <a:gdLst/>
              <a:ahLst/>
              <a:cxnLst/>
              <a:rect r="r" b="b" t="t" l="l"/>
              <a:pathLst>
                <a:path h="8412481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8412481"/>
                  </a:lnTo>
                  <a:lnTo>
                    <a:pt x="0" y="84124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70901" cy="8446262"/>
            </a:xfrm>
            <a:custGeom>
              <a:avLst/>
              <a:gdLst/>
              <a:ahLst/>
              <a:cxnLst/>
              <a:rect r="r" b="b" t="t" l="l"/>
              <a:pathLst>
                <a:path h="844626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8429372"/>
                  </a:lnTo>
                  <a:cubicBezTo>
                    <a:pt x="7470901" y="8438769"/>
                    <a:pt x="7463282" y="8446262"/>
                    <a:pt x="7454011" y="8446262"/>
                  </a:cubicBezTo>
                  <a:lnTo>
                    <a:pt x="16891" y="8446262"/>
                  </a:lnTo>
                  <a:cubicBezTo>
                    <a:pt x="7493" y="8446262"/>
                    <a:pt x="0" y="8438642"/>
                    <a:pt x="0" y="84293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29372"/>
                  </a:lnTo>
                  <a:lnTo>
                    <a:pt x="16891" y="8429372"/>
                  </a:lnTo>
                  <a:lnTo>
                    <a:pt x="16891" y="8412480"/>
                  </a:lnTo>
                  <a:lnTo>
                    <a:pt x="7454011" y="8412480"/>
                  </a:lnTo>
                  <a:lnTo>
                    <a:pt x="7454011" y="8429372"/>
                  </a:lnTo>
                  <a:lnTo>
                    <a:pt x="7437120" y="8429372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27383" y="2547623"/>
            <a:ext cx="5603243" cy="98555"/>
            <a:chOff x="0" y="0"/>
            <a:chExt cx="7470991" cy="13140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7437120" cy="97536"/>
            </a:xfrm>
            <a:custGeom>
              <a:avLst/>
              <a:gdLst/>
              <a:ahLst/>
              <a:cxnLst/>
              <a:rect r="r" b="b" t="t" l="l"/>
              <a:pathLst>
                <a:path h="97536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70901" cy="131320"/>
            </a:xfrm>
            <a:custGeom>
              <a:avLst/>
              <a:gdLst/>
              <a:ahLst/>
              <a:cxnLst/>
              <a:rect r="r" b="b" t="t" l="l"/>
              <a:pathLst>
                <a:path h="131320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14427"/>
                  </a:lnTo>
                  <a:cubicBezTo>
                    <a:pt x="7470901" y="123825"/>
                    <a:pt x="7463282" y="131318"/>
                    <a:pt x="7454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7454011" y="97536"/>
                  </a:lnTo>
                  <a:lnTo>
                    <a:pt x="7454011" y="114427"/>
                  </a:lnTo>
                  <a:lnTo>
                    <a:pt x="7437120" y="114427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10263" y="2767079"/>
            <a:ext cx="720347" cy="720347"/>
            <a:chOff x="0" y="0"/>
            <a:chExt cx="960463" cy="96046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60374" cy="960376"/>
            </a:xfrm>
            <a:custGeom>
              <a:avLst/>
              <a:gdLst/>
              <a:ahLst/>
              <a:cxnLst/>
              <a:rect r="r" b="b" t="t" l="l"/>
              <a:pathLst>
                <a:path h="960376" w="960374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943483"/>
                  </a:lnTo>
                  <a:cubicBezTo>
                    <a:pt x="960374" y="952881"/>
                    <a:pt x="952754" y="960374"/>
                    <a:pt x="94348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943483" y="926592"/>
                  </a:lnTo>
                  <a:lnTo>
                    <a:pt x="943483" y="943483"/>
                  </a:lnTo>
                  <a:lnTo>
                    <a:pt x="926592" y="943483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96112" y="2834640"/>
            <a:ext cx="548640" cy="548640"/>
            <a:chOff x="0" y="0"/>
            <a:chExt cx="731520" cy="73152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645920" y="2779776"/>
            <a:ext cx="4389120" cy="475488"/>
            <a:chOff x="0" y="0"/>
            <a:chExt cx="5852160" cy="6339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852160" cy="633984"/>
            </a:xfrm>
            <a:custGeom>
              <a:avLst/>
              <a:gdLst/>
              <a:ahLst/>
              <a:cxnLst/>
              <a:rect r="r" b="b" t="t" l="l"/>
              <a:pathLst>
                <a:path h="6339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61" r="0" b="-12986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585216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45920" y="3291840"/>
            <a:ext cx="4389120" cy="365760"/>
            <a:chOff x="0" y="0"/>
            <a:chExt cx="5852160" cy="4876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8521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Probabilistic Logic Networks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10263" y="3827783"/>
            <a:ext cx="5237483" cy="976379"/>
            <a:chOff x="0" y="0"/>
            <a:chExt cx="6983311" cy="130183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6949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983222" cy="1301750"/>
            </a:xfrm>
            <a:custGeom>
              <a:avLst/>
              <a:gdLst/>
              <a:ahLst/>
              <a:cxnLst/>
              <a:rect r="r" b="b" t="t" l="l"/>
              <a:pathLst>
                <a:path h="1301750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1284859"/>
                  </a:lnTo>
                  <a:cubicBezTo>
                    <a:pt x="6983222" y="1294257"/>
                    <a:pt x="6975602" y="1301750"/>
                    <a:pt x="696633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966331" y="1267968"/>
                  </a:lnTo>
                  <a:lnTo>
                    <a:pt x="6966331" y="1284859"/>
                  </a:lnTo>
                  <a:lnTo>
                    <a:pt x="6949440" y="1284859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93143" y="4065527"/>
            <a:ext cx="208283" cy="208283"/>
            <a:chOff x="0" y="0"/>
            <a:chExt cx="277711" cy="27771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98448" y="3895344"/>
            <a:ext cx="4572000" cy="768096"/>
            <a:chOff x="0" y="0"/>
            <a:chExt cx="6096000" cy="10241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096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82" r="0" b="-6598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0960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Probabilistic inference engine for uncertain reasoning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10263" y="4925063"/>
            <a:ext cx="5237483" cy="976379"/>
            <a:chOff x="0" y="0"/>
            <a:chExt cx="6983311" cy="130183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6949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983222" cy="1301750"/>
            </a:xfrm>
            <a:custGeom>
              <a:avLst/>
              <a:gdLst/>
              <a:ahLst/>
              <a:cxnLst/>
              <a:rect r="r" b="b" t="t" l="l"/>
              <a:pathLst>
                <a:path h="1301750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1284859"/>
                  </a:lnTo>
                  <a:cubicBezTo>
                    <a:pt x="6983222" y="1294257"/>
                    <a:pt x="6975602" y="1301750"/>
                    <a:pt x="696633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966331" y="1267968"/>
                  </a:lnTo>
                  <a:lnTo>
                    <a:pt x="6966331" y="1284859"/>
                  </a:lnTo>
                  <a:lnTo>
                    <a:pt x="6949440" y="1284859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93143" y="5162807"/>
            <a:ext cx="208283" cy="208283"/>
            <a:chOff x="0" y="0"/>
            <a:chExt cx="277711" cy="27771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98448" y="4992624"/>
            <a:ext cx="4572000" cy="768096"/>
            <a:chOff x="0" y="0"/>
            <a:chExt cx="6096000" cy="102412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096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82" r="0" b="-6598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0960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Forward/backward chaining with truth values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10263" y="6022343"/>
            <a:ext cx="5237483" cy="976379"/>
            <a:chOff x="0" y="0"/>
            <a:chExt cx="6983311" cy="130183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6949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983222" cy="1301750"/>
            </a:xfrm>
            <a:custGeom>
              <a:avLst/>
              <a:gdLst/>
              <a:ahLst/>
              <a:cxnLst/>
              <a:rect r="r" b="b" t="t" l="l"/>
              <a:pathLst>
                <a:path h="1301750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1284859"/>
                  </a:lnTo>
                  <a:cubicBezTo>
                    <a:pt x="6983222" y="1294257"/>
                    <a:pt x="6975602" y="1301750"/>
                    <a:pt x="696633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966331" y="1267968"/>
                  </a:lnTo>
                  <a:lnTo>
                    <a:pt x="6966331" y="1284859"/>
                  </a:lnTo>
                  <a:lnTo>
                    <a:pt x="6949440" y="1284859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93143" y="6260087"/>
            <a:ext cx="208283" cy="208283"/>
            <a:chOff x="0" y="0"/>
            <a:chExt cx="277711" cy="27771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98448" y="6089904"/>
            <a:ext cx="4572000" cy="768096"/>
            <a:chOff x="0" y="0"/>
            <a:chExt cx="6096000" cy="10241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096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82" r="0" b="-6598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60960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Handles uncertainty and contradiction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10263" y="7302503"/>
            <a:ext cx="2494283" cy="1159259"/>
            <a:chOff x="0" y="0"/>
            <a:chExt cx="3325711" cy="154567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32918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325622" cy="1545590"/>
            </a:xfrm>
            <a:custGeom>
              <a:avLst/>
              <a:gdLst/>
              <a:ahLst/>
              <a:cxnLst/>
              <a:rect r="r" b="b" t="t" l="l"/>
              <a:pathLst>
                <a:path h="1545590" w="3325622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1528699"/>
                  </a:lnTo>
                  <a:cubicBezTo>
                    <a:pt x="3325622" y="1538097"/>
                    <a:pt x="3318002" y="1545590"/>
                    <a:pt x="330873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3308731" y="1511808"/>
                  </a:lnTo>
                  <a:lnTo>
                    <a:pt x="3308731" y="1528699"/>
                  </a:lnTo>
                  <a:lnTo>
                    <a:pt x="3291840" y="1528699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822960" y="7388352"/>
            <a:ext cx="2468880" cy="548640"/>
            <a:chOff x="0" y="0"/>
            <a:chExt cx="329184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32918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95%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22960" y="7973568"/>
            <a:ext cx="2468880" cy="402336"/>
            <a:chOff x="0" y="0"/>
            <a:chExt cx="3291840" cy="53644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291840" cy="536448"/>
            </a:xfrm>
            <a:custGeom>
              <a:avLst/>
              <a:gdLst/>
              <a:ahLst/>
              <a:cxnLst/>
              <a:rect r="r" b="b" t="t" l="l"/>
              <a:pathLst>
                <a:path h="53644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67" r="0" b="-6956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32918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3553463" y="7302503"/>
            <a:ext cx="2494283" cy="1159259"/>
            <a:chOff x="0" y="0"/>
            <a:chExt cx="3325711" cy="154567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32918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325622" cy="1545590"/>
            </a:xfrm>
            <a:custGeom>
              <a:avLst/>
              <a:gdLst/>
              <a:ahLst/>
              <a:cxnLst/>
              <a:rect r="r" b="b" t="t" l="l"/>
              <a:pathLst>
                <a:path h="1545590" w="3325622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1528699"/>
                  </a:lnTo>
                  <a:cubicBezTo>
                    <a:pt x="3325622" y="1538097"/>
                    <a:pt x="3318002" y="1545590"/>
                    <a:pt x="330873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3308731" y="1511808"/>
                  </a:lnTo>
                  <a:lnTo>
                    <a:pt x="3308731" y="1528699"/>
                  </a:lnTo>
                  <a:lnTo>
                    <a:pt x="3291840" y="1528699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3566160" y="7388352"/>
            <a:ext cx="2468880" cy="548640"/>
            <a:chOff x="0" y="0"/>
            <a:chExt cx="3291840" cy="7315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32918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3566160" y="7973568"/>
            <a:ext cx="2468880" cy="402336"/>
            <a:chOff x="0" y="0"/>
            <a:chExt cx="3291840" cy="53644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291840" cy="536448"/>
            </a:xfrm>
            <a:custGeom>
              <a:avLst/>
              <a:gdLst/>
              <a:ahLst/>
              <a:cxnLst/>
              <a:rect r="r" b="b" t="t" l="l"/>
              <a:pathLst>
                <a:path h="53644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67" r="0" b="-6956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32918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Inference time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6479543" y="2547623"/>
            <a:ext cx="5603243" cy="6334763"/>
            <a:chOff x="0" y="0"/>
            <a:chExt cx="7470991" cy="844635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6891" y="16891"/>
              <a:ext cx="7437120" cy="8412481"/>
            </a:xfrm>
            <a:custGeom>
              <a:avLst/>
              <a:gdLst/>
              <a:ahLst/>
              <a:cxnLst/>
              <a:rect r="r" b="b" t="t" l="l"/>
              <a:pathLst>
                <a:path h="8412481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8412481"/>
                  </a:lnTo>
                  <a:lnTo>
                    <a:pt x="0" y="84124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470901" cy="8446262"/>
            </a:xfrm>
            <a:custGeom>
              <a:avLst/>
              <a:gdLst/>
              <a:ahLst/>
              <a:cxnLst/>
              <a:rect r="r" b="b" t="t" l="l"/>
              <a:pathLst>
                <a:path h="844626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8429372"/>
                  </a:lnTo>
                  <a:cubicBezTo>
                    <a:pt x="7470901" y="8438769"/>
                    <a:pt x="7463282" y="8446262"/>
                    <a:pt x="7454011" y="8446262"/>
                  </a:cubicBezTo>
                  <a:lnTo>
                    <a:pt x="16891" y="8446262"/>
                  </a:lnTo>
                  <a:cubicBezTo>
                    <a:pt x="7493" y="8446262"/>
                    <a:pt x="0" y="8438642"/>
                    <a:pt x="0" y="84293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29372"/>
                  </a:lnTo>
                  <a:lnTo>
                    <a:pt x="16891" y="8429372"/>
                  </a:lnTo>
                  <a:lnTo>
                    <a:pt x="16891" y="8412480"/>
                  </a:lnTo>
                  <a:lnTo>
                    <a:pt x="7454011" y="8412480"/>
                  </a:lnTo>
                  <a:lnTo>
                    <a:pt x="7454011" y="8429372"/>
                  </a:lnTo>
                  <a:lnTo>
                    <a:pt x="7437120" y="8429372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479543" y="2547623"/>
            <a:ext cx="5603243" cy="98555"/>
            <a:chOff x="0" y="0"/>
            <a:chExt cx="7470991" cy="13140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6891" y="16891"/>
              <a:ext cx="7437120" cy="97536"/>
            </a:xfrm>
            <a:custGeom>
              <a:avLst/>
              <a:gdLst/>
              <a:ahLst/>
              <a:cxnLst/>
              <a:rect r="r" b="b" t="t" l="l"/>
              <a:pathLst>
                <a:path h="97536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470901" cy="131320"/>
            </a:xfrm>
            <a:custGeom>
              <a:avLst/>
              <a:gdLst/>
              <a:ahLst/>
              <a:cxnLst/>
              <a:rect r="r" b="b" t="t" l="l"/>
              <a:pathLst>
                <a:path h="131320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14427"/>
                  </a:lnTo>
                  <a:cubicBezTo>
                    <a:pt x="7470901" y="123825"/>
                    <a:pt x="7463282" y="131318"/>
                    <a:pt x="7454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7454011" y="97536"/>
                  </a:lnTo>
                  <a:lnTo>
                    <a:pt x="7454011" y="114427"/>
                  </a:lnTo>
                  <a:lnTo>
                    <a:pt x="7437120" y="114427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6662423" y="2767079"/>
            <a:ext cx="720347" cy="720347"/>
            <a:chOff x="0" y="0"/>
            <a:chExt cx="960463" cy="96046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60374" cy="960376"/>
            </a:xfrm>
            <a:custGeom>
              <a:avLst/>
              <a:gdLst/>
              <a:ahLst/>
              <a:cxnLst/>
              <a:rect r="r" b="b" t="t" l="l"/>
              <a:pathLst>
                <a:path h="960376" w="960374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943483"/>
                  </a:lnTo>
                  <a:cubicBezTo>
                    <a:pt x="960374" y="952881"/>
                    <a:pt x="952754" y="960374"/>
                    <a:pt x="94348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943483" y="926592"/>
                  </a:lnTo>
                  <a:lnTo>
                    <a:pt x="943483" y="943483"/>
                  </a:lnTo>
                  <a:lnTo>
                    <a:pt x="926592" y="943483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6748272" y="2834640"/>
            <a:ext cx="548640" cy="548640"/>
            <a:chOff x="0" y="0"/>
            <a:chExt cx="731520" cy="731520"/>
          </a:xfrm>
        </p:grpSpPr>
        <p:sp>
          <p:nvSpPr>
            <p:cNvPr name="Freeform 97" id="97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7498080" y="2779776"/>
            <a:ext cx="4389120" cy="475488"/>
            <a:chOff x="0" y="0"/>
            <a:chExt cx="5852160" cy="63398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852160" cy="633984"/>
            </a:xfrm>
            <a:custGeom>
              <a:avLst/>
              <a:gdLst/>
              <a:ahLst/>
              <a:cxnLst/>
              <a:rect r="r" b="b" t="t" l="l"/>
              <a:pathLst>
                <a:path h="6339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61" r="0" b="-12986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585216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MOSES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7498080" y="3291840"/>
            <a:ext cx="4389120" cy="365760"/>
            <a:chOff x="0" y="0"/>
            <a:chExt cx="5852160" cy="48768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58521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Meta-Optimizing Semantic Evolution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6662423" y="3827783"/>
            <a:ext cx="5237483" cy="976379"/>
            <a:chOff x="0" y="0"/>
            <a:chExt cx="6983311" cy="130183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6949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983222" cy="1301750"/>
            </a:xfrm>
            <a:custGeom>
              <a:avLst/>
              <a:gdLst/>
              <a:ahLst/>
              <a:cxnLst/>
              <a:rect r="r" b="b" t="t" l="l"/>
              <a:pathLst>
                <a:path h="1301750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1284859"/>
                  </a:lnTo>
                  <a:cubicBezTo>
                    <a:pt x="6983222" y="1294257"/>
                    <a:pt x="6975602" y="1301750"/>
                    <a:pt x="696633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966331" y="1267968"/>
                  </a:lnTo>
                  <a:lnTo>
                    <a:pt x="6966331" y="1284859"/>
                  </a:lnTo>
                  <a:lnTo>
                    <a:pt x="6949440" y="1284859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6845303" y="4065527"/>
            <a:ext cx="208283" cy="208283"/>
            <a:chOff x="0" y="0"/>
            <a:chExt cx="277711" cy="27771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7150608" y="3895344"/>
            <a:ext cx="4572000" cy="768096"/>
            <a:chOff x="0" y="0"/>
            <a:chExt cx="6096000" cy="102412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096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82" r="0" b="-65982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60960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Evolutionary program learning system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6662423" y="4925063"/>
            <a:ext cx="5237483" cy="976379"/>
            <a:chOff x="0" y="0"/>
            <a:chExt cx="6983311" cy="130183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6949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983222" cy="1301750"/>
            </a:xfrm>
            <a:custGeom>
              <a:avLst/>
              <a:gdLst/>
              <a:ahLst/>
              <a:cxnLst/>
              <a:rect r="r" b="b" t="t" l="l"/>
              <a:pathLst>
                <a:path h="1301750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1284859"/>
                  </a:lnTo>
                  <a:cubicBezTo>
                    <a:pt x="6983222" y="1294257"/>
                    <a:pt x="6975602" y="1301750"/>
                    <a:pt x="696633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966331" y="1267968"/>
                  </a:lnTo>
                  <a:lnTo>
                    <a:pt x="6966331" y="1284859"/>
                  </a:lnTo>
                  <a:lnTo>
                    <a:pt x="6949440" y="1284859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6845303" y="5162807"/>
            <a:ext cx="208283" cy="208283"/>
            <a:chOff x="0" y="0"/>
            <a:chExt cx="277711" cy="27771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7150608" y="4992624"/>
            <a:ext cx="4572000" cy="768096"/>
            <a:chOff x="0" y="0"/>
            <a:chExt cx="6096000" cy="102412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096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82" r="0" b="-65982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60960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Program optimization via genetic algorithms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6662423" y="6022343"/>
            <a:ext cx="5237483" cy="976379"/>
            <a:chOff x="0" y="0"/>
            <a:chExt cx="6983311" cy="130183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6949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983222" cy="1301750"/>
            </a:xfrm>
            <a:custGeom>
              <a:avLst/>
              <a:gdLst/>
              <a:ahLst/>
              <a:cxnLst/>
              <a:rect r="r" b="b" t="t" l="l"/>
              <a:pathLst>
                <a:path h="1301750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1284859"/>
                  </a:lnTo>
                  <a:cubicBezTo>
                    <a:pt x="6983222" y="1294257"/>
                    <a:pt x="6975602" y="1301750"/>
                    <a:pt x="696633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966331" y="1267968"/>
                  </a:lnTo>
                  <a:lnTo>
                    <a:pt x="6966331" y="1284859"/>
                  </a:lnTo>
                  <a:lnTo>
                    <a:pt x="6949440" y="1284859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6845303" y="6260087"/>
            <a:ext cx="208283" cy="208283"/>
            <a:chOff x="0" y="0"/>
            <a:chExt cx="277711" cy="277711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7150608" y="6089904"/>
            <a:ext cx="4572000" cy="768096"/>
            <a:chOff x="0" y="0"/>
            <a:chExt cx="6096000" cy="102412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096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82" r="0" b="-65982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60960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Automated feature selection &amp; pattern discovery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6662423" y="7302503"/>
            <a:ext cx="2494283" cy="1159259"/>
            <a:chOff x="0" y="0"/>
            <a:chExt cx="3325711" cy="1545679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32918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3325622" cy="1545590"/>
            </a:xfrm>
            <a:custGeom>
              <a:avLst/>
              <a:gdLst/>
              <a:ahLst/>
              <a:cxnLst/>
              <a:rect r="r" b="b" t="t" l="l"/>
              <a:pathLst>
                <a:path h="1545590" w="3325622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1528699"/>
                  </a:lnTo>
                  <a:cubicBezTo>
                    <a:pt x="3325622" y="1538097"/>
                    <a:pt x="3318002" y="1545590"/>
                    <a:pt x="330873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3308731" y="1511808"/>
                  </a:lnTo>
                  <a:lnTo>
                    <a:pt x="3308731" y="1528699"/>
                  </a:lnTo>
                  <a:lnTo>
                    <a:pt x="3291840" y="1528699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6675120" y="7388352"/>
            <a:ext cx="2468880" cy="548640"/>
            <a:chOff x="0" y="0"/>
            <a:chExt cx="3291840" cy="73152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47625"/>
              <a:ext cx="32918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500+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6675120" y="7973568"/>
            <a:ext cx="2468880" cy="402336"/>
            <a:chOff x="0" y="0"/>
            <a:chExt cx="3291840" cy="53644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291840" cy="536448"/>
            </a:xfrm>
            <a:custGeom>
              <a:avLst/>
              <a:gdLst/>
              <a:ahLst/>
              <a:cxnLst/>
              <a:rect r="r" b="b" t="t" l="l"/>
              <a:pathLst>
                <a:path h="53644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67" r="0" b="-69567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32918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Programs/sec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9405623" y="7302503"/>
            <a:ext cx="2494283" cy="1159259"/>
            <a:chOff x="0" y="0"/>
            <a:chExt cx="3325711" cy="1545679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6891" y="16891"/>
              <a:ext cx="32918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3325622" cy="1545590"/>
            </a:xfrm>
            <a:custGeom>
              <a:avLst/>
              <a:gdLst/>
              <a:ahLst/>
              <a:cxnLst/>
              <a:rect r="r" b="b" t="t" l="l"/>
              <a:pathLst>
                <a:path h="1545590" w="3325622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1528699"/>
                  </a:lnTo>
                  <a:cubicBezTo>
                    <a:pt x="3325622" y="1538097"/>
                    <a:pt x="3318002" y="1545590"/>
                    <a:pt x="330873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3308731" y="1511808"/>
                  </a:lnTo>
                  <a:lnTo>
                    <a:pt x="3308731" y="1528699"/>
                  </a:lnTo>
                  <a:lnTo>
                    <a:pt x="3291840" y="1528699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418320" y="7388352"/>
            <a:ext cx="2468880" cy="548640"/>
            <a:chOff x="0" y="0"/>
            <a:chExt cx="3291840" cy="73152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32918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92%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9418320" y="7973568"/>
            <a:ext cx="2468880" cy="402336"/>
            <a:chOff x="0" y="0"/>
            <a:chExt cx="3291840" cy="53644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291840" cy="536448"/>
            </a:xfrm>
            <a:custGeom>
              <a:avLst/>
              <a:gdLst/>
              <a:ahLst/>
              <a:cxnLst/>
              <a:rect r="r" b="b" t="t" l="l"/>
              <a:pathLst>
                <a:path h="53644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67" r="0" b="-69567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32918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Success rate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2331703" y="2547623"/>
            <a:ext cx="5603243" cy="6334763"/>
            <a:chOff x="0" y="0"/>
            <a:chExt cx="7470991" cy="8446351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7437120" cy="8412481"/>
            </a:xfrm>
            <a:custGeom>
              <a:avLst/>
              <a:gdLst/>
              <a:ahLst/>
              <a:cxnLst/>
              <a:rect r="r" b="b" t="t" l="l"/>
              <a:pathLst>
                <a:path h="8412481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8412481"/>
                  </a:lnTo>
                  <a:lnTo>
                    <a:pt x="0" y="84124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7470901" cy="8446262"/>
            </a:xfrm>
            <a:custGeom>
              <a:avLst/>
              <a:gdLst/>
              <a:ahLst/>
              <a:cxnLst/>
              <a:rect r="r" b="b" t="t" l="l"/>
              <a:pathLst>
                <a:path h="8446262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8429372"/>
                  </a:lnTo>
                  <a:cubicBezTo>
                    <a:pt x="7470901" y="8438769"/>
                    <a:pt x="7463282" y="8446262"/>
                    <a:pt x="7454011" y="8446262"/>
                  </a:cubicBezTo>
                  <a:lnTo>
                    <a:pt x="16891" y="8446262"/>
                  </a:lnTo>
                  <a:cubicBezTo>
                    <a:pt x="7493" y="8446262"/>
                    <a:pt x="0" y="8438642"/>
                    <a:pt x="0" y="84293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29372"/>
                  </a:lnTo>
                  <a:lnTo>
                    <a:pt x="16891" y="8429372"/>
                  </a:lnTo>
                  <a:lnTo>
                    <a:pt x="16891" y="8412480"/>
                  </a:lnTo>
                  <a:lnTo>
                    <a:pt x="7454011" y="8412480"/>
                  </a:lnTo>
                  <a:lnTo>
                    <a:pt x="7454011" y="8429372"/>
                  </a:lnTo>
                  <a:lnTo>
                    <a:pt x="7437120" y="8429372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2331703" y="2547623"/>
            <a:ext cx="5603243" cy="98555"/>
            <a:chOff x="0" y="0"/>
            <a:chExt cx="7470991" cy="131407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7437120" cy="97536"/>
            </a:xfrm>
            <a:custGeom>
              <a:avLst/>
              <a:gdLst/>
              <a:ahLst/>
              <a:cxnLst/>
              <a:rect r="r" b="b" t="t" l="l"/>
              <a:pathLst>
                <a:path h="97536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470901" cy="131320"/>
            </a:xfrm>
            <a:custGeom>
              <a:avLst/>
              <a:gdLst/>
              <a:ahLst/>
              <a:cxnLst/>
              <a:rect r="r" b="b" t="t" l="l"/>
              <a:pathLst>
                <a:path h="131320" w="7470901">
                  <a:moveTo>
                    <a:pt x="16891" y="0"/>
                  </a:moveTo>
                  <a:lnTo>
                    <a:pt x="7454011" y="0"/>
                  </a:lnTo>
                  <a:cubicBezTo>
                    <a:pt x="7463409" y="0"/>
                    <a:pt x="7470901" y="7620"/>
                    <a:pt x="7470901" y="16891"/>
                  </a:cubicBezTo>
                  <a:lnTo>
                    <a:pt x="7470901" y="114427"/>
                  </a:lnTo>
                  <a:cubicBezTo>
                    <a:pt x="7470901" y="123825"/>
                    <a:pt x="7463282" y="131318"/>
                    <a:pt x="7454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7454011" y="97536"/>
                  </a:lnTo>
                  <a:lnTo>
                    <a:pt x="7454011" y="114427"/>
                  </a:lnTo>
                  <a:lnTo>
                    <a:pt x="7437120" y="114427"/>
                  </a:lnTo>
                  <a:lnTo>
                    <a:pt x="7437120" y="16891"/>
                  </a:lnTo>
                  <a:lnTo>
                    <a:pt x="7454011" y="16891"/>
                  </a:lnTo>
                  <a:lnTo>
                    <a:pt x="7454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2514583" y="2767079"/>
            <a:ext cx="720347" cy="720347"/>
            <a:chOff x="0" y="0"/>
            <a:chExt cx="960463" cy="960463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960374" cy="960376"/>
            </a:xfrm>
            <a:custGeom>
              <a:avLst/>
              <a:gdLst/>
              <a:ahLst/>
              <a:cxnLst/>
              <a:rect r="r" b="b" t="t" l="l"/>
              <a:pathLst>
                <a:path h="960376" w="960374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943483"/>
                  </a:lnTo>
                  <a:cubicBezTo>
                    <a:pt x="960374" y="952881"/>
                    <a:pt x="952754" y="960374"/>
                    <a:pt x="94348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943483" y="926592"/>
                  </a:lnTo>
                  <a:lnTo>
                    <a:pt x="943483" y="943483"/>
                  </a:lnTo>
                  <a:lnTo>
                    <a:pt x="926592" y="943483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2600432" y="2834640"/>
            <a:ext cx="548640" cy="548640"/>
            <a:chOff x="0" y="0"/>
            <a:chExt cx="731520" cy="731520"/>
          </a:xfrm>
        </p:grpSpPr>
        <p:sp>
          <p:nvSpPr>
            <p:cNvPr name="Freeform 159" id="159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350240" y="2779776"/>
            <a:ext cx="4389120" cy="475488"/>
            <a:chOff x="0" y="0"/>
            <a:chExt cx="5852160" cy="633984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5852160" cy="633984"/>
            </a:xfrm>
            <a:custGeom>
              <a:avLst/>
              <a:gdLst/>
              <a:ahLst/>
              <a:cxnLst/>
              <a:rect r="r" b="b" t="t" l="l"/>
              <a:pathLst>
                <a:path h="6339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61" r="0" b="-129861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47625"/>
              <a:ext cx="585216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Pattern Miner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3350240" y="3291840"/>
            <a:ext cx="4389120" cy="365760"/>
            <a:chOff x="0" y="0"/>
            <a:chExt cx="5852160" cy="48768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38100"/>
              <a:ext cx="58521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Frequent Pattern Mining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2514583" y="3827783"/>
            <a:ext cx="5237483" cy="976379"/>
            <a:chOff x="0" y="0"/>
            <a:chExt cx="6983311" cy="1301839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16891" y="16891"/>
              <a:ext cx="6949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983222" cy="1301750"/>
            </a:xfrm>
            <a:custGeom>
              <a:avLst/>
              <a:gdLst/>
              <a:ahLst/>
              <a:cxnLst/>
              <a:rect r="r" b="b" t="t" l="l"/>
              <a:pathLst>
                <a:path h="1301750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1284859"/>
                  </a:lnTo>
                  <a:cubicBezTo>
                    <a:pt x="6983222" y="1294257"/>
                    <a:pt x="6975602" y="1301750"/>
                    <a:pt x="696633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966331" y="1267968"/>
                  </a:lnTo>
                  <a:lnTo>
                    <a:pt x="6966331" y="1284859"/>
                  </a:lnTo>
                  <a:lnTo>
                    <a:pt x="6949440" y="1284859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2697463" y="4065527"/>
            <a:ext cx="208283" cy="208283"/>
            <a:chOff x="0" y="0"/>
            <a:chExt cx="277711" cy="277711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002768" y="3895344"/>
            <a:ext cx="4572000" cy="768096"/>
            <a:chOff x="0" y="0"/>
            <a:chExt cx="6096000" cy="1024128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096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82" r="0" b="-65982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38100"/>
              <a:ext cx="60960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Discovers frequent patterns in data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12514583" y="4925063"/>
            <a:ext cx="5237483" cy="976379"/>
            <a:chOff x="0" y="0"/>
            <a:chExt cx="6983311" cy="1301839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16891" y="16891"/>
              <a:ext cx="6949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983222" cy="1301750"/>
            </a:xfrm>
            <a:custGeom>
              <a:avLst/>
              <a:gdLst/>
              <a:ahLst/>
              <a:cxnLst/>
              <a:rect r="r" b="b" t="t" l="l"/>
              <a:pathLst>
                <a:path h="1301750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1284859"/>
                  </a:lnTo>
                  <a:cubicBezTo>
                    <a:pt x="6983222" y="1294257"/>
                    <a:pt x="6975602" y="1301750"/>
                    <a:pt x="696633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966331" y="1267968"/>
                  </a:lnTo>
                  <a:lnTo>
                    <a:pt x="6966331" y="1284859"/>
                  </a:lnTo>
                  <a:lnTo>
                    <a:pt x="6949440" y="1284859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12697463" y="5162807"/>
            <a:ext cx="208283" cy="208283"/>
            <a:chOff x="0" y="0"/>
            <a:chExt cx="277711" cy="277711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13002768" y="4992624"/>
            <a:ext cx="4572000" cy="768096"/>
            <a:chOff x="0" y="0"/>
            <a:chExt cx="6096000" cy="1024128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6096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82" r="0" b="-65982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38100"/>
              <a:ext cx="60960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Surprisingness-based pattern ranking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12514583" y="6022343"/>
            <a:ext cx="5237483" cy="976379"/>
            <a:chOff x="0" y="0"/>
            <a:chExt cx="6983311" cy="1301839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16891" y="16891"/>
              <a:ext cx="6949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6983222" cy="1301750"/>
            </a:xfrm>
            <a:custGeom>
              <a:avLst/>
              <a:gdLst/>
              <a:ahLst/>
              <a:cxnLst/>
              <a:rect r="r" b="b" t="t" l="l"/>
              <a:pathLst>
                <a:path h="1301750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1284859"/>
                  </a:lnTo>
                  <a:cubicBezTo>
                    <a:pt x="6983222" y="1294257"/>
                    <a:pt x="6975602" y="1301750"/>
                    <a:pt x="696633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966331" y="1267968"/>
                  </a:lnTo>
                  <a:lnTo>
                    <a:pt x="6966331" y="1284859"/>
                  </a:lnTo>
                  <a:lnTo>
                    <a:pt x="6949440" y="1284859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12697463" y="6260087"/>
            <a:ext cx="208283" cy="208283"/>
            <a:chOff x="0" y="0"/>
            <a:chExt cx="277711" cy="277711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16891" y="168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277622" cy="277622"/>
            </a:xfrm>
            <a:custGeom>
              <a:avLst/>
              <a:gdLst/>
              <a:ahLst/>
              <a:cxnLst/>
              <a:rect r="r" b="b" t="t" l="l"/>
              <a:pathLst>
                <a:path h="277622" w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38811" y="16891"/>
                  </a:lnTo>
                  <a:lnTo>
                    <a:pt x="138811" y="0"/>
                  </a:lnTo>
                  <a:cubicBezTo>
                    <a:pt x="215519" y="0"/>
                    <a:pt x="277622" y="62230"/>
                    <a:pt x="277622" y="138811"/>
                  </a:cubicBezTo>
                  <a:lnTo>
                    <a:pt x="260731" y="138811"/>
                  </a:lnTo>
                  <a:lnTo>
                    <a:pt x="277622" y="138811"/>
                  </a:lnTo>
                  <a:cubicBezTo>
                    <a:pt x="277622" y="215519"/>
                    <a:pt x="215392" y="277622"/>
                    <a:pt x="138811" y="277622"/>
                  </a:cubicBezTo>
                  <a:lnTo>
                    <a:pt x="138811" y="260731"/>
                  </a:ln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lnTo>
                    <a:pt x="16891" y="13881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cubicBezTo>
                    <a:pt x="33909" y="148209"/>
                    <a:pt x="26289" y="155702"/>
                    <a:pt x="17018" y="155702"/>
                  </a:cubicBezTo>
                  <a:cubicBezTo>
                    <a:pt x="7747" y="155702"/>
                    <a:pt x="0" y="148209"/>
                    <a:pt x="0" y="138811"/>
                  </a:cubicBezTo>
                  <a:cubicBezTo>
                    <a:pt x="0" y="129413"/>
                    <a:pt x="7620" y="121920"/>
                    <a:pt x="16891" y="121920"/>
                  </a:cubicBezTo>
                  <a:cubicBezTo>
                    <a:pt x="26162" y="121920"/>
                    <a:pt x="33782" y="129540"/>
                    <a:pt x="33782" y="138811"/>
                  </a:cubicBezTo>
                  <a:cubicBezTo>
                    <a:pt x="33782" y="196850"/>
                    <a:pt x="80772" y="243840"/>
                    <a:pt x="138811" y="243840"/>
                  </a:cubicBezTo>
                  <a:cubicBezTo>
                    <a:pt x="196850" y="243840"/>
                    <a:pt x="243840" y="196850"/>
                    <a:pt x="243840" y="138811"/>
                  </a:cubicBezTo>
                  <a:cubicBezTo>
                    <a:pt x="243840" y="80772"/>
                    <a:pt x="196850" y="33782"/>
                    <a:pt x="138811" y="33782"/>
                  </a:cubicBezTo>
                  <a:lnTo>
                    <a:pt x="138811" y="16891"/>
                  </a:lnTo>
                  <a:lnTo>
                    <a:pt x="138811" y="33909"/>
                  </a:lnTo>
                  <a:cubicBezTo>
                    <a:pt x="80772" y="33909"/>
                    <a:pt x="33782" y="80899"/>
                    <a:pt x="33782" y="13893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90" id="190"/>
          <p:cNvGrpSpPr/>
          <p:nvPr/>
        </p:nvGrpSpPr>
        <p:grpSpPr>
          <a:xfrm rot="0">
            <a:off x="13002768" y="6089904"/>
            <a:ext cx="4572000" cy="768096"/>
            <a:chOff x="0" y="0"/>
            <a:chExt cx="6096000" cy="1024128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6096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82" r="0" b="-65982"/>
              </a:stretch>
            </a:blipFill>
          </p:spPr>
        </p:sp>
        <p:sp>
          <p:nvSpPr>
            <p:cNvPr name="TextBox 192" id="192"/>
            <p:cNvSpPr txBox="true"/>
            <p:nvPr/>
          </p:nvSpPr>
          <p:spPr>
            <a:xfrm>
              <a:off x="0" y="-38100"/>
              <a:ext cx="60960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Parallel pattern mining capabilities</a:t>
              </a:r>
            </a:p>
          </p:txBody>
        </p:sp>
      </p:grpSp>
      <p:grpSp>
        <p:nvGrpSpPr>
          <p:cNvPr name="Group 193" id="193"/>
          <p:cNvGrpSpPr/>
          <p:nvPr/>
        </p:nvGrpSpPr>
        <p:grpSpPr>
          <a:xfrm rot="0">
            <a:off x="12514583" y="7302503"/>
            <a:ext cx="2494283" cy="1159259"/>
            <a:chOff x="0" y="0"/>
            <a:chExt cx="3325711" cy="1545679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16891" y="16891"/>
              <a:ext cx="32918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325622" cy="1545590"/>
            </a:xfrm>
            <a:custGeom>
              <a:avLst/>
              <a:gdLst/>
              <a:ahLst/>
              <a:cxnLst/>
              <a:rect r="r" b="b" t="t" l="l"/>
              <a:pathLst>
                <a:path h="1545590" w="3325622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1528699"/>
                  </a:lnTo>
                  <a:cubicBezTo>
                    <a:pt x="3325622" y="1538097"/>
                    <a:pt x="3318002" y="1545590"/>
                    <a:pt x="330873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3308731" y="1511808"/>
                  </a:lnTo>
                  <a:lnTo>
                    <a:pt x="3308731" y="1528699"/>
                  </a:lnTo>
                  <a:lnTo>
                    <a:pt x="3291840" y="1528699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96" id="196"/>
          <p:cNvGrpSpPr/>
          <p:nvPr/>
        </p:nvGrpSpPr>
        <p:grpSpPr>
          <a:xfrm rot="0">
            <a:off x="12527280" y="7388352"/>
            <a:ext cx="2468880" cy="548640"/>
            <a:chOff x="0" y="0"/>
            <a:chExt cx="3291840" cy="731520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98" id="198"/>
            <p:cNvSpPr txBox="true"/>
            <p:nvPr/>
          </p:nvSpPr>
          <p:spPr>
            <a:xfrm>
              <a:off x="0" y="-47625"/>
              <a:ext cx="32918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10K+</a:t>
              </a:r>
            </a:p>
          </p:txBody>
        </p:sp>
      </p:grpSp>
      <p:grpSp>
        <p:nvGrpSpPr>
          <p:cNvPr name="Group 199" id="199"/>
          <p:cNvGrpSpPr/>
          <p:nvPr/>
        </p:nvGrpSpPr>
        <p:grpSpPr>
          <a:xfrm rot="0">
            <a:off x="12527280" y="7973568"/>
            <a:ext cx="2468880" cy="402336"/>
            <a:chOff x="0" y="0"/>
            <a:chExt cx="3291840" cy="536448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3291840" cy="536448"/>
            </a:xfrm>
            <a:custGeom>
              <a:avLst/>
              <a:gdLst/>
              <a:ahLst/>
              <a:cxnLst/>
              <a:rect r="r" b="b" t="t" l="l"/>
              <a:pathLst>
                <a:path h="53644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67" r="0" b="-69567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-38100"/>
              <a:ext cx="32918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Patterns/min</a:t>
              </a: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15257783" y="7302503"/>
            <a:ext cx="2494283" cy="1159259"/>
            <a:chOff x="0" y="0"/>
            <a:chExt cx="3325711" cy="1545679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16891" y="16891"/>
              <a:ext cx="3291840" cy="1511808"/>
            </a:xfrm>
            <a:custGeom>
              <a:avLst/>
              <a:gdLst/>
              <a:ahLst/>
              <a:cxnLst/>
              <a:rect r="r" b="b" t="t" l="l"/>
              <a:pathLst>
                <a:path h="151180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325622" cy="1545590"/>
            </a:xfrm>
            <a:custGeom>
              <a:avLst/>
              <a:gdLst/>
              <a:ahLst/>
              <a:cxnLst/>
              <a:rect r="r" b="b" t="t" l="l"/>
              <a:pathLst>
                <a:path h="1545590" w="3325622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1528699"/>
                  </a:lnTo>
                  <a:cubicBezTo>
                    <a:pt x="3325622" y="1538097"/>
                    <a:pt x="3318002" y="1545590"/>
                    <a:pt x="330873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3308731" y="1511808"/>
                  </a:lnTo>
                  <a:lnTo>
                    <a:pt x="3308731" y="1528699"/>
                  </a:lnTo>
                  <a:lnTo>
                    <a:pt x="3291840" y="1528699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5" id="205"/>
          <p:cNvGrpSpPr/>
          <p:nvPr/>
        </p:nvGrpSpPr>
        <p:grpSpPr>
          <a:xfrm rot="0">
            <a:off x="15270480" y="7388352"/>
            <a:ext cx="2468880" cy="548640"/>
            <a:chOff x="0" y="0"/>
            <a:chExt cx="3291840" cy="731520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07" id="207"/>
            <p:cNvSpPr txBox="true"/>
            <p:nvPr/>
          </p:nvSpPr>
          <p:spPr>
            <a:xfrm>
              <a:off x="0" y="-47625"/>
              <a:ext cx="32918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85%</a:t>
              </a:r>
            </a:p>
          </p:txBody>
        </p:sp>
      </p:grpSp>
      <p:grpSp>
        <p:nvGrpSpPr>
          <p:cNvPr name="Group 208" id="208"/>
          <p:cNvGrpSpPr/>
          <p:nvPr/>
        </p:nvGrpSpPr>
        <p:grpSpPr>
          <a:xfrm rot="0">
            <a:off x="15270480" y="7973568"/>
            <a:ext cx="2468880" cy="402336"/>
            <a:chOff x="0" y="0"/>
            <a:chExt cx="3291840" cy="536448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3291840" cy="536448"/>
            </a:xfrm>
            <a:custGeom>
              <a:avLst/>
              <a:gdLst/>
              <a:ahLst/>
              <a:cxnLst/>
              <a:rect r="r" b="b" t="t" l="l"/>
              <a:pathLst>
                <a:path h="53644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67" r="0" b="-69567"/>
              </a:stretch>
            </a:blipFill>
          </p:spPr>
        </p:sp>
        <p:sp>
          <p:nvSpPr>
            <p:cNvPr name="TextBox 210" id="210"/>
            <p:cNvSpPr txBox="true"/>
            <p:nvPr/>
          </p:nvSpPr>
          <p:spPr>
            <a:xfrm>
              <a:off x="0" y="-38100"/>
              <a:ext cx="32918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Precision</a:t>
              </a:r>
            </a:p>
          </p:txBody>
        </p:sp>
      </p:grpSp>
      <p:grpSp>
        <p:nvGrpSpPr>
          <p:cNvPr name="Group 211" id="211"/>
          <p:cNvGrpSpPr/>
          <p:nvPr/>
        </p:nvGrpSpPr>
        <p:grpSpPr>
          <a:xfrm rot="0">
            <a:off x="627383" y="8988295"/>
            <a:ext cx="17033243" cy="1086107"/>
            <a:chOff x="0" y="0"/>
            <a:chExt cx="22710991" cy="1448143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16891" y="16891"/>
              <a:ext cx="22677119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677119">
                  <a:moveTo>
                    <a:pt x="0" y="0"/>
                  </a:moveTo>
                  <a:lnTo>
                    <a:pt x="22677119" y="0"/>
                  </a:lnTo>
                  <a:lnTo>
                    <a:pt x="22677119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22710902" cy="1448054"/>
            </a:xfrm>
            <a:custGeom>
              <a:avLst/>
              <a:gdLst/>
              <a:ahLst/>
              <a:cxnLst/>
              <a:rect r="r" b="b" t="t" l="l"/>
              <a:pathLst>
                <a:path h="1448054" w="22710902">
                  <a:moveTo>
                    <a:pt x="16891" y="0"/>
                  </a:moveTo>
                  <a:lnTo>
                    <a:pt x="22694010" y="0"/>
                  </a:lnTo>
                  <a:cubicBezTo>
                    <a:pt x="22703408" y="0"/>
                    <a:pt x="22710902" y="7620"/>
                    <a:pt x="22710902" y="16891"/>
                  </a:cubicBezTo>
                  <a:lnTo>
                    <a:pt x="22710902" y="1431163"/>
                  </a:lnTo>
                  <a:cubicBezTo>
                    <a:pt x="22710902" y="1440561"/>
                    <a:pt x="22703282" y="1448054"/>
                    <a:pt x="22694010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22694010" y="1414272"/>
                  </a:lnTo>
                  <a:lnTo>
                    <a:pt x="22694010" y="1431163"/>
                  </a:lnTo>
                  <a:lnTo>
                    <a:pt x="22677120" y="1431163"/>
                  </a:lnTo>
                  <a:lnTo>
                    <a:pt x="22677120" y="16891"/>
                  </a:lnTo>
                  <a:lnTo>
                    <a:pt x="22694010" y="16891"/>
                  </a:lnTo>
                  <a:lnTo>
                    <a:pt x="226940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4" id="214"/>
          <p:cNvGrpSpPr/>
          <p:nvPr/>
        </p:nvGrpSpPr>
        <p:grpSpPr>
          <a:xfrm rot="0">
            <a:off x="1005840" y="9110986"/>
            <a:ext cx="5486400" cy="402336"/>
            <a:chOff x="0" y="0"/>
            <a:chExt cx="7315200" cy="536448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7315200" cy="536448"/>
            </a:xfrm>
            <a:custGeom>
              <a:avLst/>
              <a:gdLst/>
              <a:ahLst/>
              <a:cxnLst/>
              <a:rect r="r" b="b" t="t" l="l"/>
              <a:pathLst>
                <a:path h="53644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705" r="0" b="-215705"/>
              </a:stretch>
            </a:blipFill>
          </p:spPr>
        </p:sp>
        <p:sp>
          <p:nvSpPr>
            <p:cNvPr name="TextBox 216" id="216"/>
            <p:cNvSpPr txBox="true"/>
            <p:nvPr/>
          </p:nvSpPr>
          <p:spPr>
            <a:xfrm>
              <a:off x="0" y="-47625"/>
              <a:ext cx="73152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Component Integration</a:t>
              </a:r>
            </a:p>
          </p:txBody>
        </p:sp>
      </p:grpSp>
      <p:grpSp>
        <p:nvGrpSpPr>
          <p:cNvPr name="Group 217" id="217"/>
          <p:cNvGrpSpPr/>
          <p:nvPr/>
        </p:nvGrpSpPr>
        <p:grpSpPr>
          <a:xfrm rot="0">
            <a:off x="1005840" y="9465697"/>
            <a:ext cx="16459200" cy="475488"/>
            <a:chOff x="0" y="0"/>
            <a:chExt cx="21945600" cy="633984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219" id="219"/>
            <p:cNvSpPr txBox="true"/>
            <p:nvPr/>
          </p:nvSpPr>
          <p:spPr>
            <a:xfrm>
              <a:off x="0" y="-38100"/>
              <a:ext cx="21945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These components work together to provide a comprehensive AGI framework, combining logical reasoning, evolutionary learning, and pattern recognition.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82880"/>
            <a:ext cx="15544800" cy="694944"/>
            <a:chOff x="0" y="0"/>
            <a:chExt cx="2072640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7264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PLN (Probabilistic Logic Networks)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2801600" cy="512064"/>
            <a:chOff x="0" y="0"/>
            <a:chExt cx="170688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Inference rules and probabilistic reasoning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44800" y="548640"/>
            <a:ext cx="2560320" cy="457200"/>
            <a:chOff x="0" y="0"/>
            <a:chExt cx="341376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0" cy="609600"/>
            </a:xfrm>
            <a:custGeom>
              <a:avLst/>
              <a:gdLst/>
              <a:ahLst/>
              <a:cxnLst/>
              <a:rect r="r" b="b" t="t" l="l"/>
              <a:pathLst>
                <a:path h="6096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413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19/20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1828800"/>
            <a:ext cx="512064" cy="512064"/>
            <a:chOff x="0" y="0"/>
            <a:chExt cx="682752" cy="68275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1828800"/>
            <a:ext cx="11887200" cy="548640"/>
            <a:chOff x="0" y="0"/>
            <a:chExt cx="15849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49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58496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PLN Inference Rules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788903" y="1852679"/>
            <a:ext cx="4871723" cy="574043"/>
            <a:chOff x="0" y="0"/>
            <a:chExt cx="6495631" cy="7653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6461887" cy="731520"/>
            </a:xfrm>
            <a:custGeom>
              <a:avLst/>
              <a:gdLst/>
              <a:ahLst/>
              <a:cxnLst/>
              <a:rect r="r" b="b" t="t" l="l"/>
              <a:pathLst>
                <a:path h="731520" w="6461887">
                  <a:moveTo>
                    <a:pt x="0" y="365760"/>
                  </a:moveTo>
                  <a:cubicBezTo>
                    <a:pt x="0" y="163703"/>
                    <a:pt x="170434" y="0"/>
                    <a:pt x="380746" y="0"/>
                  </a:cubicBezTo>
                  <a:lnTo>
                    <a:pt x="6081141" y="0"/>
                  </a:lnTo>
                  <a:cubicBezTo>
                    <a:pt x="6291453" y="0"/>
                    <a:pt x="6461887" y="163703"/>
                    <a:pt x="6461887" y="365760"/>
                  </a:cubicBezTo>
                  <a:cubicBezTo>
                    <a:pt x="6461887" y="567817"/>
                    <a:pt x="6291453" y="731520"/>
                    <a:pt x="6081141" y="731520"/>
                  </a:cubicBezTo>
                  <a:lnTo>
                    <a:pt x="380746" y="731520"/>
                  </a:lnTo>
                  <a:cubicBezTo>
                    <a:pt x="170434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95669" cy="765302"/>
            </a:xfrm>
            <a:custGeom>
              <a:avLst/>
              <a:gdLst/>
              <a:ahLst/>
              <a:cxnLst/>
              <a:rect r="r" b="b" t="t" l="l"/>
              <a:pathLst>
                <a:path h="765302" w="6495669">
                  <a:moveTo>
                    <a:pt x="0" y="382651"/>
                  </a:moveTo>
                  <a:cubicBezTo>
                    <a:pt x="0" y="170688"/>
                    <a:pt x="178689" y="0"/>
                    <a:pt x="397637" y="0"/>
                  </a:cubicBezTo>
                  <a:lnTo>
                    <a:pt x="6098032" y="0"/>
                  </a:lnTo>
                  <a:lnTo>
                    <a:pt x="6098032" y="16891"/>
                  </a:lnTo>
                  <a:lnTo>
                    <a:pt x="6098032" y="0"/>
                  </a:lnTo>
                  <a:cubicBezTo>
                    <a:pt x="6316980" y="0"/>
                    <a:pt x="6495669" y="170688"/>
                    <a:pt x="6495669" y="382651"/>
                  </a:cubicBezTo>
                  <a:lnTo>
                    <a:pt x="6478778" y="382651"/>
                  </a:lnTo>
                  <a:lnTo>
                    <a:pt x="6495669" y="382651"/>
                  </a:lnTo>
                  <a:lnTo>
                    <a:pt x="6478778" y="382651"/>
                  </a:lnTo>
                  <a:lnTo>
                    <a:pt x="6495669" y="382651"/>
                  </a:lnTo>
                  <a:cubicBezTo>
                    <a:pt x="6495669" y="594614"/>
                    <a:pt x="6316980" y="765302"/>
                    <a:pt x="6098032" y="765302"/>
                  </a:cubicBezTo>
                  <a:lnTo>
                    <a:pt x="6098032" y="748411"/>
                  </a:lnTo>
                  <a:lnTo>
                    <a:pt x="6098032" y="765302"/>
                  </a:lnTo>
                  <a:lnTo>
                    <a:pt x="397637" y="765302"/>
                  </a:lnTo>
                  <a:lnTo>
                    <a:pt x="397637" y="748411"/>
                  </a:lnTo>
                  <a:lnTo>
                    <a:pt x="397637" y="765302"/>
                  </a:lnTo>
                  <a:cubicBezTo>
                    <a:pt x="178689" y="765429"/>
                    <a:pt x="0" y="594741"/>
                    <a:pt x="0" y="382651"/>
                  </a:cubicBezTo>
                  <a:lnTo>
                    <a:pt x="16891" y="382651"/>
                  </a:lnTo>
                  <a:lnTo>
                    <a:pt x="0" y="382651"/>
                  </a:lnTo>
                  <a:moveTo>
                    <a:pt x="33909" y="382651"/>
                  </a:moveTo>
                  <a:lnTo>
                    <a:pt x="16891" y="382651"/>
                  </a:lnTo>
                  <a:lnTo>
                    <a:pt x="33909" y="382651"/>
                  </a:lnTo>
                  <a:cubicBezTo>
                    <a:pt x="33909" y="574675"/>
                    <a:pt x="196088" y="731520"/>
                    <a:pt x="397637" y="731520"/>
                  </a:cubicBezTo>
                  <a:lnTo>
                    <a:pt x="6098032" y="731520"/>
                  </a:lnTo>
                  <a:cubicBezTo>
                    <a:pt x="6299581" y="731520"/>
                    <a:pt x="6461760" y="574675"/>
                    <a:pt x="6461760" y="382651"/>
                  </a:cubicBezTo>
                  <a:cubicBezTo>
                    <a:pt x="6461760" y="190627"/>
                    <a:pt x="6299581" y="33782"/>
                    <a:pt x="6098032" y="33782"/>
                  </a:cubicBezTo>
                  <a:lnTo>
                    <a:pt x="397637" y="33782"/>
                  </a:lnTo>
                  <a:lnTo>
                    <a:pt x="397637" y="16891"/>
                  </a:lnTo>
                  <a:lnTo>
                    <a:pt x="397637" y="33909"/>
                  </a:lnTo>
                  <a:cubicBezTo>
                    <a:pt x="196088" y="33909"/>
                    <a:pt x="33909" y="190627"/>
                    <a:pt x="33909" y="382651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801600" y="1865376"/>
            <a:ext cx="4846320" cy="548640"/>
            <a:chOff x="0" y="0"/>
            <a:chExt cx="646176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61760" cy="731520"/>
            </a:xfrm>
            <a:custGeom>
              <a:avLst/>
              <a:gdLst/>
              <a:ahLst/>
              <a:cxnLst/>
              <a:rect r="r" b="b" t="t" l="l"/>
              <a:pathLst>
                <a:path h="73152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461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PLN: Core reasoning component of OpenCog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7383" y="2584199"/>
            <a:ext cx="8437883" cy="3408683"/>
            <a:chOff x="0" y="0"/>
            <a:chExt cx="11250511" cy="45449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121664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25042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527931"/>
                  </a:lnTo>
                  <a:cubicBezTo>
                    <a:pt x="11250422" y="4537329"/>
                    <a:pt x="11242802" y="4544822"/>
                    <a:pt x="1123353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1233531" y="4511040"/>
                  </a:lnTo>
                  <a:lnTo>
                    <a:pt x="11233531" y="4527931"/>
                  </a:lnTo>
                  <a:lnTo>
                    <a:pt x="11216640" y="45279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27383" y="2584199"/>
            <a:ext cx="135131" cy="3408683"/>
            <a:chOff x="0" y="0"/>
            <a:chExt cx="180175" cy="454491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46304" cy="4511040"/>
            </a:xfrm>
            <a:custGeom>
              <a:avLst/>
              <a:gdLst/>
              <a:ahLst/>
              <a:cxnLst/>
              <a:rect r="r" b="b" t="t" l="l"/>
              <a:pathLst>
                <a:path h="45110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0086" cy="4544822"/>
            </a:xfrm>
            <a:custGeom>
              <a:avLst/>
              <a:gdLst/>
              <a:ahLst/>
              <a:cxnLst/>
              <a:rect r="r" b="b" t="t" l="l"/>
              <a:pathLst>
                <a:path h="45448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4527931"/>
                  </a:lnTo>
                  <a:cubicBezTo>
                    <a:pt x="180086" y="4537329"/>
                    <a:pt x="172466" y="4544822"/>
                    <a:pt x="163195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63195" y="4511040"/>
                  </a:lnTo>
                  <a:lnTo>
                    <a:pt x="163195" y="4527931"/>
                  </a:lnTo>
                  <a:lnTo>
                    <a:pt x="146304" y="45279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5840" y="2743200"/>
            <a:ext cx="7680960" cy="518703"/>
            <a:chOff x="0" y="0"/>
            <a:chExt cx="10241280" cy="6916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41280" cy="691604"/>
            </a:xfrm>
            <a:custGeom>
              <a:avLst/>
              <a:gdLst/>
              <a:ahLst/>
              <a:cxnLst/>
              <a:rect r="r" b="b" t="t" l="l"/>
              <a:pathLst>
                <a:path h="6916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91604"/>
                  </a:lnTo>
                  <a:lnTo>
                    <a:pt x="0" y="691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700" r="0" b="-23436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0241280" cy="74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Deduction Rules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05840" y="3218688"/>
            <a:ext cx="7680960" cy="402336"/>
            <a:chOff x="0" y="0"/>
            <a:chExt cx="10241280" cy="5364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Transitive Implication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93143" y="3718055"/>
            <a:ext cx="7797803" cy="720347"/>
            <a:chOff x="0" y="0"/>
            <a:chExt cx="10397071" cy="96046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0363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396982" cy="960376"/>
            </a:xfrm>
            <a:custGeom>
              <a:avLst/>
              <a:gdLst/>
              <a:ahLst/>
              <a:cxnLst/>
              <a:rect r="r" b="b" t="t" l="l"/>
              <a:pathLst>
                <a:path h="960376" w="10396982">
                  <a:moveTo>
                    <a:pt x="16891" y="0"/>
                  </a:moveTo>
                  <a:lnTo>
                    <a:pt x="10380091" y="0"/>
                  </a:lnTo>
                  <a:cubicBezTo>
                    <a:pt x="10389489" y="0"/>
                    <a:pt x="10396982" y="7620"/>
                    <a:pt x="10396982" y="16891"/>
                  </a:cubicBezTo>
                  <a:lnTo>
                    <a:pt x="10396982" y="943483"/>
                  </a:lnTo>
                  <a:cubicBezTo>
                    <a:pt x="10396982" y="952881"/>
                    <a:pt x="10389362" y="960374"/>
                    <a:pt x="103800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380091" y="926592"/>
                  </a:lnTo>
                  <a:lnTo>
                    <a:pt x="10380091" y="943483"/>
                  </a:lnTo>
                  <a:lnTo>
                    <a:pt x="10363200" y="943483"/>
                  </a:lnTo>
                  <a:lnTo>
                    <a:pt x="10363200" y="16891"/>
                  </a:lnTo>
                  <a:lnTo>
                    <a:pt x="10380091" y="16891"/>
                  </a:lnTo>
                  <a:lnTo>
                    <a:pt x="10380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88720" y="3803904"/>
            <a:ext cx="7406640" cy="548640"/>
            <a:chOff x="0" y="0"/>
            <a:chExt cx="987552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875520" cy="731520"/>
            </a:xfrm>
            <a:custGeom>
              <a:avLst/>
              <a:gdLst/>
              <a:ahLst/>
              <a:cxnLst/>
              <a:rect r="r" b="b" t="t" l="l"/>
              <a:pathLst>
                <a:path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9875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P(C|A) = P(C|B) × P(B|A) + P(C|¬B) × P(¬B|A)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93143" y="4522727"/>
            <a:ext cx="7797803" cy="1268987"/>
            <a:chOff x="0" y="0"/>
            <a:chExt cx="10397071" cy="169198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103632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39698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0396982">
                  <a:moveTo>
                    <a:pt x="16891" y="0"/>
                  </a:moveTo>
                  <a:lnTo>
                    <a:pt x="10380091" y="0"/>
                  </a:lnTo>
                  <a:cubicBezTo>
                    <a:pt x="10389489" y="0"/>
                    <a:pt x="10396982" y="7620"/>
                    <a:pt x="10396982" y="16891"/>
                  </a:cubicBezTo>
                  <a:lnTo>
                    <a:pt x="10396982" y="1675003"/>
                  </a:lnTo>
                  <a:cubicBezTo>
                    <a:pt x="10396982" y="1684401"/>
                    <a:pt x="10389362" y="1691894"/>
                    <a:pt x="10380091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0380091" y="1658112"/>
                  </a:lnTo>
                  <a:lnTo>
                    <a:pt x="10380091" y="1675003"/>
                  </a:lnTo>
                  <a:lnTo>
                    <a:pt x="10363200" y="1675003"/>
                  </a:lnTo>
                  <a:lnTo>
                    <a:pt x="10363200" y="16891"/>
                  </a:lnTo>
                  <a:lnTo>
                    <a:pt x="10380091" y="16891"/>
                  </a:lnTo>
                  <a:lnTo>
                    <a:pt x="10380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88720" y="4608576"/>
            <a:ext cx="7406640" cy="1060704"/>
            <a:chOff x="0" y="0"/>
            <a:chExt cx="9875520" cy="14142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8755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059" r="0" b="-8605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87552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Example:  If "bird"→"can_fly" (0.9) and "can_fly"→"has_wings" (0.95), then "bird"→"has_wings" (0.855)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27383" y="6241799"/>
            <a:ext cx="8437883" cy="3408683"/>
            <a:chOff x="0" y="0"/>
            <a:chExt cx="11250511" cy="454491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1121664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25042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527931"/>
                  </a:lnTo>
                  <a:cubicBezTo>
                    <a:pt x="11250422" y="4537329"/>
                    <a:pt x="11242802" y="4544822"/>
                    <a:pt x="1123353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1233531" y="4511040"/>
                  </a:lnTo>
                  <a:lnTo>
                    <a:pt x="11233531" y="4527931"/>
                  </a:lnTo>
                  <a:lnTo>
                    <a:pt x="11216640" y="45279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27383" y="6241799"/>
            <a:ext cx="135131" cy="3408683"/>
            <a:chOff x="0" y="0"/>
            <a:chExt cx="180175" cy="454491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146304" cy="4511040"/>
            </a:xfrm>
            <a:custGeom>
              <a:avLst/>
              <a:gdLst/>
              <a:ahLst/>
              <a:cxnLst/>
              <a:rect r="r" b="b" t="t" l="l"/>
              <a:pathLst>
                <a:path h="45110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0086" cy="4544822"/>
            </a:xfrm>
            <a:custGeom>
              <a:avLst/>
              <a:gdLst/>
              <a:ahLst/>
              <a:cxnLst/>
              <a:rect r="r" b="b" t="t" l="l"/>
              <a:pathLst>
                <a:path h="45448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4527931"/>
                  </a:lnTo>
                  <a:cubicBezTo>
                    <a:pt x="180086" y="4537329"/>
                    <a:pt x="172466" y="4544822"/>
                    <a:pt x="163195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63195" y="4511040"/>
                  </a:lnTo>
                  <a:lnTo>
                    <a:pt x="163195" y="4527931"/>
                  </a:lnTo>
                  <a:lnTo>
                    <a:pt x="146304" y="45279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05840" y="6400800"/>
            <a:ext cx="7680960" cy="475488"/>
            <a:chOff x="0" y="0"/>
            <a:chExt cx="10241280" cy="6339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241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58" r="0" b="-26475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10241280" cy="6911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Induction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05840" y="6876288"/>
            <a:ext cx="7680960" cy="402336"/>
            <a:chOff x="0" y="0"/>
            <a:chExt cx="10241280" cy="5364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Generalization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93143" y="7375655"/>
            <a:ext cx="7797803" cy="720347"/>
            <a:chOff x="0" y="0"/>
            <a:chExt cx="10397071" cy="96046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10363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396982" cy="960376"/>
            </a:xfrm>
            <a:custGeom>
              <a:avLst/>
              <a:gdLst/>
              <a:ahLst/>
              <a:cxnLst/>
              <a:rect r="r" b="b" t="t" l="l"/>
              <a:pathLst>
                <a:path h="960376" w="10396982">
                  <a:moveTo>
                    <a:pt x="16891" y="0"/>
                  </a:moveTo>
                  <a:lnTo>
                    <a:pt x="10380091" y="0"/>
                  </a:lnTo>
                  <a:cubicBezTo>
                    <a:pt x="10389489" y="0"/>
                    <a:pt x="10396982" y="7620"/>
                    <a:pt x="10396982" y="16891"/>
                  </a:cubicBezTo>
                  <a:lnTo>
                    <a:pt x="10396982" y="943483"/>
                  </a:lnTo>
                  <a:cubicBezTo>
                    <a:pt x="10396982" y="952881"/>
                    <a:pt x="10389362" y="960374"/>
                    <a:pt x="103800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380091" y="926592"/>
                  </a:lnTo>
                  <a:lnTo>
                    <a:pt x="10380091" y="943483"/>
                  </a:lnTo>
                  <a:lnTo>
                    <a:pt x="10363200" y="943483"/>
                  </a:lnTo>
                  <a:lnTo>
                    <a:pt x="10363200" y="16891"/>
                  </a:lnTo>
                  <a:lnTo>
                    <a:pt x="10380091" y="16891"/>
                  </a:lnTo>
                  <a:lnTo>
                    <a:pt x="10380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188720" y="7461504"/>
            <a:ext cx="7406640" cy="548640"/>
            <a:chOff x="0" y="0"/>
            <a:chExt cx="987552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875520" cy="731520"/>
            </a:xfrm>
            <a:custGeom>
              <a:avLst/>
              <a:gdLst/>
              <a:ahLst/>
              <a:cxnLst/>
              <a:rect r="r" b="b" t="t" l="l"/>
              <a:pathLst>
                <a:path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9875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P(A→B) = (N_B_given_A + s) / (N_A + 2s)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93143" y="8180327"/>
            <a:ext cx="7797803" cy="1268987"/>
            <a:chOff x="0" y="0"/>
            <a:chExt cx="10397071" cy="169198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103632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39698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0396982">
                  <a:moveTo>
                    <a:pt x="16891" y="0"/>
                  </a:moveTo>
                  <a:lnTo>
                    <a:pt x="10380091" y="0"/>
                  </a:lnTo>
                  <a:cubicBezTo>
                    <a:pt x="10389489" y="0"/>
                    <a:pt x="10396982" y="7620"/>
                    <a:pt x="10396982" y="16891"/>
                  </a:cubicBezTo>
                  <a:lnTo>
                    <a:pt x="10396982" y="1675003"/>
                  </a:lnTo>
                  <a:cubicBezTo>
                    <a:pt x="10396982" y="1684401"/>
                    <a:pt x="10389362" y="1691894"/>
                    <a:pt x="10380091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0380091" y="1658112"/>
                  </a:lnTo>
                  <a:lnTo>
                    <a:pt x="10380091" y="1675003"/>
                  </a:lnTo>
                  <a:lnTo>
                    <a:pt x="10363200" y="1675003"/>
                  </a:lnTo>
                  <a:lnTo>
                    <a:pt x="10363200" y="16891"/>
                  </a:lnTo>
                  <a:lnTo>
                    <a:pt x="10380091" y="16891"/>
                  </a:lnTo>
                  <a:lnTo>
                    <a:pt x="10380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188720" y="8266176"/>
            <a:ext cx="7406640" cy="1060704"/>
            <a:chOff x="0" y="0"/>
            <a:chExt cx="9875520" cy="141427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8755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059" r="0" b="-86059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987552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Example:  Generalize from specific bird instances to all birds having wings.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314183" y="2584199"/>
            <a:ext cx="8437883" cy="3408683"/>
            <a:chOff x="0" y="0"/>
            <a:chExt cx="11250511" cy="454491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1121664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25042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527931"/>
                  </a:lnTo>
                  <a:cubicBezTo>
                    <a:pt x="11250422" y="4537329"/>
                    <a:pt x="11242802" y="4544822"/>
                    <a:pt x="1123353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1233531" y="4511040"/>
                  </a:lnTo>
                  <a:lnTo>
                    <a:pt x="11233531" y="4527931"/>
                  </a:lnTo>
                  <a:lnTo>
                    <a:pt x="11216640" y="45279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314183" y="2584199"/>
            <a:ext cx="135131" cy="3408683"/>
            <a:chOff x="0" y="0"/>
            <a:chExt cx="180175" cy="454491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146304" cy="4511040"/>
            </a:xfrm>
            <a:custGeom>
              <a:avLst/>
              <a:gdLst/>
              <a:ahLst/>
              <a:cxnLst/>
              <a:rect r="r" b="b" t="t" l="l"/>
              <a:pathLst>
                <a:path h="45110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80086" cy="4544822"/>
            </a:xfrm>
            <a:custGeom>
              <a:avLst/>
              <a:gdLst/>
              <a:ahLst/>
              <a:cxnLst/>
              <a:rect r="r" b="b" t="t" l="l"/>
              <a:pathLst>
                <a:path h="45448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4527931"/>
                  </a:lnTo>
                  <a:cubicBezTo>
                    <a:pt x="180086" y="4537329"/>
                    <a:pt x="172466" y="4544822"/>
                    <a:pt x="163195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63195" y="4511040"/>
                  </a:lnTo>
                  <a:lnTo>
                    <a:pt x="163195" y="4527931"/>
                  </a:lnTo>
                  <a:lnTo>
                    <a:pt x="146304" y="45279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692640" y="2743200"/>
            <a:ext cx="7680960" cy="518703"/>
            <a:chOff x="0" y="0"/>
            <a:chExt cx="10241280" cy="69160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241280" cy="691604"/>
            </a:xfrm>
            <a:custGeom>
              <a:avLst/>
              <a:gdLst/>
              <a:ahLst/>
              <a:cxnLst/>
              <a:rect r="r" b="b" t="t" l="l"/>
              <a:pathLst>
                <a:path h="69160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91604"/>
                  </a:lnTo>
                  <a:lnTo>
                    <a:pt x="0" y="691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700" r="0" b="-23436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57150"/>
              <a:ext cx="10241280" cy="74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Abduction &amp; Revision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692640" y="3218688"/>
            <a:ext cx="7680960" cy="402336"/>
            <a:chOff x="0" y="0"/>
            <a:chExt cx="10241280" cy="53644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Inverse Deduction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679943" y="3718055"/>
            <a:ext cx="7797803" cy="720347"/>
            <a:chOff x="0" y="0"/>
            <a:chExt cx="10397071" cy="96046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891" y="16891"/>
              <a:ext cx="10363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396982" cy="960376"/>
            </a:xfrm>
            <a:custGeom>
              <a:avLst/>
              <a:gdLst/>
              <a:ahLst/>
              <a:cxnLst/>
              <a:rect r="r" b="b" t="t" l="l"/>
              <a:pathLst>
                <a:path h="960376" w="10396982">
                  <a:moveTo>
                    <a:pt x="16891" y="0"/>
                  </a:moveTo>
                  <a:lnTo>
                    <a:pt x="10380091" y="0"/>
                  </a:lnTo>
                  <a:cubicBezTo>
                    <a:pt x="10389489" y="0"/>
                    <a:pt x="10396982" y="7620"/>
                    <a:pt x="10396982" y="16891"/>
                  </a:cubicBezTo>
                  <a:lnTo>
                    <a:pt x="10396982" y="943483"/>
                  </a:lnTo>
                  <a:cubicBezTo>
                    <a:pt x="10396982" y="952881"/>
                    <a:pt x="10389362" y="960374"/>
                    <a:pt x="103800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380091" y="926592"/>
                  </a:lnTo>
                  <a:lnTo>
                    <a:pt x="10380091" y="943483"/>
                  </a:lnTo>
                  <a:lnTo>
                    <a:pt x="10363200" y="943483"/>
                  </a:lnTo>
                  <a:lnTo>
                    <a:pt x="10363200" y="16891"/>
                  </a:lnTo>
                  <a:lnTo>
                    <a:pt x="10380091" y="16891"/>
                  </a:lnTo>
                  <a:lnTo>
                    <a:pt x="10380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875520" y="3803904"/>
            <a:ext cx="7406640" cy="548640"/>
            <a:chOff x="0" y="0"/>
            <a:chExt cx="9875520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875520" cy="731520"/>
            </a:xfrm>
            <a:custGeom>
              <a:avLst/>
              <a:gdLst/>
              <a:ahLst/>
              <a:cxnLst/>
              <a:rect r="r" b="b" t="t" l="l"/>
              <a:pathLst>
                <a:path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9875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P(A|B) = P(B|A) × P(A) / P(B)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679943" y="4522727"/>
            <a:ext cx="7797803" cy="1268987"/>
            <a:chOff x="0" y="0"/>
            <a:chExt cx="10397071" cy="1691983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6891" y="16891"/>
              <a:ext cx="103632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39698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0396982">
                  <a:moveTo>
                    <a:pt x="16891" y="0"/>
                  </a:moveTo>
                  <a:lnTo>
                    <a:pt x="10380091" y="0"/>
                  </a:lnTo>
                  <a:cubicBezTo>
                    <a:pt x="10389489" y="0"/>
                    <a:pt x="10396982" y="7620"/>
                    <a:pt x="10396982" y="16891"/>
                  </a:cubicBezTo>
                  <a:lnTo>
                    <a:pt x="10396982" y="1675003"/>
                  </a:lnTo>
                  <a:cubicBezTo>
                    <a:pt x="10396982" y="1684401"/>
                    <a:pt x="10389362" y="1691894"/>
                    <a:pt x="10380091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0380091" y="1658112"/>
                  </a:lnTo>
                  <a:lnTo>
                    <a:pt x="10380091" y="1675003"/>
                  </a:lnTo>
                  <a:lnTo>
                    <a:pt x="10363200" y="1675003"/>
                  </a:lnTo>
                  <a:lnTo>
                    <a:pt x="10363200" y="16891"/>
                  </a:lnTo>
                  <a:lnTo>
                    <a:pt x="10380091" y="16891"/>
                  </a:lnTo>
                  <a:lnTo>
                    <a:pt x="10380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875520" y="4608576"/>
            <a:ext cx="7406640" cy="1060704"/>
            <a:chOff x="0" y="0"/>
            <a:chExt cx="9875520" cy="141427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8755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059" r="0" b="-86059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987552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Example:  Observed: "wet ground" → Infer: "rained recently" (confidence: 0.8)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314183" y="6241799"/>
            <a:ext cx="8437883" cy="3408683"/>
            <a:chOff x="0" y="0"/>
            <a:chExt cx="11250511" cy="454491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6891" y="16891"/>
              <a:ext cx="1121664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250422" cy="4544822"/>
            </a:xfrm>
            <a:custGeom>
              <a:avLst/>
              <a:gdLst/>
              <a:ahLst/>
              <a:cxnLst/>
              <a:rect r="r" b="b" t="t" l="l"/>
              <a:pathLst>
                <a:path h="454482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527931"/>
                  </a:lnTo>
                  <a:cubicBezTo>
                    <a:pt x="11250422" y="4537329"/>
                    <a:pt x="11242802" y="4544822"/>
                    <a:pt x="11233531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1233531" y="4511040"/>
                  </a:lnTo>
                  <a:lnTo>
                    <a:pt x="11233531" y="4527931"/>
                  </a:lnTo>
                  <a:lnTo>
                    <a:pt x="11216640" y="45279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314183" y="6241799"/>
            <a:ext cx="135131" cy="3408683"/>
            <a:chOff x="0" y="0"/>
            <a:chExt cx="180175" cy="454491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16891" y="16891"/>
              <a:ext cx="146304" cy="4511040"/>
            </a:xfrm>
            <a:custGeom>
              <a:avLst/>
              <a:gdLst/>
              <a:ahLst/>
              <a:cxnLst/>
              <a:rect r="r" b="b" t="t" l="l"/>
              <a:pathLst>
                <a:path h="45110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80086" cy="4544822"/>
            </a:xfrm>
            <a:custGeom>
              <a:avLst/>
              <a:gdLst/>
              <a:ahLst/>
              <a:cxnLst/>
              <a:rect r="r" b="b" t="t" l="l"/>
              <a:pathLst>
                <a:path h="45448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4527931"/>
                  </a:lnTo>
                  <a:cubicBezTo>
                    <a:pt x="180086" y="4537329"/>
                    <a:pt x="172466" y="4544822"/>
                    <a:pt x="163195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63195" y="4511040"/>
                  </a:lnTo>
                  <a:lnTo>
                    <a:pt x="163195" y="4527931"/>
                  </a:lnTo>
                  <a:lnTo>
                    <a:pt x="146304" y="45279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692640" y="6400800"/>
            <a:ext cx="7680960" cy="475488"/>
            <a:chOff x="0" y="0"/>
            <a:chExt cx="10241280" cy="63398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241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58" r="0" b="-264758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57150"/>
              <a:ext cx="10241280" cy="6911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Revision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692640" y="6876288"/>
            <a:ext cx="7680960" cy="402336"/>
            <a:chOff x="0" y="0"/>
            <a:chExt cx="10241280" cy="53644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241280" cy="536448"/>
            </a:xfrm>
            <a:custGeom>
              <a:avLst/>
              <a:gdLst/>
              <a:ahLst/>
              <a:cxnLst/>
              <a:rect r="r" b="b" t="t" l="l"/>
              <a:pathLst>
                <a:path h="5364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102412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Evidence Combination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679943" y="7375655"/>
            <a:ext cx="7797803" cy="720347"/>
            <a:chOff x="0" y="0"/>
            <a:chExt cx="10397071" cy="960463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16891" y="16891"/>
              <a:ext cx="10363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396982" cy="960376"/>
            </a:xfrm>
            <a:custGeom>
              <a:avLst/>
              <a:gdLst/>
              <a:ahLst/>
              <a:cxnLst/>
              <a:rect r="r" b="b" t="t" l="l"/>
              <a:pathLst>
                <a:path h="960376" w="10396982">
                  <a:moveTo>
                    <a:pt x="16891" y="0"/>
                  </a:moveTo>
                  <a:lnTo>
                    <a:pt x="10380091" y="0"/>
                  </a:lnTo>
                  <a:cubicBezTo>
                    <a:pt x="10389489" y="0"/>
                    <a:pt x="10396982" y="7620"/>
                    <a:pt x="10396982" y="16891"/>
                  </a:cubicBezTo>
                  <a:lnTo>
                    <a:pt x="10396982" y="943483"/>
                  </a:lnTo>
                  <a:cubicBezTo>
                    <a:pt x="10396982" y="952881"/>
                    <a:pt x="10389362" y="960374"/>
                    <a:pt x="103800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380091" y="926592"/>
                  </a:lnTo>
                  <a:lnTo>
                    <a:pt x="10380091" y="943483"/>
                  </a:lnTo>
                  <a:lnTo>
                    <a:pt x="10363200" y="943483"/>
                  </a:lnTo>
                  <a:lnTo>
                    <a:pt x="10363200" y="16891"/>
                  </a:lnTo>
                  <a:lnTo>
                    <a:pt x="10380091" y="16891"/>
                  </a:lnTo>
                  <a:lnTo>
                    <a:pt x="10380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9875520" y="7461504"/>
            <a:ext cx="7406640" cy="548640"/>
            <a:chOff x="0" y="0"/>
            <a:chExt cx="9875520" cy="73152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9875520" cy="731520"/>
            </a:xfrm>
            <a:custGeom>
              <a:avLst/>
              <a:gdLst/>
              <a:ahLst/>
              <a:cxnLst/>
              <a:rect r="r" b="b" t="t" l="l"/>
              <a:pathLst>
                <a:path h="73152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048" r="0" b="-213048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9525"/>
              <a:ext cx="9875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P(A|B∧C) = P(A|B) × P(A|C) / P(A)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679943" y="8180327"/>
            <a:ext cx="7797803" cy="1268987"/>
            <a:chOff x="0" y="0"/>
            <a:chExt cx="10397071" cy="1691983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103632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039698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0396982">
                  <a:moveTo>
                    <a:pt x="16891" y="0"/>
                  </a:moveTo>
                  <a:lnTo>
                    <a:pt x="10380091" y="0"/>
                  </a:lnTo>
                  <a:cubicBezTo>
                    <a:pt x="10389489" y="0"/>
                    <a:pt x="10396982" y="7620"/>
                    <a:pt x="10396982" y="16891"/>
                  </a:cubicBezTo>
                  <a:lnTo>
                    <a:pt x="10396982" y="1675003"/>
                  </a:lnTo>
                  <a:cubicBezTo>
                    <a:pt x="10396982" y="1684401"/>
                    <a:pt x="10389362" y="1691894"/>
                    <a:pt x="10380091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0380091" y="1658112"/>
                  </a:lnTo>
                  <a:lnTo>
                    <a:pt x="10380091" y="1675003"/>
                  </a:lnTo>
                  <a:lnTo>
                    <a:pt x="10363200" y="1675003"/>
                  </a:lnTo>
                  <a:lnTo>
                    <a:pt x="10363200" y="16891"/>
                  </a:lnTo>
                  <a:lnTo>
                    <a:pt x="10380091" y="16891"/>
                  </a:lnTo>
                  <a:lnTo>
                    <a:pt x="10380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9875520" y="8266176"/>
            <a:ext cx="7406640" cy="1060704"/>
            <a:chOff x="0" y="0"/>
            <a:chExt cx="9875520" cy="141427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98755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059" r="0" b="-86059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987552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Example:  Combine multiple evidence sources to revise belief strength.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79883"/>
            <a:chOff x="0" y="0"/>
            <a:chExt cx="24417871" cy="2106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089531"/>
                  </a:lnTo>
                  <a:cubicBezTo>
                    <a:pt x="24417782" y="2098929"/>
                    <a:pt x="24410163" y="2106422"/>
                    <a:pt x="2440089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4400890" y="2072640"/>
                  </a:lnTo>
                  <a:lnTo>
                    <a:pt x="24400890" y="2089531"/>
                  </a:lnTo>
                  <a:lnTo>
                    <a:pt x="24384000" y="20895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82880"/>
            <a:ext cx="15544800" cy="694944"/>
            <a:chOff x="0" y="0"/>
            <a:chExt cx="2072640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7264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PLN Inference Rules — Detailed Examples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2801600" cy="512064"/>
            <a:chOff x="0" y="0"/>
            <a:chExt cx="170688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Probabilistic Logic Networks reasoning mechanisms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44800" y="548640"/>
            <a:ext cx="2560320" cy="457200"/>
            <a:chOff x="0" y="0"/>
            <a:chExt cx="341376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0" cy="609600"/>
            </a:xfrm>
            <a:custGeom>
              <a:avLst/>
              <a:gdLst/>
              <a:ahLst/>
              <a:cxnLst/>
              <a:rect r="r" b="b" t="t" l="l"/>
              <a:pathLst>
                <a:path h="60960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4137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20/20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1828800"/>
            <a:ext cx="512064" cy="512064"/>
            <a:chOff x="0" y="0"/>
            <a:chExt cx="682752" cy="68275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1828800"/>
            <a:ext cx="11887200" cy="548640"/>
            <a:chOff x="0" y="0"/>
            <a:chExt cx="15849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49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58496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PLN Inference Rules &amp; Examples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94343" y="1852679"/>
            <a:ext cx="7066283" cy="574043"/>
            <a:chOff x="0" y="0"/>
            <a:chExt cx="9421711" cy="76539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9421711" cy="765391"/>
              <a:chOff x="0" y="0"/>
              <a:chExt cx="9421711" cy="76539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16891" y="16891"/>
                <a:ext cx="9387967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9387967">
                    <a:moveTo>
                      <a:pt x="0" y="365760"/>
                    </a:moveTo>
                    <a:cubicBezTo>
                      <a:pt x="0" y="163703"/>
                      <a:pt x="170688" y="0"/>
                      <a:pt x="381381" y="0"/>
                    </a:cubicBezTo>
                    <a:lnTo>
                      <a:pt x="9006586" y="0"/>
                    </a:lnTo>
                    <a:cubicBezTo>
                      <a:pt x="9217152" y="0"/>
                      <a:pt x="9387967" y="163703"/>
                      <a:pt x="9387967" y="365760"/>
                    </a:cubicBezTo>
                    <a:cubicBezTo>
                      <a:pt x="9387967" y="567817"/>
                      <a:pt x="9217279" y="731520"/>
                      <a:pt x="9006586" y="731520"/>
                    </a:cubicBezTo>
                    <a:lnTo>
                      <a:pt x="381381" y="731520"/>
                    </a:lnTo>
                    <a:cubicBezTo>
                      <a:pt x="170815" y="731520"/>
                      <a:pt x="0" y="567817"/>
                      <a:pt x="0" y="365760"/>
                    </a:cubicBezTo>
                    <a:close/>
                  </a:path>
                </a:pathLst>
              </a:custGeom>
              <a:solidFill>
                <a:srgbClr val="EFF6FF"/>
              </a:solidFill>
            </p:spPr>
          </p:sp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421749" cy="765302"/>
              </a:xfrm>
              <a:custGeom>
                <a:avLst/>
                <a:gdLst/>
                <a:ahLst/>
                <a:cxnLst/>
                <a:rect r="r" b="b" t="t" l="l"/>
                <a:pathLst>
                  <a:path h="765302" w="9421749">
                    <a:moveTo>
                      <a:pt x="0" y="382651"/>
                    </a:moveTo>
                    <a:cubicBezTo>
                      <a:pt x="0" y="170688"/>
                      <a:pt x="178943" y="0"/>
                      <a:pt x="398272" y="0"/>
                    </a:cubicBezTo>
                    <a:lnTo>
                      <a:pt x="9023477" y="0"/>
                    </a:lnTo>
                    <a:lnTo>
                      <a:pt x="9023477" y="16891"/>
                    </a:lnTo>
                    <a:lnTo>
                      <a:pt x="9023477" y="0"/>
                    </a:lnTo>
                    <a:cubicBezTo>
                      <a:pt x="9242806" y="0"/>
                      <a:pt x="9421749" y="170688"/>
                      <a:pt x="9421749" y="382651"/>
                    </a:cubicBezTo>
                    <a:lnTo>
                      <a:pt x="9404858" y="382651"/>
                    </a:lnTo>
                    <a:lnTo>
                      <a:pt x="9421749" y="382651"/>
                    </a:lnTo>
                    <a:lnTo>
                      <a:pt x="9404858" y="382651"/>
                    </a:lnTo>
                    <a:lnTo>
                      <a:pt x="9421749" y="382651"/>
                    </a:lnTo>
                    <a:cubicBezTo>
                      <a:pt x="9421749" y="594614"/>
                      <a:pt x="9242806" y="765302"/>
                      <a:pt x="9023477" y="765302"/>
                    </a:cubicBezTo>
                    <a:lnTo>
                      <a:pt x="9023477" y="748411"/>
                    </a:lnTo>
                    <a:lnTo>
                      <a:pt x="9023477" y="765302"/>
                    </a:lnTo>
                    <a:lnTo>
                      <a:pt x="398272" y="765302"/>
                    </a:lnTo>
                    <a:lnTo>
                      <a:pt x="398272" y="748411"/>
                    </a:lnTo>
                    <a:lnTo>
                      <a:pt x="398272" y="765302"/>
                    </a:lnTo>
                    <a:cubicBezTo>
                      <a:pt x="178943" y="765429"/>
                      <a:pt x="0" y="594741"/>
                      <a:pt x="0" y="382651"/>
                    </a:cubicBezTo>
                    <a:lnTo>
                      <a:pt x="16891" y="382651"/>
                    </a:lnTo>
                    <a:lnTo>
                      <a:pt x="0" y="382651"/>
                    </a:lnTo>
                    <a:moveTo>
                      <a:pt x="33909" y="382651"/>
                    </a:moveTo>
                    <a:lnTo>
                      <a:pt x="16891" y="382651"/>
                    </a:lnTo>
                    <a:lnTo>
                      <a:pt x="33909" y="382651"/>
                    </a:lnTo>
                    <a:cubicBezTo>
                      <a:pt x="33909" y="574675"/>
                      <a:pt x="196342" y="731520"/>
                      <a:pt x="398272" y="731520"/>
                    </a:cubicBezTo>
                    <a:lnTo>
                      <a:pt x="9023477" y="731520"/>
                    </a:lnTo>
                    <a:cubicBezTo>
                      <a:pt x="9225407" y="731520"/>
                      <a:pt x="9387840" y="574675"/>
                      <a:pt x="9387840" y="382651"/>
                    </a:cubicBezTo>
                    <a:cubicBezTo>
                      <a:pt x="9387840" y="190627"/>
                      <a:pt x="9225407" y="33782"/>
                      <a:pt x="9023477" y="33782"/>
                    </a:cubicBezTo>
                    <a:lnTo>
                      <a:pt x="398272" y="33782"/>
                    </a:lnTo>
                    <a:lnTo>
                      <a:pt x="398272" y="16891"/>
                    </a:lnTo>
                    <a:lnTo>
                      <a:pt x="398272" y="33909"/>
                    </a:lnTo>
                    <a:cubicBezTo>
                      <a:pt x="196342" y="33909"/>
                      <a:pt x="33909" y="190754"/>
                      <a:pt x="33909" y="382778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504609" y="16929"/>
              <a:ext cx="8290560" cy="731520"/>
              <a:chOff x="0" y="0"/>
              <a:chExt cx="8290560" cy="73152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29056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8290560">
                    <a:moveTo>
                      <a:pt x="0" y="0"/>
                    </a:moveTo>
                    <a:lnTo>
                      <a:pt x="8290560" y="0"/>
                    </a:lnTo>
                    <a:lnTo>
                      <a:pt x="829056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00057" r="-13235" b="-200057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8290560" cy="7696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>
                    <a:solidFill>
                      <a:srgbClr val="3B82F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PLN: Combining symbolic logic with probability theory</a:t>
                </a: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0">
            <a:off x="627383" y="2584199"/>
            <a:ext cx="10815323" cy="2037083"/>
            <a:chOff x="0" y="0"/>
            <a:chExt cx="14420431" cy="27161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43865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4386560">
                  <a:moveTo>
                    <a:pt x="0" y="0"/>
                  </a:moveTo>
                  <a:lnTo>
                    <a:pt x="14386560" y="0"/>
                  </a:lnTo>
                  <a:lnTo>
                    <a:pt x="143865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420343" cy="2716022"/>
            </a:xfrm>
            <a:custGeom>
              <a:avLst/>
              <a:gdLst/>
              <a:ahLst/>
              <a:cxnLst/>
              <a:rect r="r" b="b" t="t" l="l"/>
              <a:pathLst>
                <a:path h="2716022" w="14420343">
                  <a:moveTo>
                    <a:pt x="16891" y="0"/>
                  </a:moveTo>
                  <a:lnTo>
                    <a:pt x="14403451" y="0"/>
                  </a:lnTo>
                  <a:cubicBezTo>
                    <a:pt x="14412849" y="0"/>
                    <a:pt x="14420343" y="7620"/>
                    <a:pt x="14420343" y="16891"/>
                  </a:cubicBezTo>
                  <a:lnTo>
                    <a:pt x="14420343" y="2699131"/>
                  </a:lnTo>
                  <a:cubicBezTo>
                    <a:pt x="14420343" y="2708529"/>
                    <a:pt x="14412723" y="2716022"/>
                    <a:pt x="144034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4403451" y="2682240"/>
                  </a:lnTo>
                  <a:lnTo>
                    <a:pt x="14403451" y="2699131"/>
                  </a:lnTo>
                  <a:lnTo>
                    <a:pt x="14386561" y="2699131"/>
                  </a:lnTo>
                  <a:lnTo>
                    <a:pt x="14386561" y="16891"/>
                  </a:lnTo>
                  <a:lnTo>
                    <a:pt x="14403451" y="16891"/>
                  </a:lnTo>
                  <a:lnTo>
                    <a:pt x="14403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27383" y="2584199"/>
            <a:ext cx="135131" cy="2037083"/>
            <a:chOff x="0" y="0"/>
            <a:chExt cx="180175" cy="27161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46304" cy="2682240"/>
            </a:xfrm>
            <a:custGeom>
              <a:avLst/>
              <a:gdLst/>
              <a:ahLst/>
              <a:cxnLst/>
              <a:rect r="r" b="b" t="t" l="l"/>
              <a:pathLst>
                <a:path h="26822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0086" cy="2716022"/>
            </a:xfrm>
            <a:custGeom>
              <a:avLst/>
              <a:gdLst/>
              <a:ahLst/>
              <a:cxnLst/>
              <a:rect r="r" b="b" t="t" l="l"/>
              <a:pathLst>
                <a:path h="27160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699131"/>
                  </a:lnTo>
                  <a:cubicBezTo>
                    <a:pt x="180086" y="2708529"/>
                    <a:pt x="172466" y="2716022"/>
                    <a:pt x="163195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63195" y="2682240"/>
                  </a:lnTo>
                  <a:lnTo>
                    <a:pt x="163195" y="2699131"/>
                  </a:lnTo>
                  <a:lnTo>
                    <a:pt x="146304" y="26991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05840" y="2724912"/>
            <a:ext cx="5486400" cy="475488"/>
            <a:chOff x="0" y="0"/>
            <a:chExt cx="7315200" cy="63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0" cy="633984"/>
            </a:xfrm>
            <a:custGeom>
              <a:avLst/>
              <a:gdLst/>
              <a:ahLst/>
              <a:cxnLst/>
              <a:rect r="r" b="b" t="t" l="l"/>
              <a:pathLst>
                <a:path h="6339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7315200" cy="6911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Deduction Rule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93143" y="3279143"/>
            <a:ext cx="3317243" cy="1159259"/>
            <a:chOff x="0" y="0"/>
            <a:chExt cx="4422991" cy="154567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43891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422902" cy="1545590"/>
            </a:xfrm>
            <a:custGeom>
              <a:avLst/>
              <a:gdLst/>
              <a:ahLst/>
              <a:cxnLst/>
              <a:rect r="r" b="b" t="t" l="l"/>
              <a:pathLst>
                <a:path h="1545590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1528699"/>
                  </a:lnTo>
                  <a:cubicBezTo>
                    <a:pt x="4422902" y="1538097"/>
                    <a:pt x="4415282" y="1545590"/>
                    <a:pt x="440601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4406011" y="1511808"/>
                  </a:lnTo>
                  <a:lnTo>
                    <a:pt x="4406011" y="1528699"/>
                  </a:lnTo>
                  <a:lnTo>
                    <a:pt x="4389120" y="1528699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88720" y="3328416"/>
            <a:ext cx="3017520" cy="1024128"/>
            <a:chOff x="0" y="0"/>
            <a:chExt cx="4023360" cy="136550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233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11" r="0" b="-741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4023360" cy="13750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 → B (s₁, c₁)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 → C (s₂, c₂)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───────────────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 → C (s₃, c₃)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467863" y="3279143"/>
            <a:ext cx="6700523" cy="1159259"/>
            <a:chOff x="0" y="0"/>
            <a:chExt cx="8934031" cy="154567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8900160" cy="1511808"/>
            </a:xfrm>
            <a:custGeom>
              <a:avLst/>
              <a:gdLst/>
              <a:ahLst/>
              <a:cxnLst/>
              <a:rect r="r" b="b" t="t" l="l"/>
              <a:pathLst>
                <a:path h="1511808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933942" cy="1545590"/>
            </a:xfrm>
            <a:custGeom>
              <a:avLst/>
              <a:gdLst/>
              <a:ahLst/>
              <a:cxnLst/>
              <a:rect r="r" b="b" t="t" l="l"/>
              <a:pathLst>
                <a:path h="1545590" w="8933942">
                  <a:moveTo>
                    <a:pt x="16891" y="0"/>
                  </a:moveTo>
                  <a:lnTo>
                    <a:pt x="8917051" y="0"/>
                  </a:lnTo>
                  <a:cubicBezTo>
                    <a:pt x="8926449" y="0"/>
                    <a:pt x="8933942" y="7620"/>
                    <a:pt x="8933942" y="16891"/>
                  </a:cubicBezTo>
                  <a:lnTo>
                    <a:pt x="8933942" y="1528699"/>
                  </a:lnTo>
                  <a:cubicBezTo>
                    <a:pt x="8933942" y="1538097"/>
                    <a:pt x="8926322" y="1545590"/>
                    <a:pt x="891705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8917051" y="1511808"/>
                  </a:lnTo>
                  <a:lnTo>
                    <a:pt x="8917051" y="1528699"/>
                  </a:lnTo>
                  <a:lnTo>
                    <a:pt x="8900160" y="1528699"/>
                  </a:lnTo>
                  <a:lnTo>
                    <a:pt x="8900160" y="16891"/>
                  </a:lnTo>
                  <a:lnTo>
                    <a:pt x="8917051" y="16891"/>
                  </a:lnTo>
                  <a:lnTo>
                    <a:pt x="8917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663440" y="3328416"/>
            <a:ext cx="6309360" cy="877824"/>
            <a:chOff x="0" y="0"/>
            <a:chExt cx="8412480" cy="117043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4124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841248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Example: If "Birds fly" and "Flying objects are airborne", then "Birds are airborne"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672965" y="4124325"/>
            <a:ext cx="6309360" cy="274320"/>
            <a:chOff x="0" y="0"/>
            <a:chExt cx="8412480" cy="3657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412480" cy="365760"/>
            </a:xfrm>
            <a:custGeom>
              <a:avLst/>
              <a:gdLst/>
              <a:ahLst/>
              <a:cxnLst/>
              <a:rect r="r" b="b" t="t" l="l"/>
              <a:pathLst>
                <a:path h="3657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8412480" cy="403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Confidence: 0.85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27383" y="4778759"/>
            <a:ext cx="10815323" cy="2037083"/>
            <a:chOff x="0" y="0"/>
            <a:chExt cx="14420431" cy="27161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43865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4386560">
                  <a:moveTo>
                    <a:pt x="0" y="0"/>
                  </a:moveTo>
                  <a:lnTo>
                    <a:pt x="14386560" y="0"/>
                  </a:lnTo>
                  <a:lnTo>
                    <a:pt x="143865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420343" cy="2716022"/>
            </a:xfrm>
            <a:custGeom>
              <a:avLst/>
              <a:gdLst/>
              <a:ahLst/>
              <a:cxnLst/>
              <a:rect r="r" b="b" t="t" l="l"/>
              <a:pathLst>
                <a:path h="2716022" w="14420343">
                  <a:moveTo>
                    <a:pt x="16891" y="0"/>
                  </a:moveTo>
                  <a:lnTo>
                    <a:pt x="14403451" y="0"/>
                  </a:lnTo>
                  <a:cubicBezTo>
                    <a:pt x="14412849" y="0"/>
                    <a:pt x="14420343" y="7620"/>
                    <a:pt x="14420343" y="16891"/>
                  </a:cubicBezTo>
                  <a:lnTo>
                    <a:pt x="14420343" y="2699131"/>
                  </a:lnTo>
                  <a:cubicBezTo>
                    <a:pt x="14420343" y="2708529"/>
                    <a:pt x="14412723" y="2716022"/>
                    <a:pt x="144034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4403451" y="2682240"/>
                  </a:lnTo>
                  <a:lnTo>
                    <a:pt x="14403451" y="2699131"/>
                  </a:lnTo>
                  <a:lnTo>
                    <a:pt x="14386561" y="2699131"/>
                  </a:lnTo>
                  <a:lnTo>
                    <a:pt x="14386561" y="16891"/>
                  </a:lnTo>
                  <a:lnTo>
                    <a:pt x="14403451" y="16891"/>
                  </a:lnTo>
                  <a:lnTo>
                    <a:pt x="14403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27383" y="4778759"/>
            <a:ext cx="135131" cy="2037083"/>
            <a:chOff x="0" y="0"/>
            <a:chExt cx="180175" cy="27161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46304" cy="2682240"/>
            </a:xfrm>
            <a:custGeom>
              <a:avLst/>
              <a:gdLst/>
              <a:ahLst/>
              <a:cxnLst/>
              <a:rect r="r" b="b" t="t" l="l"/>
              <a:pathLst>
                <a:path h="26822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0086" cy="2716022"/>
            </a:xfrm>
            <a:custGeom>
              <a:avLst/>
              <a:gdLst/>
              <a:ahLst/>
              <a:cxnLst/>
              <a:rect r="r" b="b" t="t" l="l"/>
              <a:pathLst>
                <a:path h="27160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699131"/>
                  </a:lnTo>
                  <a:cubicBezTo>
                    <a:pt x="180086" y="2708529"/>
                    <a:pt x="172466" y="2716022"/>
                    <a:pt x="163195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63195" y="2682240"/>
                  </a:lnTo>
                  <a:lnTo>
                    <a:pt x="163195" y="2699131"/>
                  </a:lnTo>
                  <a:lnTo>
                    <a:pt x="146304" y="26991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05840" y="4919472"/>
            <a:ext cx="5486400" cy="475488"/>
            <a:chOff x="0" y="0"/>
            <a:chExt cx="7315200" cy="6339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15200" cy="633984"/>
            </a:xfrm>
            <a:custGeom>
              <a:avLst/>
              <a:gdLst/>
              <a:ahLst/>
              <a:cxnLst/>
              <a:rect r="r" b="b" t="t" l="l"/>
              <a:pathLst>
                <a:path h="6339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7315200" cy="6911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Induction Rule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93143" y="5473703"/>
            <a:ext cx="3317243" cy="1159259"/>
            <a:chOff x="0" y="0"/>
            <a:chExt cx="4422991" cy="154567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43891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422902" cy="1545590"/>
            </a:xfrm>
            <a:custGeom>
              <a:avLst/>
              <a:gdLst/>
              <a:ahLst/>
              <a:cxnLst/>
              <a:rect r="r" b="b" t="t" l="l"/>
              <a:pathLst>
                <a:path h="1545590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1528699"/>
                  </a:lnTo>
                  <a:cubicBezTo>
                    <a:pt x="4422902" y="1538097"/>
                    <a:pt x="4415282" y="1545590"/>
                    <a:pt x="440601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4406011" y="1511808"/>
                  </a:lnTo>
                  <a:lnTo>
                    <a:pt x="4406011" y="1528699"/>
                  </a:lnTo>
                  <a:lnTo>
                    <a:pt x="4389120" y="1528699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88720" y="5522976"/>
            <a:ext cx="3017520" cy="1024128"/>
            <a:chOff x="0" y="0"/>
            <a:chExt cx="4023360" cy="136550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0233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11" r="0" b="-741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4023360" cy="13750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 → B (s₁, c₁)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 → C (s₂, c₂)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───────────────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 → C (s₃, c₃)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467863" y="5473703"/>
            <a:ext cx="6700523" cy="1159259"/>
            <a:chOff x="0" y="0"/>
            <a:chExt cx="8934031" cy="154567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8900160" cy="1511808"/>
            </a:xfrm>
            <a:custGeom>
              <a:avLst/>
              <a:gdLst/>
              <a:ahLst/>
              <a:cxnLst/>
              <a:rect r="r" b="b" t="t" l="l"/>
              <a:pathLst>
                <a:path h="1511808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933942" cy="1545590"/>
            </a:xfrm>
            <a:custGeom>
              <a:avLst/>
              <a:gdLst/>
              <a:ahLst/>
              <a:cxnLst/>
              <a:rect r="r" b="b" t="t" l="l"/>
              <a:pathLst>
                <a:path h="1545590" w="8933942">
                  <a:moveTo>
                    <a:pt x="16891" y="0"/>
                  </a:moveTo>
                  <a:lnTo>
                    <a:pt x="8917051" y="0"/>
                  </a:lnTo>
                  <a:cubicBezTo>
                    <a:pt x="8926449" y="0"/>
                    <a:pt x="8933942" y="7620"/>
                    <a:pt x="8933942" y="16891"/>
                  </a:cubicBezTo>
                  <a:lnTo>
                    <a:pt x="8933942" y="1528699"/>
                  </a:lnTo>
                  <a:cubicBezTo>
                    <a:pt x="8933942" y="1538097"/>
                    <a:pt x="8926322" y="1545590"/>
                    <a:pt x="891705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8917051" y="1511808"/>
                  </a:lnTo>
                  <a:lnTo>
                    <a:pt x="8917051" y="1528699"/>
                  </a:lnTo>
                  <a:lnTo>
                    <a:pt x="8900160" y="1528699"/>
                  </a:lnTo>
                  <a:lnTo>
                    <a:pt x="8900160" y="16891"/>
                  </a:lnTo>
                  <a:lnTo>
                    <a:pt x="8917051" y="16891"/>
                  </a:lnTo>
                  <a:lnTo>
                    <a:pt x="8917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663440" y="5522976"/>
            <a:ext cx="6309360" cy="877824"/>
            <a:chOff x="0" y="0"/>
            <a:chExt cx="8412480" cy="117043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4124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841248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Example: If "Crows are black" and "Crows are birds", then infer "Birds are black"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663440" y="6309360"/>
            <a:ext cx="6309360" cy="274320"/>
            <a:chOff x="0" y="0"/>
            <a:chExt cx="8412480" cy="3657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412480" cy="365760"/>
            </a:xfrm>
            <a:custGeom>
              <a:avLst/>
              <a:gdLst/>
              <a:ahLst/>
              <a:cxnLst/>
              <a:rect r="r" b="b" t="t" l="l"/>
              <a:pathLst>
                <a:path h="3657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8412480" cy="403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Confidence: 0.72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27383" y="6973319"/>
            <a:ext cx="10815323" cy="2037083"/>
            <a:chOff x="0" y="0"/>
            <a:chExt cx="14420431" cy="27161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43865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4386560">
                  <a:moveTo>
                    <a:pt x="0" y="0"/>
                  </a:moveTo>
                  <a:lnTo>
                    <a:pt x="14386560" y="0"/>
                  </a:lnTo>
                  <a:lnTo>
                    <a:pt x="143865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4420343" cy="2716022"/>
            </a:xfrm>
            <a:custGeom>
              <a:avLst/>
              <a:gdLst/>
              <a:ahLst/>
              <a:cxnLst/>
              <a:rect r="r" b="b" t="t" l="l"/>
              <a:pathLst>
                <a:path h="2716022" w="14420343">
                  <a:moveTo>
                    <a:pt x="16891" y="0"/>
                  </a:moveTo>
                  <a:lnTo>
                    <a:pt x="14403451" y="0"/>
                  </a:lnTo>
                  <a:cubicBezTo>
                    <a:pt x="14412849" y="0"/>
                    <a:pt x="14420343" y="7620"/>
                    <a:pt x="14420343" y="16891"/>
                  </a:cubicBezTo>
                  <a:lnTo>
                    <a:pt x="14420343" y="2699131"/>
                  </a:lnTo>
                  <a:cubicBezTo>
                    <a:pt x="14420343" y="2708529"/>
                    <a:pt x="14412723" y="2716022"/>
                    <a:pt x="144034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4403451" y="2682240"/>
                  </a:lnTo>
                  <a:lnTo>
                    <a:pt x="14403451" y="2699131"/>
                  </a:lnTo>
                  <a:lnTo>
                    <a:pt x="14386561" y="2699131"/>
                  </a:lnTo>
                  <a:lnTo>
                    <a:pt x="14386561" y="16891"/>
                  </a:lnTo>
                  <a:lnTo>
                    <a:pt x="14403451" y="16891"/>
                  </a:lnTo>
                  <a:lnTo>
                    <a:pt x="14403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27383" y="6973319"/>
            <a:ext cx="135131" cy="2037083"/>
            <a:chOff x="0" y="0"/>
            <a:chExt cx="180175" cy="271611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46304" cy="2682240"/>
            </a:xfrm>
            <a:custGeom>
              <a:avLst/>
              <a:gdLst/>
              <a:ahLst/>
              <a:cxnLst/>
              <a:rect r="r" b="b" t="t" l="l"/>
              <a:pathLst>
                <a:path h="26822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80086" cy="2716022"/>
            </a:xfrm>
            <a:custGeom>
              <a:avLst/>
              <a:gdLst/>
              <a:ahLst/>
              <a:cxnLst/>
              <a:rect r="r" b="b" t="t" l="l"/>
              <a:pathLst>
                <a:path h="27160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699131"/>
                  </a:lnTo>
                  <a:cubicBezTo>
                    <a:pt x="180086" y="2708529"/>
                    <a:pt x="172466" y="2716022"/>
                    <a:pt x="163195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63195" y="2682240"/>
                  </a:lnTo>
                  <a:lnTo>
                    <a:pt x="163195" y="2699131"/>
                  </a:lnTo>
                  <a:lnTo>
                    <a:pt x="146304" y="26991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05840" y="7114032"/>
            <a:ext cx="5486400" cy="475488"/>
            <a:chOff x="0" y="0"/>
            <a:chExt cx="7315200" cy="6339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315200" cy="633984"/>
            </a:xfrm>
            <a:custGeom>
              <a:avLst/>
              <a:gdLst/>
              <a:ahLst/>
              <a:cxnLst/>
              <a:rect r="r" b="b" t="t" l="l"/>
              <a:pathLst>
                <a:path h="6339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7315200" cy="6911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Abduction Rule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93143" y="7668263"/>
            <a:ext cx="3317243" cy="1159259"/>
            <a:chOff x="0" y="0"/>
            <a:chExt cx="4422991" cy="154567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43891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422902" cy="1545590"/>
            </a:xfrm>
            <a:custGeom>
              <a:avLst/>
              <a:gdLst/>
              <a:ahLst/>
              <a:cxnLst/>
              <a:rect r="r" b="b" t="t" l="l"/>
              <a:pathLst>
                <a:path h="1545590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1528699"/>
                  </a:lnTo>
                  <a:cubicBezTo>
                    <a:pt x="4422902" y="1538097"/>
                    <a:pt x="4415282" y="1545590"/>
                    <a:pt x="440601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4406011" y="1511808"/>
                  </a:lnTo>
                  <a:lnTo>
                    <a:pt x="4406011" y="1528699"/>
                  </a:lnTo>
                  <a:lnTo>
                    <a:pt x="4389120" y="1528699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188720" y="7717536"/>
            <a:ext cx="3017520" cy="1024128"/>
            <a:chOff x="0" y="0"/>
            <a:chExt cx="4023360" cy="136550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0233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11" r="0" b="-7411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4023360" cy="13750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 → C (s₁, c₁)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 → C (s₂, c₂)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───────────────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 → B (s₃, c₃)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4467863" y="7668263"/>
            <a:ext cx="6700523" cy="1159259"/>
            <a:chOff x="0" y="0"/>
            <a:chExt cx="8934031" cy="154567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8900160" cy="1511808"/>
            </a:xfrm>
            <a:custGeom>
              <a:avLst/>
              <a:gdLst/>
              <a:ahLst/>
              <a:cxnLst/>
              <a:rect r="r" b="b" t="t" l="l"/>
              <a:pathLst>
                <a:path h="1511808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8933942" cy="1545590"/>
            </a:xfrm>
            <a:custGeom>
              <a:avLst/>
              <a:gdLst/>
              <a:ahLst/>
              <a:cxnLst/>
              <a:rect r="r" b="b" t="t" l="l"/>
              <a:pathLst>
                <a:path h="1545590" w="8933942">
                  <a:moveTo>
                    <a:pt x="16891" y="0"/>
                  </a:moveTo>
                  <a:lnTo>
                    <a:pt x="8917051" y="0"/>
                  </a:lnTo>
                  <a:cubicBezTo>
                    <a:pt x="8926449" y="0"/>
                    <a:pt x="8933942" y="7620"/>
                    <a:pt x="8933942" y="16891"/>
                  </a:cubicBezTo>
                  <a:lnTo>
                    <a:pt x="8933942" y="1528699"/>
                  </a:lnTo>
                  <a:cubicBezTo>
                    <a:pt x="8933942" y="1538097"/>
                    <a:pt x="8926322" y="1545590"/>
                    <a:pt x="891705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8917051" y="1511808"/>
                  </a:lnTo>
                  <a:lnTo>
                    <a:pt x="8917051" y="1528699"/>
                  </a:lnTo>
                  <a:lnTo>
                    <a:pt x="8900160" y="1528699"/>
                  </a:lnTo>
                  <a:lnTo>
                    <a:pt x="8900160" y="16891"/>
                  </a:lnTo>
                  <a:lnTo>
                    <a:pt x="8917051" y="16891"/>
                  </a:lnTo>
                  <a:lnTo>
                    <a:pt x="8917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4663440" y="7717536"/>
            <a:ext cx="6309360" cy="877824"/>
            <a:chOff x="0" y="0"/>
            <a:chExt cx="8412480" cy="117043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4124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841248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Example: If "Fever causes headache" and "Flu causes headache", infer "Flu causes fever"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663440" y="8531357"/>
            <a:ext cx="6309360" cy="274320"/>
            <a:chOff x="0" y="0"/>
            <a:chExt cx="8412480" cy="3657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412480" cy="365760"/>
            </a:xfrm>
            <a:custGeom>
              <a:avLst/>
              <a:gdLst/>
              <a:ahLst/>
              <a:cxnLst/>
              <a:rect r="r" b="b" t="t" l="l"/>
              <a:pathLst>
                <a:path h="3657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8412480" cy="403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Confidence: 0.68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783063" y="2584199"/>
            <a:ext cx="5877563" cy="4195067"/>
            <a:chOff x="0" y="0"/>
            <a:chExt cx="7836751" cy="559342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7802881" cy="5559552"/>
            </a:xfrm>
            <a:custGeom>
              <a:avLst/>
              <a:gdLst/>
              <a:ahLst/>
              <a:cxnLst/>
              <a:rect r="r" b="b" t="t" l="l"/>
              <a:pathLst>
                <a:path h="5559552" w="7802881">
                  <a:moveTo>
                    <a:pt x="0" y="0"/>
                  </a:moveTo>
                  <a:lnTo>
                    <a:pt x="7802881" y="0"/>
                  </a:lnTo>
                  <a:lnTo>
                    <a:pt x="7802881" y="5559552"/>
                  </a:lnTo>
                  <a:lnTo>
                    <a:pt x="0" y="55595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836662" cy="5593334"/>
            </a:xfrm>
            <a:custGeom>
              <a:avLst/>
              <a:gdLst/>
              <a:ahLst/>
              <a:cxnLst/>
              <a:rect r="r" b="b" t="t" l="l"/>
              <a:pathLst>
                <a:path h="5593334" w="7836662">
                  <a:moveTo>
                    <a:pt x="16891" y="0"/>
                  </a:moveTo>
                  <a:lnTo>
                    <a:pt x="7819772" y="0"/>
                  </a:lnTo>
                  <a:cubicBezTo>
                    <a:pt x="7829169" y="0"/>
                    <a:pt x="7836662" y="7620"/>
                    <a:pt x="7836662" y="16891"/>
                  </a:cubicBezTo>
                  <a:lnTo>
                    <a:pt x="7836662" y="5576443"/>
                  </a:lnTo>
                  <a:cubicBezTo>
                    <a:pt x="7836662" y="5585841"/>
                    <a:pt x="7829042" y="5593334"/>
                    <a:pt x="7819772" y="5593334"/>
                  </a:cubicBezTo>
                  <a:lnTo>
                    <a:pt x="16891" y="5593334"/>
                  </a:lnTo>
                  <a:cubicBezTo>
                    <a:pt x="7493" y="5593334"/>
                    <a:pt x="0" y="5585714"/>
                    <a:pt x="0" y="55764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76443"/>
                  </a:lnTo>
                  <a:lnTo>
                    <a:pt x="16891" y="5576443"/>
                  </a:lnTo>
                  <a:lnTo>
                    <a:pt x="16891" y="5559552"/>
                  </a:lnTo>
                  <a:lnTo>
                    <a:pt x="7819772" y="5559552"/>
                  </a:lnTo>
                  <a:lnTo>
                    <a:pt x="7819772" y="5576443"/>
                  </a:lnTo>
                  <a:lnTo>
                    <a:pt x="7802880" y="5576443"/>
                  </a:lnTo>
                  <a:lnTo>
                    <a:pt x="7802880" y="16891"/>
                  </a:lnTo>
                  <a:lnTo>
                    <a:pt x="7819772" y="16891"/>
                  </a:lnTo>
                  <a:lnTo>
                    <a:pt x="7819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070080" y="2743200"/>
            <a:ext cx="5303520" cy="475488"/>
            <a:chOff x="0" y="0"/>
            <a:chExt cx="7071360" cy="6339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071360" cy="633984"/>
            </a:xfrm>
            <a:custGeom>
              <a:avLst/>
              <a:gdLst/>
              <a:ahLst/>
              <a:cxnLst/>
              <a:rect r="r" b="b" t="t" l="l"/>
              <a:pathLst>
                <a:path h="63398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333" r="0" b="-16733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57150"/>
              <a:ext cx="7071360" cy="6911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Rule Components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2057383" y="3370583"/>
            <a:ext cx="5328923" cy="1451867"/>
            <a:chOff x="0" y="0"/>
            <a:chExt cx="7105231" cy="1935823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7071360" cy="1901952"/>
            </a:xfrm>
            <a:custGeom>
              <a:avLst/>
              <a:gdLst/>
              <a:ahLst/>
              <a:cxnLst/>
              <a:rect r="r" b="b" t="t" l="l"/>
              <a:pathLst>
                <a:path h="190195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105142" cy="1935734"/>
            </a:xfrm>
            <a:custGeom>
              <a:avLst/>
              <a:gdLst/>
              <a:ahLst/>
              <a:cxnLst/>
              <a:rect r="r" b="b" t="t" l="l"/>
              <a:pathLst>
                <a:path h="1935734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918843"/>
                  </a:lnTo>
                  <a:cubicBezTo>
                    <a:pt x="7105142" y="1928241"/>
                    <a:pt x="7097522" y="1935734"/>
                    <a:pt x="708825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7088251" y="1901952"/>
                  </a:lnTo>
                  <a:lnTo>
                    <a:pt x="7088251" y="1918843"/>
                  </a:lnTo>
                  <a:lnTo>
                    <a:pt x="7071360" y="1918843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252960" y="3474720"/>
            <a:ext cx="4937760" cy="402336"/>
            <a:chOff x="0" y="0"/>
            <a:chExt cx="6583680" cy="53644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583680" cy="536448"/>
            </a:xfrm>
            <a:custGeom>
              <a:avLst/>
              <a:gdLst/>
              <a:ahLst/>
              <a:cxnLst/>
              <a:rect r="r" b="b" t="t" l="l"/>
              <a:pathLst>
                <a:path h="53644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34" r="0" b="-189134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6583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Truth Value Formula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252960" y="3913632"/>
            <a:ext cx="4937760" cy="804672"/>
            <a:chOff x="0" y="0"/>
            <a:chExt cx="6583680" cy="107289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5836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67" r="0" b="-69567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658368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 = P(A|B) × P(B) / P(A)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 = 1 - (1 - c₁)(1 - c₂)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057383" y="4961639"/>
            <a:ext cx="5328923" cy="1579883"/>
            <a:chOff x="0" y="0"/>
            <a:chExt cx="7105231" cy="210651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70713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105142" cy="2106422"/>
            </a:xfrm>
            <a:custGeom>
              <a:avLst/>
              <a:gdLst/>
              <a:ahLst/>
              <a:cxnLst/>
              <a:rect r="r" b="b" t="t" l="l"/>
              <a:pathLst>
                <a:path h="210642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2089531"/>
                  </a:lnTo>
                  <a:cubicBezTo>
                    <a:pt x="7105142" y="2098929"/>
                    <a:pt x="7097522" y="2106422"/>
                    <a:pt x="708825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7088251" y="2072640"/>
                  </a:lnTo>
                  <a:lnTo>
                    <a:pt x="7088251" y="2089531"/>
                  </a:lnTo>
                  <a:lnTo>
                    <a:pt x="7071360" y="20895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252960" y="5084064"/>
            <a:ext cx="4937760" cy="402336"/>
            <a:chOff x="0" y="0"/>
            <a:chExt cx="6583680" cy="53644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6583680" cy="536448"/>
            </a:xfrm>
            <a:custGeom>
              <a:avLst/>
              <a:gdLst/>
              <a:ahLst/>
              <a:cxnLst/>
              <a:rect r="r" b="b" t="t" l="l"/>
              <a:pathLst>
                <a:path h="53644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34" r="0" b="-189134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658368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Medical Reasoning Example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2252960" y="5435956"/>
            <a:ext cx="5407666" cy="1155539"/>
            <a:chOff x="0" y="0"/>
            <a:chExt cx="6583680" cy="140683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583680" cy="1406836"/>
            </a:xfrm>
            <a:custGeom>
              <a:avLst/>
              <a:gdLst/>
              <a:ahLst/>
              <a:cxnLst/>
              <a:rect r="r" b="b" t="t" l="l"/>
              <a:pathLst>
                <a:path h="140683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06836"/>
                  </a:lnTo>
                  <a:lnTo>
                    <a:pt x="0" y="14068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54" r="0" b="-3451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6583680" cy="14449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Premise: Patient has fever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Rule: Fever → Infection (0.8, 0.9)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Conclusion: Likely has infection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Confidence: 0.72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1783063" y="7028183"/>
            <a:ext cx="5877563" cy="2581424"/>
            <a:chOff x="0" y="0"/>
            <a:chExt cx="7836751" cy="344189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3291"/>
              <a:ext cx="7802881" cy="3415247"/>
            </a:xfrm>
            <a:custGeom>
              <a:avLst/>
              <a:gdLst/>
              <a:ahLst/>
              <a:cxnLst/>
              <a:rect r="r" b="b" t="t" l="l"/>
              <a:pathLst>
                <a:path h="3415247" w="7802881">
                  <a:moveTo>
                    <a:pt x="0" y="0"/>
                  </a:moveTo>
                  <a:lnTo>
                    <a:pt x="7802881" y="0"/>
                  </a:lnTo>
                  <a:lnTo>
                    <a:pt x="7802881" y="3415247"/>
                  </a:lnTo>
                  <a:lnTo>
                    <a:pt x="0" y="341524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7836662" cy="3441829"/>
            </a:xfrm>
            <a:custGeom>
              <a:avLst/>
              <a:gdLst/>
              <a:ahLst/>
              <a:cxnLst/>
              <a:rect r="r" b="b" t="t" l="l"/>
              <a:pathLst>
                <a:path h="3441829" w="7836662">
                  <a:moveTo>
                    <a:pt x="16891" y="0"/>
                  </a:moveTo>
                  <a:lnTo>
                    <a:pt x="7819772" y="0"/>
                  </a:lnTo>
                  <a:cubicBezTo>
                    <a:pt x="7829169" y="0"/>
                    <a:pt x="7836662" y="5996"/>
                    <a:pt x="7836662" y="13291"/>
                  </a:cubicBezTo>
                  <a:lnTo>
                    <a:pt x="7836662" y="3428538"/>
                  </a:lnTo>
                  <a:cubicBezTo>
                    <a:pt x="7836662" y="3435933"/>
                    <a:pt x="7829042" y="3441829"/>
                    <a:pt x="7819772" y="3441829"/>
                  </a:cubicBezTo>
                  <a:lnTo>
                    <a:pt x="16891" y="3441829"/>
                  </a:lnTo>
                  <a:cubicBezTo>
                    <a:pt x="7493" y="3441829"/>
                    <a:pt x="0" y="3435833"/>
                    <a:pt x="0" y="3428538"/>
                  </a:cubicBezTo>
                  <a:lnTo>
                    <a:pt x="0" y="13291"/>
                  </a:lnTo>
                  <a:cubicBezTo>
                    <a:pt x="0" y="5996"/>
                    <a:pt x="7620" y="0"/>
                    <a:pt x="16891" y="0"/>
                  </a:cubicBezTo>
                  <a:moveTo>
                    <a:pt x="16891" y="26682"/>
                  </a:moveTo>
                  <a:lnTo>
                    <a:pt x="16891" y="13291"/>
                  </a:lnTo>
                  <a:lnTo>
                    <a:pt x="33909" y="13291"/>
                  </a:lnTo>
                  <a:lnTo>
                    <a:pt x="33909" y="3428538"/>
                  </a:lnTo>
                  <a:lnTo>
                    <a:pt x="16891" y="3428538"/>
                  </a:lnTo>
                  <a:lnTo>
                    <a:pt x="16891" y="3415247"/>
                  </a:lnTo>
                  <a:lnTo>
                    <a:pt x="7819772" y="3415247"/>
                  </a:lnTo>
                  <a:lnTo>
                    <a:pt x="7819772" y="3428538"/>
                  </a:lnTo>
                  <a:lnTo>
                    <a:pt x="7802880" y="3428538"/>
                  </a:lnTo>
                  <a:lnTo>
                    <a:pt x="7802880" y="13291"/>
                  </a:lnTo>
                  <a:lnTo>
                    <a:pt x="7819772" y="13291"/>
                  </a:lnTo>
                  <a:lnTo>
                    <a:pt x="7819772" y="26682"/>
                  </a:lnTo>
                  <a:lnTo>
                    <a:pt x="16891" y="2668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2070080" y="7187184"/>
            <a:ext cx="5303520" cy="475488"/>
            <a:chOff x="0" y="0"/>
            <a:chExt cx="7071360" cy="63398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7071360" cy="633984"/>
            </a:xfrm>
            <a:custGeom>
              <a:avLst/>
              <a:gdLst/>
              <a:ahLst/>
              <a:cxnLst/>
              <a:rect r="r" b="b" t="t" l="l"/>
              <a:pathLst>
                <a:path h="63398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333" r="0" b="-167333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70713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Parameters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057383" y="7796279"/>
            <a:ext cx="2677163" cy="683771"/>
            <a:chOff x="0" y="0"/>
            <a:chExt cx="3569551" cy="911695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3535680" cy="877824"/>
            </a:xfrm>
            <a:custGeom>
              <a:avLst/>
              <a:gdLst/>
              <a:ahLst/>
              <a:cxnLst/>
              <a:rect r="r" b="b" t="t" l="l"/>
              <a:pathLst>
                <a:path h="877824" w="3535680">
                  <a:moveTo>
                    <a:pt x="0" y="195072"/>
                  </a:moveTo>
                  <a:cubicBezTo>
                    <a:pt x="0" y="87376"/>
                    <a:pt x="89789" y="0"/>
                    <a:pt x="200660" y="0"/>
                  </a:cubicBezTo>
                  <a:lnTo>
                    <a:pt x="3335020" y="0"/>
                  </a:lnTo>
                  <a:cubicBezTo>
                    <a:pt x="3445891" y="0"/>
                    <a:pt x="3535680" y="87376"/>
                    <a:pt x="3535680" y="195072"/>
                  </a:cubicBezTo>
                  <a:lnTo>
                    <a:pt x="3535680" y="682752"/>
                  </a:lnTo>
                  <a:cubicBezTo>
                    <a:pt x="3535680" y="790448"/>
                    <a:pt x="3445891" y="877824"/>
                    <a:pt x="3335020" y="877824"/>
                  </a:cubicBezTo>
                  <a:lnTo>
                    <a:pt x="200660" y="877824"/>
                  </a:lnTo>
                  <a:cubicBezTo>
                    <a:pt x="89789" y="877824"/>
                    <a:pt x="0" y="790448"/>
                    <a:pt x="0" y="68275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569462" cy="911606"/>
            </a:xfrm>
            <a:custGeom>
              <a:avLst/>
              <a:gdLst/>
              <a:ahLst/>
              <a:cxnLst/>
              <a:rect r="r" b="b" t="t" l="l"/>
              <a:pathLst>
                <a:path h="911606" w="3569462">
                  <a:moveTo>
                    <a:pt x="0" y="211963"/>
                  </a:moveTo>
                  <a:cubicBezTo>
                    <a:pt x="0" y="94488"/>
                    <a:pt x="97917" y="0"/>
                    <a:pt x="217551" y="0"/>
                  </a:cubicBezTo>
                  <a:lnTo>
                    <a:pt x="3351911" y="0"/>
                  </a:lnTo>
                  <a:lnTo>
                    <a:pt x="3351911" y="16891"/>
                  </a:lnTo>
                  <a:lnTo>
                    <a:pt x="3351911" y="0"/>
                  </a:lnTo>
                  <a:cubicBezTo>
                    <a:pt x="3471672" y="0"/>
                    <a:pt x="3569462" y="94488"/>
                    <a:pt x="3569462" y="211963"/>
                  </a:cubicBezTo>
                  <a:lnTo>
                    <a:pt x="3552571" y="211963"/>
                  </a:lnTo>
                  <a:lnTo>
                    <a:pt x="3569462" y="211963"/>
                  </a:lnTo>
                  <a:lnTo>
                    <a:pt x="3569462" y="699643"/>
                  </a:lnTo>
                  <a:lnTo>
                    <a:pt x="3552571" y="699643"/>
                  </a:lnTo>
                  <a:lnTo>
                    <a:pt x="3569462" y="699643"/>
                  </a:lnTo>
                  <a:cubicBezTo>
                    <a:pt x="3569462" y="817118"/>
                    <a:pt x="3471545" y="911606"/>
                    <a:pt x="3351911" y="911606"/>
                  </a:cubicBezTo>
                  <a:lnTo>
                    <a:pt x="3351911" y="894715"/>
                  </a:lnTo>
                  <a:lnTo>
                    <a:pt x="3351911" y="911606"/>
                  </a:lnTo>
                  <a:lnTo>
                    <a:pt x="217551" y="911606"/>
                  </a:lnTo>
                  <a:lnTo>
                    <a:pt x="217551" y="894715"/>
                  </a:lnTo>
                  <a:lnTo>
                    <a:pt x="217551" y="911606"/>
                  </a:lnTo>
                  <a:cubicBezTo>
                    <a:pt x="97917" y="911733"/>
                    <a:pt x="0" y="817245"/>
                    <a:pt x="0" y="699643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699643"/>
                  </a:lnTo>
                  <a:lnTo>
                    <a:pt x="16891" y="699643"/>
                  </a:lnTo>
                  <a:lnTo>
                    <a:pt x="33909" y="699643"/>
                  </a:lnTo>
                  <a:cubicBezTo>
                    <a:pt x="33909" y="797560"/>
                    <a:pt x="115697" y="877824"/>
                    <a:pt x="217678" y="877824"/>
                  </a:cubicBezTo>
                  <a:lnTo>
                    <a:pt x="3352038" y="877824"/>
                  </a:lnTo>
                  <a:cubicBezTo>
                    <a:pt x="3454019" y="877824"/>
                    <a:pt x="3535807" y="797560"/>
                    <a:pt x="3535807" y="699643"/>
                  </a:cubicBezTo>
                  <a:lnTo>
                    <a:pt x="3535807" y="211963"/>
                  </a:lnTo>
                  <a:cubicBezTo>
                    <a:pt x="3535807" y="114046"/>
                    <a:pt x="3454019" y="33782"/>
                    <a:pt x="3352038" y="33782"/>
                  </a:cubicBezTo>
                  <a:lnTo>
                    <a:pt x="217551" y="33782"/>
                  </a:lnTo>
                  <a:lnTo>
                    <a:pt x="217551" y="16891"/>
                  </a:lnTo>
                  <a:lnTo>
                    <a:pt x="217551" y="33909"/>
                  </a:lnTo>
                  <a:cubicBezTo>
                    <a:pt x="115697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2070080" y="7808976"/>
            <a:ext cx="2651760" cy="658368"/>
            <a:chOff x="0" y="0"/>
            <a:chExt cx="3535680" cy="87782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535680" cy="877824"/>
            </a:xfrm>
            <a:custGeom>
              <a:avLst/>
              <a:gdLst/>
              <a:ahLst/>
              <a:cxnLst/>
              <a:rect r="r" b="b" t="t" l="l"/>
              <a:pathLst>
                <a:path h="877824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81" r="0" b="-28481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35356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 = strength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4892023" y="7796279"/>
            <a:ext cx="2677163" cy="683771"/>
            <a:chOff x="0" y="0"/>
            <a:chExt cx="3569551" cy="911695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3535680" cy="877824"/>
            </a:xfrm>
            <a:custGeom>
              <a:avLst/>
              <a:gdLst/>
              <a:ahLst/>
              <a:cxnLst/>
              <a:rect r="r" b="b" t="t" l="l"/>
              <a:pathLst>
                <a:path h="877824" w="3535680">
                  <a:moveTo>
                    <a:pt x="0" y="195072"/>
                  </a:moveTo>
                  <a:cubicBezTo>
                    <a:pt x="0" y="87376"/>
                    <a:pt x="89789" y="0"/>
                    <a:pt x="200660" y="0"/>
                  </a:cubicBezTo>
                  <a:lnTo>
                    <a:pt x="3335020" y="0"/>
                  </a:lnTo>
                  <a:cubicBezTo>
                    <a:pt x="3445891" y="0"/>
                    <a:pt x="3535680" y="87376"/>
                    <a:pt x="3535680" y="195072"/>
                  </a:cubicBezTo>
                  <a:lnTo>
                    <a:pt x="3535680" y="682752"/>
                  </a:lnTo>
                  <a:cubicBezTo>
                    <a:pt x="3535680" y="790448"/>
                    <a:pt x="3445891" y="877824"/>
                    <a:pt x="3335020" y="877824"/>
                  </a:cubicBezTo>
                  <a:lnTo>
                    <a:pt x="200660" y="877824"/>
                  </a:lnTo>
                  <a:cubicBezTo>
                    <a:pt x="89789" y="877824"/>
                    <a:pt x="0" y="790448"/>
                    <a:pt x="0" y="68275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3569462" cy="911606"/>
            </a:xfrm>
            <a:custGeom>
              <a:avLst/>
              <a:gdLst/>
              <a:ahLst/>
              <a:cxnLst/>
              <a:rect r="r" b="b" t="t" l="l"/>
              <a:pathLst>
                <a:path h="911606" w="3569462">
                  <a:moveTo>
                    <a:pt x="0" y="211963"/>
                  </a:moveTo>
                  <a:cubicBezTo>
                    <a:pt x="0" y="94488"/>
                    <a:pt x="97917" y="0"/>
                    <a:pt x="217551" y="0"/>
                  </a:cubicBezTo>
                  <a:lnTo>
                    <a:pt x="3351911" y="0"/>
                  </a:lnTo>
                  <a:lnTo>
                    <a:pt x="3351911" y="16891"/>
                  </a:lnTo>
                  <a:lnTo>
                    <a:pt x="3351911" y="0"/>
                  </a:lnTo>
                  <a:cubicBezTo>
                    <a:pt x="3471672" y="0"/>
                    <a:pt x="3569462" y="94488"/>
                    <a:pt x="3569462" y="211963"/>
                  </a:cubicBezTo>
                  <a:lnTo>
                    <a:pt x="3552571" y="211963"/>
                  </a:lnTo>
                  <a:lnTo>
                    <a:pt x="3569462" y="211963"/>
                  </a:lnTo>
                  <a:lnTo>
                    <a:pt x="3569462" y="699643"/>
                  </a:lnTo>
                  <a:lnTo>
                    <a:pt x="3552571" y="699643"/>
                  </a:lnTo>
                  <a:lnTo>
                    <a:pt x="3569462" y="699643"/>
                  </a:lnTo>
                  <a:cubicBezTo>
                    <a:pt x="3569462" y="817118"/>
                    <a:pt x="3471545" y="911606"/>
                    <a:pt x="3351911" y="911606"/>
                  </a:cubicBezTo>
                  <a:lnTo>
                    <a:pt x="3351911" y="894715"/>
                  </a:lnTo>
                  <a:lnTo>
                    <a:pt x="3351911" y="911606"/>
                  </a:lnTo>
                  <a:lnTo>
                    <a:pt x="217551" y="911606"/>
                  </a:lnTo>
                  <a:lnTo>
                    <a:pt x="217551" y="894715"/>
                  </a:lnTo>
                  <a:lnTo>
                    <a:pt x="217551" y="911606"/>
                  </a:lnTo>
                  <a:cubicBezTo>
                    <a:pt x="97917" y="911733"/>
                    <a:pt x="0" y="817245"/>
                    <a:pt x="0" y="699643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699643"/>
                  </a:lnTo>
                  <a:lnTo>
                    <a:pt x="16891" y="699643"/>
                  </a:lnTo>
                  <a:lnTo>
                    <a:pt x="33909" y="699643"/>
                  </a:lnTo>
                  <a:cubicBezTo>
                    <a:pt x="33909" y="797560"/>
                    <a:pt x="115697" y="877824"/>
                    <a:pt x="217678" y="877824"/>
                  </a:cubicBezTo>
                  <a:lnTo>
                    <a:pt x="3352038" y="877824"/>
                  </a:lnTo>
                  <a:cubicBezTo>
                    <a:pt x="3454019" y="877824"/>
                    <a:pt x="3535807" y="797560"/>
                    <a:pt x="3535807" y="699643"/>
                  </a:cubicBezTo>
                  <a:lnTo>
                    <a:pt x="3535807" y="211963"/>
                  </a:lnTo>
                  <a:cubicBezTo>
                    <a:pt x="3535807" y="114046"/>
                    <a:pt x="3454019" y="33782"/>
                    <a:pt x="3352038" y="33782"/>
                  </a:cubicBezTo>
                  <a:lnTo>
                    <a:pt x="217551" y="33782"/>
                  </a:lnTo>
                  <a:lnTo>
                    <a:pt x="217551" y="16891"/>
                  </a:lnTo>
                  <a:lnTo>
                    <a:pt x="217551" y="33909"/>
                  </a:lnTo>
                  <a:cubicBezTo>
                    <a:pt x="115697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4904720" y="7808976"/>
            <a:ext cx="2651760" cy="658368"/>
            <a:chOff x="0" y="0"/>
            <a:chExt cx="3535680" cy="87782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535680" cy="877824"/>
            </a:xfrm>
            <a:custGeom>
              <a:avLst/>
              <a:gdLst/>
              <a:ahLst/>
              <a:cxnLst/>
              <a:rect r="r" b="b" t="t" l="l"/>
              <a:pathLst>
                <a:path h="877824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81" r="0" b="-28481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35356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 = confidence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2057383" y="8747255"/>
            <a:ext cx="2677163" cy="683771"/>
            <a:chOff x="0" y="0"/>
            <a:chExt cx="3569551" cy="911695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6891" y="16891"/>
              <a:ext cx="3535680" cy="877824"/>
            </a:xfrm>
            <a:custGeom>
              <a:avLst/>
              <a:gdLst/>
              <a:ahLst/>
              <a:cxnLst/>
              <a:rect r="r" b="b" t="t" l="l"/>
              <a:pathLst>
                <a:path h="877824" w="3535680">
                  <a:moveTo>
                    <a:pt x="0" y="195072"/>
                  </a:moveTo>
                  <a:cubicBezTo>
                    <a:pt x="0" y="87376"/>
                    <a:pt x="89789" y="0"/>
                    <a:pt x="200660" y="0"/>
                  </a:cubicBezTo>
                  <a:lnTo>
                    <a:pt x="3335020" y="0"/>
                  </a:lnTo>
                  <a:cubicBezTo>
                    <a:pt x="3445891" y="0"/>
                    <a:pt x="3535680" y="87376"/>
                    <a:pt x="3535680" y="195072"/>
                  </a:cubicBezTo>
                  <a:lnTo>
                    <a:pt x="3535680" y="682752"/>
                  </a:lnTo>
                  <a:cubicBezTo>
                    <a:pt x="3535680" y="790448"/>
                    <a:pt x="3445891" y="877824"/>
                    <a:pt x="3335020" y="877824"/>
                  </a:cubicBezTo>
                  <a:lnTo>
                    <a:pt x="200660" y="877824"/>
                  </a:lnTo>
                  <a:cubicBezTo>
                    <a:pt x="89789" y="877824"/>
                    <a:pt x="0" y="790448"/>
                    <a:pt x="0" y="682752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3569462" cy="911606"/>
            </a:xfrm>
            <a:custGeom>
              <a:avLst/>
              <a:gdLst/>
              <a:ahLst/>
              <a:cxnLst/>
              <a:rect r="r" b="b" t="t" l="l"/>
              <a:pathLst>
                <a:path h="911606" w="3569462">
                  <a:moveTo>
                    <a:pt x="0" y="211963"/>
                  </a:moveTo>
                  <a:cubicBezTo>
                    <a:pt x="0" y="94488"/>
                    <a:pt x="97917" y="0"/>
                    <a:pt x="217551" y="0"/>
                  </a:cubicBezTo>
                  <a:lnTo>
                    <a:pt x="3351911" y="0"/>
                  </a:lnTo>
                  <a:lnTo>
                    <a:pt x="3351911" y="16891"/>
                  </a:lnTo>
                  <a:lnTo>
                    <a:pt x="3351911" y="0"/>
                  </a:lnTo>
                  <a:cubicBezTo>
                    <a:pt x="3471672" y="0"/>
                    <a:pt x="3569462" y="94488"/>
                    <a:pt x="3569462" y="211963"/>
                  </a:cubicBezTo>
                  <a:lnTo>
                    <a:pt x="3552571" y="211963"/>
                  </a:lnTo>
                  <a:lnTo>
                    <a:pt x="3569462" y="211963"/>
                  </a:lnTo>
                  <a:lnTo>
                    <a:pt x="3569462" y="699643"/>
                  </a:lnTo>
                  <a:lnTo>
                    <a:pt x="3552571" y="699643"/>
                  </a:lnTo>
                  <a:lnTo>
                    <a:pt x="3569462" y="699643"/>
                  </a:lnTo>
                  <a:cubicBezTo>
                    <a:pt x="3569462" y="817118"/>
                    <a:pt x="3471545" y="911606"/>
                    <a:pt x="3351911" y="911606"/>
                  </a:cubicBezTo>
                  <a:lnTo>
                    <a:pt x="3351911" y="894715"/>
                  </a:lnTo>
                  <a:lnTo>
                    <a:pt x="3351911" y="911606"/>
                  </a:lnTo>
                  <a:lnTo>
                    <a:pt x="217551" y="911606"/>
                  </a:lnTo>
                  <a:lnTo>
                    <a:pt x="217551" y="894715"/>
                  </a:lnTo>
                  <a:lnTo>
                    <a:pt x="217551" y="911606"/>
                  </a:lnTo>
                  <a:cubicBezTo>
                    <a:pt x="97917" y="911733"/>
                    <a:pt x="0" y="817245"/>
                    <a:pt x="0" y="699643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699643"/>
                  </a:lnTo>
                  <a:lnTo>
                    <a:pt x="16891" y="699643"/>
                  </a:lnTo>
                  <a:lnTo>
                    <a:pt x="33909" y="699643"/>
                  </a:lnTo>
                  <a:cubicBezTo>
                    <a:pt x="33909" y="797560"/>
                    <a:pt x="115697" y="877824"/>
                    <a:pt x="217678" y="877824"/>
                  </a:cubicBezTo>
                  <a:lnTo>
                    <a:pt x="3352038" y="877824"/>
                  </a:lnTo>
                  <a:cubicBezTo>
                    <a:pt x="3454019" y="877824"/>
                    <a:pt x="3535807" y="797560"/>
                    <a:pt x="3535807" y="699643"/>
                  </a:cubicBezTo>
                  <a:lnTo>
                    <a:pt x="3535807" y="211963"/>
                  </a:lnTo>
                  <a:cubicBezTo>
                    <a:pt x="3535807" y="114046"/>
                    <a:pt x="3454019" y="33782"/>
                    <a:pt x="3352038" y="33782"/>
                  </a:cubicBezTo>
                  <a:lnTo>
                    <a:pt x="217551" y="33782"/>
                  </a:lnTo>
                  <a:lnTo>
                    <a:pt x="217551" y="16891"/>
                  </a:lnTo>
                  <a:lnTo>
                    <a:pt x="217551" y="33909"/>
                  </a:lnTo>
                  <a:cubicBezTo>
                    <a:pt x="115697" y="33909"/>
                    <a:pt x="33909" y="114046"/>
                    <a:pt x="33909" y="211963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2070080" y="8759952"/>
            <a:ext cx="2651760" cy="658368"/>
            <a:chOff x="0" y="0"/>
            <a:chExt cx="3535680" cy="877824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3535680" cy="877824"/>
            </a:xfrm>
            <a:custGeom>
              <a:avLst/>
              <a:gdLst/>
              <a:ahLst/>
              <a:cxnLst/>
              <a:rect r="r" b="b" t="t" l="l"/>
              <a:pathLst>
                <a:path h="877824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81" r="0" b="-28481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353568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 = count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MOSES: Meta-Optimizing Semantic Evolutionary Search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21/53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1499616"/>
            <a:ext cx="14630400" cy="822960"/>
            <a:chOff x="0" y="0"/>
            <a:chExt cx="1950720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950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MOSES Architecture &amp; Evolution Process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1995" y="2459355"/>
            <a:ext cx="8065770" cy="7334250"/>
            <a:chOff x="0" y="0"/>
            <a:chExt cx="10754360" cy="9779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1072896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4360" cy="9779000"/>
            </a:xfrm>
            <a:custGeom>
              <a:avLst/>
              <a:gdLst/>
              <a:ahLst/>
              <a:cxnLst/>
              <a:rect r="r" b="b" t="t" l="l"/>
              <a:pathLst>
                <a:path h="9779000" w="10754360">
                  <a:moveTo>
                    <a:pt x="12700" y="0"/>
                  </a:moveTo>
                  <a:lnTo>
                    <a:pt x="10741660" y="0"/>
                  </a:lnTo>
                  <a:cubicBezTo>
                    <a:pt x="10748645" y="0"/>
                    <a:pt x="10754360" y="5715"/>
                    <a:pt x="10754360" y="12700"/>
                  </a:cubicBezTo>
                  <a:lnTo>
                    <a:pt x="10754360" y="9766300"/>
                  </a:lnTo>
                  <a:cubicBezTo>
                    <a:pt x="10754360" y="9773285"/>
                    <a:pt x="10748645" y="9779000"/>
                    <a:pt x="10741660" y="9779000"/>
                  </a:cubicBezTo>
                  <a:lnTo>
                    <a:pt x="12700" y="9779000"/>
                  </a:lnTo>
                  <a:cubicBezTo>
                    <a:pt x="5715" y="9779000"/>
                    <a:pt x="0" y="9773285"/>
                    <a:pt x="0" y="9766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66300"/>
                  </a:lnTo>
                  <a:lnTo>
                    <a:pt x="12700" y="9766300"/>
                  </a:lnTo>
                  <a:lnTo>
                    <a:pt x="12700" y="9753600"/>
                  </a:lnTo>
                  <a:lnTo>
                    <a:pt x="10741660" y="9753600"/>
                  </a:lnTo>
                  <a:lnTo>
                    <a:pt x="10741660" y="9766300"/>
                  </a:lnTo>
                  <a:lnTo>
                    <a:pt x="10728960" y="9766300"/>
                  </a:lnTo>
                  <a:lnTo>
                    <a:pt x="10728960" y="12700"/>
                  </a:lnTo>
                  <a:lnTo>
                    <a:pt x="10741660" y="12700"/>
                  </a:lnTo>
                  <a:lnTo>
                    <a:pt x="10741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99487" y="3322063"/>
            <a:ext cx="7510777" cy="963673"/>
            <a:chOff x="0" y="0"/>
            <a:chExt cx="10014369" cy="12848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8509" y="8509"/>
              <a:ext cx="9997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1445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014458">
                  <a:moveTo>
                    <a:pt x="8509" y="0"/>
                  </a:moveTo>
                  <a:lnTo>
                    <a:pt x="10005949" y="0"/>
                  </a:lnTo>
                  <a:cubicBezTo>
                    <a:pt x="10010648" y="0"/>
                    <a:pt x="10014458" y="3810"/>
                    <a:pt x="10014458" y="8509"/>
                  </a:cubicBezTo>
                  <a:lnTo>
                    <a:pt x="10014458" y="1276477"/>
                  </a:lnTo>
                  <a:cubicBezTo>
                    <a:pt x="10014458" y="1281176"/>
                    <a:pt x="10010648" y="1284986"/>
                    <a:pt x="1000594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005949" y="1267968"/>
                  </a:lnTo>
                  <a:lnTo>
                    <a:pt x="10005949" y="1276477"/>
                  </a:lnTo>
                  <a:lnTo>
                    <a:pt x="9997440" y="1276477"/>
                  </a:lnTo>
                  <a:lnTo>
                    <a:pt x="9997440" y="8509"/>
                  </a:lnTo>
                  <a:lnTo>
                    <a:pt x="10005949" y="8509"/>
                  </a:lnTo>
                  <a:lnTo>
                    <a:pt x="10005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88720" y="3529584"/>
            <a:ext cx="548640" cy="548640"/>
            <a:chOff x="0" y="0"/>
            <a:chExt cx="73152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88720" y="3529584"/>
            <a:ext cx="548640" cy="548640"/>
            <a:chOff x="0" y="0"/>
            <a:chExt cx="73152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920240" y="3419856"/>
            <a:ext cx="6400800" cy="402336"/>
            <a:chOff x="0" y="0"/>
            <a:chExt cx="8534400" cy="5364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Initialization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920240" y="3822192"/>
            <a:ext cx="6400800" cy="365760"/>
            <a:chOff x="0" y="0"/>
            <a:chExt cx="8534400" cy="487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534400" cy="487680"/>
            </a:xfrm>
            <a:custGeom>
              <a:avLst/>
              <a:gdLst/>
              <a:ahLst/>
              <a:cxnLst/>
              <a:rect r="r" b="b" t="t" l="l"/>
              <a:pathLst>
                <a:path h="4876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534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Generate initial population of program trees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99487" y="4510783"/>
            <a:ext cx="7510777" cy="963673"/>
            <a:chOff x="0" y="0"/>
            <a:chExt cx="10014369" cy="12848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8509" y="8509"/>
              <a:ext cx="9997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1445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014458">
                  <a:moveTo>
                    <a:pt x="8509" y="0"/>
                  </a:moveTo>
                  <a:lnTo>
                    <a:pt x="10005949" y="0"/>
                  </a:lnTo>
                  <a:cubicBezTo>
                    <a:pt x="10010648" y="0"/>
                    <a:pt x="10014458" y="3810"/>
                    <a:pt x="10014458" y="8509"/>
                  </a:cubicBezTo>
                  <a:lnTo>
                    <a:pt x="10014458" y="1276477"/>
                  </a:lnTo>
                  <a:cubicBezTo>
                    <a:pt x="10014458" y="1281176"/>
                    <a:pt x="10010648" y="1284986"/>
                    <a:pt x="1000594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005949" y="1267968"/>
                  </a:lnTo>
                  <a:lnTo>
                    <a:pt x="10005949" y="1276477"/>
                  </a:lnTo>
                  <a:lnTo>
                    <a:pt x="9997440" y="1276477"/>
                  </a:lnTo>
                  <a:lnTo>
                    <a:pt x="9997440" y="8509"/>
                  </a:lnTo>
                  <a:lnTo>
                    <a:pt x="10005949" y="8509"/>
                  </a:lnTo>
                  <a:lnTo>
                    <a:pt x="10005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88720" y="4718304"/>
            <a:ext cx="548640" cy="548640"/>
            <a:chOff x="0" y="0"/>
            <a:chExt cx="73152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88720" y="4718304"/>
            <a:ext cx="548640" cy="548640"/>
            <a:chOff x="0" y="0"/>
            <a:chExt cx="73152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920240" y="4608576"/>
            <a:ext cx="6400800" cy="402336"/>
            <a:chOff x="0" y="0"/>
            <a:chExt cx="8534400" cy="5364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920240" y="5010912"/>
            <a:ext cx="6400800" cy="365760"/>
            <a:chOff x="0" y="0"/>
            <a:chExt cx="8534400" cy="487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534400" cy="487680"/>
            </a:xfrm>
            <a:custGeom>
              <a:avLst/>
              <a:gdLst/>
              <a:ahLst/>
              <a:cxnLst/>
              <a:rect r="r" b="b" t="t" l="l"/>
              <a:pathLst>
                <a:path h="4876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8534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Assess fitness of each program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99487" y="5699503"/>
            <a:ext cx="7510777" cy="963673"/>
            <a:chOff x="0" y="0"/>
            <a:chExt cx="10014369" cy="128489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8509" y="8509"/>
              <a:ext cx="9997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01445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014458">
                  <a:moveTo>
                    <a:pt x="8509" y="0"/>
                  </a:moveTo>
                  <a:lnTo>
                    <a:pt x="10005949" y="0"/>
                  </a:lnTo>
                  <a:cubicBezTo>
                    <a:pt x="10010648" y="0"/>
                    <a:pt x="10014458" y="3810"/>
                    <a:pt x="10014458" y="8509"/>
                  </a:cubicBezTo>
                  <a:lnTo>
                    <a:pt x="10014458" y="1276477"/>
                  </a:lnTo>
                  <a:cubicBezTo>
                    <a:pt x="10014458" y="1281176"/>
                    <a:pt x="10010648" y="1284986"/>
                    <a:pt x="1000594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005949" y="1267968"/>
                  </a:lnTo>
                  <a:lnTo>
                    <a:pt x="10005949" y="1276477"/>
                  </a:lnTo>
                  <a:lnTo>
                    <a:pt x="9997440" y="1276477"/>
                  </a:lnTo>
                  <a:lnTo>
                    <a:pt x="9997440" y="8509"/>
                  </a:lnTo>
                  <a:lnTo>
                    <a:pt x="10005949" y="8509"/>
                  </a:lnTo>
                  <a:lnTo>
                    <a:pt x="10005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720" y="5907024"/>
            <a:ext cx="548640" cy="548640"/>
            <a:chOff x="0" y="0"/>
            <a:chExt cx="73152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88720" y="5907024"/>
            <a:ext cx="548640" cy="548640"/>
            <a:chOff x="0" y="0"/>
            <a:chExt cx="73152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920240" y="5797296"/>
            <a:ext cx="6400800" cy="402336"/>
            <a:chOff x="0" y="0"/>
            <a:chExt cx="8534400" cy="5364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Selection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920240" y="6199632"/>
            <a:ext cx="6400800" cy="365760"/>
            <a:chOff x="0" y="0"/>
            <a:chExt cx="8534400" cy="4876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534400" cy="487680"/>
            </a:xfrm>
            <a:custGeom>
              <a:avLst/>
              <a:gdLst/>
              <a:ahLst/>
              <a:cxnLst/>
              <a:rect r="r" b="b" t="t" l="l"/>
              <a:pathLst>
                <a:path h="4876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8534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Select best programs for reproduction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99487" y="6888223"/>
            <a:ext cx="7510777" cy="963673"/>
            <a:chOff x="0" y="0"/>
            <a:chExt cx="10014369" cy="128489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8509" y="8509"/>
              <a:ext cx="9997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01445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014458">
                  <a:moveTo>
                    <a:pt x="8509" y="0"/>
                  </a:moveTo>
                  <a:lnTo>
                    <a:pt x="10005949" y="0"/>
                  </a:lnTo>
                  <a:cubicBezTo>
                    <a:pt x="10010648" y="0"/>
                    <a:pt x="10014458" y="3810"/>
                    <a:pt x="10014458" y="8509"/>
                  </a:cubicBezTo>
                  <a:lnTo>
                    <a:pt x="10014458" y="1276477"/>
                  </a:lnTo>
                  <a:cubicBezTo>
                    <a:pt x="10014458" y="1281176"/>
                    <a:pt x="10010648" y="1284986"/>
                    <a:pt x="1000594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005949" y="1267968"/>
                  </a:lnTo>
                  <a:lnTo>
                    <a:pt x="10005949" y="1276477"/>
                  </a:lnTo>
                  <a:lnTo>
                    <a:pt x="9997440" y="1276477"/>
                  </a:lnTo>
                  <a:lnTo>
                    <a:pt x="9997440" y="8509"/>
                  </a:lnTo>
                  <a:lnTo>
                    <a:pt x="10005949" y="8509"/>
                  </a:lnTo>
                  <a:lnTo>
                    <a:pt x="10005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88720" y="7095744"/>
            <a:ext cx="548640" cy="548640"/>
            <a:chOff x="0" y="0"/>
            <a:chExt cx="73152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88720" y="7095744"/>
            <a:ext cx="548640" cy="548640"/>
            <a:chOff x="0" y="0"/>
            <a:chExt cx="73152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920240" y="6986016"/>
            <a:ext cx="6400800" cy="402336"/>
            <a:chOff x="0" y="0"/>
            <a:chExt cx="8534400" cy="53644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Mutation &amp; Crossover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920240" y="7388352"/>
            <a:ext cx="6400800" cy="365760"/>
            <a:chOff x="0" y="0"/>
            <a:chExt cx="8534400" cy="4876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534400" cy="487680"/>
            </a:xfrm>
            <a:custGeom>
              <a:avLst/>
              <a:gdLst/>
              <a:ahLst/>
              <a:cxnLst/>
              <a:rect r="r" b="b" t="t" l="l"/>
              <a:pathLst>
                <a:path h="4876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8534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Generate new program variants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99487" y="8680447"/>
            <a:ext cx="2390137" cy="835657"/>
            <a:chOff x="0" y="0"/>
            <a:chExt cx="3186849" cy="111420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8509" y="8509"/>
              <a:ext cx="3169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186938" cy="1114298"/>
            </a:xfrm>
            <a:custGeom>
              <a:avLst/>
              <a:gdLst/>
              <a:ahLst/>
              <a:cxnLst/>
              <a:rect r="r" b="b" t="t" l="l"/>
              <a:pathLst>
                <a:path h="1114298" w="3186938">
                  <a:moveTo>
                    <a:pt x="8509" y="0"/>
                  </a:moveTo>
                  <a:lnTo>
                    <a:pt x="3178429" y="0"/>
                  </a:lnTo>
                  <a:cubicBezTo>
                    <a:pt x="3183128" y="0"/>
                    <a:pt x="3186938" y="3810"/>
                    <a:pt x="3186938" y="8509"/>
                  </a:cubicBezTo>
                  <a:lnTo>
                    <a:pt x="3186938" y="1105789"/>
                  </a:lnTo>
                  <a:cubicBezTo>
                    <a:pt x="3186938" y="1110488"/>
                    <a:pt x="3183128" y="1114298"/>
                    <a:pt x="3178429" y="1114298"/>
                  </a:cubicBezTo>
                  <a:lnTo>
                    <a:pt x="8509" y="1114298"/>
                  </a:lnTo>
                  <a:cubicBezTo>
                    <a:pt x="3810" y="1114298"/>
                    <a:pt x="0" y="1110488"/>
                    <a:pt x="0" y="1105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05789"/>
                  </a:lnTo>
                  <a:lnTo>
                    <a:pt x="8509" y="1105789"/>
                  </a:lnTo>
                  <a:lnTo>
                    <a:pt x="8509" y="1097280"/>
                  </a:lnTo>
                  <a:lnTo>
                    <a:pt x="3178429" y="1097280"/>
                  </a:lnTo>
                  <a:lnTo>
                    <a:pt x="3178429" y="1105789"/>
                  </a:lnTo>
                  <a:lnTo>
                    <a:pt x="3169920" y="1105789"/>
                  </a:lnTo>
                  <a:lnTo>
                    <a:pt x="3169920" y="8509"/>
                  </a:lnTo>
                  <a:lnTo>
                    <a:pt x="3178429" y="8509"/>
                  </a:lnTo>
                  <a:lnTo>
                    <a:pt x="31784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05840" y="8686800"/>
            <a:ext cx="2377440" cy="822960"/>
            <a:chOff x="0" y="0"/>
            <a:chExt cx="3169920" cy="10972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169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90" r="0" b="-629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31699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 Convergence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3559807" y="8680447"/>
            <a:ext cx="2390137" cy="835657"/>
            <a:chOff x="0" y="0"/>
            <a:chExt cx="3186849" cy="111420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8509" y="8509"/>
              <a:ext cx="3169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86938" cy="1114298"/>
            </a:xfrm>
            <a:custGeom>
              <a:avLst/>
              <a:gdLst/>
              <a:ahLst/>
              <a:cxnLst/>
              <a:rect r="r" b="b" t="t" l="l"/>
              <a:pathLst>
                <a:path h="1114298" w="3186938">
                  <a:moveTo>
                    <a:pt x="8509" y="0"/>
                  </a:moveTo>
                  <a:lnTo>
                    <a:pt x="3178429" y="0"/>
                  </a:lnTo>
                  <a:cubicBezTo>
                    <a:pt x="3183128" y="0"/>
                    <a:pt x="3186938" y="3810"/>
                    <a:pt x="3186938" y="8509"/>
                  </a:cubicBezTo>
                  <a:lnTo>
                    <a:pt x="3186938" y="1105789"/>
                  </a:lnTo>
                  <a:cubicBezTo>
                    <a:pt x="3186938" y="1110488"/>
                    <a:pt x="3183128" y="1114298"/>
                    <a:pt x="3178429" y="1114298"/>
                  </a:cubicBezTo>
                  <a:lnTo>
                    <a:pt x="8509" y="1114298"/>
                  </a:lnTo>
                  <a:cubicBezTo>
                    <a:pt x="3810" y="1114298"/>
                    <a:pt x="0" y="1110488"/>
                    <a:pt x="0" y="1105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05789"/>
                  </a:lnTo>
                  <a:lnTo>
                    <a:pt x="8509" y="1105789"/>
                  </a:lnTo>
                  <a:lnTo>
                    <a:pt x="8509" y="1097280"/>
                  </a:lnTo>
                  <a:lnTo>
                    <a:pt x="3178429" y="1097280"/>
                  </a:lnTo>
                  <a:lnTo>
                    <a:pt x="3178429" y="1105789"/>
                  </a:lnTo>
                  <a:lnTo>
                    <a:pt x="3169920" y="1105789"/>
                  </a:lnTo>
                  <a:lnTo>
                    <a:pt x="3169920" y="8509"/>
                  </a:lnTo>
                  <a:lnTo>
                    <a:pt x="3178429" y="8509"/>
                  </a:lnTo>
                  <a:lnTo>
                    <a:pt x="31784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3566160" y="8686800"/>
            <a:ext cx="2377440" cy="822960"/>
            <a:chOff x="0" y="0"/>
            <a:chExt cx="3169920" cy="10972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169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90" r="0" b="-629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31699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Semantic Learning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120127" y="8680447"/>
            <a:ext cx="2390137" cy="835657"/>
            <a:chOff x="0" y="0"/>
            <a:chExt cx="3186849" cy="111420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8509" y="8509"/>
              <a:ext cx="3169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186938" cy="1114298"/>
            </a:xfrm>
            <a:custGeom>
              <a:avLst/>
              <a:gdLst/>
              <a:ahLst/>
              <a:cxnLst/>
              <a:rect r="r" b="b" t="t" l="l"/>
              <a:pathLst>
                <a:path h="1114298" w="3186938">
                  <a:moveTo>
                    <a:pt x="8509" y="0"/>
                  </a:moveTo>
                  <a:lnTo>
                    <a:pt x="3178429" y="0"/>
                  </a:lnTo>
                  <a:cubicBezTo>
                    <a:pt x="3183128" y="0"/>
                    <a:pt x="3186938" y="3810"/>
                    <a:pt x="3186938" y="8509"/>
                  </a:cubicBezTo>
                  <a:lnTo>
                    <a:pt x="3186938" y="1105789"/>
                  </a:lnTo>
                  <a:cubicBezTo>
                    <a:pt x="3186938" y="1110488"/>
                    <a:pt x="3183128" y="1114298"/>
                    <a:pt x="3178429" y="1114298"/>
                  </a:cubicBezTo>
                  <a:lnTo>
                    <a:pt x="8509" y="1114298"/>
                  </a:lnTo>
                  <a:cubicBezTo>
                    <a:pt x="3810" y="1114298"/>
                    <a:pt x="0" y="1110488"/>
                    <a:pt x="0" y="1105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05789"/>
                  </a:lnTo>
                  <a:lnTo>
                    <a:pt x="8509" y="1105789"/>
                  </a:lnTo>
                  <a:lnTo>
                    <a:pt x="8509" y="1097280"/>
                  </a:lnTo>
                  <a:lnTo>
                    <a:pt x="3178429" y="1097280"/>
                  </a:lnTo>
                  <a:lnTo>
                    <a:pt x="3178429" y="1105789"/>
                  </a:lnTo>
                  <a:lnTo>
                    <a:pt x="3169920" y="1105789"/>
                  </a:lnTo>
                  <a:lnTo>
                    <a:pt x="3169920" y="8509"/>
                  </a:lnTo>
                  <a:lnTo>
                    <a:pt x="3178429" y="8509"/>
                  </a:lnTo>
                  <a:lnTo>
                    <a:pt x="31784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6480" y="8686800"/>
            <a:ext cx="2377440" cy="822960"/>
            <a:chOff x="0" y="0"/>
            <a:chExt cx="3169920" cy="10972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169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90" r="0" b="-629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31699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Program Synthesis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134475" y="2459355"/>
            <a:ext cx="8065770" cy="7334250"/>
            <a:chOff x="0" y="0"/>
            <a:chExt cx="10754360" cy="97790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2700" y="12700"/>
              <a:ext cx="1072896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754360" cy="9779000"/>
            </a:xfrm>
            <a:custGeom>
              <a:avLst/>
              <a:gdLst/>
              <a:ahLst/>
              <a:cxnLst/>
              <a:rect r="r" b="b" t="t" l="l"/>
              <a:pathLst>
                <a:path h="9779000" w="10754360">
                  <a:moveTo>
                    <a:pt x="12700" y="0"/>
                  </a:moveTo>
                  <a:lnTo>
                    <a:pt x="10741660" y="0"/>
                  </a:lnTo>
                  <a:cubicBezTo>
                    <a:pt x="10748645" y="0"/>
                    <a:pt x="10754360" y="5715"/>
                    <a:pt x="10754360" y="12700"/>
                  </a:cubicBezTo>
                  <a:lnTo>
                    <a:pt x="10754360" y="9766300"/>
                  </a:lnTo>
                  <a:cubicBezTo>
                    <a:pt x="10754360" y="9773285"/>
                    <a:pt x="10748645" y="9779000"/>
                    <a:pt x="10741660" y="9779000"/>
                  </a:cubicBezTo>
                  <a:lnTo>
                    <a:pt x="12700" y="9779000"/>
                  </a:lnTo>
                  <a:cubicBezTo>
                    <a:pt x="5715" y="9779000"/>
                    <a:pt x="0" y="9773285"/>
                    <a:pt x="0" y="9766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66300"/>
                  </a:lnTo>
                  <a:lnTo>
                    <a:pt x="12700" y="9766300"/>
                  </a:lnTo>
                  <a:lnTo>
                    <a:pt x="12700" y="9753600"/>
                  </a:lnTo>
                  <a:lnTo>
                    <a:pt x="10741660" y="9753600"/>
                  </a:lnTo>
                  <a:lnTo>
                    <a:pt x="10741660" y="9766300"/>
                  </a:lnTo>
                  <a:lnTo>
                    <a:pt x="10728960" y="9766300"/>
                  </a:lnTo>
                  <a:lnTo>
                    <a:pt x="10728960" y="12700"/>
                  </a:lnTo>
                  <a:lnTo>
                    <a:pt x="10741660" y="12700"/>
                  </a:lnTo>
                  <a:lnTo>
                    <a:pt x="10741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028700" y="8010139"/>
            <a:ext cx="2779776" cy="512064"/>
            <a:chOff x="0" y="0"/>
            <a:chExt cx="3706368" cy="68275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706368" cy="682752"/>
            </a:xfrm>
            <a:custGeom>
              <a:avLst/>
              <a:gdLst/>
              <a:ahLst/>
              <a:cxnLst/>
              <a:rect r="r" b="b" t="t" l="l"/>
              <a:pathLst>
                <a:path h="682752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57150"/>
              <a:ext cx="3706368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Fitness Evolution</a:t>
              </a:r>
            </a:p>
          </p:txBody>
        </p:sp>
      </p:grpSp>
      <p:pic>
        <p:nvPicPr>
          <p:cNvPr name="Picture 96" id="9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010464" y="2383496"/>
            <a:ext cx="9940010" cy="5241878"/>
          </a:xfrm>
          <a:prstGeom prst="rect">
            <a:avLst/>
          </a:prstGeom>
        </p:spPr>
      </p:pic>
      <p:grpSp>
        <p:nvGrpSpPr>
          <p:cNvPr name="Group 97" id="97"/>
          <p:cNvGrpSpPr/>
          <p:nvPr/>
        </p:nvGrpSpPr>
        <p:grpSpPr>
          <a:xfrm rot="0">
            <a:off x="9229087" y="7009133"/>
            <a:ext cx="7876537" cy="2755897"/>
            <a:chOff x="0" y="0"/>
            <a:chExt cx="10502049" cy="367452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8509" y="8509"/>
              <a:ext cx="10485119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485119">
                  <a:moveTo>
                    <a:pt x="0" y="0"/>
                  </a:moveTo>
                  <a:lnTo>
                    <a:pt x="10485119" y="0"/>
                  </a:lnTo>
                  <a:lnTo>
                    <a:pt x="10485119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5"/>
              <a:stretch>
                <a:fillRect l="-1377" t="0" r="-1377" b="0"/>
              </a:stretch>
            </a:blip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502138" cy="3674618"/>
            </a:xfrm>
            <a:custGeom>
              <a:avLst/>
              <a:gdLst/>
              <a:ahLst/>
              <a:cxnLst/>
              <a:rect r="r" b="b" t="t" l="l"/>
              <a:pathLst>
                <a:path h="3674618" w="10502138">
                  <a:moveTo>
                    <a:pt x="8509" y="0"/>
                  </a:moveTo>
                  <a:lnTo>
                    <a:pt x="10493628" y="0"/>
                  </a:lnTo>
                  <a:cubicBezTo>
                    <a:pt x="10498327" y="0"/>
                    <a:pt x="10502138" y="3810"/>
                    <a:pt x="10502138" y="8509"/>
                  </a:cubicBezTo>
                  <a:lnTo>
                    <a:pt x="10502138" y="3666109"/>
                  </a:lnTo>
                  <a:cubicBezTo>
                    <a:pt x="10502138" y="3670808"/>
                    <a:pt x="10498327" y="3674618"/>
                    <a:pt x="10493628" y="3674618"/>
                  </a:cubicBezTo>
                  <a:lnTo>
                    <a:pt x="8509" y="3674618"/>
                  </a:lnTo>
                  <a:cubicBezTo>
                    <a:pt x="3810" y="3674618"/>
                    <a:pt x="0" y="3670808"/>
                    <a:pt x="0" y="3666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666109"/>
                  </a:lnTo>
                  <a:lnTo>
                    <a:pt x="8509" y="3666109"/>
                  </a:lnTo>
                  <a:lnTo>
                    <a:pt x="8509" y="3657600"/>
                  </a:lnTo>
                  <a:lnTo>
                    <a:pt x="10493628" y="3657600"/>
                  </a:lnTo>
                  <a:lnTo>
                    <a:pt x="10493628" y="3666109"/>
                  </a:lnTo>
                  <a:lnTo>
                    <a:pt x="10485120" y="3666109"/>
                  </a:lnTo>
                  <a:lnTo>
                    <a:pt x="10485120" y="8509"/>
                  </a:lnTo>
                  <a:lnTo>
                    <a:pt x="10493628" y="8509"/>
                  </a:lnTo>
                  <a:lnTo>
                    <a:pt x="10493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0133962" y="1601024"/>
            <a:ext cx="7066283" cy="574043"/>
            <a:chOff x="0" y="0"/>
            <a:chExt cx="9421711" cy="765391"/>
          </a:xfrm>
        </p:grpSpPr>
        <p:grpSp>
          <p:nvGrpSpPr>
            <p:cNvPr name="Group 101" id="101"/>
            <p:cNvGrpSpPr/>
            <p:nvPr/>
          </p:nvGrpSpPr>
          <p:grpSpPr>
            <a:xfrm rot="0">
              <a:off x="0" y="0"/>
              <a:ext cx="9421711" cy="765391"/>
              <a:chOff x="0" y="0"/>
              <a:chExt cx="9421711" cy="765391"/>
            </a:xfrm>
          </p:grpSpPr>
          <p:sp>
            <p:nvSpPr>
              <p:cNvPr name="Freeform 102" id="102"/>
              <p:cNvSpPr/>
              <p:nvPr/>
            </p:nvSpPr>
            <p:spPr>
              <a:xfrm flipH="false" flipV="false" rot="0">
                <a:off x="16891" y="16891"/>
                <a:ext cx="9387967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9387967">
                    <a:moveTo>
                      <a:pt x="0" y="365760"/>
                    </a:moveTo>
                    <a:cubicBezTo>
                      <a:pt x="0" y="163703"/>
                      <a:pt x="170688" y="0"/>
                      <a:pt x="381381" y="0"/>
                    </a:cubicBezTo>
                    <a:lnTo>
                      <a:pt x="9006586" y="0"/>
                    </a:lnTo>
                    <a:cubicBezTo>
                      <a:pt x="9217152" y="0"/>
                      <a:pt x="9387967" y="163703"/>
                      <a:pt x="9387967" y="365760"/>
                    </a:cubicBezTo>
                    <a:cubicBezTo>
                      <a:pt x="9387967" y="567817"/>
                      <a:pt x="9217279" y="731520"/>
                      <a:pt x="9006586" y="731520"/>
                    </a:cubicBezTo>
                    <a:lnTo>
                      <a:pt x="381381" y="731520"/>
                    </a:lnTo>
                    <a:cubicBezTo>
                      <a:pt x="170815" y="731520"/>
                      <a:pt x="0" y="567817"/>
                      <a:pt x="0" y="365760"/>
                    </a:cubicBezTo>
                    <a:close/>
                  </a:path>
                </a:pathLst>
              </a:custGeom>
              <a:solidFill>
                <a:srgbClr val="EFF6FF"/>
              </a:solidFill>
            </p:spPr>
          </p:sp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9421749" cy="765302"/>
              </a:xfrm>
              <a:custGeom>
                <a:avLst/>
                <a:gdLst/>
                <a:ahLst/>
                <a:cxnLst/>
                <a:rect r="r" b="b" t="t" l="l"/>
                <a:pathLst>
                  <a:path h="765302" w="9421749">
                    <a:moveTo>
                      <a:pt x="0" y="382651"/>
                    </a:moveTo>
                    <a:cubicBezTo>
                      <a:pt x="0" y="170688"/>
                      <a:pt x="178943" y="0"/>
                      <a:pt x="398272" y="0"/>
                    </a:cubicBezTo>
                    <a:lnTo>
                      <a:pt x="9023477" y="0"/>
                    </a:lnTo>
                    <a:lnTo>
                      <a:pt x="9023477" y="16891"/>
                    </a:lnTo>
                    <a:lnTo>
                      <a:pt x="9023477" y="0"/>
                    </a:lnTo>
                    <a:cubicBezTo>
                      <a:pt x="9242806" y="0"/>
                      <a:pt x="9421749" y="170688"/>
                      <a:pt x="9421749" y="382651"/>
                    </a:cubicBezTo>
                    <a:lnTo>
                      <a:pt x="9404858" y="382651"/>
                    </a:lnTo>
                    <a:lnTo>
                      <a:pt x="9421749" y="382651"/>
                    </a:lnTo>
                    <a:lnTo>
                      <a:pt x="9404858" y="382651"/>
                    </a:lnTo>
                    <a:lnTo>
                      <a:pt x="9421749" y="382651"/>
                    </a:lnTo>
                    <a:cubicBezTo>
                      <a:pt x="9421749" y="594614"/>
                      <a:pt x="9242806" y="765302"/>
                      <a:pt x="9023477" y="765302"/>
                    </a:cubicBezTo>
                    <a:lnTo>
                      <a:pt x="9023477" y="748411"/>
                    </a:lnTo>
                    <a:lnTo>
                      <a:pt x="9023477" y="765302"/>
                    </a:lnTo>
                    <a:lnTo>
                      <a:pt x="398272" y="765302"/>
                    </a:lnTo>
                    <a:lnTo>
                      <a:pt x="398272" y="748411"/>
                    </a:lnTo>
                    <a:lnTo>
                      <a:pt x="398272" y="765302"/>
                    </a:lnTo>
                    <a:cubicBezTo>
                      <a:pt x="178943" y="765429"/>
                      <a:pt x="0" y="594741"/>
                      <a:pt x="0" y="382651"/>
                    </a:cubicBezTo>
                    <a:lnTo>
                      <a:pt x="16891" y="382651"/>
                    </a:lnTo>
                    <a:lnTo>
                      <a:pt x="0" y="382651"/>
                    </a:lnTo>
                    <a:moveTo>
                      <a:pt x="33909" y="382651"/>
                    </a:moveTo>
                    <a:lnTo>
                      <a:pt x="16891" y="382651"/>
                    </a:lnTo>
                    <a:lnTo>
                      <a:pt x="33909" y="382651"/>
                    </a:lnTo>
                    <a:cubicBezTo>
                      <a:pt x="33909" y="574675"/>
                      <a:pt x="196342" y="731520"/>
                      <a:pt x="398272" y="731520"/>
                    </a:cubicBezTo>
                    <a:lnTo>
                      <a:pt x="9023477" y="731520"/>
                    </a:lnTo>
                    <a:cubicBezTo>
                      <a:pt x="9225407" y="731520"/>
                      <a:pt x="9387840" y="574675"/>
                      <a:pt x="9387840" y="382651"/>
                    </a:cubicBezTo>
                    <a:cubicBezTo>
                      <a:pt x="9387840" y="190627"/>
                      <a:pt x="9225407" y="33782"/>
                      <a:pt x="9023477" y="33782"/>
                    </a:cubicBezTo>
                    <a:lnTo>
                      <a:pt x="398272" y="33782"/>
                    </a:lnTo>
                    <a:lnTo>
                      <a:pt x="398272" y="16891"/>
                    </a:lnTo>
                    <a:lnTo>
                      <a:pt x="398272" y="33909"/>
                    </a:lnTo>
                    <a:cubicBezTo>
                      <a:pt x="196342" y="33909"/>
                      <a:pt x="33909" y="190754"/>
                      <a:pt x="33909" y="382778"/>
                    </a:cubicBezTo>
                    <a:close/>
                  </a:path>
                </a:pathLst>
              </a:custGeom>
              <a:solidFill>
                <a:srgbClr val="3B82F6"/>
              </a:solidFill>
            </p:spPr>
          </p:sp>
        </p:grpSp>
        <p:grpSp>
          <p:nvGrpSpPr>
            <p:cNvPr name="Group 104" id="104"/>
            <p:cNvGrpSpPr/>
            <p:nvPr/>
          </p:nvGrpSpPr>
          <p:grpSpPr>
            <a:xfrm rot="0">
              <a:off x="504609" y="16929"/>
              <a:ext cx="8290560" cy="731520"/>
              <a:chOff x="0" y="0"/>
              <a:chExt cx="8290560" cy="731520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829056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8290560">
                    <a:moveTo>
                      <a:pt x="0" y="0"/>
                    </a:moveTo>
                    <a:lnTo>
                      <a:pt x="8290560" y="0"/>
                    </a:lnTo>
                    <a:lnTo>
                      <a:pt x="829056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00057" r="-13235" b="-200057"/>
                </a:stretch>
              </a:blipFill>
            </p:spPr>
          </p:sp>
          <p:sp>
            <p:nvSpPr>
              <p:cNvPr name="TextBox 106" id="106"/>
              <p:cNvSpPr txBox="true"/>
              <p:nvPr/>
            </p:nvSpPr>
            <p:spPr>
              <a:xfrm>
                <a:off x="0" y="-38100"/>
                <a:ext cx="8290560" cy="7696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>
                    <a:solidFill>
                      <a:srgbClr val="3B82F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PLN: Combining symbolic logic with probability theory</a:t>
                </a:r>
              </a:p>
            </p:txBody>
          </p:sp>
        </p:grpSp>
      </p:grpSp>
      <p:grpSp>
        <p:nvGrpSpPr>
          <p:cNvPr name="Group 107" id="107"/>
          <p:cNvGrpSpPr/>
          <p:nvPr/>
        </p:nvGrpSpPr>
        <p:grpSpPr>
          <a:xfrm rot="0">
            <a:off x="1005840" y="2724912"/>
            <a:ext cx="5486400" cy="1299753"/>
            <a:chOff x="0" y="0"/>
            <a:chExt cx="7315200" cy="173300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315200" cy="1733004"/>
            </a:xfrm>
            <a:custGeom>
              <a:avLst/>
              <a:gdLst/>
              <a:ahLst/>
              <a:cxnLst/>
              <a:rect r="r" b="b" t="t" l="l"/>
              <a:pathLst>
                <a:path h="17330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33004"/>
                  </a:lnTo>
                  <a:lnTo>
                    <a:pt x="0" y="1733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956" r="0" b="-53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57150"/>
              <a:ext cx="7315200" cy="1790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Evol</a:t>
              </a: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utionary Learning Process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543877" y="2724912"/>
            <a:ext cx="5486400" cy="1690278"/>
            <a:chOff x="0" y="0"/>
            <a:chExt cx="7315200" cy="225370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7315200" cy="2253704"/>
            </a:xfrm>
            <a:custGeom>
              <a:avLst/>
              <a:gdLst/>
              <a:ahLst/>
              <a:cxnLst/>
              <a:rect r="r" b="b" t="t" l="l"/>
              <a:pathLst>
                <a:path h="225370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253704"/>
                  </a:lnTo>
                  <a:lnTo>
                    <a:pt x="0" y="2253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80" r="0" b="2268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57150"/>
              <a:ext cx="7315200" cy="2310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Fitness Evol</a:t>
              </a: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ution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</a:p>
          </p:txBody>
        </p:sp>
      </p:grpSp>
      <p:sp>
        <p:nvSpPr>
          <p:cNvPr name="TextBox 113" id="113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Evolutionary program learning for AGI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Pattern Miner: Pattern Discovery in AtomSpace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22/53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1995" y="2459355"/>
            <a:ext cx="10626090" cy="7827645"/>
            <a:chOff x="0" y="0"/>
            <a:chExt cx="14168120" cy="104368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13554"/>
              <a:ext cx="14142720" cy="10409751"/>
            </a:xfrm>
            <a:custGeom>
              <a:avLst/>
              <a:gdLst/>
              <a:ahLst/>
              <a:cxnLst/>
              <a:rect r="r" b="b" t="t" l="l"/>
              <a:pathLst>
                <a:path h="10409751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0409752"/>
                  </a:lnTo>
                  <a:lnTo>
                    <a:pt x="0" y="10409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168120" cy="10436860"/>
            </a:xfrm>
            <a:custGeom>
              <a:avLst/>
              <a:gdLst/>
              <a:ahLst/>
              <a:cxnLst/>
              <a:rect r="r" b="b" t="t" l="l"/>
              <a:pathLst>
                <a:path h="10436860" w="14168120">
                  <a:moveTo>
                    <a:pt x="12700" y="0"/>
                  </a:moveTo>
                  <a:lnTo>
                    <a:pt x="14155420" y="0"/>
                  </a:lnTo>
                  <a:cubicBezTo>
                    <a:pt x="14162405" y="0"/>
                    <a:pt x="14168120" y="6099"/>
                    <a:pt x="14168120" y="13554"/>
                  </a:cubicBezTo>
                  <a:lnTo>
                    <a:pt x="14168120" y="10423306"/>
                  </a:lnTo>
                  <a:cubicBezTo>
                    <a:pt x="14168120" y="10430760"/>
                    <a:pt x="14162405" y="10436860"/>
                    <a:pt x="14155420" y="10436860"/>
                  </a:cubicBezTo>
                  <a:lnTo>
                    <a:pt x="12700" y="10436860"/>
                  </a:lnTo>
                  <a:cubicBezTo>
                    <a:pt x="5715" y="10436860"/>
                    <a:pt x="0" y="10430760"/>
                    <a:pt x="0" y="10423306"/>
                  </a:cubicBezTo>
                  <a:lnTo>
                    <a:pt x="0" y="13554"/>
                  </a:lnTo>
                  <a:cubicBezTo>
                    <a:pt x="0" y="6099"/>
                    <a:pt x="5715" y="0"/>
                    <a:pt x="12700" y="0"/>
                  </a:cubicBezTo>
                  <a:moveTo>
                    <a:pt x="12700" y="27109"/>
                  </a:moveTo>
                  <a:lnTo>
                    <a:pt x="12700" y="13554"/>
                  </a:lnTo>
                  <a:lnTo>
                    <a:pt x="25400" y="13554"/>
                  </a:lnTo>
                  <a:lnTo>
                    <a:pt x="25400" y="10423306"/>
                  </a:lnTo>
                  <a:lnTo>
                    <a:pt x="12700" y="10423306"/>
                  </a:lnTo>
                  <a:lnTo>
                    <a:pt x="12700" y="10409751"/>
                  </a:lnTo>
                  <a:lnTo>
                    <a:pt x="14155420" y="10409751"/>
                  </a:lnTo>
                  <a:lnTo>
                    <a:pt x="14155420" y="10423306"/>
                  </a:lnTo>
                  <a:lnTo>
                    <a:pt x="14142720" y="10423306"/>
                  </a:lnTo>
                  <a:lnTo>
                    <a:pt x="14142720" y="13554"/>
                  </a:lnTo>
                  <a:lnTo>
                    <a:pt x="14155420" y="13554"/>
                  </a:lnTo>
                  <a:lnTo>
                    <a:pt x="14155420" y="27109"/>
                  </a:lnTo>
                  <a:lnTo>
                    <a:pt x="12700" y="271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05840" y="2651760"/>
            <a:ext cx="10058400" cy="548640"/>
            <a:chOff x="0" y="0"/>
            <a:chExt cx="134112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3411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Pattern Miner Overview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5840" y="3255264"/>
            <a:ext cx="10058400" cy="822960"/>
            <a:chOff x="0" y="0"/>
            <a:chExt cx="1341120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1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4112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Automated discovery of frequent patterns in AtomSpace. The Pattern Miner finds interesting patterns and relationships between atoms.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99487" y="4236463"/>
            <a:ext cx="4859017" cy="963673"/>
            <a:chOff x="0" y="0"/>
            <a:chExt cx="6478689" cy="12848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8509" y="8509"/>
              <a:ext cx="64617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787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6478778">
                  <a:moveTo>
                    <a:pt x="8509" y="0"/>
                  </a:moveTo>
                  <a:lnTo>
                    <a:pt x="6470269" y="0"/>
                  </a:lnTo>
                  <a:cubicBezTo>
                    <a:pt x="6474968" y="0"/>
                    <a:pt x="6478778" y="3810"/>
                    <a:pt x="6478778" y="8509"/>
                  </a:cubicBezTo>
                  <a:lnTo>
                    <a:pt x="6478778" y="1276477"/>
                  </a:lnTo>
                  <a:cubicBezTo>
                    <a:pt x="6478778" y="1281176"/>
                    <a:pt x="6474968" y="1284986"/>
                    <a:pt x="64702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6470269" y="1267968"/>
                  </a:lnTo>
                  <a:lnTo>
                    <a:pt x="6470269" y="1276477"/>
                  </a:lnTo>
                  <a:lnTo>
                    <a:pt x="6461760" y="1276477"/>
                  </a:lnTo>
                  <a:lnTo>
                    <a:pt x="6461760" y="8509"/>
                  </a:lnTo>
                  <a:lnTo>
                    <a:pt x="6470269" y="8509"/>
                  </a:lnTo>
                  <a:lnTo>
                    <a:pt x="6470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88720" y="4315968"/>
            <a:ext cx="4572000" cy="402336"/>
            <a:chOff x="0" y="0"/>
            <a:chExt cx="6096000" cy="5364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Frequent Pattern Mining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8720" y="4736592"/>
            <a:ext cx="4572000" cy="329184"/>
            <a:chOff x="0" y="0"/>
            <a:chExt cx="6096000" cy="4389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96000" cy="438912"/>
            </a:xfrm>
            <a:custGeom>
              <a:avLst/>
              <a:gdLst/>
              <a:ahLst/>
              <a:cxnLst/>
              <a:rect r="r" b="b" t="t" l="l"/>
              <a:pathLst>
                <a:path h="43891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0960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Finds common patterns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120127" y="4236463"/>
            <a:ext cx="4859017" cy="963673"/>
            <a:chOff x="0" y="0"/>
            <a:chExt cx="6478689" cy="12848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8509" y="8509"/>
              <a:ext cx="64617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787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6478778">
                  <a:moveTo>
                    <a:pt x="8509" y="0"/>
                  </a:moveTo>
                  <a:lnTo>
                    <a:pt x="6470269" y="0"/>
                  </a:lnTo>
                  <a:cubicBezTo>
                    <a:pt x="6474968" y="0"/>
                    <a:pt x="6478778" y="3810"/>
                    <a:pt x="6478778" y="8509"/>
                  </a:cubicBezTo>
                  <a:lnTo>
                    <a:pt x="6478778" y="1276477"/>
                  </a:lnTo>
                  <a:cubicBezTo>
                    <a:pt x="6478778" y="1281176"/>
                    <a:pt x="6474968" y="1284986"/>
                    <a:pt x="64702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6470269" y="1267968"/>
                  </a:lnTo>
                  <a:lnTo>
                    <a:pt x="6470269" y="1276477"/>
                  </a:lnTo>
                  <a:lnTo>
                    <a:pt x="6461760" y="1276477"/>
                  </a:lnTo>
                  <a:lnTo>
                    <a:pt x="6461760" y="8509"/>
                  </a:lnTo>
                  <a:lnTo>
                    <a:pt x="6470269" y="8509"/>
                  </a:lnTo>
                  <a:lnTo>
                    <a:pt x="6470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309360" y="4315968"/>
            <a:ext cx="4572000" cy="402336"/>
            <a:chOff x="0" y="0"/>
            <a:chExt cx="6096000" cy="5364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Association Rule Mining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309360" y="4736592"/>
            <a:ext cx="4572000" cy="329184"/>
            <a:chOff x="0" y="0"/>
            <a:chExt cx="6096000" cy="43891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96000" cy="438912"/>
            </a:xfrm>
            <a:custGeom>
              <a:avLst/>
              <a:gdLst/>
              <a:ahLst/>
              <a:cxnLst/>
              <a:rect r="r" b="b" t="t" l="l"/>
              <a:pathLst>
                <a:path h="43891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0960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Discovers relationships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99487" y="5425183"/>
            <a:ext cx="4859017" cy="963673"/>
            <a:chOff x="0" y="0"/>
            <a:chExt cx="6478689" cy="128489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8509" y="8509"/>
              <a:ext cx="64617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787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6478778">
                  <a:moveTo>
                    <a:pt x="8509" y="0"/>
                  </a:moveTo>
                  <a:lnTo>
                    <a:pt x="6470269" y="0"/>
                  </a:lnTo>
                  <a:cubicBezTo>
                    <a:pt x="6474968" y="0"/>
                    <a:pt x="6478778" y="3810"/>
                    <a:pt x="6478778" y="8509"/>
                  </a:cubicBezTo>
                  <a:lnTo>
                    <a:pt x="6478778" y="1276477"/>
                  </a:lnTo>
                  <a:cubicBezTo>
                    <a:pt x="6478778" y="1281176"/>
                    <a:pt x="6474968" y="1284986"/>
                    <a:pt x="64702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6470269" y="1267968"/>
                  </a:lnTo>
                  <a:lnTo>
                    <a:pt x="6470269" y="1276477"/>
                  </a:lnTo>
                  <a:lnTo>
                    <a:pt x="6461760" y="1276477"/>
                  </a:lnTo>
                  <a:lnTo>
                    <a:pt x="6461760" y="8509"/>
                  </a:lnTo>
                  <a:lnTo>
                    <a:pt x="6470269" y="8509"/>
                  </a:lnTo>
                  <a:lnTo>
                    <a:pt x="6470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88720" y="5504688"/>
            <a:ext cx="4572000" cy="402336"/>
            <a:chOff x="0" y="0"/>
            <a:chExt cx="6096000" cy="5364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Pattern Filtering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88720" y="5925312"/>
            <a:ext cx="4572000" cy="329184"/>
            <a:chOff x="0" y="0"/>
            <a:chExt cx="6096000" cy="43891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096000" cy="438912"/>
            </a:xfrm>
            <a:custGeom>
              <a:avLst/>
              <a:gdLst/>
              <a:ahLst/>
              <a:cxnLst/>
              <a:rect r="r" b="b" t="t" l="l"/>
              <a:pathLst>
                <a:path h="43891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0960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Filters by criteria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120127" y="5425183"/>
            <a:ext cx="4859017" cy="963673"/>
            <a:chOff x="0" y="0"/>
            <a:chExt cx="6478689" cy="128489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8509" y="8509"/>
              <a:ext cx="64617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787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6478778">
                  <a:moveTo>
                    <a:pt x="8509" y="0"/>
                  </a:moveTo>
                  <a:lnTo>
                    <a:pt x="6470269" y="0"/>
                  </a:lnTo>
                  <a:cubicBezTo>
                    <a:pt x="6474968" y="0"/>
                    <a:pt x="6478778" y="3810"/>
                    <a:pt x="6478778" y="8509"/>
                  </a:cubicBezTo>
                  <a:lnTo>
                    <a:pt x="6478778" y="1276477"/>
                  </a:lnTo>
                  <a:cubicBezTo>
                    <a:pt x="6478778" y="1281176"/>
                    <a:pt x="6474968" y="1284986"/>
                    <a:pt x="64702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6470269" y="1267968"/>
                  </a:lnTo>
                  <a:lnTo>
                    <a:pt x="6470269" y="1276477"/>
                  </a:lnTo>
                  <a:lnTo>
                    <a:pt x="6461760" y="1276477"/>
                  </a:lnTo>
                  <a:lnTo>
                    <a:pt x="6461760" y="8509"/>
                  </a:lnTo>
                  <a:lnTo>
                    <a:pt x="6470269" y="8509"/>
                  </a:lnTo>
                  <a:lnTo>
                    <a:pt x="6470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309360" y="5504688"/>
            <a:ext cx="4572000" cy="402336"/>
            <a:chOff x="0" y="0"/>
            <a:chExt cx="6096000" cy="5364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Pattern Ranking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309360" y="5925312"/>
            <a:ext cx="4572000" cy="329184"/>
            <a:chOff x="0" y="0"/>
            <a:chExt cx="6096000" cy="43891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096000" cy="438912"/>
            </a:xfrm>
            <a:custGeom>
              <a:avLst/>
              <a:gdLst/>
              <a:ahLst/>
              <a:cxnLst/>
              <a:rect r="r" b="b" t="t" l="l"/>
              <a:pathLst>
                <a:path h="43891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60960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Ranks by importance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99487" y="6932676"/>
            <a:ext cx="10071097" cy="2755897"/>
            <a:chOff x="0" y="0"/>
            <a:chExt cx="13428129" cy="367452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8509" y="8509"/>
              <a:ext cx="13411201" cy="3657600"/>
            </a:xfrm>
            <a:custGeom>
              <a:avLst/>
              <a:gdLst/>
              <a:ahLst/>
              <a:cxnLst/>
              <a:rect r="r" b="b" t="t" l="l"/>
              <a:pathLst>
                <a:path h="3657600" w="13411201">
                  <a:moveTo>
                    <a:pt x="0" y="0"/>
                  </a:moveTo>
                  <a:lnTo>
                    <a:pt x="13411201" y="0"/>
                  </a:lnTo>
                  <a:lnTo>
                    <a:pt x="13411201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428218" cy="3674618"/>
            </a:xfrm>
            <a:custGeom>
              <a:avLst/>
              <a:gdLst/>
              <a:ahLst/>
              <a:cxnLst/>
              <a:rect r="r" b="b" t="t" l="l"/>
              <a:pathLst>
                <a:path h="3674618" w="13428218">
                  <a:moveTo>
                    <a:pt x="8509" y="0"/>
                  </a:moveTo>
                  <a:lnTo>
                    <a:pt x="13419710" y="0"/>
                  </a:lnTo>
                  <a:cubicBezTo>
                    <a:pt x="13424408" y="0"/>
                    <a:pt x="13428218" y="3810"/>
                    <a:pt x="13428218" y="8509"/>
                  </a:cubicBezTo>
                  <a:lnTo>
                    <a:pt x="13428218" y="3666109"/>
                  </a:lnTo>
                  <a:cubicBezTo>
                    <a:pt x="13428218" y="3670808"/>
                    <a:pt x="13424408" y="3674618"/>
                    <a:pt x="13419710" y="3674618"/>
                  </a:cubicBezTo>
                  <a:lnTo>
                    <a:pt x="8509" y="3674618"/>
                  </a:lnTo>
                  <a:cubicBezTo>
                    <a:pt x="3810" y="3674618"/>
                    <a:pt x="0" y="3670808"/>
                    <a:pt x="0" y="3666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666109"/>
                  </a:lnTo>
                  <a:lnTo>
                    <a:pt x="8509" y="3666109"/>
                  </a:lnTo>
                  <a:lnTo>
                    <a:pt x="8509" y="3657600"/>
                  </a:lnTo>
                  <a:lnTo>
                    <a:pt x="13419710" y="3657600"/>
                  </a:lnTo>
                  <a:lnTo>
                    <a:pt x="13419710" y="3666109"/>
                  </a:lnTo>
                  <a:lnTo>
                    <a:pt x="13411200" y="3666109"/>
                  </a:lnTo>
                  <a:lnTo>
                    <a:pt x="13411200" y="8509"/>
                  </a:lnTo>
                  <a:lnTo>
                    <a:pt x="13419710" y="8509"/>
                  </a:lnTo>
                  <a:lnTo>
                    <a:pt x="134197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1405618" y="7046081"/>
            <a:ext cx="5414282" cy="2551232"/>
          </a:xfrm>
          <a:custGeom>
            <a:avLst/>
            <a:gdLst/>
            <a:ahLst/>
            <a:cxnLst/>
            <a:rect r="r" b="b" t="t" l="l"/>
            <a:pathLst>
              <a:path h="2551232" w="5414282">
                <a:moveTo>
                  <a:pt x="0" y="0"/>
                </a:moveTo>
                <a:lnTo>
                  <a:pt x="5414282" y="0"/>
                </a:lnTo>
                <a:lnTo>
                  <a:pt x="5414282" y="2551232"/>
                </a:lnTo>
                <a:lnTo>
                  <a:pt x="0" y="2551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1605260" y="2459355"/>
            <a:ext cx="6173919" cy="7392804"/>
          </a:xfrm>
          <a:custGeom>
            <a:avLst/>
            <a:gdLst/>
            <a:ahLst/>
            <a:cxnLst/>
            <a:rect r="r" b="b" t="t" l="l"/>
            <a:pathLst>
              <a:path h="7392804" w="6173919">
                <a:moveTo>
                  <a:pt x="0" y="0"/>
                </a:moveTo>
                <a:lnTo>
                  <a:pt x="6173919" y="0"/>
                </a:lnTo>
                <a:lnTo>
                  <a:pt x="6173919" y="7392804"/>
                </a:lnTo>
                <a:lnTo>
                  <a:pt x="0" y="7392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pattern extraction and mining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CogServer Component - OpenCog Architecture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23/53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1499616"/>
            <a:ext cx="14630400" cy="822960"/>
            <a:chOff x="0" y="0"/>
            <a:chExt cx="1950720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950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CogServer Architecture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1995" y="2459355"/>
            <a:ext cx="9528810" cy="7517130"/>
            <a:chOff x="0" y="0"/>
            <a:chExt cx="12705080" cy="10022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12679680" cy="9997440"/>
            </a:xfrm>
            <a:custGeom>
              <a:avLst/>
              <a:gdLst/>
              <a:ahLst/>
              <a:cxnLst/>
              <a:rect r="r" b="b" t="t" l="l"/>
              <a:pathLst>
                <a:path h="999744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05080" cy="10022840"/>
            </a:xfrm>
            <a:custGeom>
              <a:avLst/>
              <a:gdLst/>
              <a:ahLst/>
              <a:cxnLst/>
              <a:rect r="r" b="b" t="t" l="l"/>
              <a:pathLst>
                <a:path h="10022840" w="12705080">
                  <a:moveTo>
                    <a:pt x="12700" y="0"/>
                  </a:moveTo>
                  <a:lnTo>
                    <a:pt x="12692380" y="0"/>
                  </a:lnTo>
                  <a:cubicBezTo>
                    <a:pt x="12699365" y="0"/>
                    <a:pt x="12705080" y="5715"/>
                    <a:pt x="12705080" y="12700"/>
                  </a:cubicBezTo>
                  <a:lnTo>
                    <a:pt x="12705080" y="10010140"/>
                  </a:lnTo>
                  <a:cubicBezTo>
                    <a:pt x="12705080" y="10017125"/>
                    <a:pt x="12699365" y="10022840"/>
                    <a:pt x="12692380" y="10022840"/>
                  </a:cubicBezTo>
                  <a:lnTo>
                    <a:pt x="12700" y="10022840"/>
                  </a:lnTo>
                  <a:cubicBezTo>
                    <a:pt x="5715" y="10022840"/>
                    <a:pt x="0" y="10017125"/>
                    <a:pt x="0" y="1001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10140"/>
                  </a:lnTo>
                  <a:lnTo>
                    <a:pt x="12700" y="10010140"/>
                  </a:lnTo>
                  <a:lnTo>
                    <a:pt x="12700" y="9997440"/>
                  </a:lnTo>
                  <a:lnTo>
                    <a:pt x="12692380" y="9997440"/>
                  </a:lnTo>
                  <a:lnTo>
                    <a:pt x="12692380" y="10010140"/>
                  </a:lnTo>
                  <a:lnTo>
                    <a:pt x="12679680" y="10010140"/>
                  </a:lnTo>
                  <a:lnTo>
                    <a:pt x="12679680" y="12700"/>
                  </a:lnTo>
                  <a:lnTo>
                    <a:pt x="12692380" y="12700"/>
                  </a:lnTo>
                  <a:lnTo>
                    <a:pt x="126923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05840" y="2651760"/>
            <a:ext cx="9144000" cy="548640"/>
            <a:chOff x="0" y="0"/>
            <a:chExt cx="121920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2192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Components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99487" y="3376927"/>
            <a:ext cx="4493257" cy="1329433"/>
            <a:chOff x="0" y="0"/>
            <a:chExt cx="5991009" cy="17725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8509" y="8509"/>
              <a:ext cx="59740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91098" cy="1772666"/>
            </a:xfrm>
            <a:custGeom>
              <a:avLst/>
              <a:gdLst/>
              <a:ahLst/>
              <a:cxnLst/>
              <a:rect r="r" b="b" t="t" l="l"/>
              <a:pathLst>
                <a:path h="1772666" w="5991098">
                  <a:moveTo>
                    <a:pt x="8509" y="0"/>
                  </a:moveTo>
                  <a:lnTo>
                    <a:pt x="5982589" y="0"/>
                  </a:lnTo>
                  <a:cubicBezTo>
                    <a:pt x="5987288" y="0"/>
                    <a:pt x="5991098" y="3810"/>
                    <a:pt x="5991098" y="8509"/>
                  </a:cubicBezTo>
                  <a:lnTo>
                    <a:pt x="5991098" y="1764157"/>
                  </a:lnTo>
                  <a:cubicBezTo>
                    <a:pt x="5991098" y="1768856"/>
                    <a:pt x="5987288" y="1772666"/>
                    <a:pt x="5982589" y="1772666"/>
                  </a:cubicBezTo>
                  <a:lnTo>
                    <a:pt x="8509" y="1772666"/>
                  </a:lnTo>
                  <a:cubicBezTo>
                    <a:pt x="3810" y="1772666"/>
                    <a:pt x="0" y="1768856"/>
                    <a:pt x="0" y="17641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764157"/>
                  </a:lnTo>
                  <a:lnTo>
                    <a:pt x="8509" y="1764157"/>
                  </a:lnTo>
                  <a:lnTo>
                    <a:pt x="8509" y="1755648"/>
                  </a:lnTo>
                  <a:lnTo>
                    <a:pt x="5982589" y="1755648"/>
                  </a:lnTo>
                  <a:lnTo>
                    <a:pt x="5982589" y="1764157"/>
                  </a:lnTo>
                  <a:lnTo>
                    <a:pt x="5974080" y="1764157"/>
                  </a:lnTo>
                  <a:lnTo>
                    <a:pt x="5974080" y="8509"/>
                  </a:lnTo>
                  <a:lnTo>
                    <a:pt x="5982589" y="8509"/>
                  </a:lnTo>
                  <a:lnTo>
                    <a:pt x="59825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88720" y="3493008"/>
            <a:ext cx="4114800" cy="402336"/>
            <a:chOff x="0" y="0"/>
            <a:chExt cx="5486400" cy="5364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00" cy="536448"/>
            </a:xfrm>
            <a:custGeom>
              <a:avLst/>
              <a:gdLst/>
              <a:ahLst/>
              <a:cxnLst/>
              <a:rect r="r" b="b" t="t" l="l"/>
              <a:pathLst>
                <a:path h="53644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486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Network Server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8720" y="3931920"/>
            <a:ext cx="4114800" cy="548640"/>
            <a:chOff x="0" y="0"/>
            <a:chExt cx="54864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Handles client connections and message routing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8720" y="4425696"/>
            <a:ext cx="182880" cy="182880"/>
            <a:chOff x="0" y="0"/>
            <a:chExt cx="243840" cy="243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44752" y="4389120"/>
            <a:ext cx="1097280" cy="256032"/>
            <a:chOff x="0" y="0"/>
            <a:chExt cx="1463040" cy="3413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3040" cy="341376"/>
            </a:xfrm>
            <a:custGeom>
              <a:avLst/>
              <a:gdLst/>
              <a:ahLst/>
              <a:cxnLst/>
              <a:rect r="r" b="b" t="t" l="l"/>
              <a:pathLst>
                <a:path h="34137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463040" cy="379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662927" y="3376927"/>
            <a:ext cx="4493257" cy="1329433"/>
            <a:chOff x="0" y="0"/>
            <a:chExt cx="5991009" cy="177257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8509" y="8509"/>
              <a:ext cx="59740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91098" cy="1772666"/>
            </a:xfrm>
            <a:custGeom>
              <a:avLst/>
              <a:gdLst/>
              <a:ahLst/>
              <a:cxnLst/>
              <a:rect r="r" b="b" t="t" l="l"/>
              <a:pathLst>
                <a:path h="1772666" w="5991098">
                  <a:moveTo>
                    <a:pt x="8509" y="0"/>
                  </a:moveTo>
                  <a:lnTo>
                    <a:pt x="5982589" y="0"/>
                  </a:lnTo>
                  <a:cubicBezTo>
                    <a:pt x="5987288" y="0"/>
                    <a:pt x="5991098" y="3810"/>
                    <a:pt x="5991098" y="8509"/>
                  </a:cubicBezTo>
                  <a:lnTo>
                    <a:pt x="5991098" y="1764157"/>
                  </a:lnTo>
                  <a:cubicBezTo>
                    <a:pt x="5991098" y="1768856"/>
                    <a:pt x="5987288" y="1772666"/>
                    <a:pt x="5982589" y="1772666"/>
                  </a:cubicBezTo>
                  <a:lnTo>
                    <a:pt x="8509" y="1772666"/>
                  </a:lnTo>
                  <a:cubicBezTo>
                    <a:pt x="3810" y="1772666"/>
                    <a:pt x="0" y="1768856"/>
                    <a:pt x="0" y="17641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764157"/>
                  </a:lnTo>
                  <a:lnTo>
                    <a:pt x="8509" y="1764157"/>
                  </a:lnTo>
                  <a:lnTo>
                    <a:pt x="8509" y="1755648"/>
                  </a:lnTo>
                  <a:lnTo>
                    <a:pt x="5982589" y="1755648"/>
                  </a:lnTo>
                  <a:lnTo>
                    <a:pt x="5982589" y="1764157"/>
                  </a:lnTo>
                  <a:lnTo>
                    <a:pt x="5974080" y="1764157"/>
                  </a:lnTo>
                  <a:lnTo>
                    <a:pt x="5974080" y="8509"/>
                  </a:lnTo>
                  <a:lnTo>
                    <a:pt x="5982589" y="8509"/>
                  </a:lnTo>
                  <a:lnTo>
                    <a:pt x="59825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852160" y="3493008"/>
            <a:ext cx="4114800" cy="402336"/>
            <a:chOff x="0" y="0"/>
            <a:chExt cx="5486400" cy="5364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86400" cy="536448"/>
            </a:xfrm>
            <a:custGeom>
              <a:avLst/>
              <a:gdLst/>
              <a:ahLst/>
              <a:cxnLst/>
              <a:rect r="r" b="b" t="t" l="l"/>
              <a:pathLst>
                <a:path h="53644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486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Command Shell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852160" y="3931920"/>
            <a:ext cx="4114800" cy="548640"/>
            <a:chOff x="0" y="0"/>
            <a:chExt cx="548640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Interactive interface for system control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852160" y="4425696"/>
            <a:ext cx="182880" cy="182880"/>
            <a:chOff x="0" y="0"/>
            <a:chExt cx="243840" cy="243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108192" y="4389120"/>
            <a:ext cx="1097280" cy="256032"/>
            <a:chOff x="0" y="0"/>
            <a:chExt cx="1463040" cy="34137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" cy="341376"/>
            </a:xfrm>
            <a:custGeom>
              <a:avLst/>
              <a:gdLst/>
              <a:ahLst/>
              <a:cxnLst/>
              <a:rect r="r" b="b" t="t" l="l"/>
              <a:pathLst>
                <a:path h="34137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463040" cy="379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99487" y="4931407"/>
            <a:ext cx="4493257" cy="1329433"/>
            <a:chOff x="0" y="0"/>
            <a:chExt cx="5991009" cy="177257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59740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991098" cy="1772666"/>
            </a:xfrm>
            <a:custGeom>
              <a:avLst/>
              <a:gdLst/>
              <a:ahLst/>
              <a:cxnLst/>
              <a:rect r="r" b="b" t="t" l="l"/>
              <a:pathLst>
                <a:path h="1772666" w="5991098">
                  <a:moveTo>
                    <a:pt x="8509" y="0"/>
                  </a:moveTo>
                  <a:lnTo>
                    <a:pt x="5982589" y="0"/>
                  </a:lnTo>
                  <a:cubicBezTo>
                    <a:pt x="5987288" y="0"/>
                    <a:pt x="5991098" y="3810"/>
                    <a:pt x="5991098" y="8509"/>
                  </a:cubicBezTo>
                  <a:lnTo>
                    <a:pt x="5991098" y="1764157"/>
                  </a:lnTo>
                  <a:cubicBezTo>
                    <a:pt x="5991098" y="1768856"/>
                    <a:pt x="5987288" y="1772666"/>
                    <a:pt x="5982589" y="1772666"/>
                  </a:cubicBezTo>
                  <a:lnTo>
                    <a:pt x="8509" y="1772666"/>
                  </a:lnTo>
                  <a:cubicBezTo>
                    <a:pt x="3810" y="1772666"/>
                    <a:pt x="0" y="1768856"/>
                    <a:pt x="0" y="17641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764157"/>
                  </a:lnTo>
                  <a:lnTo>
                    <a:pt x="8509" y="1764157"/>
                  </a:lnTo>
                  <a:lnTo>
                    <a:pt x="8509" y="1755648"/>
                  </a:lnTo>
                  <a:lnTo>
                    <a:pt x="5982589" y="1755648"/>
                  </a:lnTo>
                  <a:lnTo>
                    <a:pt x="5982589" y="1764157"/>
                  </a:lnTo>
                  <a:lnTo>
                    <a:pt x="5974080" y="1764157"/>
                  </a:lnTo>
                  <a:lnTo>
                    <a:pt x="5974080" y="8509"/>
                  </a:lnTo>
                  <a:lnTo>
                    <a:pt x="5982589" y="8509"/>
                  </a:lnTo>
                  <a:lnTo>
                    <a:pt x="59825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88720" y="5047488"/>
            <a:ext cx="4114800" cy="402336"/>
            <a:chOff x="0" y="0"/>
            <a:chExt cx="5486400" cy="5364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86400" cy="536448"/>
            </a:xfrm>
            <a:custGeom>
              <a:avLst/>
              <a:gdLst/>
              <a:ahLst/>
              <a:cxnLst/>
              <a:rect r="r" b="b" t="t" l="l"/>
              <a:pathLst>
                <a:path h="53644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486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 Manager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88720" y="5486400"/>
            <a:ext cx="4114800" cy="548640"/>
            <a:chOff x="0" y="0"/>
            <a:chExt cx="548640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Manages cognitive agents and processes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88720" y="5980176"/>
            <a:ext cx="182880" cy="182880"/>
            <a:chOff x="0" y="0"/>
            <a:chExt cx="243840" cy="2438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444752" y="5943600"/>
            <a:ext cx="1097280" cy="256032"/>
            <a:chOff x="0" y="0"/>
            <a:chExt cx="1463040" cy="34137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63040" cy="341376"/>
            </a:xfrm>
            <a:custGeom>
              <a:avLst/>
              <a:gdLst/>
              <a:ahLst/>
              <a:cxnLst/>
              <a:rect r="r" b="b" t="t" l="l"/>
              <a:pathLst>
                <a:path h="34137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463040" cy="379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5662927" y="4931407"/>
            <a:ext cx="4493257" cy="1329433"/>
            <a:chOff x="0" y="0"/>
            <a:chExt cx="5991009" cy="177257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8509" y="8509"/>
              <a:ext cx="59740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991098" cy="1772666"/>
            </a:xfrm>
            <a:custGeom>
              <a:avLst/>
              <a:gdLst/>
              <a:ahLst/>
              <a:cxnLst/>
              <a:rect r="r" b="b" t="t" l="l"/>
              <a:pathLst>
                <a:path h="1772666" w="5991098">
                  <a:moveTo>
                    <a:pt x="8509" y="0"/>
                  </a:moveTo>
                  <a:lnTo>
                    <a:pt x="5982589" y="0"/>
                  </a:lnTo>
                  <a:cubicBezTo>
                    <a:pt x="5987288" y="0"/>
                    <a:pt x="5991098" y="3810"/>
                    <a:pt x="5991098" y="8509"/>
                  </a:cubicBezTo>
                  <a:lnTo>
                    <a:pt x="5991098" y="1764157"/>
                  </a:lnTo>
                  <a:cubicBezTo>
                    <a:pt x="5991098" y="1768856"/>
                    <a:pt x="5987288" y="1772666"/>
                    <a:pt x="5982589" y="1772666"/>
                  </a:cubicBezTo>
                  <a:lnTo>
                    <a:pt x="8509" y="1772666"/>
                  </a:lnTo>
                  <a:cubicBezTo>
                    <a:pt x="3810" y="1772666"/>
                    <a:pt x="0" y="1768856"/>
                    <a:pt x="0" y="17641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764157"/>
                  </a:lnTo>
                  <a:lnTo>
                    <a:pt x="8509" y="1764157"/>
                  </a:lnTo>
                  <a:lnTo>
                    <a:pt x="8509" y="1755648"/>
                  </a:lnTo>
                  <a:lnTo>
                    <a:pt x="5982589" y="1755648"/>
                  </a:lnTo>
                  <a:lnTo>
                    <a:pt x="5982589" y="1764157"/>
                  </a:lnTo>
                  <a:lnTo>
                    <a:pt x="5974080" y="1764157"/>
                  </a:lnTo>
                  <a:lnTo>
                    <a:pt x="5974080" y="8509"/>
                  </a:lnTo>
                  <a:lnTo>
                    <a:pt x="5982589" y="8509"/>
                  </a:lnTo>
                  <a:lnTo>
                    <a:pt x="59825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5852160" y="5047488"/>
            <a:ext cx="4114800" cy="402336"/>
            <a:chOff x="0" y="0"/>
            <a:chExt cx="5486400" cy="5364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486400" cy="536448"/>
            </a:xfrm>
            <a:custGeom>
              <a:avLst/>
              <a:gdLst/>
              <a:ahLst/>
              <a:cxnLst/>
              <a:rect r="r" b="b" t="t" l="l"/>
              <a:pathLst>
                <a:path h="53644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5486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AtomSpace Interface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5852160" y="5486400"/>
            <a:ext cx="4114800" cy="548640"/>
            <a:chOff x="0" y="0"/>
            <a:chExt cx="5486400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Provides access to knowledge base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852160" y="5980176"/>
            <a:ext cx="182880" cy="182880"/>
            <a:chOff x="0" y="0"/>
            <a:chExt cx="243840" cy="243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108192" y="5943600"/>
            <a:ext cx="1097280" cy="256032"/>
            <a:chOff x="0" y="0"/>
            <a:chExt cx="1463040" cy="34137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463040" cy="341376"/>
            </a:xfrm>
            <a:custGeom>
              <a:avLst/>
              <a:gdLst/>
              <a:ahLst/>
              <a:cxnLst/>
              <a:rect r="r" b="b" t="t" l="l"/>
              <a:pathLst>
                <a:path h="34137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463040" cy="379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99487" y="6668767"/>
            <a:ext cx="8973817" cy="2938777"/>
            <a:chOff x="0" y="0"/>
            <a:chExt cx="11965089" cy="391836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8509" y="8509"/>
              <a:ext cx="119481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965178" cy="3918458"/>
            </a:xfrm>
            <a:custGeom>
              <a:avLst/>
              <a:gdLst/>
              <a:ahLst/>
              <a:cxnLst/>
              <a:rect r="r" b="b" t="t" l="l"/>
              <a:pathLst>
                <a:path h="3918458" w="11965178">
                  <a:moveTo>
                    <a:pt x="8509" y="0"/>
                  </a:moveTo>
                  <a:lnTo>
                    <a:pt x="11956669" y="0"/>
                  </a:lnTo>
                  <a:cubicBezTo>
                    <a:pt x="11961368" y="0"/>
                    <a:pt x="11965178" y="3810"/>
                    <a:pt x="11965178" y="8509"/>
                  </a:cubicBezTo>
                  <a:lnTo>
                    <a:pt x="11965178" y="3909949"/>
                  </a:lnTo>
                  <a:cubicBezTo>
                    <a:pt x="11965178" y="3914648"/>
                    <a:pt x="11961368" y="3918458"/>
                    <a:pt x="11956669" y="3918458"/>
                  </a:cubicBezTo>
                  <a:lnTo>
                    <a:pt x="8509" y="3918458"/>
                  </a:lnTo>
                  <a:cubicBezTo>
                    <a:pt x="3810" y="3918458"/>
                    <a:pt x="0" y="3914648"/>
                    <a:pt x="0" y="3909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909949"/>
                  </a:lnTo>
                  <a:lnTo>
                    <a:pt x="8509" y="3909949"/>
                  </a:lnTo>
                  <a:lnTo>
                    <a:pt x="8509" y="3901440"/>
                  </a:lnTo>
                  <a:lnTo>
                    <a:pt x="11956669" y="3901440"/>
                  </a:lnTo>
                  <a:lnTo>
                    <a:pt x="11956669" y="3909949"/>
                  </a:lnTo>
                  <a:lnTo>
                    <a:pt x="11948160" y="3909949"/>
                  </a:lnTo>
                  <a:lnTo>
                    <a:pt x="11948160" y="8509"/>
                  </a:lnTo>
                  <a:lnTo>
                    <a:pt x="11956669" y="8509"/>
                  </a:lnTo>
                  <a:lnTo>
                    <a:pt x="119566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0597515" y="2459355"/>
            <a:ext cx="6968490" cy="7517130"/>
            <a:chOff x="0" y="0"/>
            <a:chExt cx="9291320" cy="100228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2700" y="12700"/>
              <a:ext cx="9265920" cy="9997440"/>
            </a:xfrm>
            <a:custGeom>
              <a:avLst/>
              <a:gdLst/>
              <a:ahLst/>
              <a:cxnLst/>
              <a:rect r="r" b="b" t="t" l="l"/>
              <a:pathLst>
                <a:path h="9997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291320" cy="10022840"/>
            </a:xfrm>
            <a:custGeom>
              <a:avLst/>
              <a:gdLst/>
              <a:ahLst/>
              <a:cxnLst/>
              <a:rect r="r" b="b" t="t" l="l"/>
              <a:pathLst>
                <a:path h="10022840" w="9291320">
                  <a:moveTo>
                    <a:pt x="12700" y="0"/>
                  </a:moveTo>
                  <a:lnTo>
                    <a:pt x="9278620" y="0"/>
                  </a:lnTo>
                  <a:cubicBezTo>
                    <a:pt x="9285605" y="0"/>
                    <a:pt x="9291320" y="5715"/>
                    <a:pt x="9291320" y="12700"/>
                  </a:cubicBezTo>
                  <a:lnTo>
                    <a:pt x="9291320" y="10010140"/>
                  </a:lnTo>
                  <a:cubicBezTo>
                    <a:pt x="9291320" y="10017125"/>
                    <a:pt x="9285605" y="10022840"/>
                    <a:pt x="9278620" y="10022840"/>
                  </a:cubicBezTo>
                  <a:lnTo>
                    <a:pt x="12700" y="10022840"/>
                  </a:lnTo>
                  <a:cubicBezTo>
                    <a:pt x="5715" y="10022840"/>
                    <a:pt x="0" y="10017125"/>
                    <a:pt x="0" y="1001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10140"/>
                  </a:lnTo>
                  <a:lnTo>
                    <a:pt x="12700" y="10010140"/>
                  </a:lnTo>
                  <a:lnTo>
                    <a:pt x="12700" y="9997440"/>
                  </a:lnTo>
                  <a:lnTo>
                    <a:pt x="9278620" y="9997440"/>
                  </a:lnTo>
                  <a:lnTo>
                    <a:pt x="9278620" y="10010140"/>
                  </a:lnTo>
                  <a:lnTo>
                    <a:pt x="9265920" y="10010140"/>
                  </a:lnTo>
                  <a:lnTo>
                    <a:pt x="9265920" y="12700"/>
                  </a:lnTo>
                  <a:lnTo>
                    <a:pt x="9278620" y="12700"/>
                  </a:lnTo>
                  <a:lnTo>
                    <a:pt x="927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0881360" y="2688336"/>
            <a:ext cx="6400800" cy="512064"/>
            <a:chOff x="0" y="0"/>
            <a:chExt cx="8534400" cy="68275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8534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Topology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789920" y="3566160"/>
            <a:ext cx="1554480" cy="512064"/>
            <a:chOff x="0" y="0"/>
            <a:chExt cx="2072640" cy="6827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07264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1" r="0" b="-915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072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 Layer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508230" y="3364230"/>
            <a:ext cx="4701540" cy="915924"/>
            <a:chOff x="0" y="0"/>
            <a:chExt cx="6268720" cy="122123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25400" y="25400"/>
              <a:ext cx="62179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268720" cy="1221232"/>
            </a:xfrm>
            <a:custGeom>
              <a:avLst/>
              <a:gdLst/>
              <a:ahLst/>
              <a:cxnLst/>
              <a:rect r="r" b="b" t="t" l="l"/>
              <a:pathLst>
                <a:path h="1221232" w="6268720">
                  <a:moveTo>
                    <a:pt x="25400" y="0"/>
                  </a:moveTo>
                  <a:lnTo>
                    <a:pt x="6243320" y="0"/>
                  </a:lnTo>
                  <a:cubicBezTo>
                    <a:pt x="6257290" y="0"/>
                    <a:pt x="6268720" y="11430"/>
                    <a:pt x="6268720" y="25400"/>
                  </a:cubicBezTo>
                  <a:lnTo>
                    <a:pt x="6268720" y="1195832"/>
                  </a:lnTo>
                  <a:cubicBezTo>
                    <a:pt x="6268720" y="1209802"/>
                    <a:pt x="6257290" y="1221232"/>
                    <a:pt x="6243320" y="1221232"/>
                  </a:cubicBezTo>
                  <a:lnTo>
                    <a:pt x="25400" y="1221232"/>
                  </a:lnTo>
                  <a:cubicBezTo>
                    <a:pt x="11430" y="1221232"/>
                    <a:pt x="0" y="1209802"/>
                    <a:pt x="0" y="119583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195832"/>
                  </a:lnTo>
                  <a:lnTo>
                    <a:pt x="25400" y="1195832"/>
                  </a:lnTo>
                  <a:lnTo>
                    <a:pt x="25400" y="1170432"/>
                  </a:lnTo>
                  <a:lnTo>
                    <a:pt x="6243320" y="1170432"/>
                  </a:lnTo>
                  <a:lnTo>
                    <a:pt x="6243320" y="1195832"/>
                  </a:lnTo>
                  <a:lnTo>
                    <a:pt x="6217920" y="1195832"/>
                  </a:lnTo>
                  <a:lnTo>
                    <a:pt x="6217920" y="25400"/>
                  </a:lnTo>
                  <a:lnTo>
                    <a:pt x="6243320" y="25400"/>
                  </a:lnTo>
                  <a:lnTo>
                    <a:pt x="62433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527280" y="3383280"/>
            <a:ext cx="4663440" cy="877824"/>
            <a:chOff x="0" y="0"/>
            <a:chExt cx="6217920" cy="117043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2179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514" r="0" b="-53514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621792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E40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 Applications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830806" y="4242054"/>
            <a:ext cx="38100" cy="440436"/>
            <a:chOff x="0" y="0"/>
            <a:chExt cx="50800" cy="58724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25400"/>
              <a:ext cx="50800" cy="536448"/>
            </a:xfrm>
            <a:custGeom>
              <a:avLst/>
              <a:gdLst/>
              <a:ahLst/>
              <a:cxnLst/>
              <a:rect r="r" b="b" t="t" l="l"/>
              <a:pathLst>
                <a:path h="536448" w="50800">
                  <a:moveTo>
                    <a:pt x="50800" y="0"/>
                  </a:moveTo>
                  <a:lnTo>
                    <a:pt x="50800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0789920" y="4846320"/>
            <a:ext cx="1554480" cy="512064"/>
            <a:chOff x="0" y="0"/>
            <a:chExt cx="2072640" cy="6827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07264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1" r="0" b="-915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2072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Network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508230" y="4644390"/>
            <a:ext cx="4701540" cy="915924"/>
            <a:chOff x="0" y="0"/>
            <a:chExt cx="6268720" cy="122123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25400" y="25400"/>
              <a:ext cx="62179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268720" cy="1221232"/>
            </a:xfrm>
            <a:custGeom>
              <a:avLst/>
              <a:gdLst/>
              <a:ahLst/>
              <a:cxnLst/>
              <a:rect r="r" b="b" t="t" l="l"/>
              <a:pathLst>
                <a:path h="1221232" w="6268720">
                  <a:moveTo>
                    <a:pt x="25400" y="0"/>
                  </a:moveTo>
                  <a:lnTo>
                    <a:pt x="6243320" y="0"/>
                  </a:lnTo>
                  <a:cubicBezTo>
                    <a:pt x="6257290" y="0"/>
                    <a:pt x="6268720" y="11430"/>
                    <a:pt x="6268720" y="25400"/>
                  </a:cubicBezTo>
                  <a:lnTo>
                    <a:pt x="6268720" y="1195832"/>
                  </a:lnTo>
                  <a:cubicBezTo>
                    <a:pt x="6268720" y="1209802"/>
                    <a:pt x="6257290" y="1221232"/>
                    <a:pt x="6243320" y="1221232"/>
                  </a:cubicBezTo>
                  <a:lnTo>
                    <a:pt x="25400" y="1221232"/>
                  </a:lnTo>
                  <a:cubicBezTo>
                    <a:pt x="11430" y="1221232"/>
                    <a:pt x="0" y="1209802"/>
                    <a:pt x="0" y="119583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195832"/>
                  </a:lnTo>
                  <a:lnTo>
                    <a:pt x="25400" y="1195832"/>
                  </a:lnTo>
                  <a:lnTo>
                    <a:pt x="25400" y="1170432"/>
                  </a:lnTo>
                  <a:lnTo>
                    <a:pt x="6243320" y="1170432"/>
                  </a:lnTo>
                  <a:lnTo>
                    <a:pt x="6243320" y="1195832"/>
                  </a:lnTo>
                  <a:lnTo>
                    <a:pt x="6217920" y="1195832"/>
                  </a:lnTo>
                  <a:lnTo>
                    <a:pt x="6217920" y="25400"/>
                  </a:lnTo>
                  <a:lnTo>
                    <a:pt x="6243320" y="25400"/>
                  </a:lnTo>
                  <a:lnTo>
                    <a:pt x="62433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527280" y="4663440"/>
            <a:ext cx="4663440" cy="877824"/>
            <a:chOff x="0" y="0"/>
            <a:chExt cx="6217920" cy="117043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2179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514" r="0" b="-5351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621792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2400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TCP/IP Connection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4830806" y="5522214"/>
            <a:ext cx="38100" cy="440436"/>
            <a:chOff x="0" y="0"/>
            <a:chExt cx="50800" cy="58724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25400"/>
              <a:ext cx="50800" cy="536448"/>
            </a:xfrm>
            <a:custGeom>
              <a:avLst/>
              <a:gdLst/>
              <a:ahLst/>
              <a:cxnLst/>
              <a:rect r="r" b="b" t="t" l="l"/>
              <a:pathLst>
                <a:path h="536448" w="50800">
                  <a:moveTo>
                    <a:pt x="50800" y="0"/>
                  </a:moveTo>
                  <a:lnTo>
                    <a:pt x="50800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0789920" y="6126480"/>
            <a:ext cx="1554480" cy="512064"/>
            <a:chOff x="0" y="0"/>
            <a:chExt cx="2072640" cy="68275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07264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1" r="0" b="-9151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2072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Server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2508230" y="5924550"/>
            <a:ext cx="4701540" cy="915924"/>
            <a:chOff x="0" y="0"/>
            <a:chExt cx="6268720" cy="122123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25400" y="25400"/>
              <a:ext cx="62179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268720" cy="1221232"/>
            </a:xfrm>
            <a:custGeom>
              <a:avLst/>
              <a:gdLst/>
              <a:ahLst/>
              <a:cxnLst/>
              <a:rect r="r" b="b" t="t" l="l"/>
              <a:pathLst>
                <a:path h="1221232" w="6268720">
                  <a:moveTo>
                    <a:pt x="25400" y="0"/>
                  </a:moveTo>
                  <a:lnTo>
                    <a:pt x="6243320" y="0"/>
                  </a:lnTo>
                  <a:cubicBezTo>
                    <a:pt x="6257290" y="0"/>
                    <a:pt x="6268720" y="11430"/>
                    <a:pt x="6268720" y="25400"/>
                  </a:cubicBezTo>
                  <a:lnTo>
                    <a:pt x="6268720" y="1195832"/>
                  </a:lnTo>
                  <a:cubicBezTo>
                    <a:pt x="6268720" y="1209802"/>
                    <a:pt x="6257290" y="1221232"/>
                    <a:pt x="6243320" y="1221232"/>
                  </a:cubicBezTo>
                  <a:lnTo>
                    <a:pt x="25400" y="1221232"/>
                  </a:lnTo>
                  <a:cubicBezTo>
                    <a:pt x="11430" y="1221232"/>
                    <a:pt x="0" y="1209802"/>
                    <a:pt x="0" y="119583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195832"/>
                  </a:lnTo>
                  <a:lnTo>
                    <a:pt x="25400" y="1195832"/>
                  </a:lnTo>
                  <a:lnTo>
                    <a:pt x="25400" y="1170432"/>
                  </a:lnTo>
                  <a:lnTo>
                    <a:pt x="6243320" y="1170432"/>
                  </a:lnTo>
                  <a:lnTo>
                    <a:pt x="6243320" y="1195832"/>
                  </a:lnTo>
                  <a:lnTo>
                    <a:pt x="6217920" y="1195832"/>
                  </a:lnTo>
                  <a:lnTo>
                    <a:pt x="6217920" y="25400"/>
                  </a:lnTo>
                  <a:lnTo>
                    <a:pt x="6243320" y="25400"/>
                  </a:lnTo>
                  <a:lnTo>
                    <a:pt x="62433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2527280" y="5943600"/>
            <a:ext cx="4663440" cy="877824"/>
            <a:chOff x="0" y="0"/>
            <a:chExt cx="6217920" cy="117043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179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514" r="0" b="-53514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621792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65F4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CogServer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4830806" y="6802374"/>
            <a:ext cx="38100" cy="440436"/>
            <a:chOff x="0" y="0"/>
            <a:chExt cx="50800" cy="58724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25400"/>
              <a:ext cx="50800" cy="536448"/>
            </a:xfrm>
            <a:custGeom>
              <a:avLst/>
              <a:gdLst/>
              <a:ahLst/>
              <a:cxnLst/>
              <a:rect r="r" b="b" t="t" l="l"/>
              <a:pathLst>
                <a:path h="536448" w="50800">
                  <a:moveTo>
                    <a:pt x="50800" y="0"/>
                  </a:moveTo>
                  <a:lnTo>
                    <a:pt x="50800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789920" y="7406640"/>
            <a:ext cx="1554480" cy="512064"/>
            <a:chOff x="0" y="0"/>
            <a:chExt cx="2072640" cy="68275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07264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1" r="0" b="-9151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2072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2508230" y="7204710"/>
            <a:ext cx="4701540" cy="915924"/>
            <a:chOff x="0" y="0"/>
            <a:chExt cx="6268720" cy="122123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25400" y="25400"/>
              <a:ext cx="62179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FCE7F3"/>
            </a:solidFill>
          </p:spPr>
        </p:sp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68720" cy="1221232"/>
            </a:xfrm>
            <a:custGeom>
              <a:avLst/>
              <a:gdLst/>
              <a:ahLst/>
              <a:cxnLst/>
              <a:rect r="r" b="b" t="t" l="l"/>
              <a:pathLst>
                <a:path h="1221232" w="6268720">
                  <a:moveTo>
                    <a:pt x="25400" y="0"/>
                  </a:moveTo>
                  <a:lnTo>
                    <a:pt x="6243320" y="0"/>
                  </a:lnTo>
                  <a:cubicBezTo>
                    <a:pt x="6257290" y="0"/>
                    <a:pt x="6268720" y="11430"/>
                    <a:pt x="6268720" y="25400"/>
                  </a:cubicBezTo>
                  <a:lnTo>
                    <a:pt x="6268720" y="1195832"/>
                  </a:lnTo>
                  <a:cubicBezTo>
                    <a:pt x="6268720" y="1209802"/>
                    <a:pt x="6257290" y="1221232"/>
                    <a:pt x="6243320" y="1221232"/>
                  </a:cubicBezTo>
                  <a:lnTo>
                    <a:pt x="25400" y="1221232"/>
                  </a:lnTo>
                  <a:cubicBezTo>
                    <a:pt x="11430" y="1221232"/>
                    <a:pt x="0" y="1209802"/>
                    <a:pt x="0" y="119583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195832"/>
                  </a:lnTo>
                  <a:lnTo>
                    <a:pt x="25400" y="1195832"/>
                  </a:lnTo>
                  <a:lnTo>
                    <a:pt x="25400" y="1170432"/>
                  </a:lnTo>
                  <a:lnTo>
                    <a:pt x="6243320" y="1170432"/>
                  </a:lnTo>
                  <a:lnTo>
                    <a:pt x="6243320" y="1195832"/>
                  </a:lnTo>
                  <a:lnTo>
                    <a:pt x="6217920" y="1195832"/>
                  </a:lnTo>
                  <a:lnTo>
                    <a:pt x="6217920" y="25400"/>
                  </a:lnTo>
                  <a:lnTo>
                    <a:pt x="6243320" y="25400"/>
                  </a:lnTo>
                  <a:lnTo>
                    <a:pt x="62433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2527280" y="7223760"/>
            <a:ext cx="4663440" cy="877824"/>
            <a:chOff x="0" y="0"/>
            <a:chExt cx="6217920" cy="117043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179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514" r="0" b="-53514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621792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D174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AtomSpace</a:t>
              </a:r>
            </a:p>
          </p:txBody>
        </p:sp>
      </p:grpSp>
      <p:sp>
        <p:nvSpPr>
          <p:cNvPr name="Freeform 126" id="126"/>
          <p:cNvSpPr/>
          <p:nvPr/>
        </p:nvSpPr>
        <p:spPr>
          <a:xfrm flipH="false" flipV="false" rot="0">
            <a:off x="1299210" y="7041890"/>
            <a:ext cx="6930390" cy="1976938"/>
          </a:xfrm>
          <a:custGeom>
            <a:avLst/>
            <a:gdLst/>
            <a:ahLst/>
            <a:cxnLst/>
            <a:rect r="r" b="b" t="t" l="l"/>
            <a:pathLst>
              <a:path h="1976938" w="6930390">
                <a:moveTo>
                  <a:pt x="0" y="0"/>
                </a:moveTo>
                <a:lnTo>
                  <a:pt x="6930390" y="0"/>
                </a:lnTo>
                <a:lnTo>
                  <a:pt x="6930390" y="1976938"/>
                </a:lnTo>
                <a:lnTo>
                  <a:pt x="0" y="19769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7" id="127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Central server for cognitive processing and coordination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ECAN: Economic Attention Allocation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24/53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1499616"/>
            <a:ext cx="14630400" cy="822960"/>
            <a:chOff x="0" y="0"/>
            <a:chExt cx="1950720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950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Economic Attention Allocation Network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1995" y="2459355"/>
            <a:ext cx="10808970" cy="7517130"/>
            <a:chOff x="0" y="0"/>
            <a:chExt cx="14411960" cy="10022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14386561" cy="9997440"/>
            </a:xfrm>
            <a:custGeom>
              <a:avLst/>
              <a:gdLst/>
              <a:ahLst/>
              <a:cxnLst/>
              <a:rect r="r" b="b" t="t" l="l"/>
              <a:pathLst>
                <a:path h="999744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11961" cy="10022840"/>
            </a:xfrm>
            <a:custGeom>
              <a:avLst/>
              <a:gdLst/>
              <a:ahLst/>
              <a:cxnLst/>
              <a:rect r="r" b="b" t="t" l="l"/>
              <a:pathLst>
                <a:path h="10022840" w="14411961">
                  <a:moveTo>
                    <a:pt x="12700" y="0"/>
                  </a:moveTo>
                  <a:lnTo>
                    <a:pt x="14399261" y="0"/>
                  </a:lnTo>
                  <a:cubicBezTo>
                    <a:pt x="14406246" y="0"/>
                    <a:pt x="14411961" y="5715"/>
                    <a:pt x="14411961" y="12700"/>
                  </a:cubicBezTo>
                  <a:lnTo>
                    <a:pt x="14411961" y="10010140"/>
                  </a:lnTo>
                  <a:cubicBezTo>
                    <a:pt x="14411961" y="10017125"/>
                    <a:pt x="14406246" y="10022840"/>
                    <a:pt x="14399261" y="10022840"/>
                  </a:cubicBezTo>
                  <a:lnTo>
                    <a:pt x="12700" y="10022840"/>
                  </a:lnTo>
                  <a:cubicBezTo>
                    <a:pt x="5715" y="10022840"/>
                    <a:pt x="0" y="10017125"/>
                    <a:pt x="0" y="1001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10140"/>
                  </a:lnTo>
                  <a:lnTo>
                    <a:pt x="12700" y="10010140"/>
                  </a:lnTo>
                  <a:lnTo>
                    <a:pt x="12700" y="9997440"/>
                  </a:lnTo>
                  <a:lnTo>
                    <a:pt x="14399261" y="9997440"/>
                  </a:lnTo>
                  <a:lnTo>
                    <a:pt x="14399261" y="10010140"/>
                  </a:lnTo>
                  <a:lnTo>
                    <a:pt x="14386561" y="10010140"/>
                  </a:lnTo>
                  <a:lnTo>
                    <a:pt x="14386561" y="12700"/>
                  </a:lnTo>
                  <a:lnTo>
                    <a:pt x="14399261" y="12700"/>
                  </a:lnTo>
                  <a:lnTo>
                    <a:pt x="1439926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05840" y="2651760"/>
            <a:ext cx="10424160" cy="512064"/>
            <a:chOff x="0" y="0"/>
            <a:chExt cx="1389888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898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659" r="0" b="-34665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3898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Attention Mechanism Overview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5840" y="3236976"/>
            <a:ext cx="10424160" cy="1005840"/>
            <a:chOff x="0" y="0"/>
            <a:chExt cx="13898880" cy="1341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898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935" r="0" b="-15193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8988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ECAN implements an economic model for attention allocation, treating cognitive resources as a scarce commodity that must be efficiently distributed among competing cognitive processes.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99487" y="4346191"/>
            <a:ext cx="10253977" cy="1567177"/>
            <a:chOff x="0" y="0"/>
            <a:chExt cx="13671969" cy="20895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8509" y="8509"/>
              <a:ext cx="136550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655040">
                  <a:moveTo>
                    <a:pt x="0" y="0"/>
                  </a:moveTo>
                  <a:lnTo>
                    <a:pt x="13655040" y="0"/>
                  </a:lnTo>
                  <a:lnTo>
                    <a:pt x="136550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672057" cy="2089658"/>
            </a:xfrm>
            <a:custGeom>
              <a:avLst/>
              <a:gdLst/>
              <a:ahLst/>
              <a:cxnLst/>
              <a:rect r="r" b="b" t="t" l="l"/>
              <a:pathLst>
                <a:path h="2089658" w="13672057">
                  <a:moveTo>
                    <a:pt x="8509" y="0"/>
                  </a:moveTo>
                  <a:lnTo>
                    <a:pt x="13663549" y="0"/>
                  </a:lnTo>
                  <a:cubicBezTo>
                    <a:pt x="13668248" y="0"/>
                    <a:pt x="13672057" y="3810"/>
                    <a:pt x="13672057" y="8509"/>
                  </a:cubicBezTo>
                  <a:lnTo>
                    <a:pt x="13672057" y="2081149"/>
                  </a:lnTo>
                  <a:cubicBezTo>
                    <a:pt x="13672057" y="2085848"/>
                    <a:pt x="13668248" y="2089658"/>
                    <a:pt x="13663549" y="2089658"/>
                  </a:cubicBezTo>
                  <a:lnTo>
                    <a:pt x="8509" y="2089658"/>
                  </a:lnTo>
                  <a:cubicBezTo>
                    <a:pt x="3810" y="2089658"/>
                    <a:pt x="0" y="2085848"/>
                    <a:pt x="0" y="20811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81149"/>
                  </a:lnTo>
                  <a:lnTo>
                    <a:pt x="8509" y="2081149"/>
                  </a:lnTo>
                  <a:lnTo>
                    <a:pt x="8509" y="2072640"/>
                  </a:lnTo>
                  <a:lnTo>
                    <a:pt x="13663549" y="2072640"/>
                  </a:lnTo>
                  <a:lnTo>
                    <a:pt x="13663549" y="2081149"/>
                  </a:lnTo>
                  <a:lnTo>
                    <a:pt x="13655039" y="2081149"/>
                  </a:lnTo>
                  <a:lnTo>
                    <a:pt x="13655039" y="8509"/>
                  </a:lnTo>
                  <a:lnTo>
                    <a:pt x="13663549" y="8509"/>
                  </a:lnTo>
                  <a:lnTo>
                    <a:pt x="136635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80160" y="4480560"/>
            <a:ext cx="822960" cy="822960"/>
            <a:chOff x="0" y="0"/>
            <a:chExt cx="109728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97280" y="5394960"/>
            <a:ext cx="1188720" cy="329184"/>
            <a:chOff x="0" y="0"/>
            <a:chExt cx="1584960" cy="4389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84960" cy="438912"/>
            </a:xfrm>
            <a:custGeom>
              <a:avLst/>
              <a:gdLst/>
              <a:ahLst/>
              <a:cxnLst/>
              <a:rect r="r" b="b" t="t" l="l"/>
              <a:pathLst>
                <a:path h="43891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58496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Stimulus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090423" y="4888487"/>
            <a:ext cx="1671323" cy="25403"/>
            <a:chOff x="0" y="0"/>
            <a:chExt cx="2228431" cy="338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0"/>
              <a:ext cx="2194560" cy="33909"/>
            </a:xfrm>
            <a:custGeom>
              <a:avLst/>
              <a:gdLst/>
              <a:ahLst/>
              <a:cxnLst/>
              <a:rect r="r" b="b" t="t" l="l"/>
              <a:pathLst>
                <a:path h="33909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749040" y="4480560"/>
            <a:ext cx="822960" cy="822960"/>
            <a:chOff x="0" y="0"/>
            <a:chExt cx="109728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566160" y="5394960"/>
            <a:ext cx="1188720" cy="329184"/>
            <a:chOff x="0" y="0"/>
            <a:chExt cx="1584960" cy="43891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84960" cy="438912"/>
            </a:xfrm>
            <a:custGeom>
              <a:avLst/>
              <a:gdLst/>
              <a:ahLst/>
              <a:cxnLst/>
              <a:rect r="r" b="b" t="t" l="l"/>
              <a:pathLst>
                <a:path h="43891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58496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Filter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559303" y="4888487"/>
            <a:ext cx="1671323" cy="25403"/>
            <a:chOff x="0" y="0"/>
            <a:chExt cx="2228431" cy="338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0"/>
              <a:ext cx="2194560" cy="33909"/>
            </a:xfrm>
            <a:custGeom>
              <a:avLst/>
              <a:gdLst/>
              <a:ahLst/>
              <a:cxnLst/>
              <a:rect r="r" b="b" t="t" l="l"/>
              <a:pathLst>
                <a:path h="33909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217920" y="4480560"/>
            <a:ext cx="822960" cy="822960"/>
            <a:chOff x="0" y="0"/>
            <a:chExt cx="109728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035040" y="5394960"/>
            <a:ext cx="1188720" cy="329184"/>
            <a:chOff x="0" y="0"/>
            <a:chExt cx="1584960" cy="4389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84960" cy="438912"/>
            </a:xfrm>
            <a:custGeom>
              <a:avLst/>
              <a:gdLst/>
              <a:ahLst/>
              <a:cxnLst/>
              <a:rect r="r" b="b" t="t" l="l"/>
              <a:pathLst>
                <a:path h="43891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58496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028183" y="4888487"/>
            <a:ext cx="1671323" cy="25403"/>
            <a:chOff x="0" y="0"/>
            <a:chExt cx="2228431" cy="338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0"/>
              <a:ext cx="2194560" cy="33909"/>
            </a:xfrm>
            <a:custGeom>
              <a:avLst/>
              <a:gdLst/>
              <a:ahLst/>
              <a:cxnLst/>
              <a:rect r="r" b="b" t="t" l="l"/>
              <a:pathLst>
                <a:path h="33909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686800" y="4480560"/>
            <a:ext cx="822960" cy="822960"/>
            <a:chOff x="0" y="0"/>
            <a:chExt cx="109728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503920" y="5394960"/>
            <a:ext cx="1188720" cy="329184"/>
            <a:chOff x="0" y="0"/>
            <a:chExt cx="1584960" cy="43891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84960" cy="438912"/>
            </a:xfrm>
            <a:custGeom>
              <a:avLst/>
              <a:gdLst/>
              <a:ahLst/>
              <a:cxnLst/>
              <a:rect r="r" b="b" t="t" l="l"/>
              <a:pathLst>
                <a:path h="438912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158496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99487" y="6120127"/>
            <a:ext cx="4950457" cy="707641"/>
            <a:chOff x="0" y="0"/>
            <a:chExt cx="6600609" cy="94352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8509" y="8509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600699" cy="943610"/>
            </a:xfrm>
            <a:custGeom>
              <a:avLst/>
              <a:gdLst/>
              <a:ahLst/>
              <a:cxnLst/>
              <a:rect r="r" b="b" t="t" l="l"/>
              <a:pathLst>
                <a:path h="943610" w="6600699">
                  <a:moveTo>
                    <a:pt x="8509" y="0"/>
                  </a:moveTo>
                  <a:lnTo>
                    <a:pt x="6592189" y="0"/>
                  </a:lnTo>
                  <a:cubicBezTo>
                    <a:pt x="6596888" y="0"/>
                    <a:pt x="6600699" y="3810"/>
                    <a:pt x="6600699" y="8509"/>
                  </a:cubicBezTo>
                  <a:lnTo>
                    <a:pt x="6600699" y="935101"/>
                  </a:lnTo>
                  <a:cubicBezTo>
                    <a:pt x="6600699" y="939800"/>
                    <a:pt x="6596888" y="943610"/>
                    <a:pt x="659218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6592189" y="926592"/>
                  </a:lnTo>
                  <a:lnTo>
                    <a:pt x="6592189" y="935101"/>
                  </a:lnTo>
                  <a:lnTo>
                    <a:pt x="6583680" y="935101"/>
                  </a:lnTo>
                  <a:lnTo>
                    <a:pt x="6583680" y="8509"/>
                  </a:lnTo>
                  <a:lnTo>
                    <a:pt x="6592189" y="8509"/>
                  </a:lnTo>
                  <a:lnTo>
                    <a:pt x="65921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88720" y="6272784"/>
            <a:ext cx="2743200" cy="402336"/>
            <a:chOff x="0" y="0"/>
            <a:chExt cx="3657600" cy="53644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57600" cy="536448"/>
            </a:xfrm>
            <a:custGeom>
              <a:avLst/>
              <a:gdLst/>
              <a:ahLst/>
              <a:cxnLst/>
              <a:rect r="r" b="b" t="t" l="l"/>
              <a:pathLst>
                <a:path h="5364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657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Attention Span: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931920" y="6272784"/>
            <a:ext cx="1828800" cy="402336"/>
            <a:chOff x="0" y="0"/>
            <a:chExt cx="2438400" cy="53644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38400" cy="536448"/>
            </a:xfrm>
            <a:custGeom>
              <a:avLst/>
              <a:gdLst/>
              <a:ahLst/>
              <a:cxnLst/>
              <a:rect r="r" b="b" t="t" l="l"/>
              <a:pathLst>
                <a:path h="536448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438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~200ms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211567" y="6120127"/>
            <a:ext cx="4950457" cy="707641"/>
            <a:chOff x="0" y="0"/>
            <a:chExt cx="6600609" cy="94352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8509" y="8509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600699" cy="943610"/>
            </a:xfrm>
            <a:custGeom>
              <a:avLst/>
              <a:gdLst/>
              <a:ahLst/>
              <a:cxnLst/>
              <a:rect r="r" b="b" t="t" l="l"/>
              <a:pathLst>
                <a:path h="943610" w="6600699">
                  <a:moveTo>
                    <a:pt x="8509" y="0"/>
                  </a:moveTo>
                  <a:lnTo>
                    <a:pt x="6592189" y="0"/>
                  </a:lnTo>
                  <a:cubicBezTo>
                    <a:pt x="6596888" y="0"/>
                    <a:pt x="6600699" y="3810"/>
                    <a:pt x="6600699" y="8509"/>
                  </a:cubicBezTo>
                  <a:lnTo>
                    <a:pt x="6600699" y="935101"/>
                  </a:lnTo>
                  <a:cubicBezTo>
                    <a:pt x="6600699" y="939800"/>
                    <a:pt x="6596888" y="943610"/>
                    <a:pt x="659218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6592189" y="926592"/>
                  </a:lnTo>
                  <a:lnTo>
                    <a:pt x="6592189" y="935101"/>
                  </a:lnTo>
                  <a:lnTo>
                    <a:pt x="6583680" y="935101"/>
                  </a:lnTo>
                  <a:lnTo>
                    <a:pt x="6583680" y="8509"/>
                  </a:lnTo>
                  <a:lnTo>
                    <a:pt x="6592189" y="8509"/>
                  </a:lnTo>
                  <a:lnTo>
                    <a:pt x="65921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400800" y="6272784"/>
            <a:ext cx="2743200" cy="402336"/>
            <a:chOff x="0" y="0"/>
            <a:chExt cx="3657600" cy="5364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57600" cy="536448"/>
            </a:xfrm>
            <a:custGeom>
              <a:avLst/>
              <a:gdLst/>
              <a:ahLst/>
              <a:cxnLst/>
              <a:rect r="r" b="b" t="t" l="l"/>
              <a:pathLst>
                <a:path h="5364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657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Memory Usage: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144000" y="6272784"/>
            <a:ext cx="1828800" cy="402336"/>
            <a:chOff x="0" y="0"/>
            <a:chExt cx="2438400" cy="53644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438400" cy="536448"/>
            </a:xfrm>
            <a:custGeom>
              <a:avLst/>
              <a:gdLst/>
              <a:ahLst/>
              <a:cxnLst/>
              <a:rect r="r" b="b" t="t" l="l"/>
              <a:pathLst>
                <a:path h="536448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2438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64MB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99487" y="6943087"/>
            <a:ext cx="4950457" cy="707641"/>
            <a:chOff x="0" y="0"/>
            <a:chExt cx="6600609" cy="94352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8509" y="8509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600699" cy="943610"/>
            </a:xfrm>
            <a:custGeom>
              <a:avLst/>
              <a:gdLst/>
              <a:ahLst/>
              <a:cxnLst/>
              <a:rect r="r" b="b" t="t" l="l"/>
              <a:pathLst>
                <a:path h="943610" w="6600699">
                  <a:moveTo>
                    <a:pt x="8509" y="0"/>
                  </a:moveTo>
                  <a:lnTo>
                    <a:pt x="6592189" y="0"/>
                  </a:lnTo>
                  <a:cubicBezTo>
                    <a:pt x="6596888" y="0"/>
                    <a:pt x="6600699" y="3810"/>
                    <a:pt x="6600699" y="8509"/>
                  </a:cubicBezTo>
                  <a:lnTo>
                    <a:pt x="6600699" y="935101"/>
                  </a:lnTo>
                  <a:cubicBezTo>
                    <a:pt x="6600699" y="939800"/>
                    <a:pt x="6596888" y="943610"/>
                    <a:pt x="659218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6592189" y="926592"/>
                  </a:lnTo>
                  <a:lnTo>
                    <a:pt x="6592189" y="935101"/>
                  </a:lnTo>
                  <a:lnTo>
                    <a:pt x="6583680" y="935101"/>
                  </a:lnTo>
                  <a:lnTo>
                    <a:pt x="6583680" y="8509"/>
                  </a:lnTo>
                  <a:lnTo>
                    <a:pt x="6592189" y="8509"/>
                  </a:lnTo>
                  <a:lnTo>
                    <a:pt x="65921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88720" y="7095744"/>
            <a:ext cx="2743200" cy="402336"/>
            <a:chOff x="0" y="0"/>
            <a:chExt cx="3657600" cy="53644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657600" cy="536448"/>
            </a:xfrm>
            <a:custGeom>
              <a:avLst/>
              <a:gdLst/>
              <a:ahLst/>
              <a:cxnLst/>
              <a:rect r="r" b="b" t="t" l="l"/>
              <a:pathLst>
                <a:path h="5364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657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Efficiency: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3931920" y="7095744"/>
            <a:ext cx="1828800" cy="402336"/>
            <a:chOff x="0" y="0"/>
            <a:chExt cx="2438400" cy="53644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38400" cy="536448"/>
            </a:xfrm>
            <a:custGeom>
              <a:avLst/>
              <a:gdLst/>
              <a:ahLst/>
              <a:cxnLst/>
              <a:rect r="r" b="b" t="t" l="l"/>
              <a:pathLst>
                <a:path h="536448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2438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94%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211567" y="6943087"/>
            <a:ext cx="4950457" cy="707641"/>
            <a:chOff x="0" y="0"/>
            <a:chExt cx="6600609" cy="94352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8509" y="8509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600699" cy="943610"/>
            </a:xfrm>
            <a:custGeom>
              <a:avLst/>
              <a:gdLst/>
              <a:ahLst/>
              <a:cxnLst/>
              <a:rect r="r" b="b" t="t" l="l"/>
              <a:pathLst>
                <a:path h="943610" w="6600699">
                  <a:moveTo>
                    <a:pt x="8509" y="0"/>
                  </a:moveTo>
                  <a:lnTo>
                    <a:pt x="6592189" y="0"/>
                  </a:lnTo>
                  <a:cubicBezTo>
                    <a:pt x="6596888" y="0"/>
                    <a:pt x="6600699" y="3810"/>
                    <a:pt x="6600699" y="8509"/>
                  </a:cubicBezTo>
                  <a:lnTo>
                    <a:pt x="6600699" y="935101"/>
                  </a:lnTo>
                  <a:cubicBezTo>
                    <a:pt x="6600699" y="939800"/>
                    <a:pt x="6596888" y="943610"/>
                    <a:pt x="659218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6592189" y="926592"/>
                  </a:lnTo>
                  <a:lnTo>
                    <a:pt x="6592189" y="935101"/>
                  </a:lnTo>
                  <a:lnTo>
                    <a:pt x="6583680" y="935101"/>
                  </a:lnTo>
                  <a:lnTo>
                    <a:pt x="6583680" y="8509"/>
                  </a:lnTo>
                  <a:lnTo>
                    <a:pt x="6592189" y="8509"/>
                  </a:lnTo>
                  <a:lnTo>
                    <a:pt x="65921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6400800" y="7095744"/>
            <a:ext cx="2743200" cy="402336"/>
            <a:chOff x="0" y="0"/>
            <a:chExt cx="3657600" cy="53644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657600" cy="536448"/>
            </a:xfrm>
            <a:custGeom>
              <a:avLst/>
              <a:gdLst/>
              <a:ahLst/>
              <a:cxnLst/>
              <a:rect r="r" b="b" t="t" l="l"/>
              <a:pathLst>
                <a:path h="53644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0" b="-8285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36576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Throughput: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144000" y="7095744"/>
            <a:ext cx="1828800" cy="402336"/>
            <a:chOff x="0" y="0"/>
            <a:chExt cx="2438400" cy="53644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438400" cy="536448"/>
            </a:xfrm>
            <a:custGeom>
              <a:avLst/>
              <a:gdLst/>
              <a:ahLst/>
              <a:cxnLst/>
              <a:rect r="r" b="b" t="t" l="l"/>
              <a:pathLst>
                <a:path h="536448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438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120 ops/s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99487" y="7894063"/>
            <a:ext cx="10253977" cy="1841497"/>
            <a:chOff x="0" y="0"/>
            <a:chExt cx="13671969" cy="245532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8509" y="8509"/>
              <a:ext cx="136550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3655040">
                  <a:moveTo>
                    <a:pt x="0" y="0"/>
                  </a:moveTo>
                  <a:lnTo>
                    <a:pt x="13655040" y="0"/>
                  </a:lnTo>
                  <a:lnTo>
                    <a:pt x="136550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3672057" cy="2455418"/>
            </a:xfrm>
            <a:custGeom>
              <a:avLst/>
              <a:gdLst/>
              <a:ahLst/>
              <a:cxnLst/>
              <a:rect r="r" b="b" t="t" l="l"/>
              <a:pathLst>
                <a:path h="2455418" w="13672057">
                  <a:moveTo>
                    <a:pt x="8509" y="0"/>
                  </a:moveTo>
                  <a:lnTo>
                    <a:pt x="13663549" y="0"/>
                  </a:lnTo>
                  <a:cubicBezTo>
                    <a:pt x="13668248" y="0"/>
                    <a:pt x="13672057" y="3810"/>
                    <a:pt x="13672057" y="8509"/>
                  </a:cubicBezTo>
                  <a:lnTo>
                    <a:pt x="13672057" y="2446909"/>
                  </a:lnTo>
                  <a:cubicBezTo>
                    <a:pt x="13672057" y="2451608"/>
                    <a:pt x="13668248" y="2455418"/>
                    <a:pt x="13663549" y="2455418"/>
                  </a:cubicBezTo>
                  <a:lnTo>
                    <a:pt x="8509" y="2455418"/>
                  </a:lnTo>
                  <a:cubicBezTo>
                    <a:pt x="3810" y="2455418"/>
                    <a:pt x="0" y="2451608"/>
                    <a:pt x="0" y="2446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446909"/>
                  </a:lnTo>
                  <a:lnTo>
                    <a:pt x="8509" y="2446909"/>
                  </a:lnTo>
                  <a:lnTo>
                    <a:pt x="8509" y="2438400"/>
                  </a:lnTo>
                  <a:lnTo>
                    <a:pt x="13663549" y="2438400"/>
                  </a:lnTo>
                  <a:lnTo>
                    <a:pt x="13663549" y="2446909"/>
                  </a:lnTo>
                  <a:lnTo>
                    <a:pt x="13655039" y="2446909"/>
                  </a:lnTo>
                  <a:lnTo>
                    <a:pt x="13655039" y="8509"/>
                  </a:lnTo>
                  <a:lnTo>
                    <a:pt x="13663549" y="8509"/>
                  </a:lnTo>
                  <a:lnTo>
                    <a:pt x="136635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1877670" y="2361562"/>
            <a:ext cx="5688330" cy="7517130"/>
            <a:chOff x="0" y="0"/>
            <a:chExt cx="7584440" cy="100228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2700" y="12700"/>
              <a:ext cx="7559040" cy="9997440"/>
            </a:xfrm>
            <a:custGeom>
              <a:avLst/>
              <a:gdLst/>
              <a:ahLst/>
              <a:cxnLst/>
              <a:rect r="r" b="b" t="t" l="l"/>
              <a:pathLst>
                <a:path h="99974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584440" cy="10022840"/>
            </a:xfrm>
            <a:custGeom>
              <a:avLst/>
              <a:gdLst/>
              <a:ahLst/>
              <a:cxnLst/>
              <a:rect r="r" b="b" t="t" l="l"/>
              <a:pathLst>
                <a:path h="10022840" w="7584440">
                  <a:moveTo>
                    <a:pt x="12700" y="0"/>
                  </a:moveTo>
                  <a:lnTo>
                    <a:pt x="7571740" y="0"/>
                  </a:lnTo>
                  <a:cubicBezTo>
                    <a:pt x="7578725" y="0"/>
                    <a:pt x="7584440" y="5715"/>
                    <a:pt x="7584440" y="12700"/>
                  </a:cubicBezTo>
                  <a:lnTo>
                    <a:pt x="7584440" y="10010140"/>
                  </a:lnTo>
                  <a:cubicBezTo>
                    <a:pt x="7584440" y="10017125"/>
                    <a:pt x="7578725" y="10022840"/>
                    <a:pt x="7571740" y="10022840"/>
                  </a:cubicBezTo>
                  <a:lnTo>
                    <a:pt x="12700" y="10022840"/>
                  </a:lnTo>
                  <a:cubicBezTo>
                    <a:pt x="5715" y="10022840"/>
                    <a:pt x="0" y="10017125"/>
                    <a:pt x="0" y="1001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10140"/>
                  </a:lnTo>
                  <a:lnTo>
                    <a:pt x="12700" y="10010140"/>
                  </a:lnTo>
                  <a:lnTo>
                    <a:pt x="12700" y="9997440"/>
                  </a:lnTo>
                  <a:lnTo>
                    <a:pt x="7571740" y="9997440"/>
                  </a:lnTo>
                  <a:lnTo>
                    <a:pt x="7571740" y="10010140"/>
                  </a:lnTo>
                  <a:lnTo>
                    <a:pt x="7559040" y="10010140"/>
                  </a:lnTo>
                  <a:lnTo>
                    <a:pt x="7559040" y="12700"/>
                  </a:lnTo>
                  <a:lnTo>
                    <a:pt x="7571740" y="12700"/>
                  </a:lnTo>
                  <a:lnTo>
                    <a:pt x="75717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2161520" y="2651760"/>
            <a:ext cx="5120640" cy="512064"/>
            <a:chOff x="0" y="0"/>
            <a:chExt cx="6827520" cy="68275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57150"/>
              <a:ext cx="682752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Attention Visualization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161520" y="6437376"/>
            <a:ext cx="3072384" cy="365760"/>
            <a:chOff x="0" y="0"/>
            <a:chExt cx="4096512" cy="48768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096512" cy="487680"/>
            </a:xfrm>
            <a:custGeom>
              <a:avLst/>
              <a:gdLst/>
              <a:ahLst/>
              <a:cxnLst/>
              <a:rect r="r" b="b" t="t" l="l"/>
              <a:pathLst>
                <a:path h="48768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409651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Attention Level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5233904" y="6437376"/>
            <a:ext cx="2048256" cy="365760"/>
            <a:chOff x="0" y="0"/>
            <a:chExt cx="2731008" cy="48768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731008" cy="487680"/>
            </a:xfrm>
            <a:custGeom>
              <a:avLst/>
              <a:gdLst/>
              <a:ahLst/>
              <a:cxnLst/>
              <a:rect r="r" b="b" t="t" l="l"/>
              <a:pathLst>
                <a:path h="487680" w="2731008">
                  <a:moveTo>
                    <a:pt x="0" y="0"/>
                  </a:moveTo>
                  <a:lnTo>
                    <a:pt x="2731008" y="0"/>
                  </a:lnTo>
                  <a:lnTo>
                    <a:pt x="273100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273100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85%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161520" y="6839712"/>
            <a:ext cx="5120640" cy="146304"/>
            <a:chOff x="0" y="0"/>
            <a:chExt cx="6827520" cy="19507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827520" cy="195072"/>
            </a:xfrm>
            <a:custGeom>
              <a:avLst/>
              <a:gdLst/>
              <a:ahLst/>
              <a:cxnLst/>
              <a:rect r="r" b="b" t="t" l="l"/>
              <a:pathLst>
                <a:path h="19507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161520" y="6839712"/>
            <a:ext cx="4352544" cy="146304"/>
            <a:chOff x="0" y="0"/>
            <a:chExt cx="5803392" cy="19507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803392" cy="195072"/>
            </a:xfrm>
            <a:custGeom>
              <a:avLst/>
              <a:gdLst/>
              <a:ahLst/>
              <a:cxnLst/>
              <a:rect r="r" b="b" t="t" l="l"/>
              <a:pathLst>
                <a:path h="195072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2161520" y="7315200"/>
            <a:ext cx="3072384" cy="365760"/>
            <a:chOff x="0" y="0"/>
            <a:chExt cx="4096512" cy="48768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096512" cy="487680"/>
            </a:xfrm>
            <a:custGeom>
              <a:avLst/>
              <a:gdLst/>
              <a:ahLst/>
              <a:cxnLst/>
              <a:rect r="r" b="b" t="t" l="l"/>
              <a:pathLst>
                <a:path h="48768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409651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Resource Usage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5233904" y="7315200"/>
            <a:ext cx="2048256" cy="365760"/>
            <a:chOff x="0" y="0"/>
            <a:chExt cx="2731008" cy="48768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731008" cy="487680"/>
            </a:xfrm>
            <a:custGeom>
              <a:avLst/>
              <a:gdLst/>
              <a:ahLst/>
              <a:cxnLst/>
              <a:rect r="r" b="b" t="t" l="l"/>
              <a:pathLst>
                <a:path h="487680" w="2731008">
                  <a:moveTo>
                    <a:pt x="0" y="0"/>
                  </a:moveTo>
                  <a:lnTo>
                    <a:pt x="2731008" y="0"/>
                  </a:lnTo>
                  <a:lnTo>
                    <a:pt x="273100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273100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72%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2161520" y="7717536"/>
            <a:ext cx="5120640" cy="146304"/>
            <a:chOff x="0" y="0"/>
            <a:chExt cx="6827520" cy="19507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827520" cy="195072"/>
            </a:xfrm>
            <a:custGeom>
              <a:avLst/>
              <a:gdLst/>
              <a:ahLst/>
              <a:cxnLst/>
              <a:rect r="r" b="b" t="t" l="l"/>
              <a:pathLst>
                <a:path h="19507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2161520" y="7717536"/>
            <a:ext cx="3686861" cy="146304"/>
            <a:chOff x="0" y="0"/>
            <a:chExt cx="4915814" cy="19507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915789" cy="195072"/>
            </a:xfrm>
            <a:custGeom>
              <a:avLst/>
              <a:gdLst/>
              <a:ahLst/>
              <a:cxnLst/>
              <a:rect r="r" b="b" t="t" l="l"/>
              <a:pathLst>
                <a:path h="195072" w="4915789">
                  <a:moveTo>
                    <a:pt x="0" y="0"/>
                  </a:moveTo>
                  <a:lnTo>
                    <a:pt x="4915789" y="0"/>
                  </a:lnTo>
                  <a:lnTo>
                    <a:pt x="491578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161520" y="8193024"/>
            <a:ext cx="3072384" cy="365760"/>
            <a:chOff x="0" y="0"/>
            <a:chExt cx="4096512" cy="48768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096512" cy="487680"/>
            </a:xfrm>
            <a:custGeom>
              <a:avLst/>
              <a:gdLst/>
              <a:ahLst/>
              <a:cxnLst/>
              <a:rect r="r" b="b" t="t" l="l"/>
              <a:pathLst>
                <a:path h="48768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409651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Processing Speed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5233904" y="8193024"/>
            <a:ext cx="2048256" cy="365760"/>
            <a:chOff x="0" y="0"/>
            <a:chExt cx="2731008" cy="48768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731008" cy="487680"/>
            </a:xfrm>
            <a:custGeom>
              <a:avLst/>
              <a:gdLst/>
              <a:ahLst/>
              <a:cxnLst/>
              <a:rect r="r" b="b" t="t" l="l"/>
              <a:pathLst>
                <a:path h="487680" w="2731008">
                  <a:moveTo>
                    <a:pt x="0" y="0"/>
                  </a:moveTo>
                  <a:lnTo>
                    <a:pt x="2731008" y="0"/>
                  </a:lnTo>
                  <a:lnTo>
                    <a:pt x="273100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273100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94%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2161520" y="8595360"/>
            <a:ext cx="5120640" cy="146304"/>
            <a:chOff x="0" y="0"/>
            <a:chExt cx="6827520" cy="19507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6827520" cy="195072"/>
            </a:xfrm>
            <a:custGeom>
              <a:avLst/>
              <a:gdLst/>
              <a:ahLst/>
              <a:cxnLst/>
              <a:rect r="r" b="b" t="t" l="l"/>
              <a:pathLst>
                <a:path h="19507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2161520" y="8595360"/>
            <a:ext cx="4813402" cy="146304"/>
            <a:chOff x="0" y="0"/>
            <a:chExt cx="6417869" cy="19507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417818" cy="195072"/>
            </a:xfrm>
            <a:custGeom>
              <a:avLst/>
              <a:gdLst/>
              <a:ahLst/>
              <a:cxnLst/>
              <a:rect r="r" b="b" t="t" l="l"/>
              <a:pathLst>
                <a:path h="195072" w="6417818">
                  <a:moveTo>
                    <a:pt x="0" y="0"/>
                  </a:moveTo>
                  <a:lnTo>
                    <a:pt x="6417818" y="0"/>
                  </a:lnTo>
                  <a:lnTo>
                    <a:pt x="6417818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2155167" y="9137647"/>
            <a:ext cx="5133337" cy="561337"/>
            <a:chOff x="0" y="0"/>
            <a:chExt cx="6844449" cy="748449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8509" y="8509"/>
              <a:ext cx="6827519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844411" cy="765175"/>
            </a:xfrm>
            <a:custGeom>
              <a:avLst/>
              <a:gdLst/>
              <a:ahLst/>
              <a:cxnLst/>
              <a:rect r="r" b="b" t="t" l="l"/>
              <a:pathLst>
                <a:path h="765175" w="6844411">
                  <a:moveTo>
                    <a:pt x="127000" y="0"/>
                  </a:moveTo>
                  <a:lnTo>
                    <a:pt x="177800" y="0"/>
                  </a:lnTo>
                  <a:lnTo>
                    <a:pt x="177800" y="16891"/>
                  </a:lnTo>
                  <a:lnTo>
                    <a:pt x="127000" y="16891"/>
                  </a:lnTo>
                  <a:close/>
                  <a:moveTo>
                    <a:pt x="245491" y="16891"/>
                  </a:moveTo>
                  <a:lnTo>
                    <a:pt x="296291" y="16891"/>
                  </a:lnTo>
                  <a:lnTo>
                    <a:pt x="245491" y="16891"/>
                  </a:lnTo>
                  <a:close/>
                  <a:moveTo>
                    <a:pt x="363982" y="16891"/>
                  </a:moveTo>
                  <a:lnTo>
                    <a:pt x="414782" y="16891"/>
                  </a:lnTo>
                  <a:lnTo>
                    <a:pt x="363982" y="16891"/>
                  </a:lnTo>
                  <a:close/>
                  <a:moveTo>
                    <a:pt x="482600" y="0"/>
                  </a:moveTo>
                  <a:lnTo>
                    <a:pt x="533400" y="0"/>
                  </a:lnTo>
                  <a:lnTo>
                    <a:pt x="533400" y="16891"/>
                  </a:lnTo>
                  <a:lnTo>
                    <a:pt x="482600" y="16891"/>
                  </a:lnTo>
                  <a:close/>
                  <a:moveTo>
                    <a:pt x="601091" y="16891"/>
                  </a:moveTo>
                  <a:lnTo>
                    <a:pt x="651891" y="16891"/>
                  </a:lnTo>
                  <a:lnTo>
                    <a:pt x="601091" y="16891"/>
                  </a:lnTo>
                  <a:close/>
                  <a:moveTo>
                    <a:pt x="719582" y="16891"/>
                  </a:moveTo>
                  <a:lnTo>
                    <a:pt x="770382" y="16891"/>
                  </a:lnTo>
                  <a:lnTo>
                    <a:pt x="719582" y="16891"/>
                  </a:lnTo>
                  <a:close/>
                  <a:moveTo>
                    <a:pt x="838200" y="0"/>
                  </a:moveTo>
                  <a:lnTo>
                    <a:pt x="889000" y="0"/>
                  </a:lnTo>
                  <a:lnTo>
                    <a:pt x="889000" y="16891"/>
                  </a:lnTo>
                  <a:lnTo>
                    <a:pt x="838200" y="16891"/>
                  </a:lnTo>
                  <a:close/>
                  <a:moveTo>
                    <a:pt x="956691" y="16891"/>
                  </a:moveTo>
                  <a:lnTo>
                    <a:pt x="1007491" y="16891"/>
                  </a:lnTo>
                  <a:lnTo>
                    <a:pt x="956691" y="16891"/>
                  </a:lnTo>
                  <a:close/>
                  <a:moveTo>
                    <a:pt x="1075182" y="16891"/>
                  </a:moveTo>
                  <a:lnTo>
                    <a:pt x="1125982" y="16891"/>
                  </a:lnTo>
                  <a:lnTo>
                    <a:pt x="1075182" y="16891"/>
                  </a:lnTo>
                  <a:close/>
                  <a:moveTo>
                    <a:pt x="1193800" y="0"/>
                  </a:moveTo>
                  <a:lnTo>
                    <a:pt x="1244600" y="0"/>
                  </a:lnTo>
                  <a:lnTo>
                    <a:pt x="1244600" y="16891"/>
                  </a:lnTo>
                  <a:lnTo>
                    <a:pt x="1193800" y="16891"/>
                  </a:lnTo>
                  <a:close/>
                  <a:moveTo>
                    <a:pt x="1312291" y="16891"/>
                  </a:moveTo>
                  <a:lnTo>
                    <a:pt x="1363091" y="16891"/>
                  </a:lnTo>
                  <a:lnTo>
                    <a:pt x="1312291" y="16891"/>
                  </a:lnTo>
                  <a:close/>
                  <a:moveTo>
                    <a:pt x="1430782" y="16891"/>
                  </a:moveTo>
                  <a:lnTo>
                    <a:pt x="1481582" y="16891"/>
                  </a:lnTo>
                  <a:lnTo>
                    <a:pt x="1430782" y="16891"/>
                  </a:lnTo>
                  <a:close/>
                  <a:moveTo>
                    <a:pt x="1549400" y="0"/>
                  </a:moveTo>
                  <a:lnTo>
                    <a:pt x="1600200" y="0"/>
                  </a:lnTo>
                  <a:lnTo>
                    <a:pt x="1600200" y="16891"/>
                  </a:lnTo>
                  <a:lnTo>
                    <a:pt x="1549400" y="16891"/>
                  </a:lnTo>
                  <a:close/>
                  <a:moveTo>
                    <a:pt x="1667891" y="16891"/>
                  </a:moveTo>
                  <a:lnTo>
                    <a:pt x="1718691" y="16891"/>
                  </a:lnTo>
                  <a:lnTo>
                    <a:pt x="1667891" y="16891"/>
                  </a:lnTo>
                  <a:close/>
                  <a:moveTo>
                    <a:pt x="1786382" y="16891"/>
                  </a:moveTo>
                  <a:lnTo>
                    <a:pt x="1837182" y="16891"/>
                  </a:lnTo>
                  <a:lnTo>
                    <a:pt x="1786382" y="16891"/>
                  </a:lnTo>
                  <a:close/>
                  <a:moveTo>
                    <a:pt x="1905000" y="0"/>
                  </a:moveTo>
                  <a:lnTo>
                    <a:pt x="1955800" y="0"/>
                  </a:lnTo>
                  <a:lnTo>
                    <a:pt x="1955800" y="16891"/>
                  </a:lnTo>
                  <a:lnTo>
                    <a:pt x="1905000" y="16891"/>
                  </a:lnTo>
                  <a:close/>
                  <a:moveTo>
                    <a:pt x="2023491" y="16891"/>
                  </a:moveTo>
                  <a:lnTo>
                    <a:pt x="2074291" y="16891"/>
                  </a:lnTo>
                  <a:lnTo>
                    <a:pt x="2023491" y="16891"/>
                  </a:lnTo>
                  <a:close/>
                  <a:moveTo>
                    <a:pt x="2141982" y="16891"/>
                  </a:moveTo>
                  <a:lnTo>
                    <a:pt x="2192782" y="16891"/>
                  </a:lnTo>
                  <a:lnTo>
                    <a:pt x="2141982" y="16891"/>
                  </a:lnTo>
                  <a:close/>
                  <a:moveTo>
                    <a:pt x="2260600" y="0"/>
                  </a:moveTo>
                  <a:lnTo>
                    <a:pt x="2311400" y="0"/>
                  </a:lnTo>
                  <a:lnTo>
                    <a:pt x="2311400" y="16891"/>
                  </a:lnTo>
                  <a:lnTo>
                    <a:pt x="2260600" y="16891"/>
                  </a:lnTo>
                  <a:close/>
                  <a:moveTo>
                    <a:pt x="2379091" y="16891"/>
                  </a:moveTo>
                  <a:lnTo>
                    <a:pt x="2429891" y="16891"/>
                  </a:lnTo>
                  <a:lnTo>
                    <a:pt x="2379091" y="16891"/>
                  </a:lnTo>
                  <a:close/>
                  <a:moveTo>
                    <a:pt x="2497582" y="16891"/>
                  </a:moveTo>
                  <a:lnTo>
                    <a:pt x="2548382" y="16891"/>
                  </a:lnTo>
                  <a:lnTo>
                    <a:pt x="2497582" y="16891"/>
                  </a:lnTo>
                  <a:close/>
                  <a:moveTo>
                    <a:pt x="2616200" y="0"/>
                  </a:moveTo>
                  <a:lnTo>
                    <a:pt x="2667000" y="0"/>
                  </a:lnTo>
                  <a:lnTo>
                    <a:pt x="2667000" y="16891"/>
                  </a:lnTo>
                  <a:lnTo>
                    <a:pt x="2616200" y="16891"/>
                  </a:lnTo>
                  <a:close/>
                  <a:moveTo>
                    <a:pt x="2734691" y="16891"/>
                  </a:moveTo>
                  <a:lnTo>
                    <a:pt x="2785491" y="16891"/>
                  </a:lnTo>
                  <a:lnTo>
                    <a:pt x="2734691" y="16891"/>
                  </a:lnTo>
                  <a:close/>
                  <a:moveTo>
                    <a:pt x="2853182" y="16891"/>
                  </a:moveTo>
                  <a:lnTo>
                    <a:pt x="2903982" y="16891"/>
                  </a:lnTo>
                  <a:lnTo>
                    <a:pt x="2853182" y="16891"/>
                  </a:lnTo>
                  <a:close/>
                  <a:moveTo>
                    <a:pt x="2971800" y="0"/>
                  </a:moveTo>
                  <a:lnTo>
                    <a:pt x="3022600" y="0"/>
                  </a:lnTo>
                  <a:lnTo>
                    <a:pt x="3022600" y="16891"/>
                  </a:lnTo>
                  <a:lnTo>
                    <a:pt x="2971800" y="16891"/>
                  </a:lnTo>
                  <a:close/>
                  <a:moveTo>
                    <a:pt x="3090291" y="16891"/>
                  </a:moveTo>
                  <a:lnTo>
                    <a:pt x="3141091" y="16891"/>
                  </a:lnTo>
                  <a:lnTo>
                    <a:pt x="3090291" y="16891"/>
                  </a:lnTo>
                  <a:close/>
                  <a:moveTo>
                    <a:pt x="3208782" y="16891"/>
                  </a:moveTo>
                  <a:lnTo>
                    <a:pt x="3259582" y="16891"/>
                  </a:lnTo>
                  <a:lnTo>
                    <a:pt x="3208782" y="16891"/>
                  </a:lnTo>
                  <a:close/>
                  <a:moveTo>
                    <a:pt x="3327400" y="0"/>
                  </a:moveTo>
                  <a:lnTo>
                    <a:pt x="3378200" y="0"/>
                  </a:lnTo>
                  <a:lnTo>
                    <a:pt x="3378200" y="16891"/>
                  </a:lnTo>
                  <a:lnTo>
                    <a:pt x="3327400" y="16891"/>
                  </a:lnTo>
                  <a:close/>
                  <a:moveTo>
                    <a:pt x="3445891" y="16891"/>
                  </a:moveTo>
                  <a:lnTo>
                    <a:pt x="3496691" y="16891"/>
                  </a:lnTo>
                  <a:lnTo>
                    <a:pt x="3445891" y="16891"/>
                  </a:lnTo>
                  <a:close/>
                  <a:moveTo>
                    <a:pt x="3564382" y="16891"/>
                  </a:moveTo>
                  <a:lnTo>
                    <a:pt x="3615182" y="16891"/>
                  </a:lnTo>
                  <a:lnTo>
                    <a:pt x="3564382" y="16891"/>
                  </a:lnTo>
                  <a:close/>
                  <a:moveTo>
                    <a:pt x="3683000" y="0"/>
                  </a:moveTo>
                  <a:lnTo>
                    <a:pt x="3733800" y="0"/>
                  </a:lnTo>
                  <a:lnTo>
                    <a:pt x="3733800" y="16891"/>
                  </a:lnTo>
                  <a:lnTo>
                    <a:pt x="3683000" y="16891"/>
                  </a:lnTo>
                  <a:close/>
                  <a:moveTo>
                    <a:pt x="3801491" y="16891"/>
                  </a:moveTo>
                  <a:lnTo>
                    <a:pt x="3852291" y="16891"/>
                  </a:lnTo>
                  <a:lnTo>
                    <a:pt x="3801491" y="16891"/>
                  </a:lnTo>
                  <a:close/>
                  <a:moveTo>
                    <a:pt x="3919982" y="16891"/>
                  </a:moveTo>
                  <a:lnTo>
                    <a:pt x="3970782" y="16891"/>
                  </a:lnTo>
                  <a:lnTo>
                    <a:pt x="3919982" y="16891"/>
                  </a:lnTo>
                  <a:close/>
                  <a:moveTo>
                    <a:pt x="4038600" y="0"/>
                  </a:moveTo>
                  <a:lnTo>
                    <a:pt x="4089400" y="0"/>
                  </a:lnTo>
                  <a:lnTo>
                    <a:pt x="4089400" y="16891"/>
                  </a:lnTo>
                  <a:lnTo>
                    <a:pt x="4038600" y="16891"/>
                  </a:lnTo>
                  <a:close/>
                  <a:moveTo>
                    <a:pt x="4157091" y="16891"/>
                  </a:moveTo>
                  <a:lnTo>
                    <a:pt x="4207891" y="16891"/>
                  </a:lnTo>
                  <a:lnTo>
                    <a:pt x="4157091" y="16891"/>
                  </a:lnTo>
                  <a:close/>
                  <a:moveTo>
                    <a:pt x="4275582" y="16891"/>
                  </a:moveTo>
                  <a:lnTo>
                    <a:pt x="4326382" y="16891"/>
                  </a:lnTo>
                  <a:lnTo>
                    <a:pt x="4275582" y="16891"/>
                  </a:lnTo>
                  <a:close/>
                  <a:moveTo>
                    <a:pt x="4394200" y="0"/>
                  </a:moveTo>
                  <a:lnTo>
                    <a:pt x="4445000" y="0"/>
                  </a:lnTo>
                  <a:lnTo>
                    <a:pt x="4445000" y="16891"/>
                  </a:lnTo>
                  <a:lnTo>
                    <a:pt x="4394200" y="16891"/>
                  </a:lnTo>
                  <a:close/>
                  <a:moveTo>
                    <a:pt x="4512691" y="16891"/>
                  </a:moveTo>
                  <a:lnTo>
                    <a:pt x="4563491" y="16891"/>
                  </a:lnTo>
                  <a:lnTo>
                    <a:pt x="4512691" y="16891"/>
                  </a:lnTo>
                  <a:close/>
                  <a:moveTo>
                    <a:pt x="4631182" y="16891"/>
                  </a:moveTo>
                  <a:lnTo>
                    <a:pt x="4681982" y="16891"/>
                  </a:lnTo>
                  <a:lnTo>
                    <a:pt x="4631182" y="16891"/>
                  </a:lnTo>
                  <a:close/>
                  <a:moveTo>
                    <a:pt x="4749800" y="0"/>
                  </a:moveTo>
                  <a:lnTo>
                    <a:pt x="4800600" y="0"/>
                  </a:lnTo>
                  <a:lnTo>
                    <a:pt x="4800600" y="16891"/>
                  </a:lnTo>
                  <a:lnTo>
                    <a:pt x="4749800" y="16891"/>
                  </a:lnTo>
                  <a:close/>
                  <a:moveTo>
                    <a:pt x="4868291" y="16891"/>
                  </a:moveTo>
                  <a:lnTo>
                    <a:pt x="4919091" y="16891"/>
                  </a:lnTo>
                  <a:lnTo>
                    <a:pt x="4868291" y="16891"/>
                  </a:lnTo>
                  <a:close/>
                  <a:moveTo>
                    <a:pt x="4986782" y="16891"/>
                  </a:moveTo>
                  <a:lnTo>
                    <a:pt x="5037582" y="16891"/>
                  </a:lnTo>
                  <a:lnTo>
                    <a:pt x="4986782" y="16891"/>
                  </a:lnTo>
                  <a:close/>
                  <a:moveTo>
                    <a:pt x="5105400" y="0"/>
                  </a:moveTo>
                  <a:lnTo>
                    <a:pt x="5156200" y="0"/>
                  </a:lnTo>
                  <a:lnTo>
                    <a:pt x="5156200" y="16891"/>
                  </a:lnTo>
                  <a:lnTo>
                    <a:pt x="5105400" y="16891"/>
                  </a:lnTo>
                  <a:close/>
                  <a:moveTo>
                    <a:pt x="5223891" y="16891"/>
                  </a:moveTo>
                  <a:lnTo>
                    <a:pt x="5274691" y="16891"/>
                  </a:lnTo>
                  <a:lnTo>
                    <a:pt x="5223891" y="16891"/>
                  </a:lnTo>
                  <a:close/>
                  <a:moveTo>
                    <a:pt x="5342382" y="16891"/>
                  </a:moveTo>
                  <a:lnTo>
                    <a:pt x="5393182" y="16891"/>
                  </a:lnTo>
                  <a:lnTo>
                    <a:pt x="5342382" y="16891"/>
                  </a:lnTo>
                  <a:close/>
                  <a:moveTo>
                    <a:pt x="5461000" y="0"/>
                  </a:moveTo>
                  <a:lnTo>
                    <a:pt x="5511800" y="0"/>
                  </a:lnTo>
                  <a:lnTo>
                    <a:pt x="5511800" y="16891"/>
                  </a:lnTo>
                  <a:lnTo>
                    <a:pt x="5461000" y="16891"/>
                  </a:lnTo>
                  <a:close/>
                  <a:moveTo>
                    <a:pt x="5579491" y="16891"/>
                  </a:moveTo>
                  <a:lnTo>
                    <a:pt x="5630291" y="16891"/>
                  </a:lnTo>
                  <a:lnTo>
                    <a:pt x="5579491" y="16891"/>
                  </a:lnTo>
                  <a:close/>
                  <a:moveTo>
                    <a:pt x="5697982" y="16891"/>
                  </a:moveTo>
                  <a:lnTo>
                    <a:pt x="5748782" y="16891"/>
                  </a:lnTo>
                  <a:lnTo>
                    <a:pt x="5697982" y="16891"/>
                  </a:lnTo>
                  <a:close/>
                  <a:moveTo>
                    <a:pt x="5816600" y="0"/>
                  </a:moveTo>
                  <a:lnTo>
                    <a:pt x="5867400" y="0"/>
                  </a:lnTo>
                  <a:lnTo>
                    <a:pt x="5867400" y="16891"/>
                  </a:lnTo>
                  <a:lnTo>
                    <a:pt x="5816600" y="16891"/>
                  </a:lnTo>
                  <a:close/>
                  <a:moveTo>
                    <a:pt x="5935091" y="16891"/>
                  </a:moveTo>
                  <a:lnTo>
                    <a:pt x="5985891" y="16891"/>
                  </a:lnTo>
                  <a:lnTo>
                    <a:pt x="5935091" y="16891"/>
                  </a:lnTo>
                  <a:close/>
                  <a:moveTo>
                    <a:pt x="6053582" y="16891"/>
                  </a:moveTo>
                  <a:lnTo>
                    <a:pt x="6104382" y="16891"/>
                  </a:lnTo>
                  <a:lnTo>
                    <a:pt x="6053582" y="16891"/>
                  </a:lnTo>
                  <a:close/>
                  <a:moveTo>
                    <a:pt x="6172200" y="0"/>
                  </a:moveTo>
                  <a:lnTo>
                    <a:pt x="6223000" y="0"/>
                  </a:lnTo>
                  <a:lnTo>
                    <a:pt x="6223000" y="16891"/>
                  </a:lnTo>
                  <a:lnTo>
                    <a:pt x="6172200" y="16891"/>
                  </a:lnTo>
                  <a:close/>
                  <a:moveTo>
                    <a:pt x="6290691" y="16891"/>
                  </a:moveTo>
                  <a:lnTo>
                    <a:pt x="6341491" y="16891"/>
                  </a:lnTo>
                  <a:lnTo>
                    <a:pt x="6290691" y="16891"/>
                  </a:lnTo>
                  <a:close/>
                  <a:moveTo>
                    <a:pt x="6409182" y="16891"/>
                  </a:moveTo>
                  <a:lnTo>
                    <a:pt x="6459982" y="16891"/>
                  </a:lnTo>
                  <a:lnTo>
                    <a:pt x="6409182" y="16891"/>
                  </a:lnTo>
                  <a:close/>
                  <a:moveTo>
                    <a:pt x="6527800" y="0"/>
                  </a:moveTo>
                  <a:lnTo>
                    <a:pt x="6578600" y="0"/>
                  </a:lnTo>
                  <a:lnTo>
                    <a:pt x="6578600" y="16891"/>
                  </a:lnTo>
                  <a:lnTo>
                    <a:pt x="6527800" y="16891"/>
                  </a:lnTo>
                  <a:close/>
                  <a:moveTo>
                    <a:pt x="6646291" y="16891"/>
                  </a:moveTo>
                  <a:lnTo>
                    <a:pt x="6697091" y="16891"/>
                  </a:lnTo>
                  <a:lnTo>
                    <a:pt x="6646291" y="16891"/>
                  </a:lnTo>
                  <a:close/>
                  <a:moveTo>
                    <a:pt x="6764782" y="16891"/>
                  </a:moveTo>
                  <a:lnTo>
                    <a:pt x="6815582" y="16891"/>
                  </a:lnTo>
                  <a:lnTo>
                    <a:pt x="6764782" y="16891"/>
                  </a:lnTo>
                  <a:close/>
                  <a:moveTo>
                    <a:pt x="6844411" y="72771"/>
                  </a:moveTo>
                  <a:lnTo>
                    <a:pt x="6844411" y="123571"/>
                  </a:lnTo>
                  <a:lnTo>
                    <a:pt x="6827520" y="123571"/>
                  </a:lnTo>
                  <a:lnTo>
                    <a:pt x="6827520" y="72771"/>
                  </a:lnTo>
                  <a:close/>
                  <a:moveTo>
                    <a:pt x="6827520" y="191262"/>
                  </a:moveTo>
                  <a:lnTo>
                    <a:pt x="6827520" y="242062"/>
                  </a:lnTo>
                  <a:lnTo>
                    <a:pt x="6827520" y="191262"/>
                  </a:lnTo>
                  <a:close/>
                  <a:moveTo>
                    <a:pt x="6827520" y="309753"/>
                  </a:moveTo>
                  <a:lnTo>
                    <a:pt x="6827520" y="360553"/>
                  </a:lnTo>
                  <a:lnTo>
                    <a:pt x="6827520" y="309753"/>
                  </a:lnTo>
                  <a:close/>
                  <a:moveTo>
                    <a:pt x="6827520" y="428244"/>
                  </a:moveTo>
                  <a:lnTo>
                    <a:pt x="6827520" y="479044"/>
                  </a:lnTo>
                  <a:lnTo>
                    <a:pt x="6827520" y="428244"/>
                  </a:lnTo>
                  <a:close/>
                  <a:moveTo>
                    <a:pt x="6827520" y="546735"/>
                  </a:moveTo>
                  <a:lnTo>
                    <a:pt x="6827520" y="597535"/>
                  </a:lnTo>
                  <a:lnTo>
                    <a:pt x="6827520" y="546735"/>
                  </a:lnTo>
                  <a:close/>
                  <a:moveTo>
                    <a:pt x="6827520" y="665226"/>
                  </a:moveTo>
                  <a:lnTo>
                    <a:pt x="6827520" y="716026"/>
                  </a:lnTo>
                  <a:lnTo>
                    <a:pt x="6827520" y="665226"/>
                  </a:lnTo>
                  <a:close/>
                  <a:moveTo>
                    <a:pt x="6791960" y="765175"/>
                  </a:moveTo>
                  <a:lnTo>
                    <a:pt x="6741160" y="765175"/>
                  </a:lnTo>
                  <a:lnTo>
                    <a:pt x="6741160" y="731520"/>
                  </a:lnTo>
                  <a:lnTo>
                    <a:pt x="6791960" y="731520"/>
                  </a:lnTo>
                  <a:close/>
                  <a:moveTo>
                    <a:pt x="6673469" y="731520"/>
                  </a:moveTo>
                  <a:lnTo>
                    <a:pt x="6622669" y="731520"/>
                  </a:lnTo>
                  <a:lnTo>
                    <a:pt x="6673469" y="731520"/>
                  </a:lnTo>
                  <a:close/>
                  <a:moveTo>
                    <a:pt x="6554977" y="731520"/>
                  </a:moveTo>
                  <a:lnTo>
                    <a:pt x="6504177" y="731520"/>
                  </a:lnTo>
                  <a:lnTo>
                    <a:pt x="6554977" y="731520"/>
                  </a:lnTo>
                  <a:close/>
                  <a:moveTo>
                    <a:pt x="6436487" y="731520"/>
                  </a:moveTo>
                  <a:lnTo>
                    <a:pt x="6385687" y="731520"/>
                  </a:lnTo>
                  <a:lnTo>
                    <a:pt x="6436487" y="731520"/>
                  </a:lnTo>
                  <a:close/>
                  <a:moveTo>
                    <a:pt x="6317996" y="731520"/>
                  </a:moveTo>
                  <a:lnTo>
                    <a:pt x="6267196" y="731520"/>
                  </a:lnTo>
                  <a:lnTo>
                    <a:pt x="6317996" y="731520"/>
                  </a:lnTo>
                  <a:close/>
                  <a:moveTo>
                    <a:pt x="6199505" y="731520"/>
                  </a:moveTo>
                  <a:lnTo>
                    <a:pt x="6148705" y="731520"/>
                  </a:lnTo>
                  <a:lnTo>
                    <a:pt x="6199505" y="731520"/>
                  </a:lnTo>
                  <a:close/>
                  <a:moveTo>
                    <a:pt x="6081014" y="731520"/>
                  </a:moveTo>
                  <a:lnTo>
                    <a:pt x="6030214" y="731520"/>
                  </a:lnTo>
                  <a:lnTo>
                    <a:pt x="6081014" y="731520"/>
                  </a:lnTo>
                  <a:close/>
                  <a:moveTo>
                    <a:pt x="5962523" y="731520"/>
                  </a:moveTo>
                  <a:lnTo>
                    <a:pt x="5911723" y="731520"/>
                  </a:lnTo>
                  <a:lnTo>
                    <a:pt x="5962523" y="731520"/>
                  </a:lnTo>
                  <a:close/>
                  <a:moveTo>
                    <a:pt x="5844032" y="731520"/>
                  </a:moveTo>
                  <a:lnTo>
                    <a:pt x="5793232" y="731520"/>
                  </a:lnTo>
                  <a:lnTo>
                    <a:pt x="5844032" y="731520"/>
                  </a:lnTo>
                  <a:close/>
                  <a:moveTo>
                    <a:pt x="5725541" y="731520"/>
                  </a:moveTo>
                  <a:lnTo>
                    <a:pt x="5674741" y="731520"/>
                  </a:lnTo>
                  <a:lnTo>
                    <a:pt x="5725541" y="731520"/>
                  </a:lnTo>
                  <a:close/>
                  <a:moveTo>
                    <a:pt x="5607050" y="731520"/>
                  </a:moveTo>
                  <a:lnTo>
                    <a:pt x="5556250" y="731520"/>
                  </a:lnTo>
                  <a:lnTo>
                    <a:pt x="5607050" y="731520"/>
                  </a:lnTo>
                  <a:close/>
                  <a:moveTo>
                    <a:pt x="5488559" y="731520"/>
                  </a:moveTo>
                  <a:lnTo>
                    <a:pt x="5437759" y="731520"/>
                  </a:lnTo>
                  <a:lnTo>
                    <a:pt x="5488559" y="731520"/>
                  </a:lnTo>
                  <a:close/>
                  <a:moveTo>
                    <a:pt x="5370068" y="731520"/>
                  </a:moveTo>
                  <a:lnTo>
                    <a:pt x="5319268" y="731520"/>
                  </a:lnTo>
                  <a:lnTo>
                    <a:pt x="5370068" y="731520"/>
                  </a:lnTo>
                  <a:close/>
                  <a:moveTo>
                    <a:pt x="5251577" y="731520"/>
                  </a:moveTo>
                  <a:lnTo>
                    <a:pt x="5200777" y="731520"/>
                  </a:lnTo>
                  <a:lnTo>
                    <a:pt x="5251577" y="731520"/>
                  </a:lnTo>
                  <a:close/>
                  <a:moveTo>
                    <a:pt x="5133086" y="731520"/>
                  </a:moveTo>
                  <a:lnTo>
                    <a:pt x="5082286" y="731520"/>
                  </a:lnTo>
                  <a:lnTo>
                    <a:pt x="5133086" y="731520"/>
                  </a:lnTo>
                  <a:close/>
                  <a:moveTo>
                    <a:pt x="5014595" y="731520"/>
                  </a:moveTo>
                  <a:lnTo>
                    <a:pt x="4963795" y="731520"/>
                  </a:lnTo>
                  <a:lnTo>
                    <a:pt x="5014595" y="731520"/>
                  </a:lnTo>
                  <a:close/>
                  <a:moveTo>
                    <a:pt x="4896104" y="731520"/>
                  </a:moveTo>
                  <a:lnTo>
                    <a:pt x="4845304" y="731520"/>
                  </a:lnTo>
                  <a:lnTo>
                    <a:pt x="4896104" y="731520"/>
                  </a:lnTo>
                  <a:close/>
                  <a:moveTo>
                    <a:pt x="4777613" y="731520"/>
                  </a:moveTo>
                  <a:lnTo>
                    <a:pt x="4726813" y="731520"/>
                  </a:lnTo>
                  <a:lnTo>
                    <a:pt x="4777613" y="731520"/>
                  </a:lnTo>
                  <a:close/>
                  <a:moveTo>
                    <a:pt x="4659122" y="731520"/>
                  </a:moveTo>
                  <a:lnTo>
                    <a:pt x="4608322" y="731520"/>
                  </a:lnTo>
                  <a:lnTo>
                    <a:pt x="4659122" y="731520"/>
                  </a:lnTo>
                  <a:close/>
                  <a:moveTo>
                    <a:pt x="4540631" y="731520"/>
                  </a:moveTo>
                  <a:lnTo>
                    <a:pt x="4489831" y="731520"/>
                  </a:lnTo>
                  <a:lnTo>
                    <a:pt x="4540631" y="731520"/>
                  </a:lnTo>
                  <a:close/>
                  <a:moveTo>
                    <a:pt x="4422140" y="731520"/>
                  </a:moveTo>
                  <a:lnTo>
                    <a:pt x="4371340" y="731520"/>
                  </a:lnTo>
                  <a:lnTo>
                    <a:pt x="4422140" y="731520"/>
                  </a:lnTo>
                  <a:close/>
                  <a:moveTo>
                    <a:pt x="4303649" y="731520"/>
                  </a:moveTo>
                  <a:lnTo>
                    <a:pt x="4252849" y="731520"/>
                  </a:lnTo>
                  <a:lnTo>
                    <a:pt x="4303649" y="731520"/>
                  </a:lnTo>
                  <a:close/>
                  <a:moveTo>
                    <a:pt x="4185158" y="731520"/>
                  </a:moveTo>
                  <a:lnTo>
                    <a:pt x="4134358" y="731520"/>
                  </a:lnTo>
                  <a:lnTo>
                    <a:pt x="4185158" y="731520"/>
                  </a:lnTo>
                  <a:close/>
                  <a:moveTo>
                    <a:pt x="4066667" y="731520"/>
                  </a:moveTo>
                  <a:lnTo>
                    <a:pt x="4015867" y="731520"/>
                  </a:lnTo>
                  <a:lnTo>
                    <a:pt x="4066667" y="731520"/>
                  </a:lnTo>
                  <a:close/>
                  <a:moveTo>
                    <a:pt x="3948176" y="731520"/>
                  </a:moveTo>
                  <a:lnTo>
                    <a:pt x="3897376" y="731520"/>
                  </a:lnTo>
                  <a:lnTo>
                    <a:pt x="3948176" y="731520"/>
                  </a:lnTo>
                  <a:close/>
                  <a:moveTo>
                    <a:pt x="3829685" y="731520"/>
                  </a:moveTo>
                  <a:lnTo>
                    <a:pt x="3778885" y="731520"/>
                  </a:lnTo>
                  <a:lnTo>
                    <a:pt x="3829685" y="731520"/>
                  </a:lnTo>
                  <a:close/>
                  <a:moveTo>
                    <a:pt x="3711194" y="731520"/>
                  </a:moveTo>
                  <a:lnTo>
                    <a:pt x="3660394" y="731520"/>
                  </a:lnTo>
                  <a:lnTo>
                    <a:pt x="3711194" y="731520"/>
                  </a:lnTo>
                  <a:close/>
                  <a:moveTo>
                    <a:pt x="3592703" y="731520"/>
                  </a:moveTo>
                  <a:lnTo>
                    <a:pt x="3541903" y="731520"/>
                  </a:lnTo>
                  <a:lnTo>
                    <a:pt x="3592703" y="731520"/>
                  </a:lnTo>
                  <a:close/>
                  <a:moveTo>
                    <a:pt x="3474212" y="731520"/>
                  </a:moveTo>
                  <a:lnTo>
                    <a:pt x="3423412" y="731520"/>
                  </a:lnTo>
                  <a:lnTo>
                    <a:pt x="3474212" y="731520"/>
                  </a:lnTo>
                  <a:close/>
                  <a:moveTo>
                    <a:pt x="3355721" y="731520"/>
                  </a:moveTo>
                  <a:lnTo>
                    <a:pt x="3304921" y="731520"/>
                  </a:lnTo>
                  <a:lnTo>
                    <a:pt x="3355721" y="731520"/>
                  </a:lnTo>
                  <a:close/>
                  <a:moveTo>
                    <a:pt x="3237230" y="731520"/>
                  </a:moveTo>
                  <a:lnTo>
                    <a:pt x="3186430" y="731520"/>
                  </a:lnTo>
                  <a:lnTo>
                    <a:pt x="3237230" y="731520"/>
                  </a:lnTo>
                  <a:close/>
                  <a:moveTo>
                    <a:pt x="3118739" y="731520"/>
                  </a:moveTo>
                  <a:lnTo>
                    <a:pt x="3067939" y="731520"/>
                  </a:lnTo>
                  <a:lnTo>
                    <a:pt x="3118739" y="731520"/>
                  </a:lnTo>
                  <a:close/>
                  <a:moveTo>
                    <a:pt x="3000248" y="731520"/>
                  </a:moveTo>
                  <a:lnTo>
                    <a:pt x="2949448" y="731520"/>
                  </a:lnTo>
                  <a:lnTo>
                    <a:pt x="3000248" y="731520"/>
                  </a:lnTo>
                  <a:close/>
                  <a:moveTo>
                    <a:pt x="2881757" y="731520"/>
                  </a:moveTo>
                  <a:lnTo>
                    <a:pt x="2830957" y="731520"/>
                  </a:lnTo>
                  <a:lnTo>
                    <a:pt x="2881757" y="731520"/>
                  </a:lnTo>
                  <a:close/>
                  <a:moveTo>
                    <a:pt x="2763266" y="731520"/>
                  </a:moveTo>
                  <a:lnTo>
                    <a:pt x="2712466" y="731520"/>
                  </a:lnTo>
                  <a:lnTo>
                    <a:pt x="2763266" y="731520"/>
                  </a:lnTo>
                  <a:close/>
                  <a:moveTo>
                    <a:pt x="2644775" y="731520"/>
                  </a:moveTo>
                  <a:lnTo>
                    <a:pt x="2593975" y="731520"/>
                  </a:lnTo>
                  <a:lnTo>
                    <a:pt x="2644775" y="731520"/>
                  </a:lnTo>
                  <a:close/>
                  <a:moveTo>
                    <a:pt x="2526284" y="731520"/>
                  </a:moveTo>
                  <a:lnTo>
                    <a:pt x="2475484" y="731520"/>
                  </a:lnTo>
                  <a:lnTo>
                    <a:pt x="2526284" y="731520"/>
                  </a:lnTo>
                  <a:close/>
                  <a:moveTo>
                    <a:pt x="2407793" y="731520"/>
                  </a:moveTo>
                  <a:lnTo>
                    <a:pt x="2356993" y="731520"/>
                  </a:lnTo>
                  <a:lnTo>
                    <a:pt x="2407793" y="731520"/>
                  </a:lnTo>
                  <a:close/>
                  <a:moveTo>
                    <a:pt x="2289302" y="731520"/>
                  </a:moveTo>
                  <a:lnTo>
                    <a:pt x="2238502" y="731520"/>
                  </a:lnTo>
                  <a:lnTo>
                    <a:pt x="2289302" y="731520"/>
                  </a:lnTo>
                  <a:close/>
                  <a:moveTo>
                    <a:pt x="2170811" y="731520"/>
                  </a:moveTo>
                  <a:lnTo>
                    <a:pt x="2120011" y="731520"/>
                  </a:lnTo>
                  <a:lnTo>
                    <a:pt x="2170811" y="731520"/>
                  </a:lnTo>
                  <a:close/>
                  <a:moveTo>
                    <a:pt x="2052320" y="731520"/>
                  </a:moveTo>
                  <a:lnTo>
                    <a:pt x="2001520" y="731520"/>
                  </a:lnTo>
                  <a:lnTo>
                    <a:pt x="2052320" y="731520"/>
                  </a:lnTo>
                  <a:close/>
                  <a:moveTo>
                    <a:pt x="1933829" y="731520"/>
                  </a:moveTo>
                  <a:lnTo>
                    <a:pt x="1883029" y="731520"/>
                  </a:lnTo>
                  <a:lnTo>
                    <a:pt x="1933829" y="731520"/>
                  </a:lnTo>
                  <a:close/>
                  <a:moveTo>
                    <a:pt x="1815338" y="731520"/>
                  </a:moveTo>
                  <a:lnTo>
                    <a:pt x="1764538" y="731520"/>
                  </a:lnTo>
                  <a:lnTo>
                    <a:pt x="1815338" y="731520"/>
                  </a:lnTo>
                  <a:close/>
                  <a:moveTo>
                    <a:pt x="1696847" y="731520"/>
                  </a:moveTo>
                  <a:lnTo>
                    <a:pt x="1646047" y="731520"/>
                  </a:lnTo>
                  <a:lnTo>
                    <a:pt x="1696847" y="731520"/>
                  </a:lnTo>
                  <a:close/>
                  <a:moveTo>
                    <a:pt x="1578356" y="731520"/>
                  </a:moveTo>
                  <a:lnTo>
                    <a:pt x="1527556" y="731520"/>
                  </a:lnTo>
                  <a:lnTo>
                    <a:pt x="1578356" y="731520"/>
                  </a:lnTo>
                  <a:close/>
                  <a:moveTo>
                    <a:pt x="1459865" y="731520"/>
                  </a:moveTo>
                  <a:lnTo>
                    <a:pt x="1409065" y="731520"/>
                  </a:lnTo>
                  <a:lnTo>
                    <a:pt x="1459865" y="731520"/>
                  </a:lnTo>
                  <a:close/>
                  <a:moveTo>
                    <a:pt x="1341374" y="731520"/>
                  </a:moveTo>
                  <a:lnTo>
                    <a:pt x="1290574" y="731520"/>
                  </a:lnTo>
                  <a:lnTo>
                    <a:pt x="1341374" y="731520"/>
                  </a:lnTo>
                  <a:close/>
                  <a:moveTo>
                    <a:pt x="1222883" y="731520"/>
                  </a:moveTo>
                  <a:lnTo>
                    <a:pt x="1172083" y="731520"/>
                  </a:lnTo>
                  <a:lnTo>
                    <a:pt x="1222883" y="731520"/>
                  </a:lnTo>
                  <a:close/>
                  <a:moveTo>
                    <a:pt x="1104392" y="731520"/>
                  </a:moveTo>
                  <a:lnTo>
                    <a:pt x="1053592" y="731520"/>
                  </a:lnTo>
                  <a:lnTo>
                    <a:pt x="1104392" y="731520"/>
                  </a:lnTo>
                  <a:close/>
                  <a:moveTo>
                    <a:pt x="985901" y="731520"/>
                  </a:moveTo>
                  <a:lnTo>
                    <a:pt x="935101" y="731520"/>
                  </a:lnTo>
                  <a:lnTo>
                    <a:pt x="985901" y="731520"/>
                  </a:lnTo>
                  <a:close/>
                  <a:moveTo>
                    <a:pt x="867410" y="731520"/>
                  </a:moveTo>
                  <a:lnTo>
                    <a:pt x="816610" y="731520"/>
                  </a:lnTo>
                  <a:lnTo>
                    <a:pt x="867410" y="731520"/>
                  </a:lnTo>
                  <a:close/>
                  <a:moveTo>
                    <a:pt x="748919" y="731520"/>
                  </a:moveTo>
                  <a:lnTo>
                    <a:pt x="698119" y="731520"/>
                  </a:lnTo>
                  <a:lnTo>
                    <a:pt x="748919" y="731520"/>
                  </a:lnTo>
                  <a:close/>
                  <a:moveTo>
                    <a:pt x="630428" y="731520"/>
                  </a:moveTo>
                  <a:lnTo>
                    <a:pt x="579628" y="731520"/>
                  </a:lnTo>
                  <a:lnTo>
                    <a:pt x="630428" y="731520"/>
                  </a:lnTo>
                  <a:close/>
                  <a:moveTo>
                    <a:pt x="511937" y="731520"/>
                  </a:moveTo>
                  <a:lnTo>
                    <a:pt x="461137" y="731520"/>
                  </a:lnTo>
                  <a:lnTo>
                    <a:pt x="511937" y="731520"/>
                  </a:lnTo>
                  <a:close/>
                  <a:moveTo>
                    <a:pt x="393446" y="731520"/>
                  </a:moveTo>
                  <a:lnTo>
                    <a:pt x="342646" y="731520"/>
                  </a:lnTo>
                  <a:lnTo>
                    <a:pt x="393446" y="731520"/>
                  </a:lnTo>
                  <a:close/>
                  <a:moveTo>
                    <a:pt x="274955" y="731520"/>
                  </a:moveTo>
                  <a:lnTo>
                    <a:pt x="224155" y="731520"/>
                  </a:lnTo>
                  <a:lnTo>
                    <a:pt x="274955" y="731520"/>
                  </a:lnTo>
                  <a:close/>
                  <a:moveTo>
                    <a:pt x="156464" y="731520"/>
                  </a:moveTo>
                  <a:lnTo>
                    <a:pt x="105664" y="731520"/>
                  </a:lnTo>
                  <a:lnTo>
                    <a:pt x="156464" y="731520"/>
                  </a:lnTo>
                  <a:close/>
                  <a:moveTo>
                    <a:pt x="37973" y="731520"/>
                  </a:moveTo>
                  <a:lnTo>
                    <a:pt x="8509" y="731520"/>
                  </a:lnTo>
                  <a:cubicBezTo>
                    <a:pt x="3810" y="731520"/>
                    <a:pt x="0" y="727710"/>
                    <a:pt x="0" y="723011"/>
                  </a:cubicBezTo>
                  <a:lnTo>
                    <a:pt x="0" y="716280"/>
                  </a:lnTo>
                  <a:lnTo>
                    <a:pt x="16891" y="716280"/>
                  </a:lnTo>
                  <a:lnTo>
                    <a:pt x="16891" y="723011"/>
                  </a:lnTo>
                  <a:lnTo>
                    <a:pt x="8509" y="723011"/>
                  </a:lnTo>
                  <a:lnTo>
                    <a:pt x="8509" y="731520"/>
                  </a:lnTo>
                  <a:lnTo>
                    <a:pt x="52451" y="731520"/>
                  </a:lnTo>
                  <a:close/>
                  <a:moveTo>
                    <a:pt x="0" y="665480"/>
                  </a:moveTo>
                  <a:lnTo>
                    <a:pt x="0" y="614680"/>
                  </a:lnTo>
                  <a:lnTo>
                    <a:pt x="16891" y="614680"/>
                  </a:lnTo>
                  <a:lnTo>
                    <a:pt x="16891" y="665480"/>
                  </a:lnTo>
                  <a:close/>
                  <a:moveTo>
                    <a:pt x="16891" y="546989"/>
                  </a:moveTo>
                  <a:lnTo>
                    <a:pt x="16891" y="496189"/>
                  </a:lnTo>
                  <a:lnTo>
                    <a:pt x="16891" y="546989"/>
                  </a:lnTo>
                  <a:close/>
                  <a:moveTo>
                    <a:pt x="16891" y="428498"/>
                  </a:moveTo>
                  <a:lnTo>
                    <a:pt x="16891" y="377698"/>
                  </a:lnTo>
                  <a:lnTo>
                    <a:pt x="16891" y="428498"/>
                  </a:lnTo>
                  <a:close/>
                  <a:moveTo>
                    <a:pt x="0" y="309880"/>
                  </a:moveTo>
                  <a:lnTo>
                    <a:pt x="0" y="259080"/>
                  </a:lnTo>
                  <a:lnTo>
                    <a:pt x="16891" y="259080"/>
                  </a:lnTo>
                  <a:lnTo>
                    <a:pt x="16891" y="309880"/>
                  </a:lnTo>
                  <a:close/>
                  <a:moveTo>
                    <a:pt x="16891" y="191389"/>
                  </a:moveTo>
                  <a:lnTo>
                    <a:pt x="16891" y="140589"/>
                  </a:lnTo>
                  <a:lnTo>
                    <a:pt x="16891" y="191389"/>
                  </a:lnTo>
                  <a:close/>
                  <a:moveTo>
                    <a:pt x="0" y="72771"/>
                  </a:moveTo>
                  <a:lnTo>
                    <a:pt x="0" y="21971"/>
                  </a:lnTo>
                  <a:lnTo>
                    <a:pt x="16891" y="21971"/>
                  </a:lnTo>
                  <a:lnTo>
                    <a:pt x="16891" y="72771"/>
                  </a:lnTo>
                  <a:close/>
                  <a:moveTo>
                    <a:pt x="8509" y="0"/>
                  </a:moveTo>
                  <a:lnTo>
                    <a:pt x="59309" y="0"/>
                  </a:lnTo>
                  <a:lnTo>
                    <a:pt x="59309" y="16891"/>
                  </a:lnTo>
                  <a:lnTo>
                    <a:pt x="8509" y="16891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2161520" y="9144000"/>
            <a:ext cx="5120640" cy="548640"/>
            <a:chOff x="0" y="0"/>
            <a:chExt cx="6827520" cy="73152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28575"/>
              <a:ext cx="68275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allocation based on stimulus intensity</a:t>
              </a:r>
            </a:p>
          </p:txBody>
        </p:sp>
      </p:grpSp>
      <p:sp>
        <p:nvSpPr>
          <p:cNvPr name="Freeform 132" id="132"/>
          <p:cNvSpPr/>
          <p:nvPr/>
        </p:nvSpPr>
        <p:spPr>
          <a:xfrm flipH="false" flipV="false" rot="0">
            <a:off x="12016740" y="3327803"/>
            <a:ext cx="5341629" cy="2962319"/>
          </a:xfrm>
          <a:custGeom>
            <a:avLst/>
            <a:gdLst/>
            <a:ahLst/>
            <a:cxnLst/>
            <a:rect r="r" b="b" t="t" l="l"/>
            <a:pathLst>
              <a:path h="2962319" w="5341629">
                <a:moveTo>
                  <a:pt x="0" y="0"/>
                </a:moveTo>
                <a:lnTo>
                  <a:pt x="5341629" y="0"/>
                </a:lnTo>
                <a:lnTo>
                  <a:pt x="5341629" y="2962319"/>
                </a:lnTo>
                <a:lnTo>
                  <a:pt x="0" y="29623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3" id="133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Attention mechanism for cognitive resource management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188720" y="8165078"/>
            <a:ext cx="7955280" cy="129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0"/>
              </a:lnSpc>
            </a:pPr>
            <a:r>
              <a:rPr lang="en-US" sz="14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# Initialize ECAN attention network</a:t>
            </a:r>
          </a:p>
          <a:p>
            <a:pPr algn="l">
              <a:lnSpc>
                <a:spcPts val="1740"/>
              </a:lnSpc>
            </a:pPr>
            <a:r>
              <a:rPr lang="en-US" sz="14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from opencog.attention import ECAN</a:t>
            </a:r>
          </a:p>
          <a:p>
            <a:pPr algn="l">
              <a:lnSpc>
                <a:spcPts val="1740"/>
              </a:lnSpc>
            </a:pPr>
          </a:p>
          <a:p>
            <a:pPr algn="l">
              <a:lnSpc>
                <a:spcPts val="1740"/>
              </a:lnSpc>
            </a:pPr>
            <a:r>
              <a:rPr lang="en-US" sz="14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class AttentionNetwork:</a:t>
            </a:r>
          </a:p>
          <a:p>
            <a:pPr algn="l">
              <a:lnSpc>
                <a:spcPts val="1740"/>
              </a:lnSpc>
            </a:pPr>
            <a:r>
              <a:rPr lang="en-US" sz="14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def __init__(self):</a:t>
            </a:r>
          </a:p>
          <a:p>
            <a:pPr algn="l">
              <a:lnSpc>
                <a:spcPts val="1740"/>
              </a:lnSpc>
            </a:pPr>
            <a:r>
              <a:rPr lang="en-US" sz="14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self.ecan = ECAN()</a:t>
            </a:r>
          </a:p>
          <a:p>
            <a:pPr algn="l">
              <a:lnSpc>
                <a:spcPts val="1740"/>
              </a:lnSpc>
            </a:pPr>
            <a:r>
              <a:rPr lang="en-US" sz="14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self.attention_map = {}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Cognitive Synergy: Component Integration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25/53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146155" y="2459355"/>
            <a:ext cx="6419850" cy="7517130"/>
            <a:chOff x="0" y="0"/>
            <a:chExt cx="8559800" cy="10022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8534400" cy="9997440"/>
            </a:xfrm>
            <a:custGeom>
              <a:avLst/>
              <a:gdLst/>
              <a:ahLst/>
              <a:cxnLst/>
              <a:rect r="r" b="b" t="t" l="l"/>
              <a:pathLst>
                <a:path h="99974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59800" cy="10022840"/>
            </a:xfrm>
            <a:custGeom>
              <a:avLst/>
              <a:gdLst/>
              <a:ahLst/>
              <a:cxnLst/>
              <a:rect r="r" b="b" t="t" l="l"/>
              <a:pathLst>
                <a:path h="10022840" w="8559800">
                  <a:moveTo>
                    <a:pt x="12700" y="0"/>
                  </a:moveTo>
                  <a:lnTo>
                    <a:pt x="8547100" y="0"/>
                  </a:lnTo>
                  <a:cubicBezTo>
                    <a:pt x="8554085" y="0"/>
                    <a:pt x="8559800" y="5715"/>
                    <a:pt x="8559800" y="12700"/>
                  </a:cubicBezTo>
                  <a:lnTo>
                    <a:pt x="8559800" y="10010140"/>
                  </a:lnTo>
                  <a:cubicBezTo>
                    <a:pt x="8559800" y="10017125"/>
                    <a:pt x="8554085" y="10022840"/>
                    <a:pt x="8547100" y="10022840"/>
                  </a:cubicBezTo>
                  <a:lnTo>
                    <a:pt x="12700" y="10022840"/>
                  </a:lnTo>
                  <a:cubicBezTo>
                    <a:pt x="5715" y="10022840"/>
                    <a:pt x="0" y="10017125"/>
                    <a:pt x="0" y="1001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10140"/>
                  </a:lnTo>
                  <a:lnTo>
                    <a:pt x="12700" y="10010140"/>
                  </a:lnTo>
                  <a:lnTo>
                    <a:pt x="12700" y="9997440"/>
                  </a:lnTo>
                  <a:lnTo>
                    <a:pt x="8547100" y="9997440"/>
                  </a:lnTo>
                  <a:lnTo>
                    <a:pt x="8547100" y="10010140"/>
                  </a:lnTo>
                  <a:lnTo>
                    <a:pt x="8534400" y="10010140"/>
                  </a:lnTo>
                  <a:lnTo>
                    <a:pt x="8534400" y="12700"/>
                  </a:lnTo>
                  <a:lnTo>
                    <a:pt x="8547100" y="12700"/>
                  </a:lnTo>
                  <a:lnTo>
                    <a:pt x="8547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430000" y="2651760"/>
            <a:ext cx="5852160" cy="512064"/>
            <a:chOff x="0" y="0"/>
            <a:chExt cx="7802880" cy="6827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02880" cy="682752"/>
            </a:xfrm>
            <a:custGeom>
              <a:avLst/>
              <a:gdLst/>
              <a:ahLst/>
              <a:cxnLst/>
              <a:rect r="r" b="b" t="t" l="l"/>
              <a:pathLst>
                <a:path h="68275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7802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Metrics</a:t>
              </a:r>
            </a:p>
          </p:txBody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25328" y="2670048"/>
            <a:ext cx="7461504" cy="4718304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 rot="0">
            <a:off x="11423647" y="7129653"/>
            <a:ext cx="5864857" cy="2755897"/>
            <a:chOff x="0" y="0"/>
            <a:chExt cx="7819809" cy="36745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78028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19899" cy="3674618"/>
            </a:xfrm>
            <a:custGeom>
              <a:avLst/>
              <a:gdLst/>
              <a:ahLst/>
              <a:cxnLst/>
              <a:rect r="r" b="b" t="t" l="l"/>
              <a:pathLst>
                <a:path h="3674618" w="7819899">
                  <a:moveTo>
                    <a:pt x="8509" y="0"/>
                  </a:moveTo>
                  <a:lnTo>
                    <a:pt x="7811389" y="0"/>
                  </a:lnTo>
                  <a:cubicBezTo>
                    <a:pt x="7816088" y="0"/>
                    <a:pt x="7819899" y="3810"/>
                    <a:pt x="7819899" y="8509"/>
                  </a:cubicBezTo>
                  <a:lnTo>
                    <a:pt x="7819899" y="3666109"/>
                  </a:lnTo>
                  <a:cubicBezTo>
                    <a:pt x="7819899" y="3670808"/>
                    <a:pt x="7816088" y="3674618"/>
                    <a:pt x="7811389" y="3674618"/>
                  </a:cubicBezTo>
                  <a:lnTo>
                    <a:pt x="8509" y="3674618"/>
                  </a:lnTo>
                  <a:cubicBezTo>
                    <a:pt x="3810" y="3674618"/>
                    <a:pt x="0" y="3670808"/>
                    <a:pt x="0" y="3666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666109"/>
                  </a:lnTo>
                  <a:lnTo>
                    <a:pt x="8509" y="3666109"/>
                  </a:lnTo>
                  <a:lnTo>
                    <a:pt x="8509" y="3657600"/>
                  </a:lnTo>
                  <a:lnTo>
                    <a:pt x="7811389" y="3657600"/>
                  </a:lnTo>
                  <a:lnTo>
                    <a:pt x="7811389" y="3666109"/>
                  </a:lnTo>
                  <a:lnTo>
                    <a:pt x="7802880" y="3666109"/>
                  </a:lnTo>
                  <a:lnTo>
                    <a:pt x="7802880" y="8509"/>
                  </a:lnTo>
                  <a:lnTo>
                    <a:pt x="7811389" y="8509"/>
                  </a:lnTo>
                  <a:lnTo>
                    <a:pt x="7811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612880" y="7286492"/>
            <a:ext cx="5486400" cy="2414016"/>
            <a:chOff x="0" y="0"/>
            <a:chExt cx="7315200" cy="3218688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7315200" cy="609600"/>
              <a:chOff x="0" y="0"/>
              <a:chExt cx="7315200" cy="6096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3152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609600"/>
                    </a:lnTo>
                    <a:lnTo>
                      <a:pt x="0" y="6096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3820" r="0" b="-183820"/>
                </a:stretch>
              </a:blip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7315200" cy="6572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1E293B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Key Insights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707136"/>
              <a:ext cx="7315200" cy="536448"/>
              <a:chOff x="0" y="0"/>
              <a:chExt cx="7315200" cy="53644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7315200" cy="536448"/>
              </a:xfrm>
              <a:custGeom>
                <a:avLst/>
                <a:gdLst/>
                <a:ahLst/>
                <a:cxnLst/>
                <a:rect r="r" b="b" t="t" l="l"/>
                <a:pathLst>
                  <a:path h="536448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536448"/>
                    </a:lnTo>
                    <a:lnTo>
                      <a:pt x="0" y="5364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5705" r="0" b="-215705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7315200" cy="5745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>
                    <a:solidFill>
                      <a:srgbClr val="47556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• Components work synergistically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1365504"/>
              <a:ext cx="7315200" cy="536448"/>
              <a:chOff x="0" y="0"/>
              <a:chExt cx="7315200" cy="53644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7315200" cy="536448"/>
              </a:xfrm>
              <a:custGeom>
                <a:avLst/>
                <a:gdLst/>
                <a:ahLst/>
                <a:cxnLst/>
                <a:rect r="r" b="b" t="t" l="l"/>
                <a:pathLst>
                  <a:path h="536448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536448"/>
                    </a:lnTo>
                    <a:lnTo>
                      <a:pt x="0" y="5364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5705" r="0" b="-215705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7315200" cy="5745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>
                    <a:solidFill>
                      <a:srgbClr val="47556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• PLN handles logical reasoning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2023872"/>
              <a:ext cx="7315200" cy="536448"/>
              <a:chOff x="0" y="0"/>
              <a:chExt cx="7315200" cy="53644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7315200" cy="536448"/>
              </a:xfrm>
              <a:custGeom>
                <a:avLst/>
                <a:gdLst/>
                <a:ahLst/>
                <a:cxnLst/>
                <a:rect r="r" b="b" t="t" l="l"/>
                <a:pathLst>
                  <a:path h="536448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536448"/>
                    </a:lnTo>
                    <a:lnTo>
                      <a:pt x="0" y="5364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5705" r="0" b="-215705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7315200" cy="5745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>
                    <a:solidFill>
                      <a:srgbClr val="47556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• MOSES optimizes learning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2682240"/>
              <a:ext cx="7315200" cy="536448"/>
              <a:chOff x="0" y="0"/>
              <a:chExt cx="7315200" cy="536448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7315200" cy="536448"/>
              </a:xfrm>
              <a:custGeom>
                <a:avLst/>
                <a:gdLst/>
                <a:ahLst/>
                <a:cxnLst/>
                <a:rect r="r" b="b" t="t" l="l"/>
                <a:pathLst>
                  <a:path h="536448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536448"/>
                    </a:lnTo>
                    <a:lnTo>
                      <a:pt x="0" y="5364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5705" r="0" b="-215705"/>
                </a:stretch>
              </a:blip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7315200" cy="5745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sz="1800">
                    <a:solidFill>
                      <a:srgbClr val="475569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• ECAN manages attention</a:t>
                </a:r>
              </a:p>
            </p:txBody>
          </p:sp>
        </p:grpSp>
      </p:grpSp>
      <p:sp>
        <p:nvSpPr>
          <p:cNvPr name="Freeform 36" id="36"/>
          <p:cNvSpPr/>
          <p:nvPr/>
        </p:nvSpPr>
        <p:spPr>
          <a:xfrm flipH="false" flipV="false" rot="0">
            <a:off x="100554" y="1581803"/>
            <a:ext cx="10713941" cy="8394682"/>
          </a:xfrm>
          <a:custGeom>
            <a:avLst/>
            <a:gdLst/>
            <a:ahLst/>
            <a:cxnLst/>
            <a:rect r="r" b="b" t="t" l="l"/>
            <a:pathLst>
              <a:path h="8394682" w="10713941">
                <a:moveTo>
                  <a:pt x="0" y="0"/>
                </a:moveTo>
                <a:lnTo>
                  <a:pt x="10713940" y="0"/>
                </a:lnTo>
                <a:lnTo>
                  <a:pt x="10713940" y="8394682"/>
                </a:lnTo>
                <a:lnTo>
                  <a:pt x="0" y="83946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061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How OpenCog components work together to achieve AGI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Components Summary - OpenCog Integration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Understanding how all components work together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26/53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499616"/>
            <a:ext cx="14630400" cy="822960"/>
            <a:chOff x="0" y="0"/>
            <a:chExt cx="195072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950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Component Architecture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21995" y="2459355"/>
            <a:ext cx="4316730" cy="3036570"/>
            <a:chOff x="0" y="0"/>
            <a:chExt cx="5755640" cy="4048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57302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55640" cy="4048760"/>
            </a:xfrm>
            <a:custGeom>
              <a:avLst/>
              <a:gdLst/>
              <a:ahLst/>
              <a:cxnLst/>
              <a:rect r="r" b="b" t="t" l="l"/>
              <a:pathLst>
                <a:path h="4048760" w="5755640">
                  <a:moveTo>
                    <a:pt x="12700" y="0"/>
                  </a:moveTo>
                  <a:lnTo>
                    <a:pt x="5742940" y="0"/>
                  </a:lnTo>
                  <a:cubicBezTo>
                    <a:pt x="5749925" y="0"/>
                    <a:pt x="5755640" y="5715"/>
                    <a:pt x="5755640" y="12700"/>
                  </a:cubicBezTo>
                  <a:lnTo>
                    <a:pt x="5755640" y="4036060"/>
                  </a:lnTo>
                  <a:cubicBezTo>
                    <a:pt x="5755640" y="4043045"/>
                    <a:pt x="5749925" y="4048760"/>
                    <a:pt x="574294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5742940" y="4023360"/>
                  </a:lnTo>
                  <a:lnTo>
                    <a:pt x="5742940" y="4036060"/>
                  </a:lnTo>
                  <a:lnTo>
                    <a:pt x="5730240" y="4036060"/>
                  </a:lnTo>
                  <a:lnTo>
                    <a:pt x="5730240" y="12700"/>
                  </a:lnTo>
                  <a:lnTo>
                    <a:pt x="5742940" y="12700"/>
                  </a:lnTo>
                  <a:lnTo>
                    <a:pt x="57429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2651760"/>
            <a:ext cx="3931920" cy="457200"/>
            <a:chOff x="0" y="0"/>
            <a:chExt cx="524256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42560" cy="609600"/>
            </a:xfrm>
            <a:custGeom>
              <a:avLst/>
              <a:gdLst/>
              <a:ahLst/>
              <a:cxnLst/>
              <a:rect r="r" b="b" t="t" l="l"/>
              <a:pathLst>
                <a:path h="60960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2425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3145536"/>
            <a:ext cx="3931920" cy="694944"/>
            <a:chOff x="0" y="0"/>
            <a:chExt cx="524256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42560" cy="926592"/>
            </a:xfrm>
            <a:custGeom>
              <a:avLst/>
              <a:gdLst/>
              <a:ahLst/>
              <a:cxnLst/>
              <a:rect r="r" b="b" t="t" l="l"/>
              <a:pathLst>
                <a:path h="92659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244" r="0" b="-6024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425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Probabilistic Logic Networks for reasoning under uncertainty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8047" y="3962143"/>
            <a:ext cx="1201417" cy="378457"/>
            <a:chOff x="0" y="0"/>
            <a:chExt cx="1601889" cy="5046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8509" y="8509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01978" cy="504698"/>
            </a:xfrm>
            <a:custGeom>
              <a:avLst/>
              <a:gdLst/>
              <a:ahLst/>
              <a:cxnLst/>
              <a:rect r="r" b="b" t="t" l="l"/>
              <a:pathLst>
                <a:path h="50469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496189"/>
                  </a:lnTo>
                  <a:cubicBezTo>
                    <a:pt x="1601978" y="500888"/>
                    <a:pt x="1598168" y="504698"/>
                    <a:pt x="159346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593469" y="487680"/>
                  </a:lnTo>
                  <a:lnTo>
                    <a:pt x="1593469" y="496189"/>
                  </a:lnTo>
                  <a:lnTo>
                    <a:pt x="1584960" y="49618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3968496"/>
            <a:ext cx="1188720" cy="365760"/>
            <a:chOff x="0" y="0"/>
            <a:chExt cx="1584960" cy="487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584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Inference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224783" y="3962143"/>
            <a:ext cx="1201417" cy="378457"/>
            <a:chOff x="0" y="0"/>
            <a:chExt cx="1601889" cy="50460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8509" y="8509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01978" cy="504698"/>
            </a:xfrm>
            <a:custGeom>
              <a:avLst/>
              <a:gdLst/>
              <a:ahLst/>
              <a:cxnLst/>
              <a:rect r="r" b="b" t="t" l="l"/>
              <a:pathLst>
                <a:path h="50469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496189"/>
                  </a:lnTo>
                  <a:cubicBezTo>
                    <a:pt x="1601978" y="500888"/>
                    <a:pt x="1598168" y="504698"/>
                    <a:pt x="159346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593469" y="487680"/>
                  </a:lnTo>
                  <a:lnTo>
                    <a:pt x="1593469" y="496189"/>
                  </a:lnTo>
                  <a:lnTo>
                    <a:pt x="1584960" y="49618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231136" y="3968496"/>
            <a:ext cx="1188720" cy="365760"/>
            <a:chOff x="0" y="0"/>
            <a:chExt cx="1584960" cy="487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584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Logic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541519" y="3962143"/>
            <a:ext cx="1201417" cy="378457"/>
            <a:chOff x="0" y="0"/>
            <a:chExt cx="1601889" cy="50460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8509" y="8509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601978" cy="504698"/>
            </a:xfrm>
            <a:custGeom>
              <a:avLst/>
              <a:gdLst/>
              <a:ahLst/>
              <a:cxnLst/>
              <a:rect r="r" b="b" t="t" l="l"/>
              <a:pathLst>
                <a:path h="50469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496189"/>
                  </a:lnTo>
                  <a:cubicBezTo>
                    <a:pt x="1601978" y="500888"/>
                    <a:pt x="1598168" y="504698"/>
                    <a:pt x="159346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593469" y="487680"/>
                  </a:lnTo>
                  <a:lnTo>
                    <a:pt x="1593469" y="496189"/>
                  </a:lnTo>
                  <a:lnTo>
                    <a:pt x="1584960" y="49618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547872" y="3968496"/>
            <a:ext cx="1188720" cy="365760"/>
            <a:chOff x="0" y="0"/>
            <a:chExt cx="1584960" cy="487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1584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Probabilistic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08047" y="4474207"/>
            <a:ext cx="3944617" cy="780793"/>
            <a:chOff x="0" y="0"/>
            <a:chExt cx="5259489" cy="104105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8509" y="8509"/>
              <a:ext cx="52425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259578" cy="1041146"/>
            </a:xfrm>
            <a:custGeom>
              <a:avLst/>
              <a:gdLst/>
              <a:ahLst/>
              <a:cxnLst/>
              <a:rect r="r" b="b" t="t" l="l"/>
              <a:pathLst>
                <a:path h="1041146" w="5259578">
                  <a:moveTo>
                    <a:pt x="8509" y="0"/>
                  </a:moveTo>
                  <a:lnTo>
                    <a:pt x="5251069" y="0"/>
                  </a:lnTo>
                  <a:cubicBezTo>
                    <a:pt x="5255768" y="0"/>
                    <a:pt x="5259578" y="3810"/>
                    <a:pt x="5259578" y="8509"/>
                  </a:cubicBezTo>
                  <a:lnTo>
                    <a:pt x="5259578" y="1032637"/>
                  </a:lnTo>
                  <a:cubicBezTo>
                    <a:pt x="5259578" y="1037336"/>
                    <a:pt x="5255768" y="1041146"/>
                    <a:pt x="5251069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5251069" y="1024128"/>
                  </a:lnTo>
                  <a:lnTo>
                    <a:pt x="5251069" y="1032637"/>
                  </a:lnTo>
                  <a:lnTo>
                    <a:pt x="5242560" y="1032637"/>
                  </a:lnTo>
                  <a:lnTo>
                    <a:pt x="5242560" y="8509"/>
                  </a:lnTo>
                  <a:lnTo>
                    <a:pt x="5251069" y="8509"/>
                  </a:lnTo>
                  <a:lnTo>
                    <a:pt x="5251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05840" y="4480560"/>
            <a:ext cx="3749040" cy="768096"/>
            <a:chOff x="0" y="0"/>
            <a:chExt cx="4998720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998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5" r="0" b="-451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499872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Key: PLN handles logical reasoning with uncertainty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257419" y="2459355"/>
            <a:ext cx="4316730" cy="3036570"/>
            <a:chOff x="0" y="0"/>
            <a:chExt cx="5755640" cy="40487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2700" y="12700"/>
              <a:ext cx="57302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755640" cy="4048760"/>
            </a:xfrm>
            <a:custGeom>
              <a:avLst/>
              <a:gdLst/>
              <a:ahLst/>
              <a:cxnLst/>
              <a:rect r="r" b="b" t="t" l="l"/>
              <a:pathLst>
                <a:path h="4048760" w="5755640">
                  <a:moveTo>
                    <a:pt x="12700" y="0"/>
                  </a:moveTo>
                  <a:lnTo>
                    <a:pt x="5742940" y="0"/>
                  </a:lnTo>
                  <a:cubicBezTo>
                    <a:pt x="5749925" y="0"/>
                    <a:pt x="5755640" y="5715"/>
                    <a:pt x="5755640" y="12700"/>
                  </a:cubicBezTo>
                  <a:lnTo>
                    <a:pt x="5755640" y="4036060"/>
                  </a:lnTo>
                  <a:cubicBezTo>
                    <a:pt x="5755640" y="4043045"/>
                    <a:pt x="5749925" y="4048760"/>
                    <a:pt x="574294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5742940" y="4023360"/>
                  </a:lnTo>
                  <a:lnTo>
                    <a:pt x="5742940" y="4036060"/>
                  </a:lnTo>
                  <a:lnTo>
                    <a:pt x="5730240" y="4036060"/>
                  </a:lnTo>
                  <a:lnTo>
                    <a:pt x="5730240" y="12700"/>
                  </a:lnTo>
                  <a:lnTo>
                    <a:pt x="5742940" y="12700"/>
                  </a:lnTo>
                  <a:lnTo>
                    <a:pt x="57429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449824" y="2651760"/>
            <a:ext cx="3931920" cy="457200"/>
            <a:chOff x="0" y="0"/>
            <a:chExt cx="5242560" cy="609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42560" cy="609600"/>
            </a:xfrm>
            <a:custGeom>
              <a:avLst/>
              <a:gdLst/>
              <a:ahLst/>
              <a:cxnLst/>
              <a:rect r="r" b="b" t="t" l="l"/>
              <a:pathLst>
                <a:path h="60960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2425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MOSES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449824" y="3145536"/>
            <a:ext cx="3931920" cy="694944"/>
            <a:chOff x="0" y="0"/>
            <a:chExt cx="5242560" cy="9265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242560" cy="926592"/>
            </a:xfrm>
            <a:custGeom>
              <a:avLst/>
              <a:gdLst/>
              <a:ahLst/>
              <a:cxnLst/>
              <a:rect r="r" b="b" t="t" l="l"/>
              <a:pathLst>
                <a:path h="92659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244" r="0" b="-6024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52425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Meta-Optimizing Semantic Evolutionary Search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443471" y="3962143"/>
            <a:ext cx="1201417" cy="378457"/>
            <a:chOff x="0" y="0"/>
            <a:chExt cx="1601889" cy="50460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8509" y="8509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601978" cy="504698"/>
            </a:xfrm>
            <a:custGeom>
              <a:avLst/>
              <a:gdLst/>
              <a:ahLst/>
              <a:cxnLst/>
              <a:rect r="r" b="b" t="t" l="l"/>
              <a:pathLst>
                <a:path h="50469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496189"/>
                  </a:lnTo>
                  <a:cubicBezTo>
                    <a:pt x="1601978" y="500888"/>
                    <a:pt x="1598168" y="504698"/>
                    <a:pt x="159346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593469" y="487680"/>
                  </a:lnTo>
                  <a:lnTo>
                    <a:pt x="1593469" y="496189"/>
                  </a:lnTo>
                  <a:lnTo>
                    <a:pt x="1584960" y="49618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5449824" y="3968496"/>
            <a:ext cx="1188720" cy="365760"/>
            <a:chOff x="0" y="0"/>
            <a:chExt cx="1584960" cy="4876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584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Evolutionary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760207" y="3962143"/>
            <a:ext cx="1201417" cy="378457"/>
            <a:chOff x="0" y="0"/>
            <a:chExt cx="1601889" cy="50460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8509" y="8509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601978" cy="504698"/>
            </a:xfrm>
            <a:custGeom>
              <a:avLst/>
              <a:gdLst/>
              <a:ahLst/>
              <a:cxnLst/>
              <a:rect r="r" b="b" t="t" l="l"/>
              <a:pathLst>
                <a:path h="50469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496189"/>
                  </a:lnTo>
                  <a:cubicBezTo>
                    <a:pt x="1601978" y="500888"/>
                    <a:pt x="1598168" y="504698"/>
                    <a:pt x="159346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593469" y="487680"/>
                  </a:lnTo>
                  <a:lnTo>
                    <a:pt x="1593469" y="496189"/>
                  </a:lnTo>
                  <a:lnTo>
                    <a:pt x="1584960" y="49618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766560" y="3968496"/>
            <a:ext cx="1188720" cy="365760"/>
            <a:chOff x="0" y="0"/>
            <a:chExt cx="1584960" cy="4876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1584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Learning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076943" y="3962143"/>
            <a:ext cx="1201417" cy="378457"/>
            <a:chOff x="0" y="0"/>
            <a:chExt cx="1601889" cy="50460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8509" y="8509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601978" cy="504698"/>
            </a:xfrm>
            <a:custGeom>
              <a:avLst/>
              <a:gdLst/>
              <a:ahLst/>
              <a:cxnLst/>
              <a:rect r="r" b="b" t="t" l="l"/>
              <a:pathLst>
                <a:path h="50469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496189"/>
                  </a:lnTo>
                  <a:cubicBezTo>
                    <a:pt x="1601978" y="500888"/>
                    <a:pt x="1598168" y="504698"/>
                    <a:pt x="159346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593469" y="487680"/>
                  </a:lnTo>
                  <a:lnTo>
                    <a:pt x="1593469" y="496189"/>
                  </a:lnTo>
                  <a:lnTo>
                    <a:pt x="1584960" y="49618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083296" y="3968496"/>
            <a:ext cx="1188720" cy="365760"/>
            <a:chOff x="0" y="0"/>
            <a:chExt cx="1584960" cy="4876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1584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Optimization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443471" y="4474207"/>
            <a:ext cx="3944617" cy="780793"/>
            <a:chOff x="0" y="0"/>
            <a:chExt cx="5259489" cy="104105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8509" y="8509"/>
              <a:ext cx="52425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259578" cy="1041146"/>
            </a:xfrm>
            <a:custGeom>
              <a:avLst/>
              <a:gdLst/>
              <a:ahLst/>
              <a:cxnLst/>
              <a:rect r="r" b="b" t="t" l="l"/>
              <a:pathLst>
                <a:path h="1041146" w="5259578">
                  <a:moveTo>
                    <a:pt x="8509" y="0"/>
                  </a:moveTo>
                  <a:lnTo>
                    <a:pt x="5251069" y="0"/>
                  </a:lnTo>
                  <a:cubicBezTo>
                    <a:pt x="5255768" y="0"/>
                    <a:pt x="5259578" y="3810"/>
                    <a:pt x="5259578" y="8509"/>
                  </a:cubicBezTo>
                  <a:lnTo>
                    <a:pt x="5259578" y="1032637"/>
                  </a:lnTo>
                  <a:cubicBezTo>
                    <a:pt x="5259578" y="1037336"/>
                    <a:pt x="5255768" y="1041146"/>
                    <a:pt x="5251069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5251069" y="1024128"/>
                  </a:lnTo>
                  <a:lnTo>
                    <a:pt x="5251069" y="1032637"/>
                  </a:lnTo>
                  <a:lnTo>
                    <a:pt x="5242560" y="1032637"/>
                  </a:lnTo>
                  <a:lnTo>
                    <a:pt x="5242560" y="8509"/>
                  </a:lnTo>
                  <a:lnTo>
                    <a:pt x="5251069" y="8509"/>
                  </a:lnTo>
                  <a:lnTo>
                    <a:pt x="5251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5541264" y="4480560"/>
            <a:ext cx="3749040" cy="768096"/>
            <a:chOff x="0" y="0"/>
            <a:chExt cx="4998720" cy="102412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998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5" r="0" b="-4510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499872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Key: MOSES learns programs through evolution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792843" y="2459355"/>
            <a:ext cx="4316730" cy="3036570"/>
            <a:chOff x="0" y="0"/>
            <a:chExt cx="5755640" cy="40487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2700" y="12700"/>
              <a:ext cx="57302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755640" cy="4048760"/>
            </a:xfrm>
            <a:custGeom>
              <a:avLst/>
              <a:gdLst/>
              <a:ahLst/>
              <a:cxnLst/>
              <a:rect r="r" b="b" t="t" l="l"/>
              <a:pathLst>
                <a:path h="4048760" w="5755640">
                  <a:moveTo>
                    <a:pt x="12700" y="0"/>
                  </a:moveTo>
                  <a:lnTo>
                    <a:pt x="5742940" y="0"/>
                  </a:lnTo>
                  <a:cubicBezTo>
                    <a:pt x="5749925" y="0"/>
                    <a:pt x="5755640" y="5715"/>
                    <a:pt x="5755640" y="12700"/>
                  </a:cubicBezTo>
                  <a:lnTo>
                    <a:pt x="5755640" y="4036060"/>
                  </a:lnTo>
                  <a:cubicBezTo>
                    <a:pt x="5755640" y="4043045"/>
                    <a:pt x="5749925" y="4048760"/>
                    <a:pt x="574294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5742940" y="4023360"/>
                  </a:lnTo>
                  <a:lnTo>
                    <a:pt x="5742940" y="4036060"/>
                  </a:lnTo>
                  <a:lnTo>
                    <a:pt x="5730240" y="4036060"/>
                  </a:lnTo>
                  <a:lnTo>
                    <a:pt x="5730240" y="12700"/>
                  </a:lnTo>
                  <a:lnTo>
                    <a:pt x="5742940" y="12700"/>
                  </a:lnTo>
                  <a:lnTo>
                    <a:pt x="57429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985248" y="2651760"/>
            <a:ext cx="3931920" cy="457200"/>
            <a:chOff x="0" y="0"/>
            <a:chExt cx="5242560" cy="6096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242560" cy="609600"/>
            </a:xfrm>
            <a:custGeom>
              <a:avLst/>
              <a:gdLst/>
              <a:ahLst/>
              <a:cxnLst/>
              <a:rect r="r" b="b" t="t" l="l"/>
              <a:pathLst>
                <a:path h="60960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52425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Pattern Miner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985248" y="3145536"/>
            <a:ext cx="3931920" cy="694944"/>
            <a:chOff x="0" y="0"/>
            <a:chExt cx="5242560" cy="9265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242560" cy="926592"/>
            </a:xfrm>
            <a:custGeom>
              <a:avLst/>
              <a:gdLst/>
              <a:ahLst/>
              <a:cxnLst/>
              <a:rect r="r" b="b" t="t" l="l"/>
              <a:pathLst>
                <a:path h="92659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244" r="0" b="-6024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52425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Discovers patterns in AtomSpace data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978895" y="3962143"/>
            <a:ext cx="1201417" cy="378457"/>
            <a:chOff x="0" y="0"/>
            <a:chExt cx="1601889" cy="50460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8509" y="8509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601978" cy="504698"/>
            </a:xfrm>
            <a:custGeom>
              <a:avLst/>
              <a:gdLst/>
              <a:ahLst/>
              <a:cxnLst/>
              <a:rect r="r" b="b" t="t" l="l"/>
              <a:pathLst>
                <a:path h="50469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496189"/>
                  </a:lnTo>
                  <a:cubicBezTo>
                    <a:pt x="1601978" y="500888"/>
                    <a:pt x="1598168" y="504698"/>
                    <a:pt x="159346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593469" y="487680"/>
                  </a:lnTo>
                  <a:lnTo>
                    <a:pt x="1593469" y="496189"/>
                  </a:lnTo>
                  <a:lnTo>
                    <a:pt x="1584960" y="49618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985248" y="3968496"/>
            <a:ext cx="1188720" cy="365760"/>
            <a:chOff x="0" y="0"/>
            <a:chExt cx="1584960" cy="4876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1584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Pattern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295631" y="3962143"/>
            <a:ext cx="1201417" cy="378457"/>
            <a:chOff x="0" y="0"/>
            <a:chExt cx="1601889" cy="50460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8509" y="8509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601978" cy="504698"/>
            </a:xfrm>
            <a:custGeom>
              <a:avLst/>
              <a:gdLst/>
              <a:ahLst/>
              <a:cxnLst/>
              <a:rect r="r" b="b" t="t" l="l"/>
              <a:pathLst>
                <a:path h="50469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496189"/>
                  </a:lnTo>
                  <a:cubicBezTo>
                    <a:pt x="1601978" y="500888"/>
                    <a:pt x="1598168" y="504698"/>
                    <a:pt x="159346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593469" y="487680"/>
                  </a:lnTo>
                  <a:lnTo>
                    <a:pt x="1593469" y="496189"/>
                  </a:lnTo>
                  <a:lnTo>
                    <a:pt x="1584960" y="49618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1301984" y="3968496"/>
            <a:ext cx="1188720" cy="365760"/>
            <a:chOff x="0" y="0"/>
            <a:chExt cx="1584960" cy="4876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1584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Discovery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612367" y="3962143"/>
            <a:ext cx="1201417" cy="378457"/>
            <a:chOff x="0" y="0"/>
            <a:chExt cx="1601889" cy="50460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8509" y="8509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601978" cy="504698"/>
            </a:xfrm>
            <a:custGeom>
              <a:avLst/>
              <a:gdLst/>
              <a:ahLst/>
              <a:cxnLst/>
              <a:rect r="r" b="b" t="t" l="l"/>
              <a:pathLst>
                <a:path h="50469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496189"/>
                  </a:lnTo>
                  <a:cubicBezTo>
                    <a:pt x="1601978" y="500888"/>
                    <a:pt x="1598168" y="504698"/>
                    <a:pt x="159346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593469" y="487680"/>
                  </a:lnTo>
                  <a:lnTo>
                    <a:pt x="1593469" y="496189"/>
                  </a:lnTo>
                  <a:lnTo>
                    <a:pt x="1584960" y="49618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618720" y="3968496"/>
            <a:ext cx="1188720" cy="365760"/>
            <a:chOff x="0" y="0"/>
            <a:chExt cx="1584960" cy="4876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1584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Mining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978895" y="4474207"/>
            <a:ext cx="3944617" cy="780793"/>
            <a:chOff x="0" y="0"/>
            <a:chExt cx="5259489" cy="104105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8509" y="8509"/>
              <a:ext cx="52425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259578" cy="1041146"/>
            </a:xfrm>
            <a:custGeom>
              <a:avLst/>
              <a:gdLst/>
              <a:ahLst/>
              <a:cxnLst/>
              <a:rect r="r" b="b" t="t" l="l"/>
              <a:pathLst>
                <a:path h="1041146" w="5259578">
                  <a:moveTo>
                    <a:pt x="8509" y="0"/>
                  </a:moveTo>
                  <a:lnTo>
                    <a:pt x="5251069" y="0"/>
                  </a:lnTo>
                  <a:cubicBezTo>
                    <a:pt x="5255768" y="0"/>
                    <a:pt x="5259578" y="3810"/>
                    <a:pt x="5259578" y="8509"/>
                  </a:cubicBezTo>
                  <a:lnTo>
                    <a:pt x="5259578" y="1032637"/>
                  </a:lnTo>
                  <a:cubicBezTo>
                    <a:pt x="5259578" y="1037336"/>
                    <a:pt x="5255768" y="1041146"/>
                    <a:pt x="5251069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5251069" y="1024128"/>
                  </a:lnTo>
                  <a:lnTo>
                    <a:pt x="5251069" y="1032637"/>
                  </a:lnTo>
                  <a:lnTo>
                    <a:pt x="5242560" y="1032637"/>
                  </a:lnTo>
                  <a:lnTo>
                    <a:pt x="5242560" y="8509"/>
                  </a:lnTo>
                  <a:lnTo>
                    <a:pt x="5251069" y="8509"/>
                  </a:lnTo>
                  <a:lnTo>
                    <a:pt x="5251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0076688" y="4480560"/>
            <a:ext cx="3749040" cy="768096"/>
            <a:chOff x="0" y="0"/>
            <a:chExt cx="4998720" cy="102412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998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5" r="0" b="-4510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28575"/>
              <a:ext cx="499872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Key: Finds recurring patterns in data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721995" y="5714619"/>
            <a:ext cx="4316730" cy="3036570"/>
            <a:chOff x="0" y="0"/>
            <a:chExt cx="5755640" cy="40487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2700" y="12700"/>
              <a:ext cx="57302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755640" cy="4048760"/>
            </a:xfrm>
            <a:custGeom>
              <a:avLst/>
              <a:gdLst/>
              <a:ahLst/>
              <a:cxnLst/>
              <a:rect r="r" b="b" t="t" l="l"/>
              <a:pathLst>
                <a:path h="4048760" w="5755640">
                  <a:moveTo>
                    <a:pt x="12700" y="0"/>
                  </a:moveTo>
                  <a:lnTo>
                    <a:pt x="5742940" y="0"/>
                  </a:lnTo>
                  <a:cubicBezTo>
                    <a:pt x="5749925" y="0"/>
                    <a:pt x="5755640" y="5715"/>
                    <a:pt x="5755640" y="12700"/>
                  </a:cubicBezTo>
                  <a:lnTo>
                    <a:pt x="5755640" y="4036060"/>
                  </a:lnTo>
                  <a:cubicBezTo>
                    <a:pt x="5755640" y="4043045"/>
                    <a:pt x="5749925" y="4048760"/>
                    <a:pt x="574294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5742940" y="4023360"/>
                  </a:lnTo>
                  <a:lnTo>
                    <a:pt x="5742940" y="4036060"/>
                  </a:lnTo>
                  <a:lnTo>
                    <a:pt x="5730240" y="4036060"/>
                  </a:lnTo>
                  <a:lnTo>
                    <a:pt x="5730240" y="12700"/>
                  </a:lnTo>
                  <a:lnTo>
                    <a:pt x="5742940" y="12700"/>
                  </a:lnTo>
                  <a:lnTo>
                    <a:pt x="57429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14400" y="5907024"/>
            <a:ext cx="3931920" cy="457200"/>
            <a:chOff x="0" y="0"/>
            <a:chExt cx="5242560" cy="6096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242560" cy="609600"/>
            </a:xfrm>
            <a:custGeom>
              <a:avLst/>
              <a:gdLst/>
              <a:ahLst/>
              <a:cxnLst/>
              <a:rect r="r" b="b" t="t" l="l"/>
              <a:pathLst>
                <a:path h="60960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52425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CogServer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14400" y="6400800"/>
            <a:ext cx="3931920" cy="694944"/>
            <a:chOff x="0" y="0"/>
            <a:chExt cx="5242560" cy="92659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242560" cy="926592"/>
            </a:xfrm>
            <a:custGeom>
              <a:avLst/>
              <a:gdLst/>
              <a:ahLst/>
              <a:cxnLst/>
              <a:rect r="r" b="b" t="t" l="l"/>
              <a:pathLst>
                <a:path h="92659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244" r="0" b="-60244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52425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Central server for OpenCog operations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08047" y="7217407"/>
            <a:ext cx="1201417" cy="378457"/>
            <a:chOff x="0" y="0"/>
            <a:chExt cx="1601889" cy="50460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8509" y="8509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601978" cy="504698"/>
            </a:xfrm>
            <a:custGeom>
              <a:avLst/>
              <a:gdLst/>
              <a:ahLst/>
              <a:cxnLst/>
              <a:rect r="r" b="b" t="t" l="l"/>
              <a:pathLst>
                <a:path h="50469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496189"/>
                  </a:lnTo>
                  <a:cubicBezTo>
                    <a:pt x="1601978" y="500888"/>
                    <a:pt x="1598168" y="504698"/>
                    <a:pt x="159346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593469" y="487680"/>
                  </a:lnTo>
                  <a:lnTo>
                    <a:pt x="1593469" y="496189"/>
                  </a:lnTo>
                  <a:lnTo>
                    <a:pt x="1584960" y="49618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914400" y="7223760"/>
            <a:ext cx="1188720" cy="365760"/>
            <a:chOff x="0" y="0"/>
            <a:chExt cx="1584960" cy="48768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28575"/>
              <a:ext cx="1584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Server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2224783" y="7217407"/>
            <a:ext cx="1201417" cy="378457"/>
            <a:chOff x="0" y="0"/>
            <a:chExt cx="1601889" cy="504609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8509" y="8509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601978" cy="504698"/>
            </a:xfrm>
            <a:custGeom>
              <a:avLst/>
              <a:gdLst/>
              <a:ahLst/>
              <a:cxnLst/>
              <a:rect r="r" b="b" t="t" l="l"/>
              <a:pathLst>
                <a:path h="50469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496189"/>
                  </a:lnTo>
                  <a:cubicBezTo>
                    <a:pt x="1601978" y="500888"/>
                    <a:pt x="1598168" y="504698"/>
                    <a:pt x="159346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593469" y="487680"/>
                  </a:lnTo>
                  <a:lnTo>
                    <a:pt x="1593469" y="496189"/>
                  </a:lnTo>
                  <a:lnTo>
                    <a:pt x="1584960" y="49618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2231136" y="7223760"/>
            <a:ext cx="1188720" cy="365760"/>
            <a:chOff x="0" y="0"/>
            <a:chExt cx="1584960" cy="48768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28575"/>
              <a:ext cx="1584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3541519" y="7217407"/>
            <a:ext cx="1201417" cy="378457"/>
            <a:chOff x="0" y="0"/>
            <a:chExt cx="1601889" cy="504609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8509" y="8509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601978" cy="504698"/>
            </a:xfrm>
            <a:custGeom>
              <a:avLst/>
              <a:gdLst/>
              <a:ahLst/>
              <a:cxnLst/>
              <a:rect r="r" b="b" t="t" l="l"/>
              <a:pathLst>
                <a:path h="50469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496189"/>
                  </a:lnTo>
                  <a:cubicBezTo>
                    <a:pt x="1601978" y="500888"/>
                    <a:pt x="1598168" y="504698"/>
                    <a:pt x="159346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593469" y="487680"/>
                  </a:lnTo>
                  <a:lnTo>
                    <a:pt x="1593469" y="496189"/>
                  </a:lnTo>
                  <a:lnTo>
                    <a:pt x="1584960" y="49618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3547872" y="7223760"/>
            <a:ext cx="1188720" cy="365760"/>
            <a:chOff x="0" y="0"/>
            <a:chExt cx="1584960" cy="48768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1584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Management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908047" y="7729471"/>
            <a:ext cx="3944617" cy="780793"/>
            <a:chOff x="0" y="0"/>
            <a:chExt cx="5259489" cy="1041057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8509" y="8509"/>
              <a:ext cx="52425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5259578" cy="1041146"/>
            </a:xfrm>
            <a:custGeom>
              <a:avLst/>
              <a:gdLst/>
              <a:ahLst/>
              <a:cxnLst/>
              <a:rect r="r" b="b" t="t" l="l"/>
              <a:pathLst>
                <a:path h="1041146" w="5259578">
                  <a:moveTo>
                    <a:pt x="8509" y="0"/>
                  </a:moveTo>
                  <a:lnTo>
                    <a:pt x="5251069" y="0"/>
                  </a:lnTo>
                  <a:cubicBezTo>
                    <a:pt x="5255768" y="0"/>
                    <a:pt x="5259578" y="3810"/>
                    <a:pt x="5259578" y="8509"/>
                  </a:cubicBezTo>
                  <a:lnTo>
                    <a:pt x="5259578" y="1032637"/>
                  </a:lnTo>
                  <a:cubicBezTo>
                    <a:pt x="5259578" y="1037336"/>
                    <a:pt x="5255768" y="1041146"/>
                    <a:pt x="5251069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5251069" y="1024128"/>
                  </a:lnTo>
                  <a:lnTo>
                    <a:pt x="5251069" y="1032637"/>
                  </a:lnTo>
                  <a:lnTo>
                    <a:pt x="5242560" y="1032637"/>
                  </a:lnTo>
                  <a:lnTo>
                    <a:pt x="5242560" y="8509"/>
                  </a:lnTo>
                  <a:lnTo>
                    <a:pt x="5251069" y="8509"/>
                  </a:lnTo>
                  <a:lnTo>
                    <a:pt x="5251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005840" y="7735824"/>
            <a:ext cx="3749040" cy="768096"/>
            <a:chOff x="0" y="0"/>
            <a:chExt cx="4998720" cy="102412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4998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5" r="0" b="-45105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28575"/>
              <a:ext cx="499872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Key: Manages component interactions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5257419" y="5714619"/>
            <a:ext cx="4316730" cy="3036570"/>
            <a:chOff x="0" y="0"/>
            <a:chExt cx="5755640" cy="404876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2700" y="12700"/>
              <a:ext cx="57302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5755640" cy="4048760"/>
            </a:xfrm>
            <a:custGeom>
              <a:avLst/>
              <a:gdLst/>
              <a:ahLst/>
              <a:cxnLst/>
              <a:rect r="r" b="b" t="t" l="l"/>
              <a:pathLst>
                <a:path h="4048760" w="5755640">
                  <a:moveTo>
                    <a:pt x="12700" y="0"/>
                  </a:moveTo>
                  <a:lnTo>
                    <a:pt x="5742940" y="0"/>
                  </a:lnTo>
                  <a:cubicBezTo>
                    <a:pt x="5749925" y="0"/>
                    <a:pt x="5755640" y="5715"/>
                    <a:pt x="5755640" y="12700"/>
                  </a:cubicBezTo>
                  <a:lnTo>
                    <a:pt x="5755640" y="4036060"/>
                  </a:lnTo>
                  <a:cubicBezTo>
                    <a:pt x="5755640" y="4043045"/>
                    <a:pt x="5749925" y="4048760"/>
                    <a:pt x="574294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5742940" y="4023360"/>
                  </a:lnTo>
                  <a:lnTo>
                    <a:pt x="5742940" y="4036060"/>
                  </a:lnTo>
                  <a:lnTo>
                    <a:pt x="5730240" y="4036060"/>
                  </a:lnTo>
                  <a:lnTo>
                    <a:pt x="5730240" y="12700"/>
                  </a:lnTo>
                  <a:lnTo>
                    <a:pt x="5742940" y="12700"/>
                  </a:lnTo>
                  <a:lnTo>
                    <a:pt x="57429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5449824" y="5907024"/>
            <a:ext cx="3931920" cy="457200"/>
            <a:chOff x="0" y="0"/>
            <a:chExt cx="5242560" cy="60960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5242560" cy="609600"/>
            </a:xfrm>
            <a:custGeom>
              <a:avLst/>
              <a:gdLst/>
              <a:ahLst/>
              <a:cxnLst/>
              <a:rect r="r" b="b" t="t" l="l"/>
              <a:pathLst>
                <a:path h="60960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52425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ECAN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5449824" y="6400800"/>
            <a:ext cx="3931920" cy="694944"/>
            <a:chOff x="0" y="0"/>
            <a:chExt cx="5242560" cy="92659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5242560" cy="926592"/>
            </a:xfrm>
            <a:custGeom>
              <a:avLst/>
              <a:gdLst/>
              <a:ahLst/>
              <a:cxnLst/>
              <a:rect r="r" b="b" t="t" l="l"/>
              <a:pathLst>
                <a:path h="92659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244" r="0" b="-60244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52425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Economic Attention Allocation Network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5443471" y="7217407"/>
            <a:ext cx="1201417" cy="378457"/>
            <a:chOff x="0" y="0"/>
            <a:chExt cx="1601889" cy="504609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8509" y="8509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601978" cy="504698"/>
            </a:xfrm>
            <a:custGeom>
              <a:avLst/>
              <a:gdLst/>
              <a:ahLst/>
              <a:cxnLst/>
              <a:rect r="r" b="b" t="t" l="l"/>
              <a:pathLst>
                <a:path h="50469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496189"/>
                  </a:lnTo>
                  <a:cubicBezTo>
                    <a:pt x="1601978" y="500888"/>
                    <a:pt x="1598168" y="504698"/>
                    <a:pt x="159346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593469" y="487680"/>
                  </a:lnTo>
                  <a:lnTo>
                    <a:pt x="1593469" y="496189"/>
                  </a:lnTo>
                  <a:lnTo>
                    <a:pt x="1584960" y="49618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5449824" y="7223760"/>
            <a:ext cx="1188720" cy="365760"/>
            <a:chOff x="0" y="0"/>
            <a:chExt cx="1584960" cy="48768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28575"/>
              <a:ext cx="1584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Attention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6760207" y="7217407"/>
            <a:ext cx="1201417" cy="378457"/>
            <a:chOff x="0" y="0"/>
            <a:chExt cx="1601889" cy="504609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8509" y="8509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601978" cy="504698"/>
            </a:xfrm>
            <a:custGeom>
              <a:avLst/>
              <a:gdLst/>
              <a:ahLst/>
              <a:cxnLst/>
              <a:rect r="r" b="b" t="t" l="l"/>
              <a:pathLst>
                <a:path h="50469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496189"/>
                  </a:lnTo>
                  <a:cubicBezTo>
                    <a:pt x="1601978" y="500888"/>
                    <a:pt x="1598168" y="504698"/>
                    <a:pt x="159346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593469" y="487680"/>
                  </a:lnTo>
                  <a:lnTo>
                    <a:pt x="1593469" y="496189"/>
                  </a:lnTo>
                  <a:lnTo>
                    <a:pt x="1584960" y="49618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6766560" y="7223760"/>
            <a:ext cx="1188720" cy="365760"/>
            <a:chOff x="0" y="0"/>
            <a:chExt cx="1584960" cy="48768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28575"/>
              <a:ext cx="1584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Allocation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8076943" y="7217407"/>
            <a:ext cx="1201417" cy="378457"/>
            <a:chOff x="0" y="0"/>
            <a:chExt cx="1601889" cy="504609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8509" y="8509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1601978" cy="504698"/>
            </a:xfrm>
            <a:custGeom>
              <a:avLst/>
              <a:gdLst/>
              <a:ahLst/>
              <a:cxnLst/>
              <a:rect r="r" b="b" t="t" l="l"/>
              <a:pathLst>
                <a:path h="50469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496189"/>
                  </a:lnTo>
                  <a:cubicBezTo>
                    <a:pt x="1601978" y="500888"/>
                    <a:pt x="1598168" y="504698"/>
                    <a:pt x="159346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593469" y="487680"/>
                  </a:lnTo>
                  <a:lnTo>
                    <a:pt x="1593469" y="496189"/>
                  </a:lnTo>
                  <a:lnTo>
                    <a:pt x="1584960" y="49618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8083296" y="7223760"/>
            <a:ext cx="1188720" cy="365760"/>
            <a:chOff x="0" y="0"/>
            <a:chExt cx="1584960" cy="48768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28575"/>
              <a:ext cx="1584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Economic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5443471" y="7729471"/>
            <a:ext cx="3944617" cy="780793"/>
            <a:chOff x="0" y="0"/>
            <a:chExt cx="5259489" cy="1041057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8509" y="8509"/>
              <a:ext cx="52425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5259578" cy="1041146"/>
            </a:xfrm>
            <a:custGeom>
              <a:avLst/>
              <a:gdLst/>
              <a:ahLst/>
              <a:cxnLst/>
              <a:rect r="r" b="b" t="t" l="l"/>
              <a:pathLst>
                <a:path h="1041146" w="5259578">
                  <a:moveTo>
                    <a:pt x="8509" y="0"/>
                  </a:moveTo>
                  <a:lnTo>
                    <a:pt x="5251069" y="0"/>
                  </a:lnTo>
                  <a:cubicBezTo>
                    <a:pt x="5255768" y="0"/>
                    <a:pt x="5259578" y="3810"/>
                    <a:pt x="5259578" y="8509"/>
                  </a:cubicBezTo>
                  <a:lnTo>
                    <a:pt x="5259578" y="1032637"/>
                  </a:lnTo>
                  <a:cubicBezTo>
                    <a:pt x="5259578" y="1037336"/>
                    <a:pt x="5255768" y="1041146"/>
                    <a:pt x="5251069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5251069" y="1024128"/>
                  </a:lnTo>
                  <a:lnTo>
                    <a:pt x="5251069" y="1032637"/>
                  </a:lnTo>
                  <a:lnTo>
                    <a:pt x="5242560" y="1032637"/>
                  </a:lnTo>
                  <a:lnTo>
                    <a:pt x="5242560" y="8509"/>
                  </a:lnTo>
                  <a:lnTo>
                    <a:pt x="5251069" y="8509"/>
                  </a:lnTo>
                  <a:lnTo>
                    <a:pt x="5251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5541264" y="7735824"/>
            <a:ext cx="3749040" cy="768096"/>
            <a:chOff x="0" y="0"/>
            <a:chExt cx="4998720" cy="1024128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4998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5" r="0" b="-45105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28575"/>
              <a:ext cx="499872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Key: Manages resource allocation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9792843" y="5714619"/>
            <a:ext cx="4316730" cy="3036570"/>
            <a:chOff x="0" y="0"/>
            <a:chExt cx="5755640" cy="404876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12700" y="12700"/>
              <a:ext cx="57302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55640" cy="4048760"/>
            </a:xfrm>
            <a:custGeom>
              <a:avLst/>
              <a:gdLst/>
              <a:ahLst/>
              <a:cxnLst/>
              <a:rect r="r" b="b" t="t" l="l"/>
              <a:pathLst>
                <a:path h="4048760" w="5755640">
                  <a:moveTo>
                    <a:pt x="12700" y="0"/>
                  </a:moveTo>
                  <a:lnTo>
                    <a:pt x="5742940" y="0"/>
                  </a:lnTo>
                  <a:cubicBezTo>
                    <a:pt x="5749925" y="0"/>
                    <a:pt x="5755640" y="5715"/>
                    <a:pt x="5755640" y="12700"/>
                  </a:cubicBezTo>
                  <a:lnTo>
                    <a:pt x="5755640" y="4036060"/>
                  </a:lnTo>
                  <a:cubicBezTo>
                    <a:pt x="5755640" y="4043045"/>
                    <a:pt x="5749925" y="4048760"/>
                    <a:pt x="574294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5742940" y="4023360"/>
                  </a:lnTo>
                  <a:lnTo>
                    <a:pt x="5742940" y="4036060"/>
                  </a:lnTo>
                  <a:lnTo>
                    <a:pt x="5730240" y="4036060"/>
                  </a:lnTo>
                  <a:lnTo>
                    <a:pt x="5730240" y="12700"/>
                  </a:lnTo>
                  <a:lnTo>
                    <a:pt x="5742940" y="12700"/>
                  </a:lnTo>
                  <a:lnTo>
                    <a:pt x="57429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9985248" y="5907024"/>
            <a:ext cx="3931920" cy="457200"/>
            <a:chOff x="0" y="0"/>
            <a:chExt cx="5242560" cy="60960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5242560" cy="609600"/>
            </a:xfrm>
            <a:custGeom>
              <a:avLst/>
              <a:gdLst/>
              <a:ahLst/>
              <a:cxnLst/>
              <a:rect r="r" b="b" t="t" l="l"/>
              <a:pathLst>
                <a:path h="60960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52425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AtomSpace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9985248" y="6400800"/>
            <a:ext cx="3931920" cy="694944"/>
            <a:chOff x="0" y="0"/>
            <a:chExt cx="5242560" cy="926592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5242560" cy="926592"/>
            </a:xfrm>
            <a:custGeom>
              <a:avLst/>
              <a:gdLst/>
              <a:ahLst/>
              <a:cxnLst/>
              <a:rect r="r" b="b" t="t" l="l"/>
              <a:pathLst>
                <a:path h="926592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244" r="0" b="-60244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52425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Hypergraph-based knowledge store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9978895" y="7217407"/>
            <a:ext cx="1201417" cy="378457"/>
            <a:chOff x="0" y="0"/>
            <a:chExt cx="1601889" cy="504609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8509" y="8509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1601978" cy="504698"/>
            </a:xfrm>
            <a:custGeom>
              <a:avLst/>
              <a:gdLst/>
              <a:ahLst/>
              <a:cxnLst/>
              <a:rect r="r" b="b" t="t" l="l"/>
              <a:pathLst>
                <a:path h="50469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496189"/>
                  </a:lnTo>
                  <a:cubicBezTo>
                    <a:pt x="1601978" y="500888"/>
                    <a:pt x="1598168" y="504698"/>
                    <a:pt x="159346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593469" y="487680"/>
                  </a:lnTo>
                  <a:lnTo>
                    <a:pt x="1593469" y="496189"/>
                  </a:lnTo>
                  <a:lnTo>
                    <a:pt x="1584960" y="49618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9985248" y="7223760"/>
            <a:ext cx="1188720" cy="365760"/>
            <a:chOff x="0" y="0"/>
            <a:chExt cx="1584960" cy="487680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28575"/>
              <a:ext cx="1584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Storage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1295631" y="7217407"/>
            <a:ext cx="1201417" cy="378457"/>
            <a:chOff x="0" y="0"/>
            <a:chExt cx="1601889" cy="504609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8509" y="8509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1601978" cy="504698"/>
            </a:xfrm>
            <a:custGeom>
              <a:avLst/>
              <a:gdLst/>
              <a:ahLst/>
              <a:cxnLst/>
              <a:rect r="r" b="b" t="t" l="l"/>
              <a:pathLst>
                <a:path h="50469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496189"/>
                  </a:lnTo>
                  <a:cubicBezTo>
                    <a:pt x="1601978" y="500888"/>
                    <a:pt x="1598168" y="504698"/>
                    <a:pt x="159346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593469" y="487680"/>
                  </a:lnTo>
                  <a:lnTo>
                    <a:pt x="1593469" y="496189"/>
                  </a:lnTo>
                  <a:lnTo>
                    <a:pt x="1584960" y="49618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11301984" y="7223760"/>
            <a:ext cx="1188720" cy="365760"/>
            <a:chOff x="0" y="0"/>
            <a:chExt cx="1584960" cy="487680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28575"/>
              <a:ext cx="1584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Hypergraph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2612367" y="7217407"/>
            <a:ext cx="1201417" cy="378457"/>
            <a:chOff x="0" y="0"/>
            <a:chExt cx="1601889" cy="504609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8509" y="8509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1601978" cy="504698"/>
            </a:xfrm>
            <a:custGeom>
              <a:avLst/>
              <a:gdLst/>
              <a:ahLst/>
              <a:cxnLst/>
              <a:rect r="r" b="b" t="t" l="l"/>
              <a:pathLst>
                <a:path h="50469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496189"/>
                  </a:lnTo>
                  <a:cubicBezTo>
                    <a:pt x="1601978" y="500888"/>
                    <a:pt x="1598168" y="504698"/>
                    <a:pt x="159346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593469" y="487680"/>
                  </a:lnTo>
                  <a:lnTo>
                    <a:pt x="1593469" y="496189"/>
                  </a:lnTo>
                  <a:lnTo>
                    <a:pt x="1584960" y="49618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3" id="203"/>
          <p:cNvGrpSpPr/>
          <p:nvPr/>
        </p:nvGrpSpPr>
        <p:grpSpPr>
          <a:xfrm rot="0">
            <a:off x="12618720" y="7223760"/>
            <a:ext cx="1188720" cy="365760"/>
            <a:chOff x="0" y="0"/>
            <a:chExt cx="1584960" cy="487680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28575"/>
              <a:ext cx="158496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Knowledge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9978895" y="7729471"/>
            <a:ext cx="3944617" cy="780793"/>
            <a:chOff x="0" y="0"/>
            <a:chExt cx="5259489" cy="1041057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8509" y="8509"/>
              <a:ext cx="52425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259578" cy="1041146"/>
            </a:xfrm>
            <a:custGeom>
              <a:avLst/>
              <a:gdLst/>
              <a:ahLst/>
              <a:cxnLst/>
              <a:rect r="r" b="b" t="t" l="l"/>
              <a:pathLst>
                <a:path h="1041146" w="5259578">
                  <a:moveTo>
                    <a:pt x="8509" y="0"/>
                  </a:moveTo>
                  <a:lnTo>
                    <a:pt x="5251069" y="0"/>
                  </a:lnTo>
                  <a:cubicBezTo>
                    <a:pt x="5255768" y="0"/>
                    <a:pt x="5259578" y="3810"/>
                    <a:pt x="5259578" y="8509"/>
                  </a:cubicBezTo>
                  <a:lnTo>
                    <a:pt x="5259578" y="1032637"/>
                  </a:lnTo>
                  <a:cubicBezTo>
                    <a:pt x="5259578" y="1037336"/>
                    <a:pt x="5255768" y="1041146"/>
                    <a:pt x="5251069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5251069" y="1024128"/>
                  </a:lnTo>
                  <a:lnTo>
                    <a:pt x="5251069" y="1032637"/>
                  </a:lnTo>
                  <a:lnTo>
                    <a:pt x="5242560" y="1032637"/>
                  </a:lnTo>
                  <a:lnTo>
                    <a:pt x="5242560" y="8509"/>
                  </a:lnTo>
                  <a:lnTo>
                    <a:pt x="5251069" y="8509"/>
                  </a:lnTo>
                  <a:lnTo>
                    <a:pt x="5251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10076688" y="7735824"/>
            <a:ext cx="3749040" cy="768096"/>
            <a:chOff x="0" y="0"/>
            <a:chExt cx="4998720" cy="102412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4998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5" r="0" b="-45105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28575"/>
              <a:ext cx="499872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Key: Central knowledge repository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14291691" y="2459355"/>
            <a:ext cx="3274314" cy="6419850"/>
            <a:chOff x="0" y="0"/>
            <a:chExt cx="4365752" cy="8559800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12700" y="12700"/>
              <a:ext cx="4340352" cy="8534400"/>
            </a:xfrm>
            <a:custGeom>
              <a:avLst/>
              <a:gdLst/>
              <a:ahLst/>
              <a:cxnLst/>
              <a:rect r="r" b="b" t="t" l="l"/>
              <a:pathLst>
                <a:path h="8534400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4365752" cy="8559800"/>
            </a:xfrm>
            <a:custGeom>
              <a:avLst/>
              <a:gdLst/>
              <a:ahLst/>
              <a:cxnLst/>
              <a:rect r="r" b="b" t="t" l="l"/>
              <a:pathLst>
                <a:path h="8559800" w="4365752">
                  <a:moveTo>
                    <a:pt x="12700" y="0"/>
                  </a:moveTo>
                  <a:lnTo>
                    <a:pt x="4353052" y="0"/>
                  </a:lnTo>
                  <a:cubicBezTo>
                    <a:pt x="4360037" y="0"/>
                    <a:pt x="4365752" y="5715"/>
                    <a:pt x="4365752" y="12700"/>
                  </a:cubicBezTo>
                  <a:lnTo>
                    <a:pt x="4365752" y="8547100"/>
                  </a:lnTo>
                  <a:cubicBezTo>
                    <a:pt x="4365752" y="8554085"/>
                    <a:pt x="4360037" y="8559800"/>
                    <a:pt x="4353052" y="8559800"/>
                  </a:cubicBezTo>
                  <a:lnTo>
                    <a:pt x="12700" y="8559800"/>
                  </a:lnTo>
                  <a:cubicBezTo>
                    <a:pt x="5715" y="8559800"/>
                    <a:pt x="0" y="8554085"/>
                    <a:pt x="0" y="85471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547100"/>
                  </a:lnTo>
                  <a:lnTo>
                    <a:pt x="12700" y="8547100"/>
                  </a:lnTo>
                  <a:lnTo>
                    <a:pt x="12700" y="8534400"/>
                  </a:lnTo>
                  <a:lnTo>
                    <a:pt x="4353052" y="8534400"/>
                  </a:lnTo>
                  <a:lnTo>
                    <a:pt x="4353052" y="8547100"/>
                  </a:lnTo>
                  <a:lnTo>
                    <a:pt x="4340352" y="8547100"/>
                  </a:lnTo>
                  <a:lnTo>
                    <a:pt x="4340352" y="12700"/>
                  </a:lnTo>
                  <a:lnTo>
                    <a:pt x="4353052" y="12700"/>
                  </a:lnTo>
                  <a:lnTo>
                    <a:pt x="435305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5" id="215"/>
          <p:cNvGrpSpPr/>
          <p:nvPr/>
        </p:nvGrpSpPr>
        <p:grpSpPr>
          <a:xfrm rot="0">
            <a:off x="14447520" y="2651760"/>
            <a:ext cx="2926080" cy="694944"/>
            <a:chOff x="0" y="0"/>
            <a:chExt cx="3901440" cy="926592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42" r="0" b="-32042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38100"/>
              <a:ext cx="3901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Component Integration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14813280" y="3511296"/>
            <a:ext cx="2194560" cy="694944"/>
            <a:chOff x="0" y="0"/>
            <a:chExt cx="2926080" cy="926592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2926080" cy="926592"/>
            </a:xfrm>
            <a:custGeom>
              <a:avLst/>
              <a:gdLst/>
              <a:ahLst/>
              <a:cxnLst/>
              <a:rect r="r" b="b" t="t" l="l"/>
              <a:pathLst>
                <a:path h="92659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14813280" y="3511296"/>
            <a:ext cx="2194560" cy="694944"/>
            <a:chOff x="0" y="0"/>
            <a:chExt cx="2926080" cy="926592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2926080" cy="926592"/>
            </a:xfrm>
            <a:custGeom>
              <a:avLst/>
              <a:gdLst/>
              <a:ahLst/>
              <a:cxnLst/>
              <a:rect r="r" b="b" t="t" l="l"/>
              <a:pathLst>
                <a:path h="92659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31" r="0" b="-11531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-38100"/>
              <a:ext cx="29260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AtomSpace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15891510" y="4187190"/>
            <a:ext cx="38100" cy="440436"/>
            <a:chOff x="0" y="0"/>
            <a:chExt cx="50800" cy="587248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25400"/>
              <a:ext cx="50800" cy="536448"/>
            </a:xfrm>
            <a:custGeom>
              <a:avLst/>
              <a:gdLst/>
              <a:ahLst/>
              <a:cxnLst/>
              <a:rect r="r" b="b" t="t" l="l"/>
              <a:pathLst>
                <a:path h="536448" w="50800">
                  <a:moveTo>
                    <a:pt x="50800" y="0"/>
                  </a:moveTo>
                  <a:lnTo>
                    <a:pt x="50800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25" id="225"/>
          <p:cNvGrpSpPr/>
          <p:nvPr/>
        </p:nvGrpSpPr>
        <p:grpSpPr>
          <a:xfrm rot="0">
            <a:off x="14532607" y="4602223"/>
            <a:ext cx="835657" cy="652777"/>
            <a:chOff x="0" y="0"/>
            <a:chExt cx="1114209" cy="870369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8509" y="8509"/>
              <a:ext cx="1097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1114298" cy="870458"/>
            </a:xfrm>
            <a:custGeom>
              <a:avLst/>
              <a:gdLst/>
              <a:ahLst/>
              <a:cxnLst/>
              <a:rect r="r" b="b" t="t" l="l"/>
              <a:pathLst>
                <a:path h="870458" w="1114298">
                  <a:moveTo>
                    <a:pt x="8509" y="0"/>
                  </a:moveTo>
                  <a:lnTo>
                    <a:pt x="1105789" y="0"/>
                  </a:lnTo>
                  <a:cubicBezTo>
                    <a:pt x="1110488" y="0"/>
                    <a:pt x="1114298" y="3810"/>
                    <a:pt x="1114298" y="8509"/>
                  </a:cubicBezTo>
                  <a:lnTo>
                    <a:pt x="1114298" y="861949"/>
                  </a:lnTo>
                  <a:cubicBezTo>
                    <a:pt x="1114298" y="866648"/>
                    <a:pt x="1110488" y="870458"/>
                    <a:pt x="110578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1105789" y="853440"/>
                  </a:lnTo>
                  <a:lnTo>
                    <a:pt x="1105789" y="861949"/>
                  </a:lnTo>
                  <a:lnTo>
                    <a:pt x="1097280" y="861949"/>
                  </a:lnTo>
                  <a:lnTo>
                    <a:pt x="1097280" y="8509"/>
                  </a:lnTo>
                  <a:lnTo>
                    <a:pt x="1105789" y="8509"/>
                  </a:lnTo>
                  <a:lnTo>
                    <a:pt x="1105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8" id="228"/>
          <p:cNvGrpSpPr/>
          <p:nvPr/>
        </p:nvGrpSpPr>
        <p:grpSpPr>
          <a:xfrm rot="0">
            <a:off x="14538960" y="4608576"/>
            <a:ext cx="822960" cy="640080"/>
            <a:chOff x="0" y="0"/>
            <a:chExt cx="1097280" cy="853440"/>
          </a:xfrm>
        </p:grpSpPr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1097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230" id="230"/>
            <p:cNvSpPr txBox="true"/>
            <p:nvPr/>
          </p:nvSpPr>
          <p:spPr>
            <a:xfrm>
              <a:off x="0" y="-38100"/>
              <a:ext cx="1097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PLN</a:t>
              </a:r>
            </a:p>
          </p:txBody>
        </p:sp>
      </p:grpSp>
      <p:grpSp>
        <p:nvGrpSpPr>
          <p:cNvPr name="Group 231" id="231"/>
          <p:cNvGrpSpPr/>
          <p:nvPr/>
        </p:nvGrpSpPr>
        <p:grpSpPr>
          <a:xfrm rot="0">
            <a:off x="15483583" y="4602223"/>
            <a:ext cx="835657" cy="652777"/>
            <a:chOff x="0" y="0"/>
            <a:chExt cx="1114209" cy="870369"/>
          </a:xfrm>
        </p:grpSpPr>
        <p:sp>
          <p:nvSpPr>
            <p:cNvPr name="Freeform 232" id="232"/>
            <p:cNvSpPr/>
            <p:nvPr/>
          </p:nvSpPr>
          <p:spPr>
            <a:xfrm flipH="false" flipV="false" rot="0">
              <a:off x="8509" y="8509"/>
              <a:ext cx="1097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1114298" cy="870458"/>
            </a:xfrm>
            <a:custGeom>
              <a:avLst/>
              <a:gdLst/>
              <a:ahLst/>
              <a:cxnLst/>
              <a:rect r="r" b="b" t="t" l="l"/>
              <a:pathLst>
                <a:path h="870458" w="1114298">
                  <a:moveTo>
                    <a:pt x="8509" y="0"/>
                  </a:moveTo>
                  <a:lnTo>
                    <a:pt x="1105789" y="0"/>
                  </a:lnTo>
                  <a:cubicBezTo>
                    <a:pt x="1110488" y="0"/>
                    <a:pt x="1114298" y="3810"/>
                    <a:pt x="1114298" y="8509"/>
                  </a:cubicBezTo>
                  <a:lnTo>
                    <a:pt x="1114298" y="861949"/>
                  </a:lnTo>
                  <a:cubicBezTo>
                    <a:pt x="1114298" y="866648"/>
                    <a:pt x="1110488" y="870458"/>
                    <a:pt x="110578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1105789" y="853440"/>
                  </a:lnTo>
                  <a:lnTo>
                    <a:pt x="1105789" y="861949"/>
                  </a:lnTo>
                  <a:lnTo>
                    <a:pt x="1097280" y="861949"/>
                  </a:lnTo>
                  <a:lnTo>
                    <a:pt x="1097280" y="8509"/>
                  </a:lnTo>
                  <a:lnTo>
                    <a:pt x="1105789" y="8509"/>
                  </a:lnTo>
                  <a:lnTo>
                    <a:pt x="1105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15489936" y="4608576"/>
            <a:ext cx="822960" cy="640080"/>
            <a:chOff x="0" y="0"/>
            <a:chExt cx="1097280" cy="853440"/>
          </a:xfrm>
        </p:grpSpPr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1097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236" id="236"/>
            <p:cNvSpPr txBox="true"/>
            <p:nvPr/>
          </p:nvSpPr>
          <p:spPr>
            <a:xfrm>
              <a:off x="0" y="-38100"/>
              <a:ext cx="1097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MOSES</a:t>
              </a:r>
            </a:p>
          </p:txBody>
        </p:sp>
      </p:grpSp>
      <p:grpSp>
        <p:nvGrpSpPr>
          <p:cNvPr name="Group 237" id="237"/>
          <p:cNvGrpSpPr/>
          <p:nvPr/>
        </p:nvGrpSpPr>
        <p:grpSpPr>
          <a:xfrm rot="0">
            <a:off x="16434559" y="4602223"/>
            <a:ext cx="835657" cy="652777"/>
            <a:chOff x="0" y="0"/>
            <a:chExt cx="1114209" cy="870369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8509" y="8509"/>
              <a:ext cx="1097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39" id="239"/>
            <p:cNvSpPr/>
            <p:nvPr/>
          </p:nvSpPr>
          <p:spPr>
            <a:xfrm flipH="false" flipV="false" rot="0">
              <a:off x="0" y="0"/>
              <a:ext cx="1114298" cy="870458"/>
            </a:xfrm>
            <a:custGeom>
              <a:avLst/>
              <a:gdLst/>
              <a:ahLst/>
              <a:cxnLst/>
              <a:rect r="r" b="b" t="t" l="l"/>
              <a:pathLst>
                <a:path h="870458" w="1114298">
                  <a:moveTo>
                    <a:pt x="8509" y="0"/>
                  </a:moveTo>
                  <a:lnTo>
                    <a:pt x="1105789" y="0"/>
                  </a:lnTo>
                  <a:cubicBezTo>
                    <a:pt x="1110488" y="0"/>
                    <a:pt x="1114298" y="3810"/>
                    <a:pt x="1114298" y="8509"/>
                  </a:cubicBezTo>
                  <a:lnTo>
                    <a:pt x="1114298" y="861949"/>
                  </a:lnTo>
                  <a:cubicBezTo>
                    <a:pt x="1114298" y="866648"/>
                    <a:pt x="1110488" y="870458"/>
                    <a:pt x="110578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1105789" y="853440"/>
                  </a:lnTo>
                  <a:lnTo>
                    <a:pt x="1105789" y="861949"/>
                  </a:lnTo>
                  <a:lnTo>
                    <a:pt x="1097280" y="861949"/>
                  </a:lnTo>
                  <a:lnTo>
                    <a:pt x="1097280" y="8509"/>
                  </a:lnTo>
                  <a:lnTo>
                    <a:pt x="1105789" y="8509"/>
                  </a:lnTo>
                  <a:lnTo>
                    <a:pt x="1105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0" id="240"/>
          <p:cNvGrpSpPr/>
          <p:nvPr/>
        </p:nvGrpSpPr>
        <p:grpSpPr>
          <a:xfrm rot="0">
            <a:off x="16440912" y="4608576"/>
            <a:ext cx="822960" cy="640080"/>
            <a:chOff x="0" y="0"/>
            <a:chExt cx="1097280" cy="853440"/>
          </a:xfrm>
        </p:grpSpPr>
        <p:sp>
          <p:nvSpPr>
            <p:cNvPr name="Freeform 241" id="241"/>
            <p:cNvSpPr/>
            <p:nvPr/>
          </p:nvSpPr>
          <p:spPr>
            <a:xfrm flipH="false" flipV="false" rot="0">
              <a:off x="0" y="0"/>
              <a:ext cx="1097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0"/>
              </a:stretch>
            </a:blipFill>
          </p:spPr>
        </p:sp>
        <p:sp>
          <p:nvSpPr>
            <p:cNvPr name="TextBox 242" id="242"/>
            <p:cNvSpPr txBox="true"/>
            <p:nvPr/>
          </p:nvSpPr>
          <p:spPr>
            <a:xfrm>
              <a:off x="0" y="-38100"/>
              <a:ext cx="1097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ECAN</a:t>
              </a:r>
            </a:p>
          </p:txBody>
        </p:sp>
      </p:grpSp>
      <p:grpSp>
        <p:nvGrpSpPr>
          <p:cNvPr name="Group 243" id="243"/>
          <p:cNvGrpSpPr/>
          <p:nvPr/>
        </p:nvGrpSpPr>
        <p:grpSpPr>
          <a:xfrm rot="0">
            <a:off x="15891510" y="5229606"/>
            <a:ext cx="38100" cy="440436"/>
            <a:chOff x="0" y="0"/>
            <a:chExt cx="50800" cy="587248"/>
          </a:xfrm>
        </p:grpSpPr>
        <p:sp>
          <p:nvSpPr>
            <p:cNvPr name="Freeform 244" id="244"/>
            <p:cNvSpPr/>
            <p:nvPr/>
          </p:nvSpPr>
          <p:spPr>
            <a:xfrm flipH="false" flipV="false" rot="0">
              <a:off x="0" y="25400"/>
              <a:ext cx="50800" cy="536448"/>
            </a:xfrm>
            <a:custGeom>
              <a:avLst/>
              <a:gdLst/>
              <a:ahLst/>
              <a:cxnLst/>
              <a:rect r="r" b="b" t="t" l="l"/>
              <a:pathLst>
                <a:path h="536448" w="50800">
                  <a:moveTo>
                    <a:pt x="50800" y="0"/>
                  </a:moveTo>
                  <a:lnTo>
                    <a:pt x="50800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45" id="245"/>
          <p:cNvGrpSpPr/>
          <p:nvPr/>
        </p:nvGrpSpPr>
        <p:grpSpPr>
          <a:xfrm rot="0">
            <a:off x="14752063" y="5644639"/>
            <a:ext cx="1201417" cy="652777"/>
            <a:chOff x="0" y="0"/>
            <a:chExt cx="1601889" cy="870369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8509" y="8509"/>
              <a:ext cx="1584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1601978" cy="870458"/>
            </a:xfrm>
            <a:custGeom>
              <a:avLst/>
              <a:gdLst/>
              <a:ahLst/>
              <a:cxnLst/>
              <a:rect r="r" b="b" t="t" l="l"/>
              <a:pathLst>
                <a:path h="87045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861949"/>
                  </a:lnTo>
                  <a:cubicBezTo>
                    <a:pt x="1601978" y="866648"/>
                    <a:pt x="1598168" y="870458"/>
                    <a:pt x="159346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1593469" y="853440"/>
                  </a:lnTo>
                  <a:lnTo>
                    <a:pt x="1593469" y="861949"/>
                  </a:lnTo>
                  <a:lnTo>
                    <a:pt x="1584960" y="86194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8" id="248"/>
          <p:cNvGrpSpPr/>
          <p:nvPr/>
        </p:nvGrpSpPr>
        <p:grpSpPr>
          <a:xfrm rot="0">
            <a:off x="14758416" y="5650992"/>
            <a:ext cx="1188720" cy="640080"/>
            <a:chOff x="0" y="0"/>
            <a:chExt cx="1584960" cy="853440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1584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086" t="0" r="-19086" b="0"/>
              </a:stretch>
            </a:blipFill>
          </p:spPr>
        </p:sp>
        <p:sp>
          <p:nvSpPr>
            <p:cNvPr name="TextBox 250" id="250"/>
            <p:cNvSpPr txBox="true"/>
            <p:nvPr/>
          </p:nvSpPr>
          <p:spPr>
            <a:xfrm>
              <a:off x="0" y="-38100"/>
              <a:ext cx="1584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Pattern</a:t>
              </a:r>
            </a:p>
          </p:txBody>
        </p:sp>
      </p:grpSp>
      <p:grpSp>
        <p:nvGrpSpPr>
          <p:cNvPr name="Group 251" id="251"/>
          <p:cNvGrpSpPr/>
          <p:nvPr/>
        </p:nvGrpSpPr>
        <p:grpSpPr>
          <a:xfrm rot="0">
            <a:off x="16068799" y="5644639"/>
            <a:ext cx="1201417" cy="652777"/>
            <a:chOff x="0" y="0"/>
            <a:chExt cx="1601889" cy="870369"/>
          </a:xfrm>
        </p:grpSpPr>
        <p:sp>
          <p:nvSpPr>
            <p:cNvPr name="Freeform 252" id="252"/>
            <p:cNvSpPr/>
            <p:nvPr/>
          </p:nvSpPr>
          <p:spPr>
            <a:xfrm flipH="false" flipV="false" rot="0">
              <a:off x="8509" y="8509"/>
              <a:ext cx="1584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1601978" cy="870458"/>
            </a:xfrm>
            <a:custGeom>
              <a:avLst/>
              <a:gdLst/>
              <a:ahLst/>
              <a:cxnLst/>
              <a:rect r="r" b="b" t="t" l="l"/>
              <a:pathLst>
                <a:path h="870458" w="1601978">
                  <a:moveTo>
                    <a:pt x="8509" y="0"/>
                  </a:moveTo>
                  <a:lnTo>
                    <a:pt x="1593469" y="0"/>
                  </a:lnTo>
                  <a:cubicBezTo>
                    <a:pt x="1598168" y="0"/>
                    <a:pt x="1601978" y="3810"/>
                    <a:pt x="1601978" y="8509"/>
                  </a:cubicBezTo>
                  <a:lnTo>
                    <a:pt x="1601978" y="861949"/>
                  </a:lnTo>
                  <a:cubicBezTo>
                    <a:pt x="1601978" y="866648"/>
                    <a:pt x="1598168" y="870458"/>
                    <a:pt x="159346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1593469" y="853440"/>
                  </a:lnTo>
                  <a:lnTo>
                    <a:pt x="1593469" y="861949"/>
                  </a:lnTo>
                  <a:lnTo>
                    <a:pt x="1584960" y="861949"/>
                  </a:lnTo>
                  <a:lnTo>
                    <a:pt x="1584960" y="8509"/>
                  </a:lnTo>
                  <a:lnTo>
                    <a:pt x="1593469" y="8509"/>
                  </a:lnTo>
                  <a:lnTo>
                    <a:pt x="1593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4" id="254"/>
          <p:cNvGrpSpPr/>
          <p:nvPr/>
        </p:nvGrpSpPr>
        <p:grpSpPr>
          <a:xfrm rot="0">
            <a:off x="16075152" y="5650992"/>
            <a:ext cx="1188720" cy="640080"/>
            <a:chOff x="0" y="0"/>
            <a:chExt cx="1584960" cy="853440"/>
          </a:xfrm>
        </p:grpSpPr>
        <p:sp>
          <p:nvSpPr>
            <p:cNvPr name="Freeform 255" id="255"/>
            <p:cNvSpPr/>
            <p:nvPr/>
          </p:nvSpPr>
          <p:spPr>
            <a:xfrm flipH="false" flipV="false" rot="0">
              <a:off x="0" y="0"/>
              <a:ext cx="1584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086" t="0" r="-19086" b="0"/>
              </a:stretch>
            </a:blipFill>
          </p:spPr>
        </p:sp>
        <p:sp>
          <p:nvSpPr>
            <p:cNvPr name="TextBox 256" id="256"/>
            <p:cNvSpPr txBox="true"/>
            <p:nvPr/>
          </p:nvSpPr>
          <p:spPr>
            <a:xfrm>
              <a:off x="0" y="-38100"/>
              <a:ext cx="1584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CogServer</a:t>
              </a:r>
            </a:p>
          </p:txBody>
        </p:sp>
      </p:grpSp>
      <p:grpSp>
        <p:nvGrpSpPr>
          <p:cNvPr name="Group 257" id="257"/>
          <p:cNvGrpSpPr/>
          <p:nvPr/>
        </p:nvGrpSpPr>
        <p:grpSpPr>
          <a:xfrm rot="0">
            <a:off x="14447520" y="6583680"/>
            <a:ext cx="2926080" cy="1005840"/>
            <a:chOff x="0" y="0"/>
            <a:chExt cx="3901440" cy="1341120"/>
          </a:xfrm>
        </p:grpSpPr>
        <p:sp>
          <p:nvSpPr>
            <p:cNvPr name="Freeform 258" id="258"/>
            <p:cNvSpPr/>
            <p:nvPr/>
          </p:nvSpPr>
          <p:spPr>
            <a:xfrm flipH="false" flipV="false" rot="0">
              <a:off x="0" y="0"/>
              <a:ext cx="3901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259" id="259"/>
            <p:cNvSpPr txBox="true"/>
            <p:nvPr/>
          </p:nvSpPr>
          <p:spPr>
            <a:xfrm>
              <a:off x="0" y="-38100"/>
              <a:ext cx="39014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Integrated cognitive processes on a shared knowledge base.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vs Deep Learning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Comparative Analysis of AI Approaches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27/53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499616"/>
            <a:ext cx="14630400" cy="822960"/>
            <a:chOff x="0" y="0"/>
            <a:chExt cx="195072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950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vs Deep Learning: Architecture Comparison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21995" y="2459355"/>
            <a:ext cx="8522970" cy="5139690"/>
            <a:chOff x="0" y="0"/>
            <a:chExt cx="11363960" cy="6852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133856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63960" cy="6852920"/>
            </a:xfrm>
            <a:custGeom>
              <a:avLst/>
              <a:gdLst/>
              <a:ahLst/>
              <a:cxnLst/>
              <a:rect r="r" b="b" t="t" l="l"/>
              <a:pathLst>
                <a:path h="6852920" w="11363960">
                  <a:moveTo>
                    <a:pt x="12700" y="0"/>
                  </a:moveTo>
                  <a:lnTo>
                    <a:pt x="11351260" y="0"/>
                  </a:lnTo>
                  <a:cubicBezTo>
                    <a:pt x="11358245" y="0"/>
                    <a:pt x="11363960" y="5715"/>
                    <a:pt x="11363960" y="12700"/>
                  </a:cubicBezTo>
                  <a:lnTo>
                    <a:pt x="11363960" y="6840220"/>
                  </a:lnTo>
                  <a:cubicBezTo>
                    <a:pt x="11363960" y="6847205"/>
                    <a:pt x="11358245" y="6852920"/>
                    <a:pt x="11351260" y="6852920"/>
                  </a:cubicBezTo>
                  <a:lnTo>
                    <a:pt x="12700" y="6852920"/>
                  </a:lnTo>
                  <a:cubicBezTo>
                    <a:pt x="5715" y="6852920"/>
                    <a:pt x="0" y="6847205"/>
                    <a:pt x="0" y="6840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840220"/>
                  </a:lnTo>
                  <a:lnTo>
                    <a:pt x="12700" y="6840220"/>
                  </a:lnTo>
                  <a:lnTo>
                    <a:pt x="12700" y="6827520"/>
                  </a:lnTo>
                  <a:lnTo>
                    <a:pt x="11351260" y="6827520"/>
                  </a:lnTo>
                  <a:lnTo>
                    <a:pt x="11351260" y="6840220"/>
                  </a:lnTo>
                  <a:lnTo>
                    <a:pt x="11338560" y="6840220"/>
                  </a:lnTo>
                  <a:lnTo>
                    <a:pt x="11338560" y="12700"/>
                  </a:lnTo>
                  <a:lnTo>
                    <a:pt x="11351260" y="12700"/>
                  </a:lnTo>
                  <a:lnTo>
                    <a:pt x="11351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0976" y="2596896"/>
            <a:ext cx="8046720" cy="512064"/>
            <a:chOff x="0" y="0"/>
            <a:chExt cx="1072896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72896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0976" y="3163824"/>
            <a:ext cx="8046720" cy="365760"/>
            <a:chOff x="0" y="0"/>
            <a:chExt cx="10728960" cy="487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28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728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Cognitive Architecture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4623" y="3651247"/>
            <a:ext cx="8059417" cy="1018537"/>
            <a:chOff x="0" y="0"/>
            <a:chExt cx="10745889" cy="135804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8509" y="8509"/>
              <a:ext cx="107289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45978" cy="1358138"/>
            </a:xfrm>
            <a:custGeom>
              <a:avLst/>
              <a:gdLst/>
              <a:ahLst/>
              <a:cxnLst/>
              <a:rect r="r" b="b" t="t" l="l"/>
              <a:pathLst>
                <a:path h="135813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1349629"/>
                  </a:lnTo>
                  <a:cubicBezTo>
                    <a:pt x="10745978" y="1354328"/>
                    <a:pt x="10742168" y="1358138"/>
                    <a:pt x="10737469" y="1358138"/>
                  </a:cubicBezTo>
                  <a:lnTo>
                    <a:pt x="8509" y="1358138"/>
                  </a:lnTo>
                  <a:cubicBezTo>
                    <a:pt x="3810" y="1358138"/>
                    <a:pt x="0" y="1354328"/>
                    <a:pt x="0" y="13496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49629"/>
                  </a:lnTo>
                  <a:lnTo>
                    <a:pt x="8509" y="1349629"/>
                  </a:lnTo>
                  <a:lnTo>
                    <a:pt x="8509" y="1341120"/>
                  </a:lnTo>
                  <a:lnTo>
                    <a:pt x="10737469" y="1341120"/>
                  </a:lnTo>
                  <a:lnTo>
                    <a:pt x="10737469" y="1349629"/>
                  </a:lnTo>
                  <a:lnTo>
                    <a:pt x="10728960" y="134962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60704" y="3785616"/>
            <a:ext cx="512064" cy="512064"/>
            <a:chOff x="0" y="0"/>
            <a:chExt cx="682752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60704" y="3785616"/>
            <a:ext cx="512064" cy="512064"/>
            <a:chOff x="0" y="0"/>
            <a:chExt cx="682752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82496" y="3767328"/>
            <a:ext cx="7132320" cy="365760"/>
            <a:chOff x="0" y="0"/>
            <a:chExt cx="9509760" cy="487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09760" cy="487680"/>
            </a:xfrm>
            <a:custGeom>
              <a:avLst/>
              <a:gdLst/>
              <a:ahLst/>
              <a:cxnLst/>
              <a:rect r="r" b="b" t="t" l="l"/>
              <a:pathLst>
                <a:path h="4876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509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Symbolic + Neural Integration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682496" y="4151376"/>
            <a:ext cx="7132320" cy="402336"/>
            <a:chOff x="0" y="0"/>
            <a:chExt cx="9509760" cy="5364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09760" cy="536448"/>
            </a:xfrm>
            <a:custGeom>
              <a:avLst/>
              <a:gdLst/>
              <a:ahLst/>
              <a:cxnLst/>
              <a:rect r="r" b="b" t="t" l="l"/>
              <a:pathLst>
                <a:path h="53644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416" r="0" b="-29541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5097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Combines logical reasoning with statistical learning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44623" y="4839967"/>
            <a:ext cx="8059417" cy="1018537"/>
            <a:chOff x="0" y="0"/>
            <a:chExt cx="10745889" cy="135804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8509" y="8509"/>
              <a:ext cx="107289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45978" cy="1358138"/>
            </a:xfrm>
            <a:custGeom>
              <a:avLst/>
              <a:gdLst/>
              <a:ahLst/>
              <a:cxnLst/>
              <a:rect r="r" b="b" t="t" l="l"/>
              <a:pathLst>
                <a:path h="135813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1349629"/>
                  </a:lnTo>
                  <a:cubicBezTo>
                    <a:pt x="10745978" y="1354328"/>
                    <a:pt x="10742168" y="1358138"/>
                    <a:pt x="10737469" y="1358138"/>
                  </a:cubicBezTo>
                  <a:lnTo>
                    <a:pt x="8509" y="1358138"/>
                  </a:lnTo>
                  <a:cubicBezTo>
                    <a:pt x="3810" y="1358138"/>
                    <a:pt x="0" y="1354328"/>
                    <a:pt x="0" y="13496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49629"/>
                  </a:lnTo>
                  <a:lnTo>
                    <a:pt x="8509" y="1349629"/>
                  </a:lnTo>
                  <a:lnTo>
                    <a:pt x="8509" y="1341120"/>
                  </a:lnTo>
                  <a:lnTo>
                    <a:pt x="10737469" y="1341120"/>
                  </a:lnTo>
                  <a:lnTo>
                    <a:pt x="10737469" y="1349629"/>
                  </a:lnTo>
                  <a:lnTo>
                    <a:pt x="10728960" y="134962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60704" y="4974336"/>
            <a:ext cx="512064" cy="512064"/>
            <a:chOff x="0" y="0"/>
            <a:chExt cx="682752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60704" y="4974336"/>
            <a:ext cx="512064" cy="512064"/>
            <a:chOff x="0" y="0"/>
            <a:chExt cx="682752" cy="6827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82496" y="4956048"/>
            <a:ext cx="7132320" cy="365760"/>
            <a:chOff x="0" y="0"/>
            <a:chExt cx="9509760" cy="4876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09760" cy="487680"/>
            </a:xfrm>
            <a:custGeom>
              <a:avLst/>
              <a:gdLst/>
              <a:ahLst/>
              <a:cxnLst/>
              <a:rect r="r" b="b" t="t" l="l"/>
              <a:pathLst>
                <a:path h="4876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9509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Interpretable AI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82496" y="5340096"/>
            <a:ext cx="7132320" cy="402336"/>
            <a:chOff x="0" y="0"/>
            <a:chExt cx="9509760" cy="53644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509760" cy="536448"/>
            </a:xfrm>
            <a:custGeom>
              <a:avLst/>
              <a:gdLst/>
              <a:ahLst/>
              <a:cxnLst/>
              <a:rect r="r" b="b" t="t" l="l"/>
              <a:pathLst>
                <a:path h="53644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416" r="0" b="-29541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95097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Transparent reasoning with explainable decisions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44623" y="6028687"/>
            <a:ext cx="8059417" cy="1018537"/>
            <a:chOff x="0" y="0"/>
            <a:chExt cx="10745889" cy="135804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8509" y="8509"/>
              <a:ext cx="107289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745978" cy="1358138"/>
            </a:xfrm>
            <a:custGeom>
              <a:avLst/>
              <a:gdLst/>
              <a:ahLst/>
              <a:cxnLst/>
              <a:rect r="r" b="b" t="t" l="l"/>
              <a:pathLst>
                <a:path h="135813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1349629"/>
                  </a:lnTo>
                  <a:cubicBezTo>
                    <a:pt x="10745978" y="1354328"/>
                    <a:pt x="10742168" y="1358138"/>
                    <a:pt x="10737469" y="1358138"/>
                  </a:cubicBezTo>
                  <a:lnTo>
                    <a:pt x="8509" y="1358138"/>
                  </a:lnTo>
                  <a:cubicBezTo>
                    <a:pt x="3810" y="1358138"/>
                    <a:pt x="0" y="1354328"/>
                    <a:pt x="0" y="13496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49629"/>
                  </a:lnTo>
                  <a:lnTo>
                    <a:pt x="8509" y="1349629"/>
                  </a:lnTo>
                  <a:lnTo>
                    <a:pt x="8509" y="1341120"/>
                  </a:lnTo>
                  <a:lnTo>
                    <a:pt x="10737469" y="1341120"/>
                  </a:lnTo>
                  <a:lnTo>
                    <a:pt x="10737469" y="1349629"/>
                  </a:lnTo>
                  <a:lnTo>
                    <a:pt x="10728960" y="134962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60704" y="6163056"/>
            <a:ext cx="512064" cy="512064"/>
            <a:chOff x="0" y="0"/>
            <a:chExt cx="682752" cy="68275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60704" y="6163056"/>
            <a:ext cx="512064" cy="512064"/>
            <a:chOff x="0" y="0"/>
            <a:chExt cx="682752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82496" y="6144768"/>
            <a:ext cx="7132320" cy="365760"/>
            <a:chOff x="0" y="0"/>
            <a:chExt cx="9509760" cy="4876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509760" cy="487680"/>
            </a:xfrm>
            <a:custGeom>
              <a:avLst/>
              <a:gdLst/>
              <a:ahLst/>
              <a:cxnLst/>
              <a:rect r="r" b="b" t="t" l="l"/>
              <a:pathLst>
                <a:path h="4876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9509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Knowledge Representation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682496" y="6528816"/>
            <a:ext cx="7132320" cy="402336"/>
            <a:chOff x="0" y="0"/>
            <a:chExt cx="9509760" cy="53644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509760" cy="536448"/>
            </a:xfrm>
            <a:custGeom>
              <a:avLst/>
              <a:gdLst/>
              <a:ahLst/>
              <a:cxnLst/>
              <a:rect r="r" b="b" t="t" l="l"/>
              <a:pathLst>
                <a:path h="53644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416" r="0" b="-29541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5097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Hypergraph-based semantic networks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91675" y="2459355"/>
            <a:ext cx="8522970" cy="5139690"/>
            <a:chOff x="0" y="0"/>
            <a:chExt cx="11363960" cy="68529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2700" y="12700"/>
              <a:ext cx="1133856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363960" cy="6852920"/>
            </a:xfrm>
            <a:custGeom>
              <a:avLst/>
              <a:gdLst/>
              <a:ahLst/>
              <a:cxnLst/>
              <a:rect r="r" b="b" t="t" l="l"/>
              <a:pathLst>
                <a:path h="6852920" w="11363960">
                  <a:moveTo>
                    <a:pt x="12700" y="0"/>
                  </a:moveTo>
                  <a:lnTo>
                    <a:pt x="11351260" y="0"/>
                  </a:lnTo>
                  <a:cubicBezTo>
                    <a:pt x="11358245" y="0"/>
                    <a:pt x="11363960" y="5715"/>
                    <a:pt x="11363960" y="12700"/>
                  </a:cubicBezTo>
                  <a:lnTo>
                    <a:pt x="11363960" y="6840220"/>
                  </a:lnTo>
                  <a:cubicBezTo>
                    <a:pt x="11363960" y="6847205"/>
                    <a:pt x="11358245" y="6852920"/>
                    <a:pt x="11351260" y="6852920"/>
                  </a:cubicBezTo>
                  <a:lnTo>
                    <a:pt x="12700" y="6852920"/>
                  </a:lnTo>
                  <a:cubicBezTo>
                    <a:pt x="5715" y="6852920"/>
                    <a:pt x="0" y="6847205"/>
                    <a:pt x="0" y="6840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840220"/>
                  </a:lnTo>
                  <a:lnTo>
                    <a:pt x="12700" y="6840220"/>
                  </a:lnTo>
                  <a:lnTo>
                    <a:pt x="12700" y="6827520"/>
                  </a:lnTo>
                  <a:lnTo>
                    <a:pt x="11351260" y="6827520"/>
                  </a:lnTo>
                  <a:lnTo>
                    <a:pt x="11351260" y="6840220"/>
                  </a:lnTo>
                  <a:lnTo>
                    <a:pt x="11338560" y="6840220"/>
                  </a:lnTo>
                  <a:lnTo>
                    <a:pt x="11338560" y="12700"/>
                  </a:lnTo>
                  <a:lnTo>
                    <a:pt x="11351260" y="12700"/>
                  </a:lnTo>
                  <a:lnTo>
                    <a:pt x="11351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820656" y="2596896"/>
            <a:ext cx="8046720" cy="512064"/>
            <a:chOff x="0" y="0"/>
            <a:chExt cx="10728960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66675"/>
              <a:ext cx="1072896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Learning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820656" y="3163824"/>
            <a:ext cx="8046720" cy="365760"/>
            <a:chOff x="0" y="0"/>
            <a:chExt cx="10728960" cy="4876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728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0728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Neural Network Approach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814303" y="3651247"/>
            <a:ext cx="8059417" cy="1018537"/>
            <a:chOff x="0" y="0"/>
            <a:chExt cx="10745889" cy="135804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8509" y="8509"/>
              <a:ext cx="107289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745978" cy="1358138"/>
            </a:xfrm>
            <a:custGeom>
              <a:avLst/>
              <a:gdLst/>
              <a:ahLst/>
              <a:cxnLst/>
              <a:rect r="r" b="b" t="t" l="l"/>
              <a:pathLst>
                <a:path h="135813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1349629"/>
                  </a:lnTo>
                  <a:cubicBezTo>
                    <a:pt x="10745978" y="1354328"/>
                    <a:pt x="10742168" y="1358138"/>
                    <a:pt x="10737469" y="1358138"/>
                  </a:cubicBezTo>
                  <a:lnTo>
                    <a:pt x="8509" y="1358138"/>
                  </a:lnTo>
                  <a:cubicBezTo>
                    <a:pt x="3810" y="1358138"/>
                    <a:pt x="0" y="1354328"/>
                    <a:pt x="0" y="13496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49629"/>
                  </a:lnTo>
                  <a:lnTo>
                    <a:pt x="8509" y="1349629"/>
                  </a:lnTo>
                  <a:lnTo>
                    <a:pt x="8509" y="1341120"/>
                  </a:lnTo>
                  <a:lnTo>
                    <a:pt x="10737469" y="1341120"/>
                  </a:lnTo>
                  <a:lnTo>
                    <a:pt x="10737469" y="1349629"/>
                  </a:lnTo>
                  <a:lnTo>
                    <a:pt x="10728960" y="134962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930384" y="3785616"/>
            <a:ext cx="512064" cy="512064"/>
            <a:chOff x="0" y="0"/>
            <a:chExt cx="682752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930384" y="3785616"/>
            <a:ext cx="512064" cy="512064"/>
            <a:chOff x="0" y="0"/>
            <a:chExt cx="682752" cy="6827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552176" y="3767328"/>
            <a:ext cx="7132320" cy="365760"/>
            <a:chOff x="0" y="0"/>
            <a:chExt cx="9509760" cy="4876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509760" cy="487680"/>
            </a:xfrm>
            <a:custGeom>
              <a:avLst/>
              <a:gdLst/>
              <a:ahLst/>
              <a:cxnLst/>
              <a:rect r="r" b="b" t="t" l="l"/>
              <a:pathLst>
                <a:path h="4876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9509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Statistical Learning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552176" y="4151376"/>
            <a:ext cx="7132320" cy="402336"/>
            <a:chOff x="0" y="0"/>
            <a:chExt cx="9509760" cy="53644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509760" cy="536448"/>
            </a:xfrm>
            <a:custGeom>
              <a:avLst/>
              <a:gdLst/>
              <a:ahLst/>
              <a:cxnLst/>
              <a:rect r="r" b="b" t="t" l="l"/>
              <a:pathLst>
                <a:path h="53644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416" r="0" b="-29541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95097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Pattern recognition through training data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814303" y="4839967"/>
            <a:ext cx="8059417" cy="1018537"/>
            <a:chOff x="0" y="0"/>
            <a:chExt cx="10745889" cy="135804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8509" y="8509"/>
              <a:ext cx="107289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745978" cy="1358138"/>
            </a:xfrm>
            <a:custGeom>
              <a:avLst/>
              <a:gdLst/>
              <a:ahLst/>
              <a:cxnLst/>
              <a:rect r="r" b="b" t="t" l="l"/>
              <a:pathLst>
                <a:path h="135813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1349629"/>
                  </a:lnTo>
                  <a:cubicBezTo>
                    <a:pt x="10745978" y="1354328"/>
                    <a:pt x="10742168" y="1358138"/>
                    <a:pt x="10737469" y="1358138"/>
                  </a:cubicBezTo>
                  <a:lnTo>
                    <a:pt x="8509" y="1358138"/>
                  </a:lnTo>
                  <a:cubicBezTo>
                    <a:pt x="3810" y="1358138"/>
                    <a:pt x="0" y="1354328"/>
                    <a:pt x="0" y="13496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49629"/>
                  </a:lnTo>
                  <a:lnTo>
                    <a:pt x="8509" y="1349629"/>
                  </a:lnTo>
                  <a:lnTo>
                    <a:pt x="8509" y="1341120"/>
                  </a:lnTo>
                  <a:lnTo>
                    <a:pt x="10737469" y="1341120"/>
                  </a:lnTo>
                  <a:lnTo>
                    <a:pt x="10737469" y="1349629"/>
                  </a:lnTo>
                  <a:lnTo>
                    <a:pt x="10728960" y="134962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930384" y="4974336"/>
            <a:ext cx="512064" cy="512064"/>
            <a:chOff x="0" y="0"/>
            <a:chExt cx="682752" cy="68275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9930384" y="4974336"/>
            <a:ext cx="512064" cy="512064"/>
            <a:chOff x="0" y="0"/>
            <a:chExt cx="682752" cy="68275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0552176" y="4956048"/>
            <a:ext cx="7132320" cy="365760"/>
            <a:chOff x="0" y="0"/>
            <a:chExt cx="9509760" cy="48768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509760" cy="487680"/>
            </a:xfrm>
            <a:custGeom>
              <a:avLst/>
              <a:gdLst/>
              <a:ahLst/>
              <a:cxnLst/>
              <a:rect r="r" b="b" t="t" l="l"/>
              <a:pathLst>
                <a:path h="4876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9509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 Performance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0552176" y="5340096"/>
            <a:ext cx="7132320" cy="402336"/>
            <a:chOff x="0" y="0"/>
            <a:chExt cx="9509760" cy="53644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509760" cy="536448"/>
            </a:xfrm>
            <a:custGeom>
              <a:avLst/>
              <a:gdLst/>
              <a:ahLst/>
              <a:cxnLst/>
              <a:rect r="r" b="b" t="t" l="l"/>
              <a:pathLst>
                <a:path h="53644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416" r="0" b="-295416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95097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Excellent for specific tasks with large datasets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814303" y="6028687"/>
            <a:ext cx="8059417" cy="1018537"/>
            <a:chOff x="0" y="0"/>
            <a:chExt cx="10745889" cy="1358049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8509" y="8509"/>
              <a:ext cx="107289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745978" cy="1358138"/>
            </a:xfrm>
            <a:custGeom>
              <a:avLst/>
              <a:gdLst/>
              <a:ahLst/>
              <a:cxnLst/>
              <a:rect r="r" b="b" t="t" l="l"/>
              <a:pathLst>
                <a:path h="135813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1349629"/>
                  </a:lnTo>
                  <a:cubicBezTo>
                    <a:pt x="10745978" y="1354328"/>
                    <a:pt x="10742168" y="1358138"/>
                    <a:pt x="10737469" y="1358138"/>
                  </a:cubicBezTo>
                  <a:lnTo>
                    <a:pt x="8509" y="1358138"/>
                  </a:lnTo>
                  <a:cubicBezTo>
                    <a:pt x="3810" y="1358138"/>
                    <a:pt x="0" y="1354328"/>
                    <a:pt x="0" y="13496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49629"/>
                  </a:lnTo>
                  <a:lnTo>
                    <a:pt x="8509" y="1349629"/>
                  </a:lnTo>
                  <a:lnTo>
                    <a:pt x="8509" y="1341120"/>
                  </a:lnTo>
                  <a:lnTo>
                    <a:pt x="10737469" y="1341120"/>
                  </a:lnTo>
                  <a:lnTo>
                    <a:pt x="10737469" y="1349629"/>
                  </a:lnTo>
                  <a:lnTo>
                    <a:pt x="10728960" y="134962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9930384" y="6163056"/>
            <a:ext cx="512064" cy="512064"/>
            <a:chOff x="0" y="0"/>
            <a:chExt cx="682752" cy="68275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930384" y="6163056"/>
            <a:ext cx="512064" cy="512064"/>
            <a:chOff x="0" y="0"/>
            <a:chExt cx="682752" cy="68275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68275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552176" y="6144768"/>
            <a:ext cx="7132320" cy="365760"/>
            <a:chOff x="0" y="0"/>
            <a:chExt cx="9509760" cy="4876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509760" cy="487680"/>
            </a:xfrm>
            <a:custGeom>
              <a:avLst/>
              <a:gdLst/>
              <a:ahLst/>
              <a:cxnLst/>
              <a:rect r="r" b="b" t="t" l="l"/>
              <a:pathLst>
                <a:path h="4876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95097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Black Box Model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552176" y="6528816"/>
            <a:ext cx="7132320" cy="402336"/>
            <a:chOff x="0" y="0"/>
            <a:chExt cx="9509760" cy="53644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509760" cy="536448"/>
            </a:xfrm>
            <a:custGeom>
              <a:avLst/>
              <a:gdLst/>
              <a:ahLst/>
              <a:cxnLst/>
              <a:rect r="r" b="b" t="t" l="l"/>
              <a:pathLst>
                <a:path h="53644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416" r="0" b="-29541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95097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Limited interpretability of decisions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721995" y="7762875"/>
            <a:ext cx="16844010" cy="2067306"/>
            <a:chOff x="0" y="0"/>
            <a:chExt cx="22458680" cy="275640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2700" y="12700"/>
              <a:ext cx="22433280" cy="2731008"/>
            </a:xfrm>
            <a:custGeom>
              <a:avLst/>
              <a:gdLst/>
              <a:ahLst/>
              <a:cxnLst/>
              <a:rect r="r" b="b" t="t" l="l"/>
              <a:pathLst>
                <a:path h="27310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731008"/>
                  </a:lnTo>
                  <a:lnTo>
                    <a:pt x="0" y="27310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2458680" cy="2756408"/>
            </a:xfrm>
            <a:custGeom>
              <a:avLst/>
              <a:gdLst/>
              <a:ahLst/>
              <a:cxnLst/>
              <a:rect r="r" b="b" t="t" l="l"/>
              <a:pathLst>
                <a:path h="2756408" w="22458680">
                  <a:moveTo>
                    <a:pt x="12700" y="0"/>
                  </a:moveTo>
                  <a:lnTo>
                    <a:pt x="22445980" y="0"/>
                  </a:lnTo>
                  <a:cubicBezTo>
                    <a:pt x="22452966" y="0"/>
                    <a:pt x="22458680" y="5715"/>
                    <a:pt x="22458680" y="12700"/>
                  </a:cubicBezTo>
                  <a:lnTo>
                    <a:pt x="22458680" y="2743708"/>
                  </a:lnTo>
                  <a:cubicBezTo>
                    <a:pt x="22458680" y="2750693"/>
                    <a:pt x="22452966" y="2756408"/>
                    <a:pt x="22445980" y="2756408"/>
                  </a:cubicBezTo>
                  <a:lnTo>
                    <a:pt x="12700" y="2756408"/>
                  </a:lnTo>
                  <a:cubicBezTo>
                    <a:pt x="5715" y="2756408"/>
                    <a:pt x="0" y="2750693"/>
                    <a:pt x="0" y="274370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743708"/>
                  </a:lnTo>
                  <a:lnTo>
                    <a:pt x="12700" y="2743708"/>
                  </a:lnTo>
                  <a:lnTo>
                    <a:pt x="12700" y="2731008"/>
                  </a:lnTo>
                  <a:lnTo>
                    <a:pt x="22445980" y="2731008"/>
                  </a:lnTo>
                  <a:lnTo>
                    <a:pt x="22445980" y="2743708"/>
                  </a:lnTo>
                  <a:lnTo>
                    <a:pt x="22433280" y="2743708"/>
                  </a:lnTo>
                  <a:lnTo>
                    <a:pt x="22433280" y="12700"/>
                  </a:lnTo>
                  <a:lnTo>
                    <a:pt x="22445980" y="12700"/>
                  </a:lnTo>
                  <a:lnTo>
                    <a:pt x="224459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725167" y="7766047"/>
            <a:ext cx="4218937" cy="652777"/>
            <a:chOff x="0" y="0"/>
            <a:chExt cx="5625249" cy="87036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8509" y="8509"/>
              <a:ext cx="5608320" cy="853440"/>
            </a:xfrm>
            <a:custGeom>
              <a:avLst/>
              <a:gdLst/>
              <a:ahLst/>
              <a:cxnLst/>
              <a:rect r="r" b="b" t="t" l="l"/>
              <a:pathLst>
                <a:path h="85344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625338" cy="870458"/>
            </a:xfrm>
            <a:custGeom>
              <a:avLst/>
              <a:gdLst/>
              <a:ahLst/>
              <a:cxnLst/>
              <a:rect r="r" b="b" t="t" l="l"/>
              <a:pathLst>
                <a:path h="870458" w="5625338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861949"/>
                  </a:lnTo>
                  <a:cubicBezTo>
                    <a:pt x="5625338" y="866648"/>
                    <a:pt x="5621528" y="870458"/>
                    <a:pt x="561682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5616829" y="853440"/>
                  </a:lnTo>
                  <a:lnTo>
                    <a:pt x="5616829" y="861949"/>
                  </a:lnTo>
                  <a:lnTo>
                    <a:pt x="5608320" y="861949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822960" y="7772400"/>
            <a:ext cx="4023360" cy="640080"/>
            <a:chOff x="0" y="0"/>
            <a:chExt cx="5364480" cy="8534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4931407" y="7766047"/>
            <a:ext cx="4218937" cy="652777"/>
            <a:chOff x="0" y="0"/>
            <a:chExt cx="5625249" cy="870369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8509" y="8509"/>
              <a:ext cx="5608320" cy="853440"/>
            </a:xfrm>
            <a:custGeom>
              <a:avLst/>
              <a:gdLst/>
              <a:ahLst/>
              <a:cxnLst/>
              <a:rect r="r" b="b" t="t" l="l"/>
              <a:pathLst>
                <a:path h="85344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625338" cy="870458"/>
            </a:xfrm>
            <a:custGeom>
              <a:avLst/>
              <a:gdLst/>
              <a:ahLst/>
              <a:cxnLst/>
              <a:rect r="r" b="b" t="t" l="l"/>
              <a:pathLst>
                <a:path h="870458" w="5625338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861949"/>
                  </a:lnTo>
                  <a:cubicBezTo>
                    <a:pt x="5625338" y="866648"/>
                    <a:pt x="5621528" y="870458"/>
                    <a:pt x="561682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5616829" y="853440"/>
                  </a:lnTo>
                  <a:lnTo>
                    <a:pt x="5616829" y="861949"/>
                  </a:lnTo>
                  <a:lnTo>
                    <a:pt x="5608320" y="861949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29200" y="7772400"/>
            <a:ext cx="4023360" cy="640080"/>
            <a:chOff x="0" y="0"/>
            <a:chExt cx="5364480" cy="85344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9137647" y="7766047"/>
            <a:ext cx="4218937" cy="652777"/>
            <a:chOff x="0" y="0"/>
            <a:chExt cx="5625249" cy="870369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8509" y="8509"/>
              <a:ext cx="5608320" cy="853440"/>
            </a:xfrm>
            <a:custGeom>
              <a:avLst/>
              <a:gdLst/>
              <a:ahLst/>
              <a:cxnLst/>
              <a:rect r="r" b="b" t="t" l="l"/>
              <a:pathLst>
                <a:path h="85344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625338" cy="870458"/>
            </a:xfrm>
            <a:custGeom>
              <a:avLst/>
              <a:gdLst/>
              <a:ahLst/>
              <a:cxnLst/>
              <a:rect r="r" b="b" t="t" l="l"/>
              <a:pathLst>
                <a:path h="870458" w="5625338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861949"/>
                  </a:lnTo>
                  <a:cubicBezTo>
                    <a:pt x="5625338" y="866648"/>
                    <a:pt x="5621528" y="870458"/>
                    <a:pt x="561682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5616829" y="853440"/>
                  </a:lnTo>
                  <a:lnTo>
                    <a:pt x="5616829" y="861949"/>
                  </a:lnTo>
                  <a:lnTo>
                    <a:pt x="5608320" y="861949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9235440" y="7772400"/>
            <a:ext cx="4023360" cy="640080"/>
            <a:chOff x="0" y="0"/>
            <a:chExt cx="5364480" cy="85344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Learning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3343887" y="7766047"/>
            <a:ext cx="4218937" cy="652777"/>
            <a:chOff x="0" y="0"/>
            <a:chExt cx="5625249" cy="870369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8509" y="8509"/>
              <a:ext cx="5608320" cy="853440"/>
            </a:xfrm>
            <a:custGeom>
              <a:avLst/>
              <a:gdLst/>
              <a:ahLst/>
              <a:cxnLst/>
              <a:rect r="r" b="b" t="t" l="l"/>
              <a:pathLst>
                <a:path h="85344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5625338" cy="870458"/>
            </a:xfrm>
            <a:custGeom>
              <a:avLst/>
              <a:gdLst/>
              <a:ahLst/>
              <a:cxnLst/>
              <a:rect r="r" b="b" t="t" l="l"/>
              <a:pathLst>
                <a:path h="870458" w="5625338">
                  <a:moveTo>
                    <a:pt x="8509" y="0"/>
                  </a:moveTo>
                  <a:lnTo>
                    <a:pt x="5616829" y="0"/>
                  </a:lnTo>
                  <a:cubicBezTo>
                    <a:pt x="5621528" y="0"/>
                    <a:pt x="5625338" y="3810"/>
                    <a:pt x="5625338" y="8509"/>
                  </a:cubicBezTo>
                  <a:lnTo>
                    <a:pt x="5625338" y="861949"/>
                  </a:lnTo>
                  <a:cubicBezTo>
                    <a:pt x="5625338" y="866648"/>
                    <a:pt x="5621528" y="870458"/>
                    <a:pt x="561682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5616829" y="853440"/>
                  </a:lnTo>
                  <a:lnTo>
                    <a:pt x="5616829" y="861949"/>
                  </a:lnTo>
                  <a:lnTo>
                    <a:pt x="5608320" y="861949"/>
                  </a:lnTo>
                  <a:lnTo>
                    <a:pt x="5608320" y="8509"/>
                  </a:lnTo>
                  <a:lnTo>
                    <a:pt x="5616829" y="8509"/>
                  </a:lnTo>
                  <a:lnTo>
                    <a:pt x="56168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3441680" y="7772400"/>
            <a:ext cx="4023360" cy="640080"/>
            <a:chOff x="0" y="0"/>
            <a:chExt cx="5364480" cy="853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53644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Winner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822960" y="8449056"/>
            <a:ext cx="4023360" cy="402336"/>
            <a:chOff x="0" y="0"/>
            <a:chExt cx="5364480" cy="53644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53644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Interpretability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5029200" y="8449056"/>
            <a:ext cx="4023360" cy="402336"/>
            <a:chOff x="0" y="0"/>
            <a:chExt cx="5364480" cy="53644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53644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 (symbolic reasoning)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9235440" y="8449056"/>
            <a:ext cx="4023360" cy="402336"/>
            <a:chOff x="0" y="0"/>
            <a:chExt cx="5364480" cy="536448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53644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 (black box)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3441680" y="8449056"/>
            <a:ext cx="4023360" cy="402336"/>
            <a:chOff x="0" y="0"/>
            <a:chExt cx="5364480" cy="53644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53644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822960" y="8906256"/>
            <a:ext cx="4023360" cy="402336"/>
            <a:chOff x="0" y="0"/>
            <a:chExt cx="5364480" cy="53644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53644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Learning Type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5029200" y="8906256"/>
            <a:ext cx="4023360" cy="402336"/>
            <a:chOff x="0" y="0"/>
            <a:chExt cx="5364480" cy="53644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53644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Symbolic + Statistical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9235440" y="8906256"/>
            <a:ext cx="4023360" cy="402336"/>
            <a:chOff x="0" y="0"/>
            <a:chExt cx="5364480" cy="536448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38100"/>
              <a:ext cx="53644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Statistical only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3441680" y="8906256"/>
            <a:ext cx="4023360" cy="402336"/>
            <a:chOff x="0" y="0"/>
            <a:chExt cx="5364480" cy="536448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53644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822960" y="9363456"/>
            <a:ext cx="4023360" cy="402336"/>
            <a:chOff x="0" y="0"/>
            <a:chExt cx="5364480" cy="536448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53644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Dependency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5029200" y="9363456"/>
            <a:ext cx="4023360" cy="402336"/>
            <a:chOff x="0" y="0"/>
            <a:chExt cx="5364480" cy="536448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53644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Moderate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9235440" y="9363456"/>
            <a:ext cx="4023360" cy="402336"/>
            <a:chOff x="0" y="0"/>
            <a:chExt cx="5364480" cy="536448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53644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 (data-hungry)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3441680" y="9363456"/>
            <a:ext cx="4023360" cy="402336"/>
            <a:chOff x="0" y="0"/>
            <a:chExt cx="5364480" cy="536448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53644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vs Deep Learning: Comparison Matrix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Interpretability and Learning Type Analysis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28/53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499616"/>
            <a:ext cx="14630400" cy="822960"/>
            <a:chOff x="0" y="0"/>
            <a:chExt cx="195072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950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Comparison Matrix: Interpretability &amp; Learning Type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21995" y="2459355"/>
            <a:ext cx="8522970" cy="6968490"/>
            <a:chOff x="0" y="0"/>
            <a:chExt cx="11363960" cy="92913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1338560" cy="9265920"/>
            </a:xfrm>
            <a:custGeom>
              <a:avLst/>
              <a:gdLst/>
              <a:ahLst/>
              <a:cxnLst/>
              <a:rect r="r" b="b" t="t" l="l"/>
              <a:pathLst>
                <a:path h="92659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63960" cy="9291320"/>
            </a:xfrm>
            <a:custGeom>
              <a:avLst/>
              <a:gdLst/>
              <a:ahLst/>
              <a:cxnLst/>
              <a:rect r="r" b="b" t="t" l="l"/>
              <a:pathLst>
                <a:path h="9291320" w="11363960">
                  <a:moveTo>
                    <a:pt x="12700" y="0"/>
                  </a:moveTo>
                  <a:lnTo>
                    <a:pt x="11351260" y="0"/>
                  </a:lnTo>
                  <a:cubicBezTo>
                    <a:pt x="11358245" y="0"/>
                    <a:pt x="11363960" y="5715"/>
                    <a:pt x="11363960" y="12700"/>
                  </a:cubicBezTo>
                  <a:lnTo>
                    <a:pt x="11363960" y="9278620"/>
                  </a:lnTo>
                  <a:cubicBezTo>
                    <a:pt x="11363960" y="9285605"/>
                    <a:pt x="11358245" y="9291320"/>
                    <a:pt x="11351260" y="9291320"/>
                  </a:cubicBezTo>
                  <a:lnTo>
                    <a:pt x="12700" y="9291320"/>
                  </a:lnTo>
                  <a:cubicBezTo>
                    <a:pt x="5715" y="9291320"/>
                    <a:pt x="0" y="9285605"/>
                    <a:pt x="0" y="927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278620"/>
                  </a:lnTo>
                  <a:lnTo>
                    <a:pt x="12700" y="9278620"/>
                  </a:lnTo>
                  <a:lnTo>
                    <a:pt x="12700" y="9265920"/>
                  </a:lnTo>
                  <a:lnTo>
                    <a:pt x="11351260" y="9265920"/>
                  </a:lnTo>
                  <a:lnTo>
                    <a:pt x="11351260" y="9278620"/>
                  </a:lnTo>
                  <a:lnTo>
                    <a:pt x="11338560" y="9278620"/>
                  </a:lnTo>
                  <a:lnTo>
                    <a:pt x="11338560" y="12700"/>
                  </a:lnTo>
                  <a:lnTo>
                    <a:pt x="11351260" y="12700"/>
                  </a:lnTo>
                  <a:lnTo>
                    <a:pt x="11351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0976" y="2596896"/>
            <a:ext cx="8046720" cy="548640"/>
            <a:chOff x="0" y="0"/>
            <a:chExt cx="1072896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2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7289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3255264"/>
            <a:ext cx="8138160" cy="512064"/>
            <a:chOff x="0" y="0"/>
            <a:chExt cx="1085088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50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5840" y="3255264"/>
            <a:ext cx="2560320" cy="512064"/>
            <a:chOff x="0" y="0"/>
            <a:chExt cx="341376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13760" cy="682752"/>
            </a:xfrm>
            <a:custGeom>
              <a:avLst/>
              <a:gdLst/>
              <a:ahLst/>
              <a:cxnLst/>
              <a:rect r="r" b="b" t="t" l="l"/>
              <a:pathLst>
                <a:path h="68275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413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Metric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712464" y="3255264"/>
            <a:ext cx="2560320" cy="512064"/>
            <a:chOff x="0" y="0"/>
            <a:chExt cx="341376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13760" cy="682752"/>
            </a:xfrm>
            <a:custGeom>
              <a:avLst/>
              <a:gdLst/>
              <a:ahLst/>
              <a:cxnLst/>
              <a:rect r="r" b="b" t="t" l="l"/>
              <a:pathLst>
                <a:path h="68275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413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Score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419088" y="3255264"/>
            <a:ext cx="2560320" cy="512064"/>
            <a:chOff x="0" y="0"/>
            <a:chExt cx="3413760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13760" cy="682752"/>
            </a:xfrm>
            <a:custGeom>
              <a:avLst/>
              <a:gdLst/>
              <a:ahLst/>
              <a:cxnLst/>
              <a:rect r="r" b="b" t="t" l="l"/>
              <a:pathLst>
                <a:path h="68275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413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05840" y="3877056"/>
            <a:ext cx="2651760" cy="365760"/>
            <a:chOff x="0" y="0"/>
            <a:chExt cx="3535680" cy="487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35680" cy="487680"/>
            </a:xfrm>
            <a:custGeom>
              <a:avLst/>
              <a:gdLst/>
              <a:ahLst/>
              <a:cxnLst/>
              <a:rect r="r" b="b" t="t" l="l"/>
              <a:pathLst>
                <a:path h="4876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535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Interpretability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749040" y="3950208"/>
            <a:ext cx="2194560" cy="182880"/>
            <a:chOff x="0" y="0"/>
            <a:chExt cx="2926080" cy="243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26080" cy="243840"/>
            </a:xfrm>
            <a:custGeom>
              <a:avLst/>
              <a:gdLst/>
              <a:ahLst/>
              <a:cxnLst/>
              <a:rect r="r" b="b" t="t" l="l"/>
              <a:pathLst>
                <a:path h="2438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749040" y="3950208"/>
            <a:ext cx="2084832" cy="182880"/>
            <a:chOff x="0" y="0"/>
            <a:chExt cx="2779776" cy="243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79776" cy="243840"/>
            </a:xfrm>
            <a:custGeom>
              <a:avLst/>
              <a:gdLst/>
              <a:ahLst/>
              <a:cxnLst/>
              <a:rect r="r" b="b" t="t" l="l"/>
              <a:pathLst>
                <a:path h="243840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035040" y="3877056"/>
            <a:ext cx="731520" cy="365760"/>
            <a:chOff x="0" y="0"/>
            <a:chExt cx="975360" cy="487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536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75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95%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845303" y="3864359"/>
            <a:ext cx="1671323" cy="427739"/>
            <a:chOff x="0" y="0"/>
            <a:chExt cx="2228431" cy="57031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219456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28342" cy="570232"/>
            </a:xfrm>
            <a:custGeom>
              <a:avLst/>
              <a:gdLst/>
              <a:ahLst/>
              <a:cxnLst/>
              <a:rect r="r" b="b" t="t" l="l"/>
              <a:pathLst>
                <a:path h="570232" w="2228342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553339"/>
                  </a:lnTo>
                  <a:cubicBezTo>
                    <a:pt x="2228342" y="562737"/>
                    <a:pt x="2220722" y="570230"/>
                    <a:pt x="221145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2211451" y="536448"/>
                  </a:lnTo>
                  <a:lnTo>
                    <a:pt x="2211451" y="553339"/>
                  </a:lnTo>
                  <a:lnTo>
                    <a:pt x="2194560" y="553339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858000" y="3877056"/>
            <a:ext cx="1645920" cy="402336"/>
            <a:chOff x="0" y="0"/>
            <a:chExt cx="2194560" cy="5364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219456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078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05840" y="5193792"/>
            <a:ext cx="2651760" cy="365760"/>
            <a:chOff x="0" y="0"/>
            <a:chExt cx="3535680" cy="487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535680" cy="487680"/>
            </a:xfrm>
            <a:custGeom>
              <a:avLst/>
              <a:gdLst/>
              <a:ahLst/>
              <a:cxnLst/>
              <a:rect r="r" b="b" t="t" l="l"/>
              <a:pathLst>
                <a:path h="4876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535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Learning Type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749040" y="5266944"/>
            <a:ext cx="2194560" cy="182880"/>
            <a:chOff x="0" y="0"/>
            <a:chExt cx="2926080" cy="243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926080" cy="243840"/>
            </a:xfrm>
            <a:custGeom>
              <a:avLst/>
              <a:gdLst/>
              <a:ahLst/>
              <a:cxnLst/>
              <a:rect r="r" b="b" t="t" l="l"/>
              <a:pathLst>
                <a:path h="2438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3749040" y="5266944"/>
            <a:ext cx="1975104" cy="182880"/>
            <a:chOff x="0" y="0"/>
            <a:chExt cx="2633472" cy="243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633472" cy="243840"/>
            </a:xfrm>
            <a:custGeom>
              <a:avLst/>
              <a:gdLst/>
              <a:ahLst/>
              <a:cxnLst/>
              <a:rect r="r" b="b" t="t" l="l"/>
              <a:pathLst>
                <a:path h="243840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035040" y="5193792"/>
            <a:ext cx="731520" cy="365760"/>
            <a:chOff x="0" y="0"/>
            <a:chExt cx="975360" cy="4876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7536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975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90%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845303" y="5181095"/>
            <a:ext cx="1671323" cy="427739"/>
            <a:chOff x="0" y="0"/>
            <a:chExt cx="2228431" cy="57031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219456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28342" cy="570232"/>
            </a:xfrm>
            <a:custGeom>
              <a:avLst/>
              <a:gdLst/>
              <a:ahLst/>
              <a:cxnLst/>
              <a:rect r="r" b="b" t="t" l="l"/>
              <a:pathLst>
                <a:path h="570232" w="2228342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553339"/>
                  </a:lnTo>
                  <a:cubicBezTo>
                    <a:pt x="2228342" y="562737"/>
                    <a:pt x="2220722" y="570230"/>
                    <a:pt x="221145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2211451" y="536448"/>
                  </a:lnTo>
                  <a:lnTo>
                    <a:pt x="2211451" y="553339"/>
                  </a:lnTo>
                  <a:lnTo>
                    <a:pt x="2194560" y="553339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858000" y="5193792"/>
            <a:ext cx="1645920" cy="402336"/>
            <a:chOff x="0" y="0"/>
            <a:chExt cx="2194560" cy="53644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9456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219456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078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Symbolic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05840" y="6510528"/>
            <a:ext cx="2651760" cy="365760"/>
            <a:chOff x="0" y="0"/>
            <a:chExt cx="3535680" cy="4876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535680" cy="487680"/>
            </a:xfrm>
            <a:custGeom>
              <a:avLst/>
              <a:gdLst/>
              <a:ahLst/>
              <a:cxnLst/>
              <a:rect r="r" b="b" t="t" l="l"/>
              <a:pathLst>
                <a:path h="4876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535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Reasoning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3749040" y="6583680"/>
            <a:ext cx="2194560" cy="182880"/>
            <a:chOff x="0" y="0"/>
            <a:chExt cx="2926080" cy="2438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926080" cy="243840"/>
            </a:xfrm>
            <a:custGeom>
              <a:avLst/>
              <a:gdLst/>
              <a:ahLst/>
              <a:cxnLst/>
              <a:rect r="r" b="b" t="t" l="l"/>
              <a:pathLst>
                <a:path h="2438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3749040" y="6583680"/>
            <a:ext cx="2018995" cy="182880"/>
            <a:chOff x="0" y="0"/>
            <a:chExt cx="2691994" cy="2438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692019" cy="243840"/>
            </a:xfrm>
            <a:custGeom>
              <a:avLst/>
              <a:gdLst/>
              <a:ahLst/>
              <a:cxnLst/>
              <a:rect r="r" b="b" t="t" l="l"/>
              <a:pathLst>
                <a:path h="243840" w="2692019">
                  <a:moveTo>
                    <a:pt x="0" y="0"/>
                  </a:moveTo>
                  <a:lnTo>
                    <a:pt x="2692019" y="0"/>
                  </a:lnTo>
                  <a:lnTo>
                    <a:pt x="269201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035040" y="6510528"/>
            <a:ext cx="731520" cy="365760"/>
            <a:chOff x="0" y="0"/>
            <a:chExt cx="975360" cy="4876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7536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975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92%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845303" y="6497831"/>
            <a:ext cx="1671323" cy="427739"/>
            <a:chOff x="0" y="0"/>
            <a:chExt cx="2228431" cy="57031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219456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28342" cy="570232"/>
            </a:xfrm>
            <a:custGeom>
              <a:avLst/>
              <a:gdLst/>
              <a:ahLst/>
              <a:cxnLst/>
              <a:rect r="r" b="b" t="t" l="l"/>
              <a:pathLst>
                <a:path h="570232" w="2228342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553339"/>
                  </a:lnTo>
                  <a:cubicBezTo>
                    <a:pt x="2228342" y="562737"/>
                    <a:pt x="2220722" y="570230"/>
                    <a:pt x="221145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2211451" y="536448"/>
                  </a:lnTo>
                  <a:lnTo>
                    <a:pt x="2211451" y="553339"/>
                  </a:lnTo>
                  <a:lnTo>
                    <a:pt x="2194560" y="553339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858000" y="6510528"/>
            <a:ext cx="1645920" cy="402336"/>
            <a:chOff x="0" y="0"/>
            <a:chExt cx="2194560" cy="53644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19456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219456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1078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Excellent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05840" y="7827264"/>
            <a:ext cx="2651760" cy="365760"/>
            <a:chOff x="0" y="0"/>
            <a:chExt cx="3535680" cy="4876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535680" cy="487680"/>
            </a:xfrm>
            <a:custGeom>
              <a:avLst/>
              <a:gdLst/>
              <a:ahLst/>
              <a:cxnLst/>
              <a:rect r="r" b="b" t="t" l="l"/>
              <a:pathLst>
                <a:path h="4876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3535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Efficiency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3749040" y="7900416"/>
            <a:ext cx="2194560" cy="182880"/>
            <a:chOff x="0" y="0"/>
            <a:chExt cx="2926080" cy="2438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926080" cy="243840"/>
            </a:xfrm>
            <a:custGeom>
              <a:avLst/>
              <a:gdLst/>
              <a:ahLst/>
              <a:cxnLst/>
              <a:rect r="r" b="b" t="t" l="l"/>
              <a:pathLst>
                <a:path h="2438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3749040" y="7900416"/>
            <a:ext cx="1645920" cy="182880"/>
            <a:chOff x="0" y="0"/>
            <a:chExt cx="2194560" cy="2438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194560" cy="243840"/>
            </a:xfrm>
            <a:custGeom>
              <a:avLst/>
              <a:gdLst/>
              <a:ahLst/>
              <a:cxnLst/>
              <a:rect r="r" b="b" t="t" l="l"/>
              <a:pathLst>
                <a:path h="2438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6035040" y="7827264"/>
            <a:ext cx="731520" cy="365760"/>
            <a:chOff x="0" y="0"/>
            <a:chExt cx="975360" cy="4876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7536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975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75%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845303" y="7814567"/>
            <a:ext cx="1671323" cy="427739"/>
            <a:chOff x="0" y="0"/>
            <a:chExt cx="2228431" cy="57031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219456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228342" cy="570232"/>
            </a:xfrm>
            <a:custGeom>
              <a:avLst/>
              <a:gdLst/>
              <a:ahLst/>
              <a:cxnLst/>
              <a:rect r="r" b="b" t="t" l="l"/>
              <a:pathLst>
                <a:path h="570232" w="2228342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553339"/>
                  </a:lnTo>
                  <a:cubicBezTo>
                    <a:pt x="2228342" y="562737"/>
                    <a:pt x="2220722" y="570230"/>
                    <a:pt x="221145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2211451" y="536448"/>
                  </a:lnTo>
                  <a:lnTo>
                    <a:pt x="2211451" y="553339"/>
                  </a:lnTo>
                  <a:lnTo>
                    <a:pt x="2194560" y="553339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6858000" y="7827264"/>
            <a:ext cx="1645920" cy="402336"/>
            <a:chOff x="0" y="0"/>
            <a:chExt cx="2194560" cy="53644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19456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219456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9240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Good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591675" y="2459355"/>
            <a:ext cx="8522970" cy="6968490"/>
            <a:chOff x="0" y="0"/>
            <a:chExt cx="11363960" cy="92913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2700" y="12700"/>
              <a:ext cx="11338560" cy="9265920"/>
            </a:xfrm>
            <a:custGeom>
              <a:avLst/>
              <a:gdLst/>
              <a:ahLst/>
              <a:cxnLst/>
              <a:rect r="r" b="b" t="t" l="l"/>
              <a:pathLst>
                <a:path h="92659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1363960" cy="9291320"/>
            </a:xfrm>
            <a:custGeom>
              <a:avLst/>
              <a:gdLst/>
              <a:ahLst/>
              <a:cxnLst/>
              <a:rect r="r" b="b" t="t" l="l"/>
              <a:pathLst>
                <a:path h="9291320" w="11363960">
                  <a:moveTo>
                    <a:pt x="12700" y="0"/>
                  </a:moveTo>
                  <a:lnTo>
                    <a:pt x="11351260" y="0"/>
                  </a:lnTo>
                  <a:cubicBezTo>
                    <a:pt x="11358245" y="0"/>
                    <a:pt x="11363960" y="5715"/>
                    <a:pt x="11363960" y="12700"/>
                  </a:cubicBezTo>
                  <a:lnTo>
                    <a:pt x="11363960" y="9278620"/>
                  </a:lnTo>
                  <a:cubicBezTo>
                    <a:pt x="11363960" y="9285605"/>
                    <a:pt x="11358245" y="9291320"/>
                    <a:pt x="11351260" y="9291320"/>
                  </a:cubicBezTo>
                  <a:lnTo>
                    <a:pt x="12700" y="9291320"/>
                  </a:lnTo>
                  <a:cubicBezTo>
                    <a:pt x="5715" y="9291320"/>
                    <a:pt x="0" y="9285605"/>
                    <a:pt x="0" y="927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278620"/>
                  </a:lnTo>
                  <a:lnTo>
                    <a:pt x="12700" y="9278620"/>
                  </a:lnTo>
                  <a:lnTo>
                    <a:pt x="12700" y="9265920"/>
                  </a:lnTo>
                  <a:lnTo>
                    <a:pt x="11351260" y="9265920"/>
                  </a:lnTo>
                  <a:lnTo>
                    <a:pt x="11351260" y="9278620"/>
                  </a:lnTo>
                  <a:lnTo>
                    <a:pt x="11338560" y="9278620"/>
                  </a:lnTo>
                  <a:lnTo>
                    <a:pt x="11338560" y="12700"/>
                  </a:lnTo>
                  <a:lnTo>
                    <a:pt x="11351260" y="12700"/>
                  </a:lnTo>
                  <a:lnTo>
                    <a:pt x="11351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820656" y="2596896"/>
            <a:ext cx="8046720" cy="548640"/>
            <a:chOff x="0" y="0"/>
            <a:chExt cx="10728960" cy="7315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72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57150"/>
              <a:ext cx="107289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Learning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784080" y="3255264"/>
            <a:ext cx="8138160" cy="512064"/>
            <a:chOff x="0" y="0"/>
            <a:chExt cx="10850880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850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875520" y="3255264"/>
            <a:ext cx="2560320" cy="512064"/>
            <a:chOff x="0" y="0"/>
            <a:chExt cx="3413760" cy="68275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413760" cy="682752"/>
            </a:xfrm>
            <a:custGeom>
              <a:avLst/>
              <a:gdLst/>
              <a:ahLst/>
              <a:cxnLst/>
              <a:rect r="r" b="b" t="t" l="l"/>
              <a:pathLst>
                <a:path h="68275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3413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Metric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2582144" y="3255264"/>
            <a:ext cx="2560320" cy="512064"/>
            <a:chOff x="0" y="0"/>
            <a:chExt cx="3413760" cy="68275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413760" cy="682752"/>
            </a:xfrm>
            <a:custGeom>
              <a:avLst/>
              <a:gdLst/>
              <a:ahLst/>
              <a:cxnLst/>
              <a:rect r="r" b="b" t="t" l="l"/>
              <a:pathLst>
                <a:path h="68275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3413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Score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5288768" y="3255264"/>
            <a:ext cx="2560320" cy="512064"/>
            <a:chOff x="0" y="0"/>
            <a:chExt cx="3413760" cy="68275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413760" cy="682752"/>
            </a:xfrm>
            <a:custGeom>
              <a:avLst/>
              <a:gdLst/>
              <a:ahLst/>
              <a:cxnLst/>
              <a:rect r="r" b="b" t="t" l="l"/>
              <a:pathLst>
                <a:path h="68275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3413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875520" y="3877056"/>
            <a:ext cx="2651760" cy="365760"/>
            <a:chOff x="0" y="0"/>
            <a:chExt cx="3535680" cy="48768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535680" cy="487680"/>
            </a:xfrm>
            <a:custGeom>
              <a:avLst/>
              <a:gdLst/>
              <a:ahLst/>
              <a:cxnLst/>
              <a:rect r="r" b="b" t="t" l="l"/>
              <a:pathLst>
                <a:path h="4876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3535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Interpretability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2618720" y="3950208"/>
            <a:ext cx="2194560" cy="182880"/>
            <a:chOff x="0" y="0"/>
            <a:chExt cx="2926080" cy="2438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926080" cy="243840"/>
            </a:xfrm>
            <a:custGeom>
              <a:avLst/>
              <a:gdLst/>
              <a:ahLst/>
              <a:cxnLst/>
              <a:rect r="r" b="b" t="t" l="l"/>
              <a:pathLst>
                <a:path h="2438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2618720" y="3950208"/>
            <a:ext cx="768096" cy="182880"/>
            <a:chOff x="0" y="0"/>
            <a:chExt cx="1024128" cy="2438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024128" cy="243840"/>
            </a:xfrm>
            <a:custGeom>
              <a:avLst/>
              <a:gdLst/>
              <a:ahLst/>
              <a:cxnLst/>
              <a:rect r="r" b="b" t="t" l="l"/>
              <a:pathLst>
                <a:path h="24384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4904720" y="3877056"/>
            <a:ext cx="731520" cy="365760"/>
            <a:chOff x="0" y="0"/>
            <a:chExt cx="975360" cy="48768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7536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975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35%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5714983" y="3864359"/>
            <a:ext cx="1671323" cy="427739"/>
            <a:chOff x="0" y="0"/>
            <a:chExt cx="2228431" cy="57031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219456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228342" cy="570232"/>
            </a:xfrm>
            <a:custGeom>
              <a:avLst/>
              <a:gdLst/>
              <a:ahLst/>
              <a:cxnLst/>
              <a:rect r="r" b="b" t="t" l="l"/>
              <a:pathLst>
                <a:path h="570232" w="2228342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553339"/>
                  </a:lnTo>
                  <a:cubicBezTo>
                    <a:pt x="2228342" y="562737"/>
                    <a:pt x="2220722" y="570230"/>
                    <a:pt x="221145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2211451" y="536448"/>
                  </a:lnTo>
                  <a:lnTo>
                    <a:pt x="2211451" y="553339"/>
                  </a:lnTo>
                  <a:lnTo>
                    <a:pt x="2194560" y="553339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5727680" y="3877056"/>
            <a:ext cx="1645920" cy="402336"/>
            <a:chOff x="0" y="0"/>
            <a:chExt cx="2194560" cy="53644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19456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28575"/>
              <a:ext cx="219456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875520" y="5193792"/>
            <a:ext cx="2651760" cy="365760"/>
            <a:chOff x="0" y="0"/>
            <a:chExt cx="3535680" cy="48768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535680" cy="487680"/>
            </a:xfrm>
            <a:custGeom>
              <a:avLst/>
              <a:gdLst/>
              <a:ahLst/>
              <a:cxnLst/>
              <a:rect r="r" b="b" t="t" l="l"/>
              <a:pathLst>
                <a:path h="4876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3535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Learning Type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2618720" y="5266944"/>
            <a:ext cx="2194560" cy="182880"/>
            <a:chOff x="0" y="0"/>
            <a:chExt cx="2926080" cy="2438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926080" cy="243840"/>
            </a:xfrm>
            <a:custGeom>
              <a:avLst/>
              <a:gdLst/>
              <a:ahLst/>
              <a:cxnLst/>
              <a:rect r="r" b="b" t="t" l="l"/>
              <a:pathLst>
                <a:path h="2438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2618720" y="5266944"/>
            <a:ext cx="1536192" cy="182880"/>
            <a:chOff x="0" y="0"/>
            <a:chExt cx="2048256" cy="24384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048256" cy="243840"/>
            </a:xfrm>
            <a:custGeom>
              <a:avLst/>
              <a:gdLst/>
              <a:ahLst/>
              <a:cxnLst/>
              <a:rect r="r" b="b" t="t" l="l"/>
              <a:pathLst>
                <a:path h="243840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4904720" y="5193792"/>
            <a:ext cx="731520" cy="365760"/>
            <a:chOff x="0" y="0"/>
            <a:chExt cx="975360" cy="48768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97536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975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70%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5714983" y="5181095"/>
            <a:ext cx="1671323" cy="427739"/>
            <a:chOff x="0" y="0"/>
            <a:chExt cx="2228431" cy="570319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16891" y="16891"/>
              <a:ext cx="219456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228342" cy="570232"/>
            </a:xfrm>
            <a:custGeom>
              <a:avLst/>
              <a:gdLst/>
              <a:ahLst/>
              <a:cxnLst/>
              <a:rect r="r" b="b" t="t" l="l"/>
              <a:pathLst>
                <a:path h="570232" w="2228342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553339"/>
                  </a:lnTo>
                  <a:cubicBezTo>
                    <a:pt x="2228342" y="562737"/>
                    <a:pt x="2220722" y="570230"/>
                    <a:pt x="221145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2211451" y="536448"/>
                  </a:lnTo>
                  <a:lnTo>
                    <a:pt x="2211451" y="553339"/>
                  </a:lnTo>
                  <a:lnTo>
                    <a:pt x="2194560" y="553339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15727680" y="5193792"/>
            <a:ext cx="1645920" cy="402336"/>
            <a:chOff x="0" y="0"/>
            <a:chExt cx="2194560" cy="53644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19456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28575"/>
              <a:ext cx="219456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9240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Statistical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9875520" y="6510528"/>
            <a:ext cx="2651760" cy="365760"/>
            <a:chOff x="0" y="0"/>
            <a:chExt cx="3535680" cy="48768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3535680" cy="487680"/>
            </a:xfrm>
            <a:custGeom>
              <a:avLst/>
              <a:gdLst/>
              <a:ahLst/>
              <a:cxnLst/>
              <a:rect r="r" b="b" t="t" l="l"/>
              <a:pathLst>
                <a:path h="4876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38100"/>
              <a:ext cx="3535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Reasoning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2618720" y="6583680"/>
            <a:ext cx="2194560" cy="182880"/>
            <a:chOff x="0" y="0"/>
            <a:chExt cx="2926080" cy="24384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926080" cy="243840"/>
            </a:xfrm>
            <a:custGeom>
              <a:avLst/>
              <a:gdLst/>
              <a:ahLst/>
              <a:cxnLst/>
              <a:rect r="r" b="b" t="t" l="l"/>
              <a:pathLst>
                <a:path h="2438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2618720" y="6583680"/>
            <a:ext cx="877824" cy="182880"/>
            <a:chOff x="0" y="0"/>
            <a:chExt cx="1170432" cy="2438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170432" cy="243840"/>
            </a:xfrm>
            <a:custGeom>
              <a:avLst/>
              <a:gdLst/>
              <a:ahLst/>
              <a:cxnLst/>
              <a:rect r="r" b="b" t="t" l="l"/>
              <a:pathLst>
                <a:path h="24384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14904720" y="6510528"/>
            <a:ext cx="731520" cy="365760"/>
            <a:chOff x="0" y="0"/>
            <a:chExt cx="975360" cy="48768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97536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975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40%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5714983" y="6497831"/>
            <a:ext cx="1671323" cy="427739"/>
            <a:chOff x="0" y="0"/>
            <a:chExt cx="2228431" cy="570319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16891" y="16891"/>
              <a:ext cx="219456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228342" cy="570232"/>
            </a:xfrm>
            <a:custGeom>
              <a:avLst/>
              <a:gdLst/>
              <a:ahLst/>
              <a:cxnLst/>
              <a:rect r="r" b="b" t="t" l="l"/>
              <a:pathLst>
                <a:path h="570232" w="2228342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553339"/>
                  </a:lnTo>
                  <a:cubicBezTo>
                    <a:pt x="2228342" y="562737"/>
                    <a:pt x="2220722" y="570230"/>
                    <a:pt x="221145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2211451" y="536448"/>
                  </a:lnTo>
                  <a:lnTo>
                    <a:pt x="2211451" y="553339"/>
                  </a:lnTo>
                  <a:lnTo>
                    <a:pt x="2194560" y="553339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5727680" y="6510528"/>
            <a:ext cx="1645920" cy="402336"/>
            <a:chOff x="0" y="0"/>
            <a:chExt cx="2194560" cy="536448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19456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28575"/>
              <a:ext cx="219456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Limited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9875520" y="7827264"/>
            <a:ext cx="2651760" cy="365760"/>
            <a:chOff x="0" y="0"/>
            <a:chExt cx="3535680" cy="48768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3535680" cy="487680"/>
            </a:xfrm>
            <a:custGeom>
              <a:avLst/>
              <a:gdLst/>
              <a:ahLst/>
              <a:cxnLst/>
              <a:rect r="r" b="b" t="t" l="l"/>
              <a:pathLst>
                <a:path h="4876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38100"/>
              <a:ext cx="3535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Efficiency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2618720" y="7900416"/>
            <a:ext cx="2194560" cy="182880"/>
            <a:chOff x="0" y="0"/>
            <a:chExt cx="2926080" cy="2438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926080" cy="243840"/>
            </a:xfrm>
            <a:custGeom>
              <a:avLst/>
              <a:gdLst/>
              <a:ahLst/>
              <a:cxnLst/>
              <a:rect r="r" b="b" t="t" l="l"/>
              <a:pathLst>
                <a:path h="2438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2618720" y="7900416"/>
            <a:ext cx="548640" cy="182880"/>
            <a:chOff x="0" y="0"/>
            <a:chExt cx="731520" cy="24384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731520" cy="243840"/>
            </a:xfrm>
            <a:custGeom>
              <a:avLst/>
              <a:gdLst/>
              <a:ahLst/>
              <a:cxnLst/>
              <a:rect r="r" b="b" t="t" l="l"/>
              <a:pathLst>
                <a:path h="2438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4904720" y="7827264"/>
            <a:ext cx="731520" cy="365760"/>
            <a:chOff x="0" y="0"/>
            <a:chExt cx="975360" cy="48768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97536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975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25%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5714983" y="7814567"/>
            <a:ext cx="1671323" cy="427739"/>
            <a:chOff x="0" y="0"/>
            <a:chExt cx="2228431" cy="570319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219456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228342" cy="570232"/>
            </a:xfrm>
            <a:custGeom>
              <a:avLst/>
              <a:gdLst/>
              <a:ahLst/>
              <a:cxnLst/>
              <a:rect r="r" b="b" t="t" l="l"/>
              <a:pathLst>
                <a:path h="570232" w="2228342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553339"/>
                  </a:lnTo>
                  <a:cubicBezTo>
                    <a:pt x="2228342" y="562737"/>
                    <a:pt x="2220722" y="570230"/>
                    <a:pt x="2211451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2211451" y="536448"/>
                  </a:lnTo>
                  <a:lnTo>
                    <a:pt x="2211451" y="553339"/>
                  </a:lnTo>
                  <a:lnTo>
                    <a:pt x="2194560" y="553339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5727680" y="7827264"/>
            <a:ext cx="1645920" cy="402336"/>
            <a:chOff x="0" y="0"/>
            <a:chExt cx="2194560" cy="536448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19456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28575"/>
              <a:ext cx="219456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Poor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828800" y="9637776"/>
            <a:ext cx="329184" cy="329184"/>
            <a:chOff x="0" y="0"/>
            <a:chExt cx="438912" cy="438912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2231136" y="9637776"/>
            <a:ext cx="3108960" cy="329184"/>
            <a:chOff x="0" y="0"/>
            <a:chExt cx="4145280" cy="438912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4145280" cy="438912"/>
            </a:xfrm>
            <a:custGeom>
              <a:avLst/>
              <a:gdLst/>
              <a:ahLst/>
              <a:cxnLst/>
              <a:rect r="r" b="b" t="t" l="l"/>
              <a:pathLst>
                <a:path h="43891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38100"/>
              <a:ext cx="41452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 Performance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7315200" y="9637776"/>
            <a:ext cx="329184" cy="329184"/>
            <a:chOff x="0" y="0"/>
            <a:chExt cx="438912" cy="438912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7717536" y="9637776"/>
            <a:ext cx="3108960" cy="329184"/>
            <a:chOff x="0" y="0"/>
            <a:chExt cx="4145280" cy="438912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4145280" cy="438912"/>
            </a:xfrm>
            <a:custGeom>
              <a:avLst/>
              <a:gdLst/>
              <a:ahLst/>
              <a:cxnLst/>
              <a:rect r="r" b="b" t="t" l="l"/>
              <a:pathLst>
                <a:path h="43891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-38100"/>
              <a:ext cx="41452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Medium Performance</a:t>
              </a:r>
            </a:p>
          </p:txBody>
        </p:sp>
      </p:grpSp>
      <p:grpSp>
        <p:nvGrpSpPr>
          <p:cNvPr name="Group 186" id="186"/>
          <p:cNvGrpSpPr/>
          <p:nvPr/>
        </p:nvGrpSpPr>
        <p:grpSpPr>
          <a:xfrm rot="0">
            <a:off x="12801600" y="9637776"/>
            <a:ext cx="329184" cy="329184"/>
            <a:chOff x="0" y="0"/>
            <a:chExt cx="438912" cy="438912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13203936" y="9637776"/>
            <a:ext cx="3108960" cy="329184"/>
            <a:chOff x="0" y="0"/>
            <a:chExt cx="4145280" cy="438912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4145280" cy="438912"/>
            </a:xfrm>
            <a:custGeom>
              <a:avLst/>
              <a:gdLst/>
              <a:ahLst/>
              <a:cxnLst/>
              <a:rect r="r" b="b" t="t" l="l"/>
              <a:pathLst>
                <a:path h="43891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41452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 Performance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vs Deep Learning: Reasoning &amp; Data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Comparison matrix of reasoning capabilities and data dependencies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29/53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499616"/>
            <a:ext cx="14630400" cy="822960"/>
            <a:chOff x="0" y="0"/>
            <a:chExt cx="195072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950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Reasoning Capability &amp; Data Dependency Analysis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21995" y="2459355"/>
            <a:ext cx="8522970" cy="7517130"/>
            <a:chOff x="0" y="0"/>
            <a:chExt cx="11363960" cy="10022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1338560" cy="9997440"/>
            </a:xfrm>
            <a:custGeom>
              <a:avLst/>
              <a:gdLst/>
              <a:ahLst/>
              <a:cxnLst/>
              <a:rect r="r" b="b" t="t" l="l"/>
              <a:pathLst>
                <a:path h="999744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63960" cy="10022840"/>
            </a:xfrm>
            <a:custGeom>
              <a:avLst/>
              <a:gdLst/>
              <a:ahLst/>
              <a:cxnLst/>
              <a:rect r="r" b="b" t="t" l="l"/>
              <a:pathLst>
                <a:path h="10022840" w="11363960">
                  <a:moveTo>
                    <a:pt x="12700" y="0"/>
                  </a:moveTo>
                  <a:lnTo>
                    <a:pt x="11351260" y="0"/>
                  </a:lnTo>
                  <a:cubicBezTo>
                    <a:pt x="11358245" y="0"/>
                    <a:pt x="11363960" y="5715"/>
                    <a:pt x="11363960" y="12700"/>
                  </a:cubicBezTo>
                  <a:lnTo>
                    <a:pt x="11363960" y="10010140"/>
                  </a:lnTo>
                  <a:cubicBezTo>
                    <a:pt x="11363960" y="10017125"/>
                    <a:pt x="11358245" y="10022840"/>
                    <a:pt x="11351260" y="10022840"/>
                  </a:cubicBezTo>
                  <a:lnTo>
                    <a:pt x="12700" y="10022840"/>
                  </a:lnTo>
                  <a:cubicBezTo>
                    <a:pt x="5715" y="10022840"/>
                    <a:pt x="0" y="10017125"/>
                    <a:pt x="0" y="1001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10140"/>
                  </a:lnTo>
                  <a:lnTo>
                    <a:pt x="12700" y="10010140"/>
                  </a:lnTo>
                  <a:lnTo>
                    <a:pt x="12700" y="9997440"/>
                  </a:lnTo>
                  <a:lnTo>
                    <a:pt x="11351260" y="9997440"/>
                  </a:lnTo>
                  <a:lnTo>
                    <a:pt x="11351260" y="10010140"/>
                  </a:lnTo>
                  <a:lnTo>
                    <a:pt x="11338560" y="10010140"/>
                  </a:lnTo>
                  <a:lnTo>
                    <a:pt x="11338560" y="12700"/>
                  </a:lnTo>
                  <a:lnTo>
                    <a:pt x="11351260" y="12700"/>
                  </a:lnTo>
                  <a:lnTo>
                    <a:pt x="11351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08047" y="2517391"/>
            <a:ext cx="8150857" cy="652777"/>
            <a:chOff x="0" y="0"/>
            <a:chExt cx="10867809" cy="8703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10850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67899" cy="870458"/>
            </a:xfrm>
            <a:custGeom>
              <a:avLst/>
              <a:gdLst/>
              <a:ahLst/>
              <a:cxnLst/>
              <a:rect r="r" b="b" t="t" l="l"/>
              <a:pathLst>
                <a:path h="870458" w="10867899">
                  <a:moveTo>
                    <a:pt x="8509" y="0"/>
                  </a:moveTo>
                  <a:lnTo>
                    <a:pt x="10859389" y="0"/>
                  </a:lnTo>
                  <a:cubicBezTo>
                    <a:pt x="10864088" y="0"/>
                    <a:pt x="10867899" y="3810"/>
                    <a:pt x="10867899" y="8509"/>
                  </a:cubicBezTo>
                  <a:lnTo>
                    <a:pt x="10867899" y="861949"/>
                  </a:lnTo>
                  <a:cubicBezTo>
                    <a:pt x="10867899" y="866648"/>
                    <a:pt x="10864088" y="870458"/>
                    <a:pt x="1085938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10859389" y="853440"/>
                  </a:lnTo>
                  <a:lnTo>
                    <a:pt x="10859389" y="861949"/>
                  </a:lnTo>
                  <a:lnTo>
                    <a:pt x="10850880" y="861949"/>
                  </a:lnTo>
                  <a:lnTo>
                    <a:pt x="10850880" y="8509"/>
                  </a:lnTo>
                  <a:lnTo>
                    <a:pt x="10859389" y="8509"/>
                  </a:lnTo>
                  <a:lnTo>
                    <a:pt x="10859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840" y="2523744"/>
            <a:ext cx="5120640" cy="640080"/>
            <a:chOff x="0" y="0"/>
            <a:chExt cx="682752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Reasoning Capability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17920" y="2651760"/>
            <a:ext cx="2651760" cy="402336"/>
            <a:chOff x="0" y="0"/>
            <a:chExt cx="3535680" cy="5364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3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DCFCE7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217920" y="2651760"/>
            <a:ext cx="2651760" cy="402336"/>
            <a:chOff x="0" y="0"/>
            <a:chExt cx="3535680" cy="5364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53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535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OpenCog: High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05840" y="3328416"/>
            <a:ext cx="4389120" cy="365760"/>
            <a:chOff x="0" y="0"/>
            <a:chExt cx="5852160" cy="4876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8521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Logical Reasoning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577840" y="3401568"/>
            <a:ext cx="2560320" cy="182880"/>
            <a:chOff x="0" y="0"/>
            <a:chExt cx="3413760" cy="243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13760" cy="243840"/>
            </a:xfrm>
            <a:custGeom>
              <a:avLst/>
              <a:gdLst/>
              <a:ahLst/>
              <a:cxnLst/>
              <a:rect r="r" b="b" t="t" l="l"/>
              <a:pathLst>
                <a:path h="2438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577840" y="3401568"/>
            <a:ext cx="2432304" cy="182880"/>
            <a:chOff x="0" y="0"/>
            <a:chExt cx="3243072" cy="2438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43072" cy="243840"/>
            </a:xfrm>
            <a:custGeom>
              <a:avLst/>
              <a:gdLst/>
              <a:ahLst/>
              <a:cxnLst/>
              <a:rect r="r" b="b" t="t" l="l"/>
              <a:pathLst>
                <a:path h="243840" w="3243072">
                  <a:moveTo>
                    <a:pt x="0" y="0"/>
                  </a:moveTo>
                  <a:lnTo>
                    <a:pt x="3243072" y="0"/>
                  </a:lnTo>
                  <a:lnTo>
                    <a:pt x="324307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0" y="3328416"/>
            <a:ext cx="731520" cy="365760"/>
            <a:chOff x="0" y="0"/>
            <a:chExt cx="975360" cy="4876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75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95%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05840" y="4169664"/>
            <a:ext cx="4389120" cy="365760"/>
            <a:chOff x="0" y="0"/>
            <a:chExt cx="5852160" cy="487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8521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Symbolic Reasoning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577840" y="4242816"/>
            <a:ext cx="2560320" cy="182880"/>
            <a:chOff x="0" y="0"/>
            <a:chExt cx="3413760" cy="243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13760" cy="243840"/>
            </a:xfrm>
            <a:custGeom>
              <a:avLst/>
              <a:gdLst/>
              <a:ahLst/>
              <a:cxnLst/>
              <a:rect r="r" b="b" t="t" l="l"/>
              <a:pathLst>
                <a:path h="2438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577840" y="4242816"/>
            <a:ext cx="2304288" cy="182880"/>
            <a:chOff x="0" y="0"/>
            <a:chExt cx="3072384" cy="243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72384" cy="243840"/>
            </a:xfrm>
            <a:custGeom>
              <a:avLst/>
              <a:gdLst/>
              <a:ahLst/>
              <a:cxnLst/>
              <a:rect r="r" b="b" t="t" l="l"/>
              <a:pathLst>
                <a:path h="24384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229600" y="4169664"/>
            <a:ext cx="731520" cy="365760"/>
            <a:chOff x="0" y="0"/>
            <a:chExt cx="975360" cy="4876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536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975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90%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05840" y="5010912"/>
            <a:ext cx="4389120" cy="365760"/>
            <a:chOff x="0" y="0"/>
            <a:chExt cx="5852160" cy="4876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58521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Mathematical Reasoning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577840" y="5084064"/>
            <a:ext cx="2560320" cy="182880"/>
            <a:chOff x="0" y="0"/>
            <a:chExt cx="3413760" cy="243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413760" cy="243840"/>
            </a:xfrm>
            <a:custGeom>
              <a:avLst/>
              <a:gdLst/>
              <a:ahLst/>
              <a:cxnLst/>
              <a:rect r="r" b="b" t="t" l="l"/>
              <a:pathLst>
                <a:path h="2438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577840" y="5084064"/>
            <a:ext cx="2176272" cy="182880"/>
            <a:chOff x="0" y="0"/>
            <a:chExt cx="2901696" cy="243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01696" cy="243840"/>
            </a:xfrm>
            <a:custGeom>
              <a:avLst/>
              <a:gdLst/>
              <a:ahLst/>
              <a:cxnLst/>
              <a:rect r="r" b="b" t="t" l="l"/>
              <a:pathLst>
                <a:path h="243840" w="2901696">
                  <a:moveTo>
                    <a:pt x="0" y="0"/>
                  </a:moveTo>
                  <a:lnTo>
                    <a:pt x="2901696" y="0"/>
                  </a:lnTo>
                  <a:lnTo>
                    <a:pt x="2901696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8229600" y="5010912"/>
            <a:ext cx="731520" cy="365760"/>
            <a:chOff x="0" y="0"/>
            <a:chExt cx="975360" cy="4876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7536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75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85%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05840" y="5852160"/>
            <a:ext cx="4389120" cy="365760"/>
            <a:chOff x="0" y="0"/>
            <a:chExt cx="5852160" cy="4876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58521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Abductive Reasoning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5577840" y="5925312"/>
            <a:ext cx="2560320" cy="182880"/>
            <a:chOff x="0" y="0"/>
            <a:chExt cx="3413760" cy="2438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413760" cy="243840"/>
            </a:xfrm>
            <a:custGeom>
              <a:avLst/>
              <a:gdLst/>
              <a:ahLst/>
              <a:cxnLst/>
              <a:rect r="r" b="b" t="t" l="l"/>
              <a:pathLst>
                <a:path h="2438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5577840" y="5925312"/>
            <a:ext cx="2048256" cy="182880"/>
            <a:chOff x="0" y="0"/>
            <a:chExt cx="2731008" cy="2438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731008" cy="243840"/>
            </a:xfrm>
            <a:custGeom>
              <a:avLst/>
              <a:gdLst/>
              <a:ahLst/>
              <a:cxnLst/>
              <a:rect r="r" b="b" t="t" l="l"/>
              <a:pathLst>
                <a:path h="243840" w="2731008">
                  <a:moveTo>
                    <a:pt x="0" y="0"/>
                  </a:moveTo>
                  <a:lnTo>
                    <a:pt x="2731008" y="0"/>
                  </a:lnTo>
                  <a:lnTo>
                    <a:pt x="2731008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229600" y="5852160"/>
            <a:ext cx="731520" cy="365760"/>
            <a:chOff x="0" y="0"/>
            <a:chExt cx="975360" cy="4876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536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75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80%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05840" y="6693408"/>
            <a:ext cx="4389120" cy="365760"/>
            <a:chOff x="0" y="0"/>
            <a:chExt cx="5852160" cy="4876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58521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Creative Reasoning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577840" y="6766560"/>
            <a:ext cx="2560320" cy="182880"/>
            <a:chOff x="0" y="0"/>
            <a:chExt cx="3413760" cy="2438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413760" cy="243840"/>
            </a:xfrm>
            <a:custGeom>
              <a:avLst/>
              <a:gdLst/>
              <a:ahLst/>
              <a:cxnLst/>
              <a:rect r="r" b="b" t="t" l="l"/>
              <a:pathLst>
                <a:path h="2438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5577840" y="6766560"/>
            <a:ext cx="1920240" cy="182880"/>
            <a:chOff x="0" y="0"/>
            <a:chExt cx="2560320" cy="2438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560320" cy="243840"/>
            </a:xfrm>
            <a:custGeom>
              <a:avLst/>
              <a:gdLst/>
              <a:ahLst/>
              <a:cxnLst/>
              <a:rect r="r" b="b" t="t" l="l"/>
              <a:pathLst>
                <a:path h="2438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8229600" y="6693408"/>
            <a:ext cx="731520" cy="365760"/>
            <a:chOff x="0" y="0"/>
            <a:chExt cx="975360" cy="4876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7536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975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75%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44623" y="7528303"/>
            <a:ext cx="8059417" cy="1201417"/>
            <a:chOff x="0" y="0"/>
            <a:chExt cx="10745889" cy="160188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8509" y="8509"/>
              <a:ext cx="10728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745978" cy="1601978"/>
            </a:xfrm>
            <a:custGeom>
              <a:avLst/>
              <a:gdLst/>
              <a:ahLst/>
              <a:cxnLst/>
              <a:rect r="r" b="b" t="t" l="l"/>
              <a:pathLst>
                <a:path h="160197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1593469"/>
                  </a:lnTo>
                  <a:cubicBezTo>
                    <a:pt x="10745978" y="1598168"/>
                    <a:pt x="10742168" y="1601978"/>
                    <a:pt x="10737469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10737469" y="1584960"/>
                  </a:lnTo>
                  <a:lnTo>
                    <a:pt x="10737469" y="1593469"/>
                  </a:lnTo>
                  <a:lnTo>
                    <a:pt x="10728960" y="159346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097280" y="7589520"/>
            <a:ext cx="7680960" cy="1097280"/>
            <a:chOff x="0" y="0"/>
            <a:chExt cx="10241280" cy="14630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0241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Insight: OpenCog excels in symbolic and logical reasoning through its PLN component.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591675" y="2459355"/>
            <a:ext cx="8522970" cy="7517130"/>
            <a:chOff x="0" y="0"/>
            <a:chExt cx="11363960" cy="100228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2700" y="12700"/>
              <a:ext cx="11338560" cy="9997440"/>
            </a:xfrm>
            <a:custGeom>
              <a:avLst/>
              <a:gdLst/>
              <a:ahLst/>
              <a:cxnLst/>
              <a:rect r="r" b="b" t="t" l="l"/>
              <a:pathLst>
                <a:path h="999744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1363960" cy="10022840"/>
            </a:xfrm>
            <a:custGeom>
              <a:avLst/>
              <a:gdLst/>
              <a:ahLst/>
              <a:cxnLst/>
              <a:rect r="r" b="b" t="t" l="l"/>
              <a:pathLst>
                <a:path h="10022840" w="11363960">
                  <a:moveTo>
                    <a:pt x="12700" y="0"/>
                  </a:moveTo>
                  <a:lnTo>
                    <a:pt x="11351260" y="0"/>
                  </a:lnTo>
                  <a:cubicBezTo>
                    <a:pt x="11358245" y="0"/>
                    <a:pt x="11363960" y="5715"/>
                    <a:pt x="11363960" y="12700"/>
                  </a:cubicBezTo>
                  <a:lnTo>
                    <a:pt x="11363960" y="10010140"/>
                  </a:lnTo>
                  <a:cubicBezTo>
                    <a:pt x="11363960" y="10017125"/>
                    <a:pt x="11358245" y="10022840"/>
                    <a:pt x="11351260" y="10022840"/>
                  </a:cubicBezTo>
                  <a:lnTo>
                    <a:pt x="12700" y="10022840"/>
                  </a:lnTo>
                  <a:cubicBezTo>
                    <a:pt x="5715" y="10022840"/>
                    <a:pt x="0" y="10017125"/>
                    <a:pt x="0" y="1001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10140"/>
                  </a:lnTo>
                  <a:lnTo>
                    <a:pt x="12700" y="10010140"/>
                  </a:lnTo>
                  <a:lnTo>
                    <a:pt x="12700" y="9997440"/>
                  </a:lnTo>
                  <a:lnTo>
                    <a:pt x="11351260" y="9997440"/>
                  </a:lnTo>
                  <a:lnTo>
                    <a:pt x="11351260" y="10010140"/>
                  </a:lnTo>
                  <a:lnTo>
                    <a:pt x="11338560" y="10010140"/>
                  </a:lnTo>
                  <a:lnTo>
                    <a:pt x="11338560" y="12700"/>
                  </a:lnTo>
                  <a:lnTo>
                    <a:pt x="11351260" y="12700"/>
                  </a:lnTo>
                  <a:lnTo>
                    <a:pt x="11351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777727" y="2517391"/>
            <a:ext cx="8150857" cy="652777"/>
            <a:chOff x="0" y="0"/>
            <a:chExt cx="10867809" cy="87036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8509" y="8509"/>
              <a:ext cx="108508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867899" cy="870458"/>
            </a:xfrm>
            <a:custGeom>
              <a:avLst/>
              <a:gdLst/>
              <a:ahLst/>
              <a:cxnLst/>
              <a:rect r="r" b="b" t="t" l="l"/>
              <a:pathLst>
                <a:path h="870458" w="10867899">
                  <a:moveTo>
                    <a:pt x="8509" y="0"/>
                  </a:moveTo>
                  <a:lnTo>
                    <a:pt x="10859389" y="0"/>
                  </a:lnTo>
                  <a:cubicBezTo>
                    <a:pt x="10864088" y="0"/>
                    <a:pt x="10867899" y="3810"/>
                    <a:pt x="10867899" y="8509"/>
                  </a:cubicBezTo>
                  <a:lnTo>
                    <a:pt x="10867899" y="861949"/>
                  </a:lnTo>
                  <a:cubicBezTo>
                    <a:pt x="10867899" y="866648"/>
                    <a:pt x="10864088" y="870458"/>
                    <a:pt x="1085938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10859389" y="853440"/>
                  </a:lnTo>
                  <a:lnTo>
                    <a:pt x="10859389" y="861949"/>
                  </a:lnTo>
                  <a:lnTo>
                    <a:pt x="10850880" y="861949"/>
                  </a:lnTo>
                  <a:lnTo>
                    <a:pt x="10850880" y="8509"/>
                  </a:lnTo>
                  <a:lnTo>
                    <a:pt x="10859389" y="8509"/>
                  </a:lnTo>
                  <a:lnTo>
                    <a:pt x="10859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875520" y="2523744"/>
            <a:ext cx="5120640" cy="640080"/>
            <a:chOff x="0" y="0"/>
            <a:chExt cx="6827520" cy="8534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Dependency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5087600" y="2651760"/>
            <a:ext cx="2651760" cy="402336"/>
            <a:chOff x="0" y="0"/>
            <a:chExt cx="3535680" cy="53644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53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5087600" y="2651760"/>
            <a:ext cx="2651760" cy="402336"/>
            <a:chOff x="0" y="0"/>
            <a:chExt cx="3535680" cy="53644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535680" cy="536448"/>
            </a:xfrm>
            <a:custGeom>
              <a:avLst/>
              <a:gdLst/>
              <a:ahLst/>
              <a:cxnLst/>
              <a:rect r="r" b="b" t="t" l="l"/>
              <a:pathLst>
                <a:path h="536448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24" r="0" b="-7842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3535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9240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Learning: High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875520" y="3328416"/>
            <a:ext cx="4389120" cy="365760"/>
            <a:chOff x="0" y="0"/>
            <a:chExt cx="5852160" cy="4876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58521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Training Data Required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4447520" y="3401568"/>
            <a:ext cx="2560320" cy="182880"/>
            <a:chOff x="0" y="0"/>
            <a:chExt cx="3413760" cy="2438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413760" cy="243840"/>
            </a:xfrm>
            <a:custGeom>
              <a:avLst/>
              <a:gdLst/>
              <a:ahLst/>
              <a:cxnLst/>
              <a:rect r="r" b="b" t="t" l="l"/>
              <a:pathLst>
                <a:path h="2438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4447520" y="3401568"/>
            <a:ext cx="2432304" cy="182880"/>
            <a:chOff x="0" y="0"/>
            <a:chExt cx="3243072" cy="2438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243072" cy="243840"/>
            </a:xfrm>
            <a:custGeom>
              <a:avLst/>
              <a:gdLst/>
              <a:ahLst/>
              <a:cxnLst/>
              <a:rect r="r" b="b" t="t" l="l"/>
              <a:pathLst>
                <a:path h="243840" w="3243072">
                  <a:moveTo>
                    <a:pt x="0" y="0"/>
                  </a:moveTo>
                  <a:lnTo>
                    <a:pt x="3243072" y="0"/>
                  </a:lnTo>
                  <a:lnTo>
                    <a:pt x="324307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7099280" y="3328416"/>
            <a:ext cx="731520" cy="365760"/>
            <a:chOff x="0" y="0"/>
            <a:chExt cx="975360" cy="48768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7536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975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95%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875520" y="4169664"/>
            <a:ext cx="4389120" cy="365760"/>
            <a:chOff x="0" y="0"/>
            <a:chExt cx="5852160" cy="4876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58521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Training Time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4447520" y="4242816"/>
            <a:ext cx="2560320" cy="182880"/>
            <a:chOff x="0" y="0"/>
            <a:chExt cx="3413760" cy="24384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413760" cy="243840"/>
            </a:xfrm>
            <a:custGeom>
              <a:avLst/>
              <a:gdLst/>
              <a:ahLst/>
              <a:cxnLst/>
              <a:rect r="r" b="b" t="t" l="l"/>
              <a:pathLst>
                <a:path h="2438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4447520" y="4242816"/>
            <a:ext cx="2304288" cy="182880"/>
            <a:chOff x="0" y="0"/>
            <a:chExt cx="3072384" cy="2438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072384" cy="243840"/>
            </a:xfrm>
            <a:custGeom>
              <a:avLst/>
              <a:gdLst/>
              <a:ahLst/>
              <a:cxnLst/>
              <a:rect r="r" b="b" t="t" l="l"/>
              <a:pathLst>
                <a:path h="24384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7099280" y="4169664"/>
            <a:ext cx="731520" cy="365760"/>
            <a:chOff x="0" y="0"/>
            <a:chExt cx="975360" cy="48768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7536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975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90%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875520" y="5010912"/>
            <a:ext cx="4389120" cy="365760"/>
            <a:chOff x="0" y="0"/>
            <a:chExt cx="5852160" cy="48768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58521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Memory Usage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4447520" y="5084064"/>
            <a:ext cx="2560320" cy="182880"/>
            <a:chOff x="0" y="0"/>
            <a:chExt cx="3413760" cy="2438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413760" cy="243840"/>
            </a:xfrm>
            <a:custGeom>
              <a:avLst/>
              <a:gdLst/>
              <a:ahLst/>
              <a:cxnLst/>
              <a:rect r="r" b="b" t="t" l="l"/>
              <a:pathLst>
                <a:path h="2438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4447520" y="5084064"/>
            <a:ext cx="2176272" cy="182880"/>
            <a:chOff x="0" y="0"/>
            <a:chExt cx="2901696" cy="2438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901696" cy="243840"/>
            </a:xfrm>
            <a:custGeom>
              <a:avLst/>
              <a:gdLst/>
              <a:ahLst/>
              <a:cxnLst/>
              <a:rect r="r" b="b" t="t" l="l"/>
              <a:pathLst>
                <a:path h="243840" w="2901696">
                  <a:moveTo>
                    <a:pt x="0" y="0"/>
                  </a:moveTo>
                  <a:lnTo>
                    <a:pt x="2901696" y="0"/>
                  </a:lnTo>
                  <a:lnTo>
                    <a:pt x="2901696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7099280" y="5010912"/>
            <a:ext cx="731520" cy="365760"/>
            <a:chOff x="0" y="0"/>
            <a:chExt cx="975360" cy="48768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7536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975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85%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875520" y="5852160"/>
            <a:ext cx="4389120" cy="365760"/>
            <a:chOff x="0" y="0"/>
            <a:chExt cx="5852160" cy="48768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58521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Update Frequency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4447520" y="5925312"/>
            <a:ext cx="2560320" cy="182880"/>
            <a:chOff x="0" y="0"/>
            <a:chExt cx="3413760" cy="2438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413760" cy="243840"/>
            </a:xfrm>
            <a:custGeom>
              <a:avLst/>
              <a:gdLst/>
              <a:ahLst/>
              <a:cxnLst/>
              <a:rect r="r" b="b" t="t" l="l"/>
              <a:pathLst>
                <a:path h="2438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4447520" y="5925312"/>
            <a:ext cx="2048256" cy="182880"/>
            <a:chOff x="0" y="0"/>
            <a:chExt cx="2731008" cy="24384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731008" cy="243840"/>
            </a:xfrm>
            <a:custGeom>
              <a:avLst/>
              <a:gdLst/>
              <a:ahLst/>
              <a:cxnLst/>
              <a:rect r="r" b="b" t="t" l="l"/>
              <a:pathLst>
                <a:path h="243840" w="2731008">
                  <a:moveTo>
                    <a:pt x="0" y="0"/>
                  </a:moveTo>
                  <a:lnTo>
                    <a:pt x="2731008" y="0"/>
                  </a:lnTo>
                  <a:lnTo>
                    <a:pt x="2731008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7099280" y="5852160"/>
            <a:ext cx="731520" cy="365760"/>
            <a:chOff x="0" y="0"/>
            <a:chExt cx="975360" cy="48768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97536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975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80%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875520" y="6693408"/>
            <a:ext cx="4389120" cy="365760"/>
            <a:chOff x="0" y="0"/>
            <a:chExt cx="5852160" cy="48768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58521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Quality Dependency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4447520" y="6766560"/>
            <a:ext cx="2560320" cy="182880"/>
            <a:chOff x="0" y="0"/>
            <a:chExt cx="3413760" cy="24384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3413760" cy="243840"/>
            </a:xfrm>
            <a:custGeom>
              <a:avLst/>
              <a:gdLst/>
              <a:ahLst/>
              <a:cxnLst/>
              <a:rect r="r" b="b" t="t" l="l"/>
              <a:pathLst>
                <a:path h="2438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4447520" y="6766560"/>
            <a:ext cx="1920240" cy="182880"/>
            <a:chOff x="0" y="0"/>
            <a:chExt cx="2560320" cy="2438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560320" cy="243840"/>
            </a:xfrm>
            <a:custGeom>
              <a:avLst/>
              <a:gdLst/>
              <a:ahLst/>
              <a:cxnLst/>
              <a:rect r="r" b="b" t="t" l="l"/>
              <a:pathLst>
                <a:path h="2438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17099280" y="6693408"/>
            <a:ext cx="731520" cy="365760"/>
            <a:chOff x="0" y="0"/>
            <a:chExt cx="975360" cy="48768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97536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9753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75%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9814303" y="7528303"/>
            <a:ext cx="8059417" cy="1201417"/>
            <a:chOff x="0" y="0"/>
            <a:chExt cx="10745889" cy="1601889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8509" y="8509"/>
              <a:ext cx="10728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0745978" cy="1601978"/>
            </a:xfrm>
            <a:custGeom>
              <a:avLst/>
              <a:gdLst/>
              <a:ahLst/>
              <a:cxnLst/>
              <a:rect r="r" b="b" t="t" l="l"/>
              <a:pathLst>
                <a:path h="160197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1593469"/>
                  </a:lnTo>
                  <a:cubicBezTo>
                    <a:pt x="10745978" y="1598168"/>
                    <a:pt x="10742168" y="1601978"/>
                    <a:pt x="10737469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10737469" y="1584960"/>
                  </a:lnTo>
                  <a:lnTo>
                    <a:pt x="10737469" y="1593469"/>
                  </a:lnTo>
                  <a:lnTo>
                    <a:pt x="10728960" y="159346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966960" y="7589520"/>
            <a:ext cx="7680960" cy="1097280"/>
            <a:chOff x="0" y="0"/>
            <a:chExt cx="10241280" cy="146304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10241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Insight: Deep Learning requires massive datasets and computational resources.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725167" y="8918191"/>
            <a:ext cx="16837657" cy="744217"/>
            <a:chOff x="0" y="0"/>
            <a:chExt cx="22450209" cy="992289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8509" y="8509"/>
              <a:ext cx="22433281" cy="975360"/>
            </a:xfrm>
            <a:custGeom>
              <a:avLst/>
              <a:gdLst/>
              <a:ahLst/>
              <a:cxnLst/>
              <a:rect r="r" b="b" t="t" l="l"/>
              <a:pathLst>
                <a:path h="975360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2450298" cy="992378"/>
            </a:xfrm>
            <a:custGeom>
              <a:avLst/>
              <a:gdLst/>
              <a:ahLst/>
              <a:cxnLst/>
              <a:rect r="r" b="b" t="t" l="l"/>
              <a:pathLst>
                <a:path h="992378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983869"/>
                  </a:lnTo>
                  <a:cubicBezTo>
                    <a:pt x="22450298" y="988568"/>
                    <a:pt x="22446489" y="992378"/>
                    <a:pt x="22441790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22441790" y="975360"/>
                  </a:lnTo>
                  <a:lnTo>
                    <a:pt x="22441790" y="983869"/>
                  </a:lnTo>
                  <a:lnTo>
                    <a:pt x="22433280" y="983869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005840" y="8961120"/>
            <a:ext cx="13716000" cy="658368"/>
            <a:chOff x="0" y="0"/>
            <a:chExt cx="18288000" cy="877824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18288000" cy="877824"/>
            </a:xfrm>
            <a:custGeom>
              <a:avLst/>
              <a:gdLst/>
              <a:ahLst/>
              <a:cxnLst/>
              <a:rect r="r" b="b" t="t" l="l"/>
              <a:pathLst>
                <a:path h="877824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938" r="0" b="-355938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38100"/>
              <a:ext cx="182880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Comparison Summary: OpenCog requires less data but more domain knowledge; Deep Learning needs massive datasets.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4447520" y="9015984"/>
            <a:ext cx="1554480" cy="457200"/>
            <a:chOff x="0" y="0"/>
            <a:chExt cx="2072640" cy="60960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07264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4447520" y="9015984"/>
            <a:ext cx="1554480" cy="457200"/>
            <a:chOff x="0" y="0"/>
            <a:chExt cx="2072640" cy="6096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207264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38100"/>
              <a:ext cx="2072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OpenCog: 85%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6093440" y="9015984"/>
            <a:ext cx="1554480" cy="457200"/>
            <a:chOff x="0" y="0"/>
            <a:chExt cx="2072640" cy="6096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07264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6093440" y="9015984"/>
            <a:ext cx="1554480" cy="457200"/>
            <a:chOff x="0" y="0"/>
            <a:chExt cx="2072640" cy="60960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207264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2072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9240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DL: 95%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vs Deep Learning: Comprehensive Comparison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30/53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1499616"/>
            <a:ext cx="14630400" cy="822960"/>
            <a:chOff x="0" y="0"/>
            <a:chExt cx="1950720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950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Detailed Comparison Matrix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1995" y="2404491"/>
            <a:ext cx="16844010" cy="4499610"/>
            <a:chOff x="0" y="0"/>
            <a:chExt cx="22458680" cy="5999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22433280" cy="5974080"/>
            </a:xfrm>
            <a:custGeom>
              <a:avLst/>
              <a:gdLst/>
              <a:ahLst/>
              <a:cxnLst/>
              <a:rect r="r" b="b" t="t" l="l"/>
              <a:pathLst>
                <a:path h="59740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5974080"/>
                  </a:lnTo>
                  <a:lnTo>
                    <a:pt x="0" y="59740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58680" cy="5999480"/>
            </a:xfrm>
            <a:custGeom>
              <a:avLst/>
              <a:gdLst/>
              <a:ahLst/>
              <a:cxnLst/>
              <a:rect r="r" b="b" t="t" l="l"/>
              <a:pathLst>
                <a:path h="5999480" w="22458680">
                  <a:moveTo>
                    <a:pt x="12700" y="0"/>
                  </a:moveTo>
                  <a:lnTo>
                    <a:pt x="22445980" y="0"/>
                  </a:lnTo>
                  <a:cubicBezTo>
                    <a:pt x="22452966" y="0"/>
                    <a:pt x="22458680" y="5715"/>
                    <a:pt x="22458680" y="12700"/>
                  </a:cubicBezTo>
                  <a:lnTo>
                    <a:pt x="22458680" y="5986780"/>
                  </a:lnTo>
                  <a:cubicBezTo>
                    <a:pt x="22458680" y="5993765"/>
                    <a:pt x="22452966" y="5999480"/>
                    <a:pt x="22445980" y="5999480"/>
                  </a:cubicBezTo>
                  <a:lnTo>
                    <a:pt x="12700" y="5999480"/>
                  </a:lnTo>
                  <a:cubicBezTo>
                    <a:pt x="5715" y="5999480"/>
                    <a:pt x="0" y="5993765"/>
                    <a:pt x="0" y="59867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986780"/>
                  </a:lnTo>
                  <a:lnTo>
                    <a:pt x="12700" y="5986780"/>
                  </a:lnTo>
                  <a:lnTo>
                    <a:pt x="12700" y="5974080"/>
                  </a:lnTo>
                  <a:lnTo>
                    <a:pt x="22445980" y="5974080"/>
                  </a:lnTo>
                  <a:lnTo>
                    <a:pt x="22445980" y="5986780"/>
                  </a:lnTo>
                  <a:lnTo>
                    <a:pt x="22433280" y="5986780"/>
                  </a:lnTo>
                  <a:lnTo>
                    <a:pt x="22433280" y="12700"/>
                  </a:lnTo>
                  <a:lnTo>
                    <a:pt x="22445980" y="12700"/>
                  </a:lnTo>
                  <a:lnTo>
                    <a:pt x="224459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31520" y="2414016"/>
            <a:ext cx="5614416" cy="640080"/>
            <a:chOff x="0" y="0"/>
            <a:chExt cx="7485888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85888" cy="853440"/>
            </a:xfrm>
            <a:custGeom>
              <a:avLst/>
              <a:gdLst/>
              <a:ahLst/>
              <a:cxnLst/>
              <a:rect r="r" b="b" t="t" l="l"/>
              <a:pathLst>
                <a:path h="85344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77824" y="2414016"/>
            <a:ext cx="5303520" cy="640080"/>
            <a:chOff x="0" y="0"/>
            <a:chExt cx="707136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71360" cy="853440"/>
            </a:xfrm>
            <a:custGeom>
              <a:avLst/>
              <a:gdLst/>
              <a:ahLst/>
              <a:cxnLst/>
              <a:rect r="r" b="b" t="t" l="l"/>
              <a:pathLst>
                <a:path h="853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0713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345936" y="2414016"/>
            <a:ext cx="5614416" cy="640080"/>
            <a:chOff x="0" y="0"/>
            <a:chExt cx="7485888" cy="85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85888" cy="853440"/>
            </a:xfrm>
            <a:custGeom>
              <a:avLst/>
              <a:gdLst/>
              <a:ahLst/>
              <a:cxnLst/>
              <a:rect r="r" b="b" t="t" l="l"/>
              <a:pathLst>
                <a:path h="85344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492240" y="2414016"/>
            <a:ext cx="5303520" cy="640080"/>
            <a:chOff x="0" y="0"/>
            <a:chExt cx="707136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71360" cy="853440"/>
            </a:xfrm>
            <a:custGeom>
              <a:avLst/>
              <a:gdLst/>
              <a:ahLst/>
              <a:cxnLst/>
              <a:rect r="r" b="b" t="t" l="l"/>
              <a:pathLst>
                <a:path h="853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0713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960352" y="2414016"/>
            <a:ext cx="5614416" cy="640080"/>
            <a:chOff x="0" y="0"/>
            <a:chExt cx="7485888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85888" cy="853440"/>
            </a:xfrm>
            <a:custGeom>
              <a:avLst/>
              <a:gdLst/>
              <a:ahLst/>
              <a:cxnLst/>
              <a:rect r="r" b="b" t="t" l="l"/>
              <a:pathLst>
                <a:path h="853440" w="7485888">
                  <a:moveTo>
                    <a:pt x="0" y="0"/>
                  </a:moveTo>
                  <a:lnTo>
                    <a:pt x="7485888" y="0"/>
                  </a:lnTo>
                  <a:lnTo>
                    <a:pt x="7485888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106656" y="2414016"/>
            <a:ext cx="5303520" cy="640080"/>
            <a:chOff x="0" y="0"/>
            <a:chExt cx="707136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71360" cy="853440"/>
            </a:xfrm>
            <a:custGeom>
              <a:avLst/>
              <a:gdLst/>
              <a:ahLst/>
              <a:cxnLst/>
              <a:rect r="r" b="b" t="t" l="l"/>
              <a:pathLst>
                <a:path h="853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0713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Learning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28348" y="3050924"/>
            <a:ext cx="16831313" cy="774449"/>
            <a:chOff x="0" y="0"/>
            <a:chExt cx="22441751" cy="10325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4191" y="4191"/>
              <a:ext cx="22433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441663" cy="1032510"/>
            </a:xfrm>
            <a:custGeom>
              <a:avLst/>
              <a:gdLst/>
              <a:ahLst/>
              <a:cxnLst/>
              <a:rect r="r" b="b" t="t" l="l"/>
              <a:pathLst>
                <a:path h="1032510" w="22441663">
                  <a:moveTo>
                    <a:pt x="4191" y="0"/>
                  </a:moveTo>
                  <a:lnTo>
                    <a:pt x="22437471" y="0"/>
                  </a:lnTo>
                  <a:cubicBezTo>
                    <a:pt x="22439757" y="0"/>
                    <a:pt x="22441663" y="1905"/>
                    <a:pt x="22441663" y="4191"/>
                  </a:cubicBezTo>
                  <a:lnTo>
                    <a:pt x="22441663" y="1028319"/>
                  </a:lnTo>
                  <a:cubicBezTo>
                    <a:pt x="22441663" y="1030605"/>
                    <a:pt x="22439757" y="1032510"/>
                    <a:pt x="22437471" y="1032510"/>
                  </a:cubicBezTo>
                  <a:lnTo>
                    <a:pt x="4191" y="1032510"/>
                  </a:lnTo>
                  <a:cubicBezTo>
                    <a:pt x="1905" y="1032510"/>
                    <a:pt x="0" y="1030605"/>
                    <a:pt x="0" y="1028319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1028319"/>
                  </a:lnTo>
                  <a:lnTo>
                    <a:pt x="4191" y="1028319"/>
                  </a:lnTo>
                  <a:lnTo>
                    <a:pt x="4191" y="1024128"/>
                  </a:lnTo>
                  <a:lnTo>
                    <a:pt x="22437471" y="1024128"/>
                  </a:lnTo>
                  <a:lnTo>
                    <a:pt x="22437471" y="1028319"/>
                  </a:lnTo>
                  <a:lnTo>
                    <a:pt x="22433280" y="1028319"/>
                  </a:lnTo>
                  <a:lnTo>
                    <a:pt x="22433280" y="4191"/>
                  </a:lnTo>
                  <a:lnTo>
                    <a:pt x="22437471" y="4191"/>
                  </a:lnTo>
                  <a:lnTo>
                    <a:pt x="2243747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77824" y="3108960"/>
            <a:ext cx="5303520" cy="640080"/>
            <a:chOff x="0" y="0"/>
            <a:chExt cx="707136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71360" cy="853440"/>
            </a:xfrm>
            <a:custGeom>
              <a:avLst/>
              <a:gdLst/>
              <a:ahLst/>
              <a:cxnLst/>
              <a:rect r="r" b="b" t="t" l="l"/>
              <a:pathLst>
                <a:path h="853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0713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Interpretability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437376" y="3218688"/>
            <a:ext cx="1188720" cy="365760"/>
            <a:chOff x="0" y="0"/>
            <a:chExt cx="1584960" cy="4876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DCFCE7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437376" y="3218688"/>
            <a:ext cx="1188720" cy="365760"/>
            <a:chOff x="0" y="0"/>
            <a:chExt cx="1584960" cy="4876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584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078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717536" y="3108960"/>
            <a:ext cx="4114800" cy="640080"/>
            <a:chOff x="0" y="0"/>
            <a:chExt cx="5486400" cy="853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86400" cy="853440"/>
            </a:xfrm>
            <a:custGeom>
              <a:avLst/>
              <a:gdLst/>
              <a:ahLst/>
              <a:cxnLst/>
              <a:rect r="r" b="b" t="t" l="l"/>
              <a:pathLst>
                <a:path h="8534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54864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Symbolic reasoning with explicit rules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070080" y="3218688"/>
            <a:ext cx="1426464" cy="365760"/>
            <a:chOff x="0" y="0"/>
            <a:chExt cx="1901952" cy="4876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01952" cy="487680"/>
            </a:xfrm>
            <a:custGeom>
              <a:avLst/>
              <a:gdLst/>
              <a:ahLst/>
              <a:cxnLst/>
              <a:rect r="r" b="b" t="t" l="l"/>
              <a:pathLst>
                <a:path h="487680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070080" y="3218688"/>
            <a:ext cx="1426464" cy="365760"/>
            <a:chOff x="0" y="0"/>
            <a:chExt cx="1901952" cy="487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01952" cy="487680"/>
            </a:xfrm>
            <a:custGeom>
              <a:avLst/>
              <a:gdLst/>
              <a:ahLst/>
              <a:cxnLst/>
              <a:rect r="r" b="b" t="t" l="l"/>
              <a:pathLst>
                <a:path h="487680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90195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587984" y="3108960"/>
            <a:ext cx="3840480" cy="640080"/>
            <a:chOff x="0" y="0"/>
            <a:chExt cx="512064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120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Black-box neural networks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28348" y="3819020"/>
            <a:ext cx="16831313" cy="774449"/>
            <a:chOff x="0" y="0"/>
            <a:chExt cx="22441751" cy="103259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4191" y="4191"/>
              <a:ext cx="22433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441663" cy="1032510"/>
            </a:xfrm>
            <a:custGeom>
              <a:avLst/>
              <a:gdLst/>
              <a:ahLst/>
              <a:cxnLst/>
              <a:rect r="r" b="b" t="t" l="l"/>
              <a:pathLst>
                <a:path h="1032510" w="22441663">
                  <a:moveTo>
                    <a:pt x="4191" y="0"/>
                  </a:moveTo>
                  <a:lnTo>
                    <a:pt x="22437471" y="0"/>
                  </a:lnTo>
                  <a:cubicBezTo>
                    <a:pt x="22439757" y="0"/>
                    <a:pt x="22441663" y="1905"/>
                    <a:pt x="22441663" y="4191"/>
                  </a:cubicBezTo>
                  <a:lnTo>
                    <a:pt x="22441663" y="1028319"/>
                  </a:lnTo>
                  <a:cubicBezTo>
                    <a:pt x="22441663" y="1030605"/>
                    <a:pt x="22439757" y="1032510"/>
                    <a:pt x="22437471" y="1032510"/>
                  </a:cubicBezTo>
                  <a:lnTo>
                    <a:pt x="4191" y="1032510"/>
                  </a:lnTo>
                  <a:cubicBezTo>
                    <a:pt x="1905" y="1032510"/>
                    <a:pt x="0" y="1030605"/>
                    <a:pt x="0" y="1028319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1028319"/>
                  </a:lnTo>
                  <a:lnTo>
                    <a:pt x="4191" y="1028319"/>
                  </a:lnTo>
                  <a:lnTo>
                    <a:pt x="4191" y="1024128"/>
                  </a:lnTo>
                  <a:lnTo>
                    <a:pt x="22437471" y="1024128"/>
                  </a:lnTo>
                  <a:lnTo>
                    <a:pt x="22437471" y="1028319"/>
                  </a:lnTo>
                  <a:lnTo>
                    <a:pt x="22433280" y="1028319"/>
                  </a:lnTo>
                  <a:lnTo>
                    <a:pt x="22433280" y="4191"/>
                  </a:lnTo>
                  <a:lnTo>
                    <a:pt x="22437471" y="4191"/>
                  </a:lnTo>
                  <a:lnTo>
                    <a:pt x="2243747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77824" y="3877056"/>
            <a:ext cx="5303520" cy="640080"/>
            <a:chOff x="0" y="0"/>
            <a:chExt cx="707136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071360" cy="853440"/>
            </a:xfrm>
            <a:custGeom>
              <a:avLst/>
              <a:gdLst/>
              <a:ahLst/>
              <a:cxnLst/>
              <a:rect r="r" b="b" t="t" l="l"/>
              <a:pathLst>
                <a:path h="853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70713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Learning Type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437376" y="3986784"/>
            <a:ext cx="1188720" cy="365760"/>
            <a:chOff x="0" y="0"/>
            <a:chExt cx="1584960" cy="4876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DCFCE7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437376" y="3986784"/>
            <a:ext cx="1188720" cy="365760"/>
            <a:chOff x="0" y="0"/>
            <a:chExt cx="1584960" cy="4876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584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078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Hybrid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717536" y="3877056"/>
            <a:ext cx="4114800" cy="640080"/>
            <a:chOff x="0" y="0"/>
            <a:chExt cx="5486400" cy="8534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486400" cy="853440"/>
            </a:xfrm>
            <a:custGeom>
              <a:avLst/>
              <a:gdLst/>
              <a:ahLst/>
              <a:cxnLst/>
              <a:rect r="r" b="b" t="t" l="l"/>
              <a:pathLst>
                <a:path h="8534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54864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Hybrid approach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070080" y="3986784"/>
            <a:ext cx="1426464" cy="365760"/>
            <a:chOff x="0" y="0"/>
            <a:chExt cx="1901952" cy="4876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01952" cy="487680"/>
            </a:xfrm>
            <a:custGeom>
              <a:avLst/>
              <a:gdLst/>
              <a:ahLst/>
              <a:cxnLst/>
              <a:rect r="r" b="b" t="t" l="l"/>
              <a:pathLst>
                <a:path h="487680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070080" y="3986784"/>
            <a:ext cx="1426464" cy="365760"/>
            <a:chOff x="0" y="0"/>
            <a:chExt cx="1901952" cy="4876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901952" cy="487680"/>
            </a:xfrm>
            <a:custGeom>
              <a:avLst/>
              <a:gdLst/>
              <a:ahLst/>
              <a:cxnLst/>
              <a:rect r="r" b="b" t="t" l="l"/>
              <a:pathLst>
                <a:path h="487680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90195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9240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Statistical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587984" y="3877056"/>
            <a:ext cx="3840480" cy="640080"/>
            <a:chOff x="0" y="0"/>
            <a:chExt cx="5120640" cy="8534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5120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Pattern recognition only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28348" y="4587116"/>
            <a:ext cx="16831313" cy="774449"/>
            <a:chOff x="0" y="0"/>
            <a:chExt cx="22441751" cy="103259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4191" y="4191"/>
              <a:ext cx="22433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441663" cy="1032510"/>
            </a:xfrm>
            <a:custGeom>
              <a:avLst/>
              <a:gdLst/>
              <a:ahLst/>
              <a:cxnLst/>
              <a:rect r="r" b="b" t="t" l="l"/>
              <a:pathLst>
                <a:path h="1032510" w="22441663">
                  <a:moveTo>
                    <a:pt x="4191" y="0"/>
                  </a:moveTo>
                  <a:lnTo>
                    <a:pt x="22437471" y="0"/>
                  </a:lnTo>
                  <a:cubicBezTo>
                    <a:pt x="22439757" y="0"/>
                    <a:pt x="22441663" y="1905"/>
                    <a:pt x="22441663" y="4191"/>
                  </a:cubicBezTo>
                  <a:lnTo>
                    <a:pt x="22441663" y="1028319"/>
                  </a:lnTo>
                  <a:cubicBezTo>
                    <a:pt x="22441663" y="1030605"/>
                    <a:pt x="22439757" y="1032510"/>
                    <a:pt x="22437471" y="1032510"/>
                  </a:cubicBezTo>
                  <a:lnTo>
                    <a:pt x="4191" y="1032510"/>
                  </a:lnTo>
                  <a:cubicBezTo>
                    <a:pt x="1905" y="1032510"/>
                    <a:pt x="0" y="1030605"/>
                    <a:pt x="0" y="1028319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1028319"/>
                  </a:lnTo>
                  <a:lnTo>
                    <a:pt x="4191" y="1028319"/>
                  </a:lnTo>
                  <a:lnTo>
                    <a:pt x="4191" y="1024128"/>
                  </a:lnTo>
                  <a:lnTo>
                    <a:pt x="22437471" y="1024128"/>
                  </a:lnTo>
                  <a:lnTo>
                    <a:pt x="22437471" y="1028319"/>
                  </a:lnTo>
                  <a:lnTo>
                    <a:pt x="22433280" y="1028319"/>
                  </a:lnTo>
                  <a:lnTo>
                    <a:pt x="22433280" y="4191"/>
                  </a:lnTo>
                  <a:lnTo>
                    <a:pt x="22437471" y="4191"/>
                  </a:lnTo>
                  <a:lnTo>
                    <a:pt x="2243747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77824" y="4645152"/>
            <a:ext cx="5303520" cy="640080"/>
            <a:chOff x="0" y="0"/>
            <a:chExt cx="7071360" cy="853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071360" cy="853440"/>
            </a:xfrm>
            <a:custGeom>
              <a:avLst/>
              <a:gdLst/>
              <a:ahLst/>
              <a:cxnLst/>
              <a:rect r="r" b="b" t="t" l="l"/>
              <a:pathLst>
                <a:path h="853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70713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Reasoning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437376" y="4754880"/>
            <a:ext cx="1188720" cy="365760"/>
            <a:chOff x="0" y="0"/>
            <a:chExt cx="1584960" cy="4876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DCFCE7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437376" y="4754880"/>
            <a:ext cx="1188720" cy="365760"/>
            <a:chOff x="0" y="0"/>
            <a:chExt cx="1584960" cy="4876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584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078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Deductive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717536" y="4645152"/>
            <a:ext cx="4114800" cy="640080"/>
            <a:chOff x="0" y="0"/>
            <a:chExt cx="5486400" cy="8534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486400" cy="853440"/>
            </a:xfrm>
            <a:custGeom>
              <a:avLst/>
              <a:gdLst/>
              <a:ahLst/>
              <a:cxnLst/>
              <a:rect r="r" b="b" t="t" l="l"/>
              <a:pathLst>
                <a:path h="8534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54864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Logical inference chains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070080" y="4754880"/>
            <a:ext cx="1426464" cy="365760"/>
            <a:chOff x="0" y="0"/>
            <a:chExt cx="1901952" cy="4876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901952" cy="487680"/>
            </a:xfrm>
            <a:custGeom>
              <a:avLst/>
              <a:gdLst/>
              <a:ahLst/>
              <a:cxnLst/>
              <a:rect r="r" b="b" t="t" l="l"/>
              <a:pathLst>
                <a:path h="487680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2070080" y="4754880"/>
            <a:ext cx="1426464" cy="365760"/>
            <a:chOff x="0" y="0"/>
            <a:chExt cx="1901952" cy="4876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901952" cy="487680"/>
            </a:xfrm>
            <a:custGeom>
              <a:avLst/>
              <a:gdLst/>
              <a:ahLst/>
              <a:cxnLst/>
              <a:rect r="r" b="b" t="t" l="l"/>
              <a:pathLst>
                <a:path h="487680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190195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9240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Inductive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3587984" y="4645152"/>
            <a:ext cx="3840480" cy="640080"/>
            <a:chOff x="0" y="0"/>
            <a:chExt cx="5120640" cy="8534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5120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Statistical pattern matching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728348" y="5355212"/>
            <a:ext cx="16831313" cy="774449"/>
            <a:chOff x="0" y="0"/>
            <a:chExt cx="22441751" cy="103259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4191" y="4191"/>
              <a:ext cx="22433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2441663" cy="1032510"/>
            </a:xfrm>
            <a:custGeom>
              <a:avLst/>
              <a:gdLst/>
              <a:ahLst/>
              <a:cxnLst/>
              <a:rect r="r" b="b" t="t" l="l"/>
              <a:pathLst>
                <a:path h="1032510" w="22441663">
                  <a:moveTo>
                    <a:pt x="4191" y="0"/>
                  </a:moveTo>
                  <a:lnTo>
                    <a:pt x="22437471" y="0"/>
                  </a:lnTo>
                  <a:cubicBezTo>
                    <a:pt x="22439757" y="0"/>
                    <a:pt x="22441663" y="1905"/>
                    <a:pt x="22441663" y="4191"/>
                  </a:cubicBezTo>
                  <a:lnTo>
                    <a:pt x="22441663" y="1028319"/>
                  </a:lnTo>
                  <a:cubicBezTo>
                    <a:pt x="22441663" y="1030605"/>
                    <a:pt x="22439757" y="1032510"/>
                    <a:pt x="22437471" y="1032510"/>
                  </a:cubicBezTo>
                  <a:lnTo>
                    <a:pt x="4191" y="1032510"/>
                  </a:lnTo>
                  <a:cubicBezTo>
                    <a:pt x="1905" y="1032510"/>
                    <a:pt x="0" y="1030605"/>
                    <a:pt x="0" y="1028319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1028319"/>
                  </a:lnTo>
                  <a:lnTo>
                    <a:pt x="4191" y="1028319"/>
                  </a:lnTo>
                  <a:lnTo>
                    <a:pt x="4191" y="1024128"/>
                  </a:lnTo>
                  <a:lnTo>
                    <a:pt x="22437471" y="1024128"/>
                  </a:lnTo>
                  <a:lnTo>
                    <a:pt x="22437471" y="1028319"/>
                  </a:lnTo>
                  <a:lnTo>
                    <a:pt x="22433280" y="1028319"/>
                  </a:lnTo>
                  <a:lnTo>
                    <a:pt x="22433280" y="4191"/>
                  </a:lnTo>
                  <a:lnTo>
                    <a:pt x="22437471" y="4191"/>
                  </a:lnTo>
                  <a:lnTo>
                    <a:pt x="2243747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877824" y="5413248"/>
            <a:ext cx="5303520" cy="640080"/>
            <a:chOff x="0" y="0"/>
            <a:chExt cx="7071360" cy="8534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071360" cy="853440"/>
            </a:xfrm>
            <a:custGeom>
              <a:avLst/>
              <a:gdLst/>
              <a:ahLst/>
              <a:cxnLst/>
              <a:rect r="r" b="b" t="t" l="l"/>
              <a:pathLst>
                <a:path h="853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70713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Dependency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6437376" y="5522976"/>
            <a:ext cx="1188720" cy="365760"/>
            <a:chOff x="0" y="0"/>
            <a:chExt cx="1584960" cy="48768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DCFCE7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6437376" y="5522976"/>
            <a:ext cx="1188720" cy="365760"/>
            <a:chOff x="0" y="0"/>
            <a:chExt cx="1584960" cy="48768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1584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078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7717536" y="5413248"/>
            <a:ext cx="4114800" cy="640080"/>
            <a:chOff x="0" y="0"/>
            <a:chExt cx="5486400" cy="85344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486400" cy="853440"/>
            </a:xfrm>
            <a:custGeom>
              <a:avLst/>
              <a:gdLst/>
              <a:ahLst/>
              <a:cxnLst/>
              <a:rect r="r" b="b" t="t" l="l"/>
              <a:pathLst>
                <a:path h="8534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54864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 work with limited data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2070080" y="5522976"/>
            <a:ext cx="1426464" cy="365760"/>
            <a:chOff x="0" y="0"/>
            <a:chExt cx="1901952" cy="48768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901952" cy="487680"/>
            </a:xfrm>
            <a:custGeom>
              <a:avLst/>
              <a:gdLst/>
              <a:ahLst/>
              <a:cxnLst/>
              <a:rect r="r" b="b" t="t" l="l"/>
              <a:pathLst>
                <a:path h="487680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EE2E2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2070080" y="5522976"/>
            <a:ext cx="1426464" cy="365760"/>
            <a:chOff x="0" y="0"/>
            <a:chExt cx="1901952" cy="48768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901952" cy="487680"/>
            </a:xfrm>
            <a:custGeom>
              <a:avLst/>
              <a:gdLst/>
              <a:ahLst/>
              <a:cxnLst/>
              <a:rect r="r" b="b" t="t" l="l"/>
              <a:pathLst>
                <a:path h="487680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190195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3587984" y="5413248"/>
            <a:ext cx="3840480" cy="640080"/>
            <a:chOff x="0" y="0"/>
            <a:chExt cx="5120640" cy="85344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5120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Requires large datasets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728348" y="6123308"/>
            <a:ext cx="16831313" cy="774449"/>
            <a:chOff x="0" y="0"/>
            <a:chExt cx="22441751" cy="103259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4191" y="4191"/>
              <a:ext cx="22433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2441663" cy="1032510"/>
            </a:xfrm>
            <a:custGeom>
              <a:avLst/>
              <a:gdLst/>
              <a:ahLst/>
              <a:cxnLst/>
              <a:rect r="r" b="b" t="t" l="l"/>
              <a:pathLst>
                <a:path h="1032510" w="22441663">
                  <a:moveTo>
                    <a:pt x="4191" y="0"/>
                  </a:moveTo>
                  <a:lnTo>
                    <a:pt x="22437471" y="0"/>
                  </a:lnTo>
                  <a:cubicBezTo>
                    <a:pt x="22439757" y="0"/>
                    <a:pt x="22441663" y="1905"/>
                    <a:pt x="22441663" y="4191"/>
                  </a:cubicBezTo>
                  <a:lnTo>
                    <a:pt x="22441663" y="1028319"/>
                  </a:lnTo>
                  <a:cubicBezTo>
                    <a:pt x="22441663" y="1030605"/>
                    <a:pt x="22439757" y="1032510"/>
                    <a:pt x="22437471" y="1032510"/>
                  </a:cubicBezTo>
                  <a:lnTo>
                    <a:pt x="4191" y="1032510"/>
                  </a:lnTo>
                  <a:cubicBezTo>
                    <a:pt x="1905" y="1032510"/>
                    <a:pt x="0" y="1030605"/>
                    <a:pt x="0" y="1028319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1028319"/>
                  </a:lnTo>
                  <a:lnTo>
                    <a:pt x="4191" y="1028319"/>
                  </a:lnTo>
                  <a:lnTo>
                    <a:pt x="4191" y="1024128"/>
                  </a:lnTo>
                  <a:lnTo>
                    <a:pt x="22437471" y="1024128"/>
                  </a:lnTo>
                  <a:lnTo>
                    <a:pt x="22437471" y="1028319"/>
                  </a:lnTo>
                  <a:lnTo>
                    <a:pt x="22433280" y="1028319"/>
                  </a:lnTo>
                  <a:lnTo>
                    <a:pt x="22433280" y="4191"/>
                  </a:lnTo>
                  <a:lnTo>
                    <a:pt x="22437471" y="4191"/>
                  </a:lnTo>
                  <a:lnTo>
                    <a:pt x="2243747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877824" y="6181344"/>
            <a:ext cx="5303520" cy="640080"/>
            <a:chOff x="0" y="0"/>
            <a:chExt cx="7071360" cy="8534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071360" cy="853440"/>
            </a:xfrm>
            <a:custGeom>
              <a:avLst/>
              <a:gdLst/>
              <a:ahLst/>
              <a:cxnLst/>
              <a:rect r="r" b="b" t="t" l="l"/>
              <a:pathLst>
                <a:path h="853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70713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Generalization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6437376" y="6291072"/>
            <a:ext cx="1188720" cy="365760"/>
            <a:chOff x="0" y="0"/>
            <a:chExt cx="1584960" cy="48768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DCFCE7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6437376" y="6291072"/>
            <a:ext cx="1188720" cy="365760"/>
            <a:chOff x="0" y="0"/>
            <a:chExt cx="1584960" cy="48768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1584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078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Strong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7717536" y="6181344"/>
            <a:ext cx="4114800" cy="640080"/>
            <a:chOff x="0" y="0"/>
            <a:chExt cx="5486400" cy="85344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5486400" cy="853440"/>
            </a:xfrm>
            <a:custGeom>
              <a:avLst/>
              <a:gdLst/>
              <a:ahLst/>
              <a:cxnLst/>
              <a:rect r="r" b="b" t="t" l="l"/>
              <a:pathLst>
                <a:path h="8534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54864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Cross-domain transfer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2070080" y="6291072"/>
            <a:ext cx="1426464" cy="365760"/>
            <a:chOff x="0" y="0"/>
            <a:chExt cx="1901952" cy="48768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901952" cy="487680"/>
            </a:xfrm>
            <a:custGeom>
              <a:avLst/>
              <a:gdLst/>
              <a:ahLst/>
              <a:cxnLst/>
              <a:rect r="r" b="b" t="t" l="l"/>
              <a:pathLst>
                <a:path h="487680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EF3C7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2070080" y="6291072"/>
            <a:ext cx="1426464" cy="365760"/>
            <a:chOff x="0" y="0"/>
            <a:chExt cx="1901952" cy="48768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901952" cy="487680"/>
            </a:xfrm>
            <a:custGeom>
              <a:avLst/>
              <a:gdLst/>
              <a:ahLst/>
              <a:cxnLst/>
              <a:rect r="r" b="b" t="t" l="l"/>
              <a:pathLst>
                <a:path h="487680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0" b="-25991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190195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9240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Limited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3587984" y="6181344"/>
            <a:ext cx="3840480" cy="640080"/>
            <a:chOff x="0" y="0"/>
            <a:chExt cx="5120640" cy="85344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51206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Domain-specific performance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721995" y="7067931"/>
            <a:ext cx="5322570" cy="1847850"/>
            <a:chOff x="0" y="0"/>
            <a:chExt cx="7096760" cy="246380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12700" y="12700"/>
              <a:ext cx="7071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7096760" cy="2463800"/>
            </a:xfrm>
            <a:custGeom>
              <a:avLst/>
              <a:gdLst/>
              <a:ahLst/>
              <a:cxnLst/>
              <a:rect r="r" b="b" t="t" l="l"/>
              <a:pathLst>
                <a:path h="2463800" w="7096760">
                  <a:moveTo>
                    <a:pt x="12700" y="0"/>
                  </a:moveTo>
                  <a:lnTo>
                    <a:pt x="7084060" y="0"/>
                  </a:lnTo>
                  <a:cubicBezTo>
                    <a:pt x="7091045" y="0"/>
                    <a:pt x="7096760" y="5715"/>
                    <a:pt x="7096760" y="12700"/>
                  </a:cubicBezTo>
                  <a:lnTo>
                    <a:pt x="7096760" y="2451100"/>
                  </a:lnTo>
                  <a:cubicBezTo>
                    <a:pt x="7096760" y="2458085"/>
                    <a:pt x="7091045" y="2463800"/>
                    <a:pt x="7084060" y="2463800"/>
                  </a:cubicBezTo>
                  <a:lnTo>
                    <a:pt x="12700" y="2463800"/>
                  </a:lnTo>
                  <a:cubicBezTo>
                    <a:pt x="5715" y="2463800"/>
                    <a:pt x="0" y="2458085"/>
                    <a:pt x="0" y="24511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451100"/>
                  </a:lnTo>
                  <a:lnTo>
                    <a:pt x="12700" y="2451100"/>
                  </a:lnTo>
                  <a:lnTo>
                    <a:pt x="12700" y="2438400"/>
                  </a:lnTo>
                  <a:lnTo>
                    <a:pt x="7084060" y="2438400"/>
                  </a:lnTo>
                  <a:lnTo>
                    <a:pt x="7084060" y="2451100"/>
                  </a:lnTo>
                  <a:lnTo>
                    <a:pt x="7071360" y="2451100"/>
                  </a:lnTo>
                  <a:lnTo>
                    <a:pt x="7071360" y="12700"/>
                  </a:lnTo>
                  <a:lnTo>
                    <a:pt x="7084060" y="12700"/>
                  </a:lnTo>
                  <a:lnTo>
                    <a:pt x="70840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005840" y="7187184"/>
            <a:ext cx="3657600" cy="457200"/>
            <a:chOff x="0" y="0"/>
            <a:chExt cx="4876800" cy="6096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38100"/>
              <a:ext cx="4876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Reasoning Capability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4480560" y="7187184"/>
            <a:ext cx="1371600" cy="457200"/>
            <a:chOff x="0" y="0"/>
            <a:chExt cx="1828800" cy="60960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828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66675"/>
              <a:ext cx="1828800" cy="6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20"/>
                </a:lnSpc>
              </a:pPr>
              <a:r>
                <a:rPr lang="en-US" sz="36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85%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005840" y="7717536"/>
            <a:ext cx="4937760" cy="182880"/>
            <a:chOff x="0" y="0"/>
            <a:chExt cx="6583680" cy="24384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583680" cy="243840"/>
            </a:xfrm>
            <a:custGeom>
              <a:avLst/>
              <a:gdLst/>
              <a:ahLst/>
              <a:cxnLst/>
              <a:rect r="r" b="b" t="t" l="l"/>
              <a:pathLst>
                <a:path h="2438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005840" y="7717536"/>
            <a:ext cx="4197096" cy="182880"/>
            <a:chOff x="0" y="0"/>
            <a:chExt cx="5596128" cy="2438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5596128" cy="243840"/>
            </a:xfrm>
            <a:custGeom>
              <a:avLst/>
              <a:gdLst/>
              <a:ahLst/>
              <a:cxnLst/>
              <a:rect r="r" b="b" t="t" l="l"/>
              <a:pathLst>
                <a:path h="243840" w="5596128">
                  <a:moveTo>
                    <a:pt x="0" y="0"/>
                  </a:moveTo>
                  <a:lnTo>
                    <a:pt x="5596128" y="0"/>
                  </a:lnTo>
                  <a:lnTo>
                    <a:pt x="5596128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1005840" y="8010144"/>
            <a:ext cx="4937760" cy="402336"/>
            <a:chOff x="0" y="0"/>
            <a:chExt cx="6583680" cy="536448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6583680" cy="536448"/>
            </a:xfrm>
            <a:custGeom>
              <a:avLst/>
              <a:gdLst/>
              <a:ahLst/>
              <a:cxnLst/>
              <a:rect r="r" b="b" t="t" l="l"/>
              <a:pathLst>
                <a:path h="53644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34" r="0" b="-189134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28575"/>
              <a:ext cx="658368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OpenCog: 85% | DL: 45%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6336411" y="7067931"/>
            <a:ext cx="5322570" cy="1847850"/>
            <a:chOff x="0" y="0"/>
            <a:chExt cx="7096760" cy="246380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12700" y="12700"/>
              <a:ext cx="7071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7096760" cy="2463800"/>
            </a:xfrm>
            <a:custGeom>
              <a:avLst/>
              <a:gdLst/>
              <a:ahLst/>
              <a:cxnLst/>
              <a:rect r="r" b="b" t="t" l="l"/>
              <a:pathLst>
                <a:path h="2463800" w="7096760">
                  <a:moveTo>
                    <a:pt x="12700" y="0"/>
                  </a:moveTo>
                  <a:lnTo>
                    <a:pt x="7084060" y="0"/>
                  </a:lnTo>
                  <a:cubicBezTo>
                    <a:pt x="7091045" y="0"/>
                    <a:pt x="7096760" y="5715"/>
                    <a:pt x="7096760" y="12700"/>
                  </a:cubicBezTo>
                  <a:lnTo>
                    <a:pt x="7096760" y="2451100"/>
                  </a:lnTo>
                  <a:cubicBezTo>
                    <a:pt x="7096760" y="2458085"/>
                    <a:pt x="7091045" y="2463800"/>
                    <a:pt x="7084060" y="2463800"/>
                  </a:cubicBezTo>
                  <a:lnTo>
                    <a:pt x="12700" y="2463800"/>
                  </a:lnTo>
                  <a:cubicBezTo>
                    <a:pt x="5715" y="2463800"/>
                    <a:pt x="0" y="2458085"/>
                    <a:pt x="0" y="24511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451100"/>
                  </a:lnTo>
                  <a:lnTo>
                    <a:pt x="12700" y="2451100"/>
                  </a:lnTo>
                  <a:lnTo>
                    <a:pt x="12700" y="2438400"/>
                  </a:lnTo>
                  <a:lnTo>
                    <a:pt x="7084060" y="2438400"/>
                  </a:lnTo>
                  <a:lnTo>
                    <a:pt x="7084060" y="2451100"/>
                  </a:lnTo>
                  <a:lnTo>
                    <a:pt x="7071360" y="2451100"/>
                  </a:lnTo>
                  <a:lnTo>
                    <a:pt x="7071360" y="12700"/>
                  </a:lnTo>
                  <a:lnTo>
                    <a:pt x="7084060" y="12700"/>
                  </a:lnTo>
                  <a:lnTo>
                    <a:pt x="70840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6620256" y="7187184"/>
            <a:ext cx="3657600" cy="457200"/>
            <a:chOff x="0" y="0"/>
            <a:chExt cx="4876800" cy="60960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38100"/>
              <a:ext cx="4876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Learning Efficiency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0094976" y="7187184"/>
            <a:ext cx="1371600" cy="457200"/>
            <a:chOff x="0" y="0"/>
            <a:chExt cx="1828800" cy="60960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828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66675"/>
              <a:ext cx="1828800" cy="6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20"/>
                </a:lnSpc>
              </a:pPr>
              <a:r>
                <a:rPr lang="en-US" sz="36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72%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6620256" y="7717536"/>
            <a:ext cx="4937760" cy="182880"/>
            <a:chOff x="0" y="0"/>
            <a:chExt cx="6583680" cy="2438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583680" cy="243840"/>
            </a:xfrm>
            <a:custGeom>
              <a:avLst/>
              <a:gdLst/>
              <a:ahLst/>
              <a:cxnLst/>
              <a:rect r="r" b="b" t="t" l="l"/>
              <a:pathLst>
                <a:path h="2438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6620256" y="7717536"/>
            <a:ext cx="3555187" cy="182880"/>
            <a:chOff x="0" y="0"/>
            <a:chExt cx="4740250" cy="24384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4740275" cy="243840"/>
            </a:xfrm>
            <a:custGeom>
              <a:avLst/>
              <a:gdLst/>
              <a:ahLst/>
              <a:cxnLst/>
              <a:rect r="r" b="b" t="t" l="l"/>
              <a:pathLst>
                <a:path h="243840" w="4740275">
                  <a:moveTo>
                    <a:pt x="0" y="0"/>
                  </a:moveTo>
                  <a:lnTo>
                    <a:pt x="4740275" y="0"/>
                  </a:lnTo>
                  <a:lnTo>
                    <a:pt x="4740275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6620256" y="8010144"/>
            <a:ext cx="4937760" cy="402336"/>
            <a:chOff x="0" y="0"/>
            <a:chExt cx="6583680" cy="536448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583680" cy="536448"/>
            </a:xfrm>
            <a:custGeom>
              <a:avLst/>
              <a:gdLst/>
              <a:ahLst/>
              <a:cxnLst/>
              <a:rect r="r" b="b" t="t" l="l"/>
              <a:pathLst>
                <a:path h="53644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34" r="0" b="-189134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28575"/>
              <a:ext cx="658368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OpenCog: 72% | DL: 90%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1950827" y="7067931"/>
            <a:ext cx="5322570" cy="1847850"/>
            <a:chOff x="0" y="0"/>
            <a:chExt cx="7096760" cy="246380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2700" y="12700"/>
              <a:ext cx="7071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7096760" cy="2463800"/>
            </a:xfrm>
            <a:custGeom>
              <a:avLst/>
              <a:gdLst/>
              <a:ahLst/>
              <a:cxnLst/>
              <a:rect r="r" b="b" t="t" l="l"/>
              <a:pathLst>
                <a:path h="2463800" w="7096760">
                  <a:moveTo>
                    <a:pt x="12700" y="0"/>
                  </a:moveTo>
                  <a:lnTo>
                    <a:pt x="7084060" y="0"/>
                  </a:lnTo>
                  <a:cubicBezTo>
                    <a:pt x="7091045" y="0"/>
                    <a:pt x="7096760" y="5715"/>
                    <a:pt x="7096760" y="12700"/>
                  </a:cubicBezTo>
                  <a:lnTo>
                    <a:pt x="7096760" y="2451100"/>
                  </a:lnTo>
                  <a:cubicBezTo>
                    <a:pt x="7096760" y="2458085"/>
                    <a:pt x="7091045" y="2463800"/>
                    <a:pt x="7084060" y="2463800"/>
                  </a:cubicBezTo>
                  <a:lnTo>
                    <a:pt x="12700" y="2463800"/>
                  </a:lnTo>
                  <a:cubicBezTo>
                    <a:pt x="5715" y="2463800"/>
                    <a:pt x="0" y="2458085"/>
                    <a:pt x="0" y="24511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451100"/>
                  </a:lnTo>
                  <a:lnTo>
                    <a:pt x="12700" y="2451100"/>
                  </a:lnTo>
                  <a:lnTo>
                    <a:pt x="12700" y="2438400"/>
                  </a:lnTo>
                  <a:lnTo>
                    <a:pt x="7084060" y="2438400"/>
                  </a:lnTo>
                  <a:lnTo>
                    <a:pt x="7084060" y="2451100"/>
                  </a:lnTo>
                  <a:lnTo>
                    <a:pt x="7071360" y="2451100"/>
                  </a:lnTo>
                  <a:lnTo>
                    <a:pt x="7071360" y="12700"/>
                  </a:lnTo>
                  <a:lnTo>
                    <a:pt x="7084060" y="12700"/>
                  </a:lnTo>
                  <a:lnTo>
                    <a:pt x="70840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2234672" y="7187184"/>
            <a:ext cx="3657600" cy="457200"/>
            <a:chOff x="0" y="0"/>
            <a:chExt cx="4876800" cy="60960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4876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Interpretability Score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5709392" y="7187184"/>
            <a:ext cx="1371600" cy="457200"/>
            <a:chOff x="0" y="0"/>
            <a:chExt cx="1828800" cy="60960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828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66675"/>
              <a:ext cx="1828800" cy="6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20"/>
                </a:lnSpc>
              </a:pPr>
              <a:r>
                <a:rPr lang="en-US" sz="36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95%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2234672" y="7717536"/>
            <a:ext cx="4937760" cy="182880"/>
            <a:chOff x="0" y="0"/>
            <a:chExt cx="6583680" cy="24384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6583680" cy="243840"/>
            </a:xfrm>
            <a:custGeom>
              <a:avLst/>
              <a:gdLst/>
              <a:ahLst/>
              <a:cxnLst/>
              <a:rect r="r" b="b" t="t" l="l"/>
              <a:pathLst>
                <a:path h="2438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4" id="184"/>
          <p:cNvGrpSpPr/>
          <p:nvPr/>
        </p:nvGrpSpPr>
        <p:grpSpPr>
          <a:xfrm rot="0">
            <a:off x="12234672" y="7717536"/>
            <a:ext cx="4690872" cy="182880"/>
            <a:chOff x="0" y="0"/>
            <a:chExt cx="6254496" cy="243840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6254496" cy="243840"/>
            </a:xfrm>
            <a:custGeom>
              <a:avLst/>
              <a:gdLst/>
              <a:ahLst/>
              <a:cxnLst/>
              <a:rect r="r" b="b" t="t" l="l"/>
              <a:pathLst>
                <a:path h="243840" w="6254496">
                  <a:moveTo>
                    <a:pt x="0" y="0"/>
                  </a:moveTo>
                  <a:lnTo>
                    <a:pt x="6254496" y="0"/>
                  </a:lnTo>
                  <a:lnTo>
                    <a:pt x="6254496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86" id="186"/>
          <p:cNvGrpSpPr/>
          <p:nvPr/>
        </p:nvGrpSpPr>
        <p:grpSpPr>
          <a:xfrm rot="0">
            <a:off x="12234672" y="8010144"/>
            <a:ext cx="4937760" cy="402336"/>
            <a:chOff x="0" y="0"/>
            <a:chExt cx="6583680" cy="536448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6583680" cy="536448"/>
            </a:xfrm>
            <a:custGeom>
              <a:avLst/>
              <a:gdLst/>
              <a:ahLst/>
              <a:cxnLst/>
              <a:rect r="r" b="b" t="t" l="l"/>
              <a:pathLst>
                <a:path h="53644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34" r="0" b="-189134"/>
              </a:stretch>
            </a:blipFill>
          </p:spPr>
        </p:sp>
        <p:sp>
          <p:nvSpPr>
            <p:cNvPr name="TextBox 188" id="188"/>
            <p:cNvSpPr txBox="true"/>
            <p:nvPr/>
          </p:nvSpPr>
          <p:spPr>
            <a:xfrm>
              <a:off x="0" y="-28575"/>
              <a:ext cx="658368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OpenCog: 95% | DL: 25%</a:t>
              </a:r>
            </a:p>
          </p:txBody>
        </p:sp>
      </p:grpSp>
      <p:sp>
        <p:nvSpPr>
          <p:cNvPr name="Freeform 189" id="189"/>
          <p:cNvSpPr/>
          <p:nvPr/>
        </p:nvSpPr>
        <p:spPr>
          <a:xfrm flipH="false" flipV="false" rot="0">
            <a:off x="662150" y="8991981"/>
            <a:ext cx="7636821" cy="855013"/>
          </a:xfrm>
          <a:custGeom>
            <a:avLst/>
            <a:gdLst/>
            <a:ahLst/>
            <a:cxnLst/>
            <a:rect r="r" b="b" t="t" l="l"/>
            <a:pathLst>
              <a:path h="855013" w="7636821">
                <a:moveTo>
                  <a:pt x="0" y="0"/>
                </a:moveTo>
                <a:lnTo>
                  <a:pt x="7636820" y="0"/>
                </a:lnTo>
                <a:lnTo>
                  <a:pt x="7636820" y="855013"/>
                </a:lnTo>
                <a:lnTo>
                  <a:pt x="0" y="8550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0" id="190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Detailed analysis of key differences and capabilities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vs Deep Learning: Key Takeaways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31/53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1499616"/>
            <a:ext cx="14630400" cy="822960"/>
            <a:chOff x="0" y="0"/>
            <a:chExt cx="1950720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950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Summary Comparison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1995" y="2459355"/>
            <a:ext cx="8522970" cy="4682490"/>
            <a:chOff x="0" y="0"/>
            <a:chExt cx="11363960" cy="62433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11338560" cy="6217920"/>
            </a:xfrm>
            <a:custGeom>
              <a:avLst/>
              <a:gdLst/>
              <a:ahLst/>
              <a:cxnLst/>
              <a:rect r="r" b="b" t="t" l="l"/>
              <a:pathLst>
                <a:path h="62179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6217920"/>
                  </a:lnTo>
                  <a:lnTo>
                    <a:pt x="0" y="6217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63960" cy="6243320"/>
            </a:xfrm>
            <a:custGeom>
              <a:avLst/>
              <a:gdLst/>
              <a:ahLst/>
              <a:cxnLst/>
              <a:rect r="r" b="b" t="t" l="l"/>
              <a:pathLst>
                <a:path h="6243320" w="11363960">
                  <a:moveTo>
                    <a:pt x="12700" y="0"/>
                  </a:moveTo>
                  <a:lnTo>
                    <a:pt x="11351260" y="0"/>
                  </a:lnTo>
                  <a:cubicBezTo>
                    <a:pt x="11358245" y="0"/>
                    <a:pt x="11363960" y="5715"/>
                    <a:pt x="11363960" y="12700"/>
                  </a:cubicBezTo>
                  <a:lnTo>
                    <a:pt x="11363960" y="6230620"/>
                  </a:lnTo>
                  <a:cubicBezTo>
                    <a:pt x="11363960" y="6237605"/>
                    <a:pt x="11358245" y="6243320"/>
                    <a:pt x="11351260" y="6243320"/>
                  </a:cubicBezTo>
                  <a:lnTo>
                    <a:pt x="12700" y="6243320"/>
                  </a:lnTo>
                  <a:cubicBezTo>
                    <a:pt x="5715" y="6243320"/>
                    <a:pt x="0" y="6237605"/>
                    <a:pt x="0" y="6230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230620"/>
                  </a:lnTo>
                  <a:lnTo>
                    <a:pt x="12700" y="6230620"/>
                  </a:lnTo>
                  <a:lnTo>
                    <a:pt x="12700" y="6217920"/>
                  </a:lnTo>
                  <a:lnTo>
                    <a:pt x="11351260" y="6217920"/>
                  </a:lnTo>
                  <a:lnTo>
                    <a:pt x="11351260" y="6230620"/>
                  </a:lnTo>
                  <a:lnTo>
                    <a:pt x="11338560" y="6230620"/>
                  </a:lnTo>
                  <a:lnTo>
                    <a:pt x="11338560" y="12700"/>
                  </a:lnTo>
                  <a:lnTo>
                    <a:pt x="11351260" y="12700"/>
                  </a:lnTo>
                  <a:lnTo>
                    <a:pt x="11351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05840" y="2615184"/>
            <a:ext cx="8046720" cy="512064"/>
            <a:chOff x="0" y="0"/>
            <a:chExt cx="1072896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072896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Strengths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2668" y="3288668"/>
            <a:ext cx="8053073" cy="737873"/>
            <a:chOff x="0" y="0"/>
            <a:chExt cx="10737431" cy="9838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191" y="4191"/>
              <a:ext cx="10728960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37342" cy="983742"/>
            </a:xfrm>
            <a:custGeom>
              <a:avLst/>
              <a:gdLst/>
              <a:ahLst/>
              <a:cxnLst/>
              <a:rect r="r" b="b" t="t" l="l"/>
              <a:pathLst>
                <a:path h="983742" w="10737342">
                  <a:moveTo>
                    <a:pt x="4191" y="0"/>
                  </a:moveTo>
                  <a:lnTo>
                    <a:pt x="10733151" y="0"/>
                  </a:lnTo>
                  <a:cubicBezTo>
                    <a:pt x="10735437" y="0"/>
                    <a:pt x="10737342" y="1905"/>
                    <a:pt x="10737342" y="4191"/>
                  </a:cubicBezTo>
                  <a:lnTo>
                    <a:pt x="10737342" y="979551"/>
                  </a:lnTo>
                  <a:cubicBezTo>
                    <a:pt x="10737342" y="981837"/>
                    <a:pt x="10735437" y="983742"/>
                    <a:pt x="10733151" y="983742"/>
                  </a:cubicBezTo>
                  <a:lnTo>
                    <a:pt x="4191" y="983742"/>
                  </a:lnTo>
                  <a:cubicBezTo>
                    <a:pt x="1905" y="983742"/>
                    <a:pt x="0" y="981837"/>
                    <a:pt x="0" y="979551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979551"/>
                  </a:lnTo>
                  <a:lnTo>
                    <a:pt x="4191" y="979551"/>
                  </a:lnTo>
                  <a:lnTo>
                    <a:pt x="4191" y="975360"/>
                  </a:lnTo>
                  <a:lnTo>
                    <a:pt x="10733151" y="975360"/>
                  </a:lnTo>
                  <a:lnTo>
                    <a:pt x="10733151" y="979551"/>
                  </a:lnTo>
                  <a:lnTo>
                    <a:pt x="10728960" y="979551"/>
                  </a:lnTo>
                  <a:lnTo>
                    <a:pt x="10728960" y="4191"/>
                  </a:lnTo>
                  <a:lnTo>
                    <a:pt x="10733151" y="4191"/>
                  </a:lnTo>
                  <a:lnTo>
                    <a:pt x="1073315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88720" y="3438144"/>
            <a:ext cx="5852160" cy="438912"/>
            <a:chOff x="0" y="0"/>
            <a:chExt cx="7802880" cy="5852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Interpretability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766560" y="3438144"/>
            <a:ext cx="2011680" cy="438912"/>
            <a:chOff x="0" y="0"/>
            <a:chExt cx="2682240" cy="5852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682240" cy="585216"/>
            </a:xfrm>
            <a:custGeom>
              <a:avLst/>
              <a:gdLst/>
              <a:ahLst/>
              <a:cxnLst/>
              <a:rect r="r" b="b" t="t" l="l"/>
              <a:pathLst>
                <a:path h="585216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6822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02668" y="4166492"/>
            <a:ext cx="8053073" cy="737873"/>
            <a:chOff x="0" y="0"/>
            <a:chExt cx="10737431" cy="9838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191" y="4191"/>
              <a:ext cx="10728960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37342" cy="983742"/>
            </a:xfrm>
            <a:custGeom>
              <a:avLst/>
              <a:gdLst/>
              <a:ahLst/>
              <a:cxnLst/>
              <a:rect r="r" b="b" t="t" l="l"/>
              <a:pathLst>
                <a:path h="983742" w="10737342">
                  <a:moveTo>
                    <a:pt x="4191" y="0"/>
                  </a:moveTo>
                  <a:lnTo>
                    <a:pt x="10733151" y="0"/>
                  </a:lnTo>
                  <a:cubicBezTo>
                    <a:pt x="10735437" y="0"/>
                    <a:pt x="10737342" y="1905"/>
                    <a:pt x="10737342" y="4191"/>
                  </a:cubicBezTo>
                  <a:lnTo>
                    <a:pt x="10737342" y="979551"/>
                  </a:lnTo>
                  <a:cubicBezTo>
                    <a:pt x="10737342" y="981837"/>
                    <a:pt x="10735437" y="983742"/>
                    <a:pt x="10733151" y="983742"/>
                  </a:cubicBezTo>
                  <a:lnTo>
                    <a:pt x="4191" y="983742"/>
                  </a:lnTo>
                  <a:cubicBezTo>
                    <a:pt x="1905" y="983742"/>
                    <a:pt x="0" y="981837"/>
                    <a:pt x="0" y="979551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979551"/>
                  </a:lnTo>
                  <a:lnTo>
                    <a:pt x="4191" y="979551"/>
                  </a:lnTo>
                  <a:lnTo>
                    <a:pt x="4191" y="975360"/>
                  </a:lnTo>
                  <a:lnTo>
                    <a:pt x="10733151" y="975360"/>
                  </a:lnTo>
                  <a:lnTo>
                    <a:pt x="10733151" y="979551"/>
                  </a:lnTo>
                  <a:lnTo>
                    <a:pt x="10728960" y="979551"/>
                  </a:lnTo>
                  <a:lnTo>
                    <a:pt x="10728960" y="4191"/>
                  </a:lnTo>
                  <a:lnTo>
                    <a:pt x="10733151" y="4191"/>
                  </a:lnTo>
                  <a:lnTo>
                    <a:pt x="1073315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88720" y="4315968"/>
            <a:ext cx="5852160" cy="438912"/>
            <a:chOff x="0" y="0"/>
            <a:chExt cx="7802880" cy="5852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Reasoning Capability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766560" y="4315968"/>
            <a:ext cx="2011680" cy="438912"/>
            <a:chOff x="0" y="0"/>
            <a:chExt cx="2682240" cy="5852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82240" cy="585216"/>
            </a:xfrm>
            <a:custGeom>
              <a:avLst/>
              <a:gdLst/>
              <a:ahLst/>
              <a:cxnLst/>
              <a:rect r="r" b="b" t="t" l="l"/>
              <a:pathLst>
                <a:path h="585216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6822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Advanced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02668" y="5044316"/>
            <a:ext cx="8053073" cy="737873"/>
            <a:chOff x="0" y="0"/>
            <a:chExt cx="10737431" cy="9838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4191" y="4191"/>
              <a:ext cx="10728960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37342" cy="983742"/>
            </a:xfrm>
            <a:custGeom>
              <a:avLst/>
              <a:gdLst/>
              <a:ahLst/>
              <a:cxnLst/>
              <a:rect r="r" b="b" t="t" l="l"/>
              <a:pathLst>
                <a:path h="983742" w="10737342">
                  <a:moveTo>
                    <a:pt x="4191" y="0"/>
                  </a:moveTo>
                  <a:lnTo>
                    <a:pt x="10733151" y="0"/>
                  </a:lnTo>
                  <a:cubicBezTo>
                    <a:pt x="10735437" y="0"/>
                    <a:pt x="10737342" y="1905"/>
                    <a:pt x="10737342" y="4191"/>
                  </a:cubicBezTo>
                  <a:lnTo>
                    <a:pt x="10737342" y="979551"/>
                  </a:lnTo>
                  <a:cubicBezTo>
                    <a:pt x="10737342" y="981837"/>
                    <a:pt x="10735437" y="983742"/>
                    <a:pt x="10733151" y="983742"/>
                  </a:cubicBezTo>
                  <a:lnTo>
                    <a:pt x="4191" y="983742"/>
                  </a:lnTo>
                  <a:cubicBezTo>
                    <a:pt x="1905" y="983742"/>
                    <a:pt x="0" y="981837"/>
                    <a:pt x="0" y="979551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979551"/>
                  </a:lnTo>
                  <a:lnTo>
                    <a:pt x="4191" y="979551"/>
                  </a:lnTo>
                  <a:lnTo>
                    <a:pt x="4191" y="975360"/>
                  </a:lnTo>
                  <a:lnTo>
                    <a:pt x="10733151" y="975360"/>
                  </a:lnTo>
                  <a:lnTo>
                    <a:pt x="10733151" y="979551"/>
                  </a:lnTo>
                  <a:lnTo>
                    <a:pt x="10728960" y="979551"/>
                  </a:lnTo>
                  <a:lnTo>
                    <a:pt x="10728960" y="4191"/>
                  </a:lnTo>
                  <a:lnTo>
                    <a:pt x="10733151" y="4191"/>
                  </a:lnTo>
                  <a:lnTo>
                    <a:pt x="1073315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88720" y="5193792"/>
            <a:ext cx="5852160" cy="438912"/>
            <a:chOff x="0" y="0"/>
            <a:chExt cx="7802880" cy="5852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Symbolic Integration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766560" y="5193792"/>
            <a:ext cx="2011680" cy="438912"/>
            <a:chOff x="0" y="0"/>
            <a:chExt cx="2682240" cy="5852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82240" cy="585216"/>
            </a:xfrm>
            <a:custGeom>
              <a:avLst/>
              <a:gdLst/>
              <a:ahLst/>
              <a:cxnLst/>
              <a:rect r="r" b="b" t="t" l="l"/>
              <a:pathLst>
                <a:path h="585216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6822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Native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02668" y="5922140"/>
            <a:ext cx="8053073" cy="737873"/>
            <a:chOff x="0" y="0"/>
            <a:chExt cx="10737431" cy="98383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4191" y="4191"/>
              <a:ext cx="10728960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737342" cy="983742"/>
            </a:xfrm>
            <a:custGeom>
              <a:avLst/>
              <a:gdLst/>
              <a:ahLst/>
              <a:cxnLst/>
              <a:rect r="r" b="b" t="t" l="l"/>
              <a:pathLst>
                <a:path h="983742" w="10737342">
                  <a:moveTo>
                    <a:pt x="4191" y="0"/>
                  </a:moveTo>
                  <a:lnTo>
                    <a:pt x="10733151" y="0"/>
                  </a:lnTo>
                  <a:cubicBezTo>
                    <a:pt x="10735437" y="0"/>
                    <a:pt x="10737342" y="1905"/>
                    <a:pt x="10737342" y="4191"/>
                  </a:cubicBezTo>
                  <a:lnTo>
                    <a:pt x="10737342" y="979551"/>
                  </a:lnTo>
                  <a:cubicBezTo>
                    <a:pt x="10737342" y="981837"/>
                    <a:pt x="10735437" y="983742"/>
                    <a:pt x="10733151" y="983742"/>
                  </a:cubicBezTo>
                  <a:lnTo>
                    <a:pt x="4191" y="983742"/>
                  </a:lnTo>
                  <a:cubicBezTo>
                    <a:pt x="1905" y="983742"/>
                    <a:pt x="0" y="981837"/>
                    <a:pt x="0" y="979551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979551"/>
                  </a:lnTo>
                  <a:lnTo>
                    <a:pt x="4191" y="979551"/>
                  </a:lnTo>
                  <a:lnTo>
                    <a:pt x="4191" y="975360"/>
                  </a:lnTo>
                  <a:lnTo>
                    <a:pt x="10733151" y="975360"/>
                  </a:lnTo>
                  <a:lnTo>
                    <a:pt x="10733151" y="979551"/>
                  </a:lnTo>
                  <a:lnTo>
                    <a:pt x="10728960" y="979551"/>
                  </a:lnTo>
                  <a:lnTo>
                    <a:pt x="10728960" y="4191"/>
                  </a:lnTo>
                  <a:lnTo>
                    <a:pt x="10733151" y="4191"/>
                  </a:lnTo>
                  <a:lnTo>
                    <a:pt x="1073315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88720" y="6071616"/>
            <a:ext cx="5852160" cy="438912"/>
            <a:chOff x="0" y="0"/>
            <a:chExt cx="7802880" cy="5852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Dependency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766560" y="6071616"/>
            <a:ext cx="2011680" cy="438912"/>
            <a:chOff x="0" y="0"/>
            <a:chExt cx="2682240" cy="58521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682240" cy="585216"/>
            </a:xfrm>
            <a:custGeom>
              <a:avLst/>
              <a:gdLst/>
              <a:ahLst/>
              <a:cxnLst/>
              <a:rect r="r" b="b" t="t" l="l"/>
              <a:pathLst>
                <a:path h="585216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6822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591675" y="2459355"/>
            <a:ext cx="8522970" cy="4682490"/>
            <a:chOff x="0" y="0"/>
            <a:chExt cx="11363960" cy="62433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2700" y="12700"/>
              <a:ext cx="11338560" cy="6217920"/>
            </a:xfrm>
            <a:custGeom>
              <a:avLst/>
              <a:gdLst/>
              <a:ahLst/>
              <a:cxnLst/>
              <a:rect r="r" b="b" t="t" l="l"/>
              <a:pathLst>
                <a:path h="62179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6217920"/>
                  </a:lnTo>
                  <a:lnTo>
                    <a:pt x="0" y="6217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363960" cy="6243320"/>
            </a:xfrm>
            <a:custGeom>
              <a:avLst/>
              <a:gdLst/>
              <a:ahLst/>
              <a:cxnLst/>
              <a:rect r="r" b="b" t="t" l="l"/>
              <a:pathLst>
                <a:path h="6243320" w="11363960">
                  <a:moveTo>
                    <a:pt x="12700" y="0"/>
                  </a:moveTo>
                  <a:lnTo>
                    <a:pt x="11351260" y="0"/>
                  </a:lnTo>
                  <a:cubicBezTo>
                    <a:pt x="11358245" y="0"/>
                    <a:pt x="11363960" y="5715"/>
                    <a:pt x="11363960" y="12700"/>
                  </a:cubicBezTo>
                  <a:lnTo>
                    <a:pt x="11363960" y="6230620"/>
                  </a:lnTo>
                  <a:cubicBezTo>
                    <a:pt x="11363960" y="6237605"/>
                    <a:pt x="11358245" y="6243320"/>
                    <a:pt x="11351260" y="6243320"/>
                  </a:cubicBezTo>
                  <a:lnTo>
                    <a:pt x="12700" y="6243320"/>
                  </a:lnTo>
                  <a:cubicBezTo>
                    <a:pt x="5715" y="6243320"/>
                    <a:pt x="0" y="6237605"/>
                    <a:pt x="0" y="6230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230620"/>
                  </a:lnTo>
                  <a:lnTo>
                    <a:pt x="12700" y="6230620"/>
                  </a:lnTo>
                  <a:lnTo>
                    <a:pt x="12700" y="6217920"/>
                  </a:lnTo>
                  <a:lnTo>
                    <a:pt x="11351260" y="6217920"/>
                  </a:lnTo>
                  <a:lnTo>
                    <a:pt x="11351260" y="6230620"/>
                  </a:lnTo>
                  <a:lnTo>
                    <a:pt x="11338560" y="6230620"/>
                  </a:lnTo>
                  <a:lnTo>
                    <a:pt x="11338560" y="12700"/>
                  </a:lnTo>
                  <a:lnTo>
                    <a:pt x="11351260" y="12700"/>
                  </a:lnTo>
                  <a:lnTo>
                    <a:pt x="11351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875520" y="2615184"/>
            <a:ext cx="8046720" cy="512064"/>
            <a:chOff x="0" y="0"/>
            <a:chExt cx="10728960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1072896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 Learning Strengths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872348" y="3288668"/>
            <a:ext cx="8053073" cy="737873"/>
            <a:chOff x="0" y="0"/>
            <a:chExt cx="10737431" cy="98383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4191" y="4191"/>
              <a:ext cx="10728960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737342" cy="983742"/>
            </a:xfrm>
            <a:custGeom>
              <a:avLst/>
              <a:gdLst/>
              <a:ahLst/>
              <a:cxnLst/>
              <a:rect r="r" b="b" t="t" l="l"/>
              <a:pathLst>
                <a:path h="983742" w="10737342">
                  <a:moveTo>
                    <a:pt x="4191" y="0"/>
                  </a:moveTo>
                  <a:lnTo>
                    <a:pt x="10733151" y="0"/>
                  </a:lnTo>
                  <a:cubicBezTo>
                    <a:pt x="10735437" y="0"/>
                    <a:pt x="10737342" y="1905"/>
                    <a:pt x="10737342" y="4191"/>
                  </a:cubicBezTo>
                  <a:lnTo>
                    <a:pt x="10737342" y="979551"/>
                  </a:lnTo>
                  <a:cubicBezTo>
                    <a:pt x="10737342" y="981837"/>
                    <a:pt x="10735437" y="983742"/>
                    <a:pt x="10733151" y="983742"/>
                  </a:cubicBezTo>
                  <a:lnTo>
                    <a:pt x="4191" y="983742"/>
                  </a:lnTo>
                  <a:cubicBezTo>
                    <a:pt x="1905" y="983742"/>
                    <a:pt x="0" y="981837"/>
                    <a:pt x="0" y="979551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979551"/>
                  </a:lnTo>
                  <a:lnTo>
                    <a:pt x="4191" y="979551"/>
                  </a:lnTo>
                  <a:lnTo>
                    <a:pt x="4191" y="975360"/>
                  </a:lnTo>
                  <a:lnTo>
                    <a:pt x="10733151" y="975360"/>
                  </a:lnTo>
                  <a:lnTo>
                    <a:pt x="10733151" y="979551"/>
                  </a:lnTo>
                  <a:lnTo>
                    <a:pt x="10728960" y="979551"/>
                  </a:lnTo>
                  <a:lnTo>
                    <a:pt x="10728960" y="4191"/>
                  </a:lnTo>
                  <a:lnTo>
                    <a:pt x="10733151" y="4191"/>
                  </a:lnTo>
                  <a:lnTo>
                    <a:pt x="1073315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058400" y="3438144"/>
            <a:ext cx="5852160" cy="438912"/>
            <a:chOff x="0" y="0"/>
            <a:chExt cx="7802880" cy="58521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Pattern Recognition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5636240" y="3438144"/>
            <a:ext cx="2011680" cy="438912"/>
            <a:chOff x="0" y="0"/>
            <a:chExt cx="2682240" cy="58521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682240" cy="585216"/>
            </a:xfrm>
            <a:custGeom>
              <a:avLst/>
              <a:gdLst/>
              <a:ahLst/>
              <a:cxnLst/>
              <a:rect r="r" b="b" t="t" l="l"/>
              <a:pathLst>
                <a:path h="585216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26822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Excellent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872348" y="4166492"/>
            <a:ext cx="8053073" cy="737873"/>
            <a:chOff x="0" y="0"/>
            <a:chExt cx="10737431" cy="98383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4191" y="4191"/>
              <a:ext cx="10728960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737342" cy="983742"/>
            </a:xfrm>
            <a:custGeom>
              <a:avLst/>
              <a:gdLst/>
              <a:ahLst/>
              <a:cxnLst/>
              <a:rect r="r" b="b" t="t" l="l"/>
              <a:pathLst>
                <a:path h="983742" w="10737342">
                  <a:moveTo>
                    <a:pt x="4191" y="0"/>
                  </a:moveTo>
                  <a:lnTo>
                    <a:pt x="10733151" y="0"/>
                  </a:lnTo>
                  <a:cubicBezTo>
                    <a:pt x="10735437" y="0"/>
                    <a:pt x="10737342" y="1905"/>
                    <a:pt x="10737342" y="4191"/>
                  </a:cubicBezTo>
                  <a:lnTo>
                    <a:pt x="10737342" y="979551"/>
                  </a:lnTo>
                  <a:cubicBezTo>
                    <a:pt x="10737342" y="981837"/>
                    <a:pt x="10735437" y="983742"/>
                    <a:pt x="10733151" y="983742"/>
                  </a:cubicBezTo>
                  <a:lnTo>
                    <a:pt x="4191" y="983742"/>
                  </a:lnTo>
                  <a:cubicBezTo>
                    <a:pt x="1905" y="983742"/>
                    <a:pt x="0" y="981837"/>
                    <a:pt x="0" y="979551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979551"/>
                  </a:lnTo>
                  <a:lnTo>
                    <a:pt x="4191" y="979551"/>
                  </a:lnTo>
                  <a:lnTo>
                    <a:pt x="4191" y="975360"/>
                  </a:lnTo>
                  <a:lnTo>
                    <a:pt x="10733151" y="975360"/>
                  </a:lnTo>
                  <a:lnTo>
                    <a:pt x="10733151" y="979551"/>
                  </a:lnTo>
                  <a:lnTo>
                    <a:pt x="10728960" y="979551"/>
                  </a:lnTo>
                  <a:lnTo>
                    <a:pt x="10728960" y="4191"/>
                  </a:lnTo>
                  <a:lnTo>
                    <a:pt x="10733151" y="4191"/>
                  </a:lnTo>
                  <a:lnTo>
                    <a:pt x="1073315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058400" y="4315968"/>
            <a:ext cx="5852160" cy="438912"/>
            <a:chOff x="0" y="0"/>
            <a:chExt cx="7802880" cy="58521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Scalability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5636240" y="4315968"/>
            <a:ext cx="2011680" cy="438912"/>
            <a:chOff x="0" y="0"/>
            <a:chExt cx="2682240" cy="58521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682240" cy="585216"/>
            </a:xfrm>
            <a:custGeom>
              <a:avLst/>
              <a:gdLst/>
              <a:ahLst/>
              <a:cxnLst/>
              <a:rect r="r" b="b" t="t" l="l"/>
              <a:pathLst>
                <a:path h="585216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26822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872348" y="5044316"/>
            <a:ext cx="8053073" cy="737873"/>
            <a:chOff x="0" y="0"/>
            <a:chExt cx="10737431" cy="98383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4191" y="4191"/>
              <a:ext cx="10728960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737342" cy="983742"/>
            </a:xfrm>
            <a:custGeom>
              <a:avLst/>
              <a:gdLst/>
              <a:ahLst/>
              <a:cxnLst/>
              <a:rect r="r" b="b" t="t" l="l"/>
              <a:pathLst>
                <a:path h="983742" w="10737342">
                  <a:moveTo>
                    <a:pt x="4191" y="0"/>
                  </a:moveTo>
                  <a:lnTo>
                    <a:pt x="10733151" y="0"/>
                  </a:lnTo>
                  <a:cubicBezTo>
                    <a:pt x="10735437" y="0"/>
                    <a:pt x="10737342" y="1905"/>
                    <a:pt x="10737342" y="4191"/>
                  </a:cubicBezTo>
                  <a:lnTo>
                    <a:pt x="10737342" y="979551"/>
                  </a:lnTo>
                  <a:cubicBezTo>
                    <a:pt x="10737342" y="981837"/>
                    <a:pt x="10735437" y="983742"/>
                    <a:pt x="10733151" y="983742"/>
                  </a:cubicBezTo>
                  <a:lnTo>
                    <a:pt x="4191" y="983742"/>
                  </a:lnTo>
                  <a:cubicBezTo>
                    <a:pt x="1905" y="983742"/>
                    <a:pt x="0" y="981837"/>
                    <a:pt x="0" y="979551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979551"/>
                  </a:lnTo>
                  <a:lnTo>
                    <a:pt x="4191" y="979551"/>
                  </a:lnTo>
                  <a:lnTo>
                    <a:pt x="4191" y="975360"/>
                  </a:lnTo>
                  <a:lnTo>
                    <a:pt x="10733151" y="975360"/>
                  </a:lnTo>
                  <a:lnTo>
                    <a:pt x="10733151" y="979551"/>
                  </a:lnTo>
                  <a:lnTo>
                    <a:pt x="10728960" y="979551"/>
                  </a:lnTo>
                  <a:lnTo>
                    <a:pt x="10728960" y="4191"/>
                  </a:lnTo>
                  <a:lnTo>
                    <a:pt x="10733151" y="4191"/>
                  </a:lnTo>
                  <a:lnTo>
                    <a:pt x="1073315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0058400" y="5193792"/>
            <a:ext cx="5852160" cy="438912"/>
            <a:chOff x="0" y="0"/>
            <a:chExt cx="7802880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Processing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5636240" y="5193792"/>
            <a:ext cx="2011680" cy="438912"/>
            <a:chOff x="0" y="0"/>
            <a:chExt cx="2682240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682240" cy="585216"/>
            </a:xfrm>
            <a:custGeom>
              <a:avLst/>
              <a:gdLst/>
              <a:ahLst/>
              <a:cxnLst/>
              <a:rect r="r" b="b" t="t" l="l"/>
              <a:pathLst>
                <a:path h="585216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26822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Massive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872348" y="5922140"/>
            <a:ext cx="8053073" cy="737873"/>
            <a:chOff x="0" y="0"/>
            <a:chExt cx="10737431" cy="98383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4191" y="4191"/>
              <a:ext cx="10728960" cy="975360"/>
            </a:xfrm>
            <a:custGeom>
              <a:avLst/>
              <a:gdLst/>
              <a:ahLst/>
              <a:cxnLst/>
              <a:rect r="r" b="b" t="t" l="l"/>
              <a:pathLst>
                <a:path h="975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737342" cy="983742"/>
            </a:xfrm>
            <a:custGeom>
              <a:avLst/>
              <a:gdLst/>
              <a:ahLst/>
              <a:cxnLst/>
              <a:rect r="r" b="b" t="t" l="l"/>
              <a:pathLst>
                <a:path h="983742" w="10737342">
                  <a:moveTo>
                    <a:pt x="4191" y="0"/>
                  </a:moveTo>
                  <a:lnTo>
                    <a:pt x="10733151" y="0"/>
                  </a:lnTo>
                  <a:cubicBezTo>
                    <a:pt x="10735437" y="0"/>
                    <a:pt x="10737342" y="1905"/>
                    <a:pt x="10737342" y="4191"/>
                  </a:cubicBezTo>
                  <a:lnTo>
                    <a:pt x="10737342" y="979551"/>
                  </a:lnTo>
                  <a:cubicBezTo>
                    <a:pt x="10737342" y="981837"/>
                    <a:pt x="10735437" y="983742"/>
                    <a:pt x="10733151" y="983742"/>
                  </a:cubicBezTo>
                  <a:lnTo>
                    <a:pt x="4191" y="983742"/>
                  </a:lnTo>
                  <a:cubicBezTo>
                    <a:pt x="1905" y="983742"/>
                    <a:pt x="0" y="981837"/>
                    <a:pt x="0" y="979551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979551"/>
                  </a:lnTo>
                  <a:lnTo>
                    <a:pt x="4191" y="979551"/>
                  </a:lnTo>
                  <a:lnTo>
                    <a:pt x="4191" y="975360"/>
                  </a:lnTo>
                  <a:lnTo>
                    <a:pt x="10733151" y="975360"/>
                  </a:lnTo>
                  <a:lnTo>
                    <a:pt x="10733151" y="979551"/>
                  </a:lnTo>
                  <a:lnTo>
                    <a:pt x="10728960" y="979551"/>
                  </a:lnTo>
                  <a:lnTo>
                    <a:pt x="10728960" y="4191"/>
                  </a:lnTo>
                  <a:lnTo>
                    <a:pt x="10733151" y="4191"/>
                  </a:lnTo>
                  <a:lnTo>
                    <a:pt x="1073315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0058400" y="6071616"/>
            <a:ext cx="5852160" cy="438912"/>
            <a:chOff x="0" y="0"/>
            <a:chExt cx="7802880" cy="58521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802880" cy="585216"/>
            </a:xfrm>
            <a:custGeom>
              <a:avLst/>
              <a:gdLst/>
              <a:ahLst/>
              <a:cxnLst/>
              <a:rect r="r" b="b" t="t" l="l"/>
              <a:pathLst>
                <a:path h="58521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7802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Generalization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5636240" y="6071616"/>
            <a:ext cx="2011680" cy="438912"/>
            <a:chOff x="0" y="0"/>
            <a:chExt cx="2682240" cy="58521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682240" cy="585216"/>
            </a:xfrm>
            <a:custGeom>
              <a:avLst/>
              <a:gdLst/>
              <a:ahLst/>
              <a:cxnLst/>
              <a:rect r="r" b="b" t="t" l="l"/>
              <a:pathLst>
                <a:path h="585216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26822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Limited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721995" y="7305675"/>
            <a:ext cx="8522970" cy="2853690"/>
            <a:chOff x="0" y="0"/>
            <a:chExt cx="11363960" cy="38049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0186" y="12700"/>
              <a:ext cx="11343587" cy="3779520"/>
            </a:xfrm>
            <a:custGeom>
              <a:avLst/>
              <a:gdLst/>
              <a:ahLst/>
              <a:cxnLst/>
              <a:rect r="r" b="b" t="t" l="l"/>
              <a:pathLst>
                <a:path h="3779520" w="11343587">
                  <a:moveTo>
                    <a:pt x="0" y="0"/>
                  </a:moveTo>
                  <a:lnTo>
                    <a:pt x="11343588" y="0"/>
                  </a:lnTo>
                  <a:lnTo>
                    <a:pt x="11343588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363960" cy="3804920"/>
            </a:xfrm>
            <a:custGeom>
              <a:avLst/>
              <a:gdLst/>
              <a:ahLst/>
              <a:cxnLst/>
              <a:rect r="r" b="b" t="t" l="l"/>
              <a:pathLst>
                <a:path h="3804920" w="11363960">
                  <a:moveTo>
                    <a:pt x="10186" y="0"/>
                  </a:moveTo>
                  <a:lnTo>
                    <a:pt x="11353774" y="0"/>
                  </a:lnTo>
                  <a:cubicBezTo>
                    <a:pt x="11359376" y="0"/>
                    <a:pt x="11363960" y="5715"/>
                    <a:pt x="11363960" y="12700"/>
                  </a:cubicBezTo>
                  <a:lnTo>
                    <a:pt x="11363960" y="3792220"/>
                  </a:lnTo>
                  <a:cubicBezTo>
                    <a:pt x="11363960" y="3799205"/>
                    <a:pt x="11359376" y="3804920"/>
                    <a:pt x="11353774" y="3804920"/>
                  </a:cubicBezTo>
                  <a:lnTo>
                    <a:pt x="10186" y="3804920"/>
                  </a:lnTo>
                  <a:cubicBezTo>
                    <a:pt x="4584" y="3804920"/>
                    <a:pt x="0" y="3799205"/>
                    <a:pt x="0" y="3792220"/>
                  </a:cubicBezTo>
                  <a:lnTo>
                    <a:pt x="0" y="12700"/>
                  </a:lnTo>
                  <a:cubicBezTo>
                    <a:pt x="0" y="5715"/>
                    <a:pt x="4584" y="0"/>
                    <a:pt x="10186" y="0"/>
                  </a:cubicBezTo>
                  <a:moveTo>
                    <a:pt x="10186" y="25400"/>
                  </a:moveTo>
                  <a:lnTo>
                    <a:pt x="10186" y="12700"/>
                  </a:lnTo>
                  <a:lnTo>
                    <a:pt x="20373" y="12700"/>
                  </a:lnTo>
                  <a:lnTo>
                    <a:pt x="20373" y="3792220"/>
                  </a:lnTo>
                  <a:lnTo>
                    <a:pt x="10186" y="3792220"/>
                  </a:lnTo>
                  <a:lnTo>
                    <a:pt x="10186" y="3779520"/>
                  </a:lnTo>
                  <a:lnTo>
                    <a:pt x="11353774" y="3779520"/>
                  </a:lnTo>
                  <a:lnTo>
                    <a:pt x="11353774" y="3792220"/>
                  </a:lnTo>
                  <a:lnTo>
                    <a:pt x="11343587" y="3792220"/>
                  </a:lnTo>
                  <a:lnTo>
                    <a:pt x="11343587" y="12700"/>
                  </a:lnTo>
                  <a:lnTo>
                    <a:pt x="11353774" y="12700"/>
                  </a:lnTo>
                  <a:lnTo>
                    <a:pt x="11353774" y="25400"/>
                  </a:lnTo>
                  <a:lnTo>
                    <a:pt x="10186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005840" y="7461504"/>
            <a:ext cx="10058400" cy="548640"/>
            <a:chOff x="0" y="0"/>
            <a:chExt cx="13411200" cy="7315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13411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💡  Key Takeaways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060704" y="8174736"/>
            <a:ext cx="182880" cy="182880"/>
            <a:chOff x="0" y="0"/>
            <a:chExt cx="243840" cy="2438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371600" y="8083296"/>
            <a:ext cx="9692640" cy="512064"/>
            <a:chOff x="0" y="0"/>
            <a:chExt cx="12923520" cy="68275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2923520" cy="682752"/>
            </a:xfrm>
            <a:custGeom>
              <a:avLst/>
              <a:gdLst/>
              <a:ahLst/>
              <a:cxnLst/>
              <a:rect r="r" b="b" t="t" l="l"/>
              <a:pathLst>
                <a:path h="68275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823" r="0" b="-318823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12923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OpenCog excels in symbolic reasoning and interpretability, ideal for explainable AI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060704" y="8759952"/>
            <a:ext cx="182880" cy="182880"/>
            <a:chOff x="0" y="0"/>
            <a:chExt cx="243840" cy="24384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71600" y="8668512"/>
            <a:ext cx="9692640" cy="512064"/>
            <a:chOff x="0" y="0"/>
            <a:chExt cx="12923520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2923520" cy="682752"/>
            </a:xfrm>
            <a:custGeom>
              <a:avLst/>
              <a:gdLst/>
              <a:ahLst/>
              <a:cxnLst/>
              <a:rect r="r" b="b" t="t" l="l"/>
              <a:pathLst>
                <a:path h="68275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823" r="0" b="-31882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2923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Deep learning dominates in pattern recognition and large-scale data processing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60704" y="9345168"/>
            <a:ext cx="182880" cy="182880"/>
            <a:chOff x="0" y="0"/>
            <a:chExt cx="243840" cy="2438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371600" y="9253728"/>
            <a:ext cx="9692640" cy="512064"/>
            <a:chOff x="0" y="0"/>
            <a:chExt cx="12923520" cy="68275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2923520" cy="682752"/>
            </a:xfrm>
            <a:custGeom>
              <a:avLst/>
              <a:gdLst/>
              <a:ahLst/>
              <a:cxnLst/>
              <a:rect r="r" b="b" t="t" l="l"/>
              <a:pathLst>
                <a:path h="68275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823" r="0" b="-318823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12923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Hybrid approaches combining both paradigms show promise for AGI development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591675" y="7305675"/>
            <a:ext cx="8333746" cy="2853690"/>
            <a:chOff x="0" y="0"/>
            <a:chExt cx="11111662" cy="380492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18027" y="12700"/>
              <a:ext cx="11075609" cy="3779520"/>
            </a:xfrm>
            <a:custGeom>
              <a:avLst/>
              <a:gdLst/>
              <a:ahLst/>
              <a:cxnLst/>
              <a:rect r="r" b="b" t="t" l="l"/>
              <a:pathLst>
                <a:path h="3779520" w="11075609">
                  <a:moveTo>
                    <a:pt x="0" y="0"/>
                  </a:moveTo>
                  <a:lnTo>
                    <a:pt x="11075608" y="0"/>
                  </a:lnTo>
                  <a:lnTo>
                    <a:pt x="11075608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4"/>
              <a:stretch>
                <a:fillRect l="-7217" t="-336" r="-7122" b="-340"/>
              </a:stretch>
            </a:blip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1111662" cy="3804920"/>
            </a:xfrm>
            <a:custGeom>
              <a:avLst/>
              <a:gdLst/>
              <a:ahLst/>
              <a:cxnLst/>
              <a:rect r="r" b="b" t="t" l="l"/>
              <a:pathLst>
                <a:path h="3804920" w="11111662">
                  <a:moveTo>
                    <a:pt x="18027" y="0"/>
                  </a:moveTo>
                  <a:lnTo>
                    <a:pt x="11093635" y="0"/>
                  </a:lnTo>
                  <a:cubicBezTo>
                    <a:pt x="11103550" y="0"/>
                    <a:pt x="11111662" y="5715"/>
                    <a:pt x="11111662" y="12700"/>
                  </a:cubicBezTo>
                  <a:lnTo>
                    <a:pt x="11111662" y="3792220"/>
                  </a:lnTo>
                  <a:cubicBezTo>
                    <a:pt x="11111662" y="3799205"/>
                    <a:pt x="11103550" y="3804920"/>
                    <a:pt x="11093635" y="3804920"/>
                  </a:cubicBezTo>
                  <a:lnTo>
                    <a:pt x="18027" y="3804920"/>
                  </a:lnTo>
                  <a:cubicBezTo>
                    <a:pt x="8112" y="3804920"/>
                    <a:pt x="0" y="3799205"/>
                    <a:pt x="0" y="3792220"/>
                  </a:cubicBezTo>
                  <a:lnTo>
                    <a:pt x="0" y="12700"/>
                  </a:lnTo>
                  <a:cubicBezTo>
                    <a:pt x="0" y="5715"/>
                    <a:pt x="8112" y="0"/>
                    <a:pt x="18027" y="0"/>
                  </a:cubicBezTo>
                  <a:moveTo>
                    <a:pt x="18027" y="25400"/>
                  </a:moveTo>
                  <a:lnTo>
                    <a:pt x="18027" y="12700"/>
                  </a:lnTo>
                  <a:lnTo>
                    <a:pt x="36053" y="12700"/>
                  </a:lnTo>
                  <a:lnTo>
                    <a:pt x="36053" y="3792220"/>
                  </a:lnTo>
                  <a:lnTo>
                    <a:pt x="18027" y="3792220"/>
                  </a:lnTo>
                  <a:lnTo>
                    <a:pt x="18027" y="3779520"/>
                  </a:lnTo>
                  <a:lnTo>
                    <a:pt x="11093635" y="3779520"/>
                  </a:lnTo>
                  <a:lnTo>
                    <a:pt x="11093635" y="3792220"/>
                  </a:lnTo>
                  <a:lnTo>
                    <a:pt x="11075608" y="3792220"/>
                  </a:lnTo>
                  <a:lnTo>
                    <a:pt x="11075608" y="12700"/>
                  </a:lnTo>
                  <a:lnTo>
                    <a:pt x="11093635" y="12700"/>
                  </a:lnTo>
                  <a:lnTo>
                    <a:pt x="11093635" y="25400"/>
                  </a:lnTo>
                  <a:lnTo>
                    <a:pt x="18027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121" id="121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Comparative analysis and summary of approaches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Installation Tutorial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32/53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1499616"/>
            <a:ext cx="14630400" cy="822960"/>
            <a:chOff x="0" y="0"/>
            <a:chExt cx="1950720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950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Installation Guide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1995" y="2459355"/>
            <a:ext cx="8522970" cy="7334250"/>
            <a:chOff x="0" y="0"/>
            <a:chExt cx="11363960" cy="9779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1133856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63960" cy="9779000"/>
            </a:xfrm>
            <a:custGeom>
              <a:avLst/>
              <a:gdLst/>
              <a:ahLst/>
              <a:cxnLst/>
              <a:rect r="r" b="b" t="t" l="l"/>
              <a:pathLst>
                <a:path h="9779000" w="11363960">
                  <a:moveTo>
                    <a:pt x="12700" y="0"/>
                  </a:moveTo>
                  <a:lnTo>
                    <a:pt x="11351260" y="0"/>
                  </a:lnTo>
                  <a:cubicBezTo>
                    <a:pt x="11358245" y="0"/>
                    <a:pt x="11363960" y="5715"/>
                    <a:pt x="11363960" y="12700"/>
                  </a:cubicBezTo>
                  <a:lnTo>
                    <a:pt x="11363960" y="9766300"/>
                  </a:lnTo>
                  <a:cubicBezTo>
                    <a:pt x="11363960" y="9773285"/>
                    <a:pt x="11358245" y="9779000"/>
                    <a:pt x="11351260" y="9779000"/>
                  </a:cubicBezTo>
                  <a:lnTo>
                    <a:pt x="12700" y="9779000"/>
                  </a:lnTo>
                  <a:cubicBezTo>
                    <a:pt x="5715" y="9779000"/>
                    <a:pt x="0" y="9773285"/>
                    <a:pt x="0" y="9766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66300"/>
                  </a:lnTo>
                  <a:lnTo>
                    <a:pt x="12700" y="9766300"/>
                  </a:lnTo>
                  <a:lnTo>
                    <a:pt x="12700" y="9753600"/>
                  </a:lnTo>
                  <a:lnTo>
                    <a:pt x="11351260" y="9753600"/>
                  </a:lnTo>
                  <a:lnTo>
                    <a:pt x="11351260" y="9766300"/>
                  </a:lnTo>
                  <a:lnTo>
                    <a:pt x="11338560" y="9766300"/>
                  </a:lnTo>
                  <a:lnTo>
                    <a:pt x="11338560" y="12700"/>
                  </a:lnTo>
                  <a:lnTo>
                    <a:pt x="11351260" y="12700"/>
                  </a:lnTo>
                  <a:lnTo>
                    <a:pt x="11351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05840" y="2615184"/>
            <a:ext cx="8046720" cy="548640"/>
            <a:chOff x="0" y="0"/>
            <a:chExt cx="1072896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2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7289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🐧 Ubuntu Setup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5840" y="3218688"/>
            <a:ext cx="8046720" cy="365760"/>
            <a:chOff x="0" y="0"/>
            <a:chExt cx="10728960" cy="487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28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728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Native installation with dependencies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99487" y="3687823"/>
            <a:ext cx="8059417" cy="963673"/>
            <a:chOff x="0" y="0"/>
            <a:chExt cx="10745889" cy="12848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8509" y="8509"/>
              <a:ext cx="107289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459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1276477"/>
                  </a:lnTo>
                  <a:cubicBezTo>
                    <a:pt x="10745978" y="1281176"/>
                    <a:pt x="10742168" y="1284986"/>
                    <a:pt x="107374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737469" y="1267968"/>
                  </a:lnTo>
                  <a:lnTo>
                    <a:pt x="10737469" y="1276477"/>
                  </a:lnTo>
                  <a:lnTo>
                    <a:pt x="10728960" y="1276477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88720" y="3895344"/>
            <a:ext cx="548640" cy="548640"/>
            <a:chOff x="0" y="0"/>
            <a:chExt cx="73152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88720" y="3895344"/>
            <a:ext cx="548640" cy="548640"/>
            <a:chOff x="0" y="0"/>
            <a:chExt cx="73152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920240" y="3785616"/>
            <a:ext cx="6949440" cy="402336"/>
            <a:chOff x="0" y="0"/>
            <a:chExt cx="9265920" cy="5364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65920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8579" r="0" b="-37857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265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Install CogUtil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920240" y="4187952"/>
            <a:ext cx="6949440" cy="365760"/>
            <a:chOff x="0" y="0"/>
            <a:chExt cx="9265920" cy="4876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65920" cy="487680"/>
            </a:xfrm>
            <a:custGeom>
              <a:avLst/>
              <a:gdLst/>
              <a:ahLst/>
              <a:cxnLst/>
              <a:rect r="r" b="b" t="t" l="l"/>
              <a:pathLst>
                <a:path h="4876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2659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sudo apt-get update &amp;&amp; sudo apt-get install -y build-essential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99487" y="4821679"/>
            <a:ext cx="8059417" cy="963673"/>
            <a:chOff x="0" y="0"/>
            <a:chExt cx="10745889" cy="128489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8509" y="8509"/>
              <a:ext cx="107289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459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1276477"/>
                  </a:lnTo>
                  <a:cubicBezTo>
                    <a:pt x="10745978" y="1281176"/>
                    <a:pt x="10742168" y="1284986"/>
                    <a:pt x="107374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737469" y="1267968"/>
                  </a:lnTo>
                  <a:lnTo>
                    <a:pt x="10737469" y="1276477"/>
                  </a:lnTo>
                  <a:lnTo>
                    <a:pt x="10728960" y="1276477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88720" y="5029200"/>
            <a:ext cx="548640" cy="548640"/>
            <a:chOff x="0" y="0"/>
            <a:chExt cx="7315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88720" y="5029200"/>
            <a:ext cx="548640" cy="548640"/>
            <a:chOff x="0" y="0"/>
            <a:chExt cx="73152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20240" y="4919472"/>
            <a:ext cx="6949440" cy="402336"/>
            <a:chOff x="0" y="0"/>
            <a:chExt cx="9265920" cy="5364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265920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8579" r="0" b="-37857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265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Clone AtomSpace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920240" y="5321808"/>
            <a:ext cx="6949440" cy="365760"/>
            <a:chOff x="0" y="0"/>
            <a:chExt cx="9265920" cy="487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265920" cy="487680"/>
            </a:xfrm>
            <a:custGeom>
              <a:avLst/>
              <a:gdLst/>
              <a:ahLst/>
              <a:cxnLst/>
              <a:rect r="r" b="b" t="t" l="l"/>
              <a:pathLst>
                <a:path h="4876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2659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 clone https://github.com/opencog/atomspace.git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99487" y="6120127"/>
            <a:ext cx="8059417" cy="3030217"/>
            <a:chOff x="0" y="0"/>
            <a:chExt cx="10745889" cy="404028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8509" y="8509"/>
              <a:ext cx="107289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45978" cy="4040378"/>
            </a:xfrm>
            <a:custGeom>
              <a:avLst/>
              <a:gdLst/>
              <a:ahLst/>
              <a:cxnLst/>
              <a:rect r="r" b="b" t="t" l="l"/>
              <a:pathLst>
                <a:path h="404037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4031869"/>
                  </a:lnTo>
                  <a:cubicBezTo>
                    <a:pt x="10745978" y="4036568"/>
                    <a:pt x="10742168" y="4040378"/>
                    <a:pt x="10737469" y="4040378"/>
                  </a:cubicBezTo>
                  <a:lnTo>
                    <a:pt x="8509" y="4040378"/>
                  </a:lnTo>
                  <a:cubicBezTo>
                    <a:pt x="3810" y="4040378"/>
                    <a:pt x="0" y="4036568"/>
                    <a:pt x="0" y="4031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031869"/>
                  </a:lnTo>
                  <a:lnTo>
                    <a:pt x="8509" y="4031869"/>
                  </a:lnTo>
                  <a:lnTo>
                    <a:pt x="8509" y="4023360"/>
                  </a:lnTo>
                  <a:lnTo>
                    <a:pt x="10737469" y="4023360"/>
                  </a:lnTo>
                  <a:lnTo>
                    <a:pt x="10737469" y="4031869"/>
                  </a:lnTo>
                  <a:lnTo>
                    <a:pt x="10728960" y="403186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97280" y="9290304"/>
            <a:ext cx="219456" cy="219456"/>
            <a:chOff x="0" y="0"/>
            <a:chExt cx="292608" cy="29260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426464" y="9235440"/>
            <a:ext cx="7498080" cy="365760"/>
            <a:chOff x="0" y="0"/>
            <a:chExt cx="9997440" cy="4876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Installation time: ~15 minutes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591675" y="2459355"/>
            <a:ext cx="8522970" cy="7334250"/>
            <a:chOff x="0" y="0"/>
            <a:chExt cx="11363960" cy="9779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2700" y="12700"/>
              <a:ext cx="1133856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363960" cy="9779000"/>
            </a:xfrm>
            <a:custGeom>
              <a:avLst/>
              <a:gdLst/>
              <a:ahLst/>
              <a:cxnLst/>
              <a:rect r="r" b="b" t="t" l="l"/>
              <a:pathLst>
                <a:path h="9779000" w="11363960">
                  <a:moveTo>
                    <a:pt x="12700" y="0"/>
                  </a:moveTo>
                  <a:lnTo>
                    <a:pt x="11351260" y="0"/>
                  </a:lnTo>
                  <a:cubicBezTo>
                    <a:pt x="11358245" y="0"/>
                    <a:pt x="11363960" y="5715"/>
                    <a:pt x="11363960" y="12700"/>
                  </a:cubicBezTo>
                  <a:lnTo>
                    <a:pt x="11363960" y="9766300"/>
                  </a:lnTo>
                  <a:cubicBezTo>
                    <a:pt x="11363960" y="9773285"/>
                    <a:pt x="11358245" y="9779000"/>
                    <a:pt x="11351260" y="9779000"/>
                  </a:cubicBezTo>
                  <a:lnTo>
                    <a:pt x="12700" y="9779000"/>
                  </a:lnTo>
                  <a:cubicBezTo>
                    <a:pt x="5715" y="9779000"/>
                    <a:pt x="0" y="9773285"/>
                    <a:pt x="0" y="9766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766300"/>
                  </a:lnTo>
                  <a:lnTo>
                    <a:pt x="12700" y="9766300"/>
                  </a:lnTo>
                  <a:lnTo>
                    <a:pt x="12700" y="9753600"/>
                  </a:lnTo>
                  <a:lnTo>
                    <a:pt x="11351260" y="9753600"/>
                  </a:lnTo>
                  <a:lnTo>
                    <a:pt x="11351260" y="9766300"/>
                  </a:lnTo>
                  <a:lnTo>
                    <a:pt x="11338560" y="9766300"/>
                  </a:lnTo>
                  <a:lnTo>
                    <a:pt x="11338560" y="12700"/>
                  </a:lnTo>
                  <a:lnTo>
                    <a:pt x="11351260" y="12700"/>
                  </a:lnTo>
                  <a:lnTo>
                    <a:pt x="11351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875520" y="2615184"/>
            <a:ext cx="8046720" cy="548640"/>
            <a:chOff x="0" y="0"/>
            <a:chExt cx="1072896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72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107289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🐳 Docker Setup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875520" y="3218688"/>
            <a:ext cx="8046720" cy="365760"/>
            <a:chOff x="0" y="0"/>
            <a:chExt cx="10728960" cy="4876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728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0728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Containerized deployment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869167" y="3687823"/>
            <a:ext cx="8059417" cy="963673"/>
            <a:chOff x="0" y="0"/>
            <a:chExt cx="10745889" cy="128489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8509" y="8509"/>
              <a:ext cx="107289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7459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1276477"/>
                  </a:lnTo>
                  <a:cubicBezTo>
                    <a:pt x="10745978" y="1281176"/>
                    <a:pt x="10742168" y="1284986"/>
                    <a:pt x="107374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737469" y="1267968"/>
                  </a:lnTo>
                  <a:lnTo>
                    <a:pt x="10737469" y="1276477"/>
                  </a:lnTo>
                  <a:lnTo>
                    <a:pt x="10728960" y="1276477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058400" y="3895344"/>
            <a:ext cx="548640" cy="548640"/>
            <a:chOff x="0" y="0"/>
            <a:chExt cx="73152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0058400" y="3895344"/>
            <a:ext cx="548640" cy="548640"/>
            <a:chOff x="0" y="0"/>
            <a:chExt cx="73152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789920" y="3785616"/>
            <a:ext cx="6949440" cy="402336"/>
            <a:chOff x="0" y="0"/>
            <a:chExt cx="9265920" cy="53644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265920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559" r="0" b="-286559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9265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Pull Docker Image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789920" y="4187952"/>
            <a:ext cx="6949440" cy="365760"/>
            <a:chOff x="0" y="0"/>
            <a:chExt cx="9265920" cy="4876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265920" cy="487680"/>
            </a:xfrm>
            <a:custGeom>
              <a:avLst/>
              <a:gdLst/>
              <a:ahLst/>
              <a:cxnLst/>
              <a:rect r="r" b="b" t="t" l="l"/>
              <a:pathLst>
                <a:path h="4876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92659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docker pull opencog/opencog-dev:latest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869167" y="4821679"/>
            <a:ext cx="8059417" cy="963673"/>
            <a:chOff x="0" y="0"/>
            <a:chExt cx="10745889" cy="128489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8509" y="8509"/>
              <a:ext cx="107289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74597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1276477"/>
                  </a:lnTo>
                  <a:cubicBezTo>
                    <a:pt x="10745978" y="1281176"/>
                    <a:pt x="10742168" y="1284986"/>
                    <a:pt x="1073746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737469" y="1267968"/>
                  </a:lnTo>
                  <a:lnTo>
                    <a:pt x="10737469" y="1276477"/>
                  </a:lnTo>
                  <a:lnTo>
                    <a:pt x="10728960" y="1276477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058400" y="5029200"/>
            <a:ext cx="548640" cy="548640"/>
            <a:chOff x="0" y="0"/>
            <a:chExt cx="731520" cy="7315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058400" y="5029200"/>
            <a:ext cx="548640" cy="548640"/>
            <a:chOff x="0" y="0"/>
            <a:chExt cx="731520" cy="731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789920" y="4919472"/>
            <a:ext cx="6949440" cy="402336"/>
            <a:chOff x="0" y="0"/>
            <a:chExt cx="9265920" cy="53644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265920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559" r="0" b="-28655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9265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Configure Server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789920" y="5321808"/>
            <a:ext cx="6949440" cy="365760"/>
            <a:chOff x="0" y="0"/>
            <a:chExt cx="9265920" cy="4876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265920" cy="487680"/>
            </a:xfrm>
            <a:custGeom>
              <a:avLst/>
              <a:gdLst/>
              <a:ahLst/>
              <a:cxnLst/>
              <a:rect r="r" b="b" t="t" l="l"/>
              <a:pathLst>
                <a:path h="4876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92659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docker exec -it opencog bash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869167" y="6120127"/>
            <a:ext cx="8059417" cy="3030217"/>
            <a:chOff x="0" y="0"/>
            <a:chExt cx="10745889" cy="404028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8509" y="8509"/>
              <a:ext cx="107289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745978" cy="4040378"/>
            </a:xfrm>
            <a:custGeom>
              <a:avLst/>
              <a:gdLst/>
              <a:ahLst/>
              <a:cxnLst/>
              <a:rect r="r" b="b" t="t" l="l"/>
              <a:pathLst>
                <a:path h="404037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4031869"/>
                  </a:lnTo>
                  <a:cubicBezTo>
                    <a:pt x="10745978" y="4036568"/>
                    <a:pt x="10742168" y="4040378"/>
                    <a:pt x="10737469" y="4040378"/>
                  </a:cubicBezTo>
                  <a:lnTo>
                    <a:pt x="8509" y="4040378"/>
                  </a:lnTo>
                  <a:cubicBezTo>
                    <a:pt x="3810" y="4040378"/>
                    <a:pt x="0" y="4036568"/>
                    <a:pt x="0" y="4031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031869"/>
                  </a:lnTo>
                  <a:lnTo>
                    <a:pt x="8509" y="4031869"/>
                  </a:lnTo>
                  <a:lnTo>
                    <a:pt x="8509" y="4023360"/>
                  </a:lnTo>
                  <a:lnTo>
                    <a:pt x="10737469" y="4023360"/>
                  </a:lnTo>
                  <a:lnTo>
                    <a:pt x="10737469" y="4031869"/>
                  </a:lnTo>
                  <a:lnTo>
                    <a:pt x="10728960" y="403186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966960" y="9290304"/>
            <a:ext cx="219456" cy="219456"/>
            <a:chOff x="0" y="0"/>
            <a:chExt cx="292608" cy="29260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0296144" y="9235440"/>
            <a:ext cx="7498080" cy="365760"/>
            <a:chOff x="0" y="0"/>
            <a:chExt cx="9997440" cy="48768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997440" cy="487680"/>
            </a:xfrm>
            <a:custGeom>
              <a:avLst/>
              <a:gdLst/>
              <a:ahLst/>
              <a:cxnLst/>
              <a:rect r="r" b="b" t="t" l="l"/>
              <a:pathLst>
                <a:path h="4876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443" r="0" b="-349443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99974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Docker recommended for quick start</a:t>
              </a:r>
            </a:p>
          </p:txBody>
        </p:sp>
      </p:grpSp>
      <p:sp>
        <p:nvSpPr>
          <p:cNvPr name="Freeform 103" id="103"/>
          <p:cNvSpPr/>
          <p:nvPr/>
        </p:nvSpPr>
        <p:spPr>
          <a:xfrm flipH="false" flipV="false" rot="0">
            <a:off x="0" y="1336959"/>
            <a:ext cx="18288000" cy="9075420"/>
          </a:xfrm>
          <a:custGeom>
            <a:avLst/>
            <a:gdLst/>
            <a:ahLst/>
            <a:cxnLst/>
            <a:rect r="r" b="b" t="t" l="l"/>
            <a:pathLst>
              <a:path h="9075420" w="18288000">
                <a:moveTo>
                  <a:pt x="0" y="0"/>
                </a:moveTo>
                <a:lnTo>
                  <a:pt x="18288000" y="0"/>
                </a:lnTo>
                <a:lnTo>
                  <a:pt x="18288000" y="9075420"/>
                </a:lnTo>
                <a:lnTo>
                  <a:pt x="0" y="90754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4" id="104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Ubuntu setup and Docker deployment for OpenCog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Installing CogUtil - Step 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Ubuntu installation guide for OpenCog dependencies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33/53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499616"/>
            <a:ext cx="14630400" cy="822960"/>
            <a:chOff x="0" y="0"/>
            <a:chExt cx="195072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950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Installing CogUtil on Ubuntu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21995" y="2459355"/>
            <a:ext cx="9894570" cy="7517130"/>
            <a:chOff x="0" y="0"/>
            <a:chExt cx="13192760" cy="10022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3167361" cy="9997440"/>
            </a:xfrm>
            <a:custGeom>
              <a:avLst/>
              <a:gdLst/>
              <a:ahLst/>
              <a:cxnLst/>
              <a:rect r="r" b="b" t="t" l="l"/>
              <a:pathLst>
                <a:path h="999744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92761" cy="10022840"/>
            </a:xfrm>
            <a:custGeom>
              <a:avLst/>
              <a:gdLst/>
              <a:ahLst/>
              <a:cxnLst/>
              <a:rect r="r" b="b" t="t" l="l"/>
              <a:pathLst>
                <a:path h="10022840" w="13192761">
                  <a:moveTo>
                    <a:pt x="12700" y="0"/>
                  </a:moveTo>
                  <a:lnTo>
                    <a:pt x="13180061" y="0"/>
                  </a:lnTo>
                  <a:cubicBezTo>
                    <a:pt x="13187046" y="0"/>
                    <a:pt x="13192761" y="5715"/>
                    <a:pt x="13192761" y="12700"/>
                  </a:cubicBezTo>
                  <a:lnTo>
                    <a:pt x="13192761" y="10010140"/>
                  </a:lnTo>
                  <a:cubicBezTo>
                    <a:pt x="13192761" y="10017125"/>
                    <a:pt x="13187046" y="10022840"/>
                    <a:pt x="13180061" y="10022840"/>
                  </a:cubicBezTo>
                  <a:lnTo>
                    <a:pt x="12700" y="10022840"/>
                  </a:lnTo>
                  <a:cubicBezTo>
                    <a:pt x="5715" y="10022840"/>
                    <a:pt x="0" y="10017125"/>
                    <a:pt x="0" y="1001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10140"/>
                  </a:lnTo>
                  <a:lnTo>
                    <a:pt x="12700" y="10010140"/>
                  </a:lnTo>
                  <a:lnTo>
                    <a:pt x="12700" y="9997440"/>
                  </a:lnTo>
                  <a:lnTo>
                    <a:pt x="13180061" y="9997440"/>
                  </a:lnTo>
                  <a:lnTo>
                    <a:pt x="13180061" y="10010140"/>
                  </a:lnTo>
                  <a:lnTo>
                    <a:pt x="13167361" y="10010140"/>
                  </a:lnTo>
                  <a:lnTo>
                    <a:pt x="13167361" y="12700"/>
                  </a:lnTo>
                  <a:lnTo>
                    <a:pt x="13180061" y="12700"/>
                  </a:lnTo>
                  <a:lnTo>
                    <a:pt x="1318006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05840" y="2615184"/>
            <a:ext cx="9509760" cy="512064"/>
            <a:chOff x="0" y="0"/>
            <a:chExt cx="1267968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79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5" r="0" b="-31186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26796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Terminal Commands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5840" y="3163824"/>
            <a:ext cx="9509760" cy="365760"/>
            <a:chOff x="0" y="0"/>
            <a:chExt cx="12679680" cy="487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79680" cy="487680"/>
            </a:xfrm>
            <a:custGeom>
              <a:avLst/>
              <a:gdLst/>
              <a:ahLst/>
              <a:cxnLst/>
              <a:rect r="r" b="b" t="t" l="l"/>
              <a:pathLst>
                <a:path h="48768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0" r="0" b="-45661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6796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Step 1: Clone and Build CogUtil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2668" y="3654428"/>
            <a:ext cx="9516113" cy="609857"/>
            <a:chOff x="0" y="0"/>
            <a:chExt cx="12688151" cy="8131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4191" y="4191"/>
              <a:ext cx="12679681" cy="804672"/>
            </a:xfrm>
            <a:custGeom>
              <a:avLst/>
              <a:gdLst/>
              <a:ahLst/>
              <a:cxnLst/>
              <a:rect r="r" b="b" t="t" l="l"/>
              <a:pathLst>
                <a:path h="804672" w="12679681">
                  <a:moveTo>
                    <a:pt x="0" y="0"/>
                  </a:moveTo>
                  <a:lnTo>
                    <a:pt x="12679681" y="0"/>
                  </a:lnTo>
                  <a:lnTo>
                    <a:pt x="12679681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688062" cy="813054"/>
            </a:xfrm>
            <a:custGeom>
              <a:avLst/>
              <a:gdLst/>
              <a:ahLst/>
              <a:cxnLst/>
              <a:rect r="r" b="b" t="t" l="l"/>
              <a:pathLst>
                <a:path h="813054" w="12688062">
                  <a:moveTo>
                    <a:pt x="4191" y="0"/>
                  </a:moveTo>
                  <a:lnTo>
                    <a:pt x="12683872" y="0"/>
                  </a:lnTo>
                  <a:cubicBezTo>
                    <a:pt x="12686157" y="0"/>
                    <a:pt x="12688062" y="1905"/>
                    <a:pt x="12688062" y="4191"/>
                  </a:cubicBezTo>
                  <a:lnTo>
                    <a:pt x="12688062" y="808863"/>
                  </a:lnTo>
                  <a:cubicBezTo>
                    <a:pt x="12688062" y="811149"/>
                    <a:pt x="12686157" y="813054"/>
                    <a:pt x="12683872" y="813054"/>
                  </a:cubicBezTo>
                  <a:lnTo>
                    <a:pt x="4191" y="813054"/>
                  </a:lnTo>
                  <a:cubicBezTo>
                    <a:pt x="1905" y="813054"/>
                    <a:pt x="0" y="811149"/>
                    <a:pt x="0" y="808863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808863"/>
                  </a:lnTo>
                  <a:lnTo>
                    <a:pt x="4191" y="808863"/>
                  </a:lnTo>
                  <a:lnTo>
                    <a:pt x="4191" y="804672"/>
                  </a:lnTo>
                  <a:lnTo>
                    <a:pt x="12683872" y="804672"/>
                  </a:lnTo>
                  <a:lnTo>
                    <a:pt x="12683872" y="808863"/>
                  </a:lnTo>
                  <a:lnTo>
                    <a:pt x="12679680" y="808863"/>
                  </a:lnTo>
                  <a:lnTo>
                    <a:pt x="12679680" y="4191"/>
                  </a:lnTo>
                  <a:lnTo>
                    <a:pt x="12683872" y="4191"/>
                  </a:lnTo>
                  <a:lnTo>
                    <a:pt x="12683872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60704" y="3730752"/>
            <a:ext cx="402336" cy="402336"/>
            <a:chOff x="0" y="0"/>
            <a:chExt cx="536448" cy="5364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60704" y="3730752"/>
            <a:ext cx="402336" cy="402336"/>
            <a:chOff x="0" y="0"/>
            <a:chExt cx="536448" cy="5364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536448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54480" y="3749040"/>
            <a:ext cx="5486400" cy="365760"/>
            <a:chOff x="0" y="0"/>
            <a:chExt cx="7315200" cy="487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onsolas"/>
                  <a:ea typeface="Consolas"/>
                  <a:cs typeface="Consolas"/>
                  <a:sym typeface="Consolas"/>
                </a:rPr>
                <a:t>sudo apt-get update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132320" y="3749040"/>
            <a:ext cx="3291840" cy="365760"/>
            <a:chOff x="0" y="0"/>
            <a:chExt cx="4389120" cy="4876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89120" cy="487680"/>
            </a:xfrm>
            <a:custGeom>
              <a:avLst/>
              <a:gdLst/>
              <a:ahLst/>
              <a:cxnLst/>
              <a:rect r="r" b="b" t="t" l="l"/>
              <a:pathLst>
                <a:path h="4876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438912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# Update package list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02668" y="4349372"/>
            <a:ext cx="9516113" cy="609857"/>
            <a:chOff x="0" y="0"/>
            <a:chExt cx="12688151" cy="81314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4191" y="4191"/>
              <a:ext cx="12679681" cy="804672"/>
            </a:xfrm>
            <a:custGeom>
              <a:avLst/>
              <a:gdLst/>
              <a:ahLst/>
              <a:cxnLst/>
              <a:rect r="r" b="b" t="t" l="l"/>
              <a:pathLst>
                <a:path h="804672" w="12679681">
                  <a:moveTo>
                    <a:pt x="0" y="0"/>
                  </a:moveTo>
                  <a:lnTo>
                    <a:pt x="12679681" y="0"/>
                  </a:lnTo>
                  <a:lnTo>
                    <a:pt x="12679681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688062" cy="813054"/>
            </a:xfrm>
            <a:custGeom>
              <a:avLst/>
              <a:gdLst/>
              <a:ahLst/>
              <a:cxnLst/>
              <a:rect r="r" b="b" t="t" l="l"/>
              <a:pathLst>
                <a:path h="813054" w="12688062">
                  <a:moveTo>
                    <a:pt x="4191" y="0"/>
                  </a:moveTo>
                  <a:lnTo>
                    <a:pt x="12683872" y="0"/>
                  </a:lnTo>
                  <a:cubicBezTo>
                    <a:pt x="12686157" y="0"/>
                    <a:pt x="12688062" y="1905"/>
                    <a:pt x="12688062" y="4191"/>
                  </a:cubicBezTo>
                  <a:lnTo>
                    <a:pt x="12688062" y="808863"/>
                  </a:lnTo>
                  <a:cubicBezTo>
                    <a:pt x="12688062" y="811149"/>
                    <a:pt x="12686157" y="813054"/>
                    <a:pt x="12683872" y="813054"/>
                  </a:cubicBezTo>
                  <a:lnTo>
                    <a:pt x="4191" y="813054"/>
                  </a:lnTo>
                  <a:cubicBezTo>
                    <a:pt x="1905" y="813054"/>
                    <a:pt x="0" y="811149"/>
                    <a:pt x="0" y="808863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808863"/>
                  </a:lnTo>
                  <a:lnTo>
                    <a:pt x="4191" y="808863"/>
                  </a:lnTo>
                  <a:lnTo>
                    <a:pt x="4191" y="804672"/>
                  </a:lnTo>
                  <a:lnTo>
                    <a:pt x="12683872" y="804672"/>
                  </a:lnTo>
                  <a:lnTo>
                    <a:pt x="12683872" y="808863"/>
                  </a:lnTo>
                  <a:lnTo>
                    <a:pt x="12679680" y="808863"/>
                  </a:lnTo>
                  <a:lnTo>
                    <a:pt x="12679680" y="4191"/>
                  </a:lnTo>
                  <a:lnTo>
                    <a:pt x="12683872" y="4191"/>
                  </a:lnTo>
                  <a:lnTo>
                    <a:pt x="12683872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60704" y="4425696"/>
            <a:ext cx="402336" cy="402336"/>
            <a:chOff x="0" y="0"/>
            <a:chExt cx="536448" cy="5364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60704" y="4425696"/>
            <a:ext cx="402336" cy="402336"/>
            <a:chOff x="0" y="0"/>
            <a:chExt cx="536448" cy="53644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536448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54480" y="4443984"/>
            <a:ext cx="5486400" cy="365760"/>
            <a:chOff x="0" y="0"/>
            <a:chExt cx="7315200" cy="4876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onsolas"/>
                  <a:ea typeface="Consolas"/>
                  <a:cs typeface="Consolas"/>
                  <a:sym typeface="Consolas"/>
                </a:rPr>
                <a:t>sudo apt-get install -y build-essential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132320" y="4443984"/>
            <a:ext cx="3291840" cy="365760"/>
            <a:chOff x="0" y="0"/>
            <a:chExt cx="4389120" cy="4876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89120" cy="487680"/>
            </a:xfrm>
            <a:custGeom>
              <a:avLst/>
              <a:gdLst/>
              <a:ahLst/>
              <a:cxnLst/>
              <a:rect r="r" b="b" t="t" l="l"/>
              <a:pathLst>
                <a:path h="4876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438912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# Install build tools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02668" y="5044316"/>
            <a:ext cx="9516113" cy="609857"/>
            <a:chOff x="0" y="0"/>
            <a:chExt cx="12688151" cy="81314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4191" y="4191"/>
              <a:ext cx="12679681" cy="804672"/>
            </a:xfrm>
            <a:custGeom>
              <a:avLst/>
              <a:gdLst/>
              <a:ahLst/>
              <a:cxnLst/>
              <a:rect r="r" b="b" t="t" l="l"/>
              <a:pathLst>
                <a:path h="804672" w="12679681">
                  <a:moveTo>
                    <a:pt x="0" y="0"/>
                  </a:moveTo>
                  <a:lnTo>
                    <a:pt x="12679681" y="0"/>
                  </a:lnTo>
                  <a:lnTo>
                    <a:pt x="12679681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688062" cy="813054"/>
            </a:xfrm>
            <a:custGeom>
              <a:avLst/>
              <a:gdLst/>
              <a:ahLst/>
              <a:cxnLst/>
              <a:rect r="r" b="b" t="t" l="l"/>
              <a:pathLst>
                <a:path h="813054" w="12688062">
                  <a:moveTo>
                    <a:pt x="4191" y="0"/>
                  </a:moveTo>
                  <a:lnTo>
                    <a:pt x="12683872" y="0"/>
                  </a:lnTo>
                  <a:cubicBezTo>
                    <a:pt x="12686157" y="0"/>
                    <a:pt x="12688062" y="1905"/>
                    <a:pt x="12688062" y="4191"/>
                  </a:cubicBezTo>
                  <a:lnTo>
                    <a:pt x="12688062" y="808863"/>
                  </a:lnTo>
                  <a:cubicBezTo>
                    <a:pt x="12688062" y="811149"/>
                    <a:pt x="12686157" y="813054"/>
                    <a:pt x="12683872" y="813054"/>
                  </a:cubicBezTo>
                  <a:lnTo>
                    <a:pt x="4191" y="813054"/>
                  </a:lnTo>
                  <a:cubicBezTo>
                    <a:pt x="1905" y="813054"/>
                    <a:pt x="0" y="811149"/>
                    <a:pt x="0" y="808863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808863"/>
                  </a:lnTo>
                  <a:lnTo>
                    <a:pt x="4191" y="808863"/>
                  </a:lnTo>
                  <a:lnTo>
                    <a:pt x="4191" y="804672"/>
                  </a:lnTo>
                  <a:lnTo>
                    <a:pt x="12683872" y="804672"/>
                  </a:lnTo>
                  <a:lnTo>
                    <a:pt x="12683872" y="808863"/>
                  </a:lnTo>
                  <a:lnTo>
                    <a:pt x="12679680" y="808863"/>
                  </a:lnTo>
                  <a:lnTo>
                    <a:pt x="12679680" y="4191"/>
                  </a:lnTo>
                  <a:lnTo>
                    <a:pt x="12683872" y="4191"/>
                  </a:lnTo>
                  <a:lnTo>
                    <a:pt x="12683872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60704" y="5120640"/>
            <a:ext cx="402336" cy="402336"/>
            <a:chOff x="0" y="0"/>
            <a:chExt cx="536448" cy="53644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60704" y="5120640"/>
            <a:ext cx="402336" cy="402336"/>
            <a:chOff x="0" y="0"/>
            <a:chExt cx="536448" cy="5364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536448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54480" y="5138928"/>
            <a:ext cx="5486400" cy="365760"/>
            <a:chOff x="0" y="0"/>
            <a:chExt cx="7315200" cy="4876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onsolas"/>
                  <a:ea typeface="Consolas"/>
                  <a:cs typeface="Consolas"/>
                  <a:sym typeface="Consolas"/>
                </a:rPr>
                <a:t>git clone https://github.com/opencog/cogutil.git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132320" y="5138928"/>
            <a:ext cx="3291840" cy="365760"/>
            <a:chOff x="0" y="0"/>
            <a:chExt cx="4389120" cy="487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389120" cy="487680"/>
            </a:xfrm>
            <a:custGeom>
              <a:avLst/>
              <a:gdLst/>
              <a:ahLst/>
              <a:cxnLst/>
              <a:rect r="r" b="b" t="t" l="l"/>
              <a:pathLst>
                <a:path h="4876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438912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# Clone repository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02668" y="5739260"/>
            <a:ext cx="9516113" cy="609857"/>
            <a:chOff x="0" y="0"/>
            <a:chExt cx="12688151" cy="81314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4191" y="4191"/>
              <a:ext cx="12679681" cy="804672"/>
            </a:xfrm>
            <a:custGeom>
              <a:avLst/>
              <a:gdLst/>
              <a:ahLst/>
              <a:cxnLst/>
              <a:rect r="r" b="b" t="t" l="l"/>
              <a:pathLst>
                <a:path h="804672" w="12679681">
                  <a:moveTo>
                    <a:pt x="0" y="0"/>
                  </a:moveTo>
                  <a:lnTo>
                    <a:pt x="12679681" y="0"/>
                  </a:lnTo>
                  <a:lnTo>
                    <a:pt x="12679681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688062" cy="813054"/>
            </a:xfrm>
            <a:custGeom>
              <a:avLst/>
              <a:gdLst/>
              <a:ahLst/>
              <a:cxnLst/>
              <a:rect r="r" b="b" t="t" l="l"/>
              <a:pathLst>
                <a:path h="813054" w="12688062">
                  <a:moveTo>
                    <a:pt x="4191" y="0"/>
                  </a:moveTo>
                  <a:lnTo>
                    <a:pt x="12683872" y="0"/>
                  </a:lnTo>
                  <a:cubicBezTo>
                    <a:pt x="12686157" y="0"/>
                    <a:pt x="12688062" y="1905"/>
                    <a:pt x="12688062" y="4191"/>
                  </a:cubicBezTo>
                  <a:lnTo>
                    <a:pt x="12688062" y="808863"/>
                  </a:lnTo>
                  <a:cubicBezTo>
                    <a:pt x="12688062" y="811149"/>
                    <a:pt x="12686157" y="813054"/>
                    <a:pt x="12683872" y="813054"/>
                  </a:cubicBezTo>
                  <a:lnTo>
                    <a:pt x="4191" y="813054"/>
                  </a:lnTo>
                  <a:cubicBezTo>
                    <a:pt x="1905" y="813054"/>
                    <a:pt x="0" y="811149"/>
                    <a:pt x="0" y="808863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808863"/>
                  </a:lnTo>
                  <a:lnTo>
                    <a:pt x="4191" y="808863"/>
                  </a:lnTo>
                  <a:lnTo>
                    <a:pt x="4191" y="804672"/>
                  </a:lnTo>
                  <a:lnTo>
                    <a:pt x="12683872" y="804672"/>
                  </a:lnTo>
                  <a:lnTo>
                    <a:pt x="12683872" y="808863"/>
                  </a:lnTo>
                  <a:lnTo>
                    <a:pt x="12679680" y="808863"/>
                  </a:lnTo>
                  <a:lnTo>
                    <a:pt x="12679680" y="4191"/>
                  </a:lnTo>
                  <a:lnTo>
                    <a:pt x="12683872" y="4191"/>
                  </a:lnTo>
                  <a:lnTo>
                    <a:pt x="12683872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60704" y="5815584"/>
            <a:ext cx="402336" cy="402336"/>
            <a:chOff x="0" y="0"/>
            <a:chExt cx="536448" cy="5364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60704" y="5815584"/>
            <a:ext cx="402336" cy="402336"/>
            <a:chOff x="0" y="0"/>
            <a:chExt cx="536448" cy="53644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536448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554480" y="5833872"/>
            <a:ext cx="5486400" cy="365760"/>
            <a:chOff x="0" y="0"/>
            <a:chExt cx="7315200" cy="4876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onsolas"/>
                  <a:ea typeface="Consolas"/>
                  <a:cs typeface="Consolas"/>
                  <a:sym typeface="Consolas"/>
                </a:rPr>
                <a:t>cd cogutil &amp;&amp; mkdir build &amp;&amp; cd build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132320" y="5833872"/>
            <a:ext cx="3291840" cy="365760"/>
            <a:chOff x="0" y="0"/>
            <a:chExt cx="4389120" cy="4876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389120" cy="487680"/>
            </a:xfrm>
            <a:custGeom>
              <a:avLst/>
              <a:gdLst/>
              <a:ahLst/>
              <a:cxnLst/>
              <a:rect r="r" b="b" t="t" l="l"/>
              <a:pathLst>
                <a:path h="4876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438912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# Create build directory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02668" y="6434204"/>
            <a:ext cx="9516113" cy="609857"/>
            <a:chOff x="0" y="0"/>
            <a:chExt cx="12688151" cy="813143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4191" y="4191"/>
              <a:ext cx="12679681" cy="804672"/>
            </a:xfrm>
            <a:custGeom>
              <a:avLst/>
              <a:gdLst/>
              <a:ahLst/>
              <a:cxnLst/>
              <a:rect r="r" b="b" t="t" l="l"/>
              <a:pathLst>
                <a:path h="804672" w="12679681">
                  <a:moveTo>
                    <a:pt x="0" y="0"/>
                  </a:moveTo>
                  <a:lnTo>
                    <a:pt x="12679681" y="0"/>
                  </a:lnTo>
                  <a:lnTo>
                    <a:pt x="12679681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2688062" cy="813054"/>
            </a:xfrm>
            <a:custGeom>
              <a:avLst/>
              <a:gdLst/>
              <a:ahLst/>
              <a:cxnLst/>
              <a:rect r="r" b="b" t="t" l="l"/>
              <a:pathLst>
                <a:path h="813054" w="12688062">
                  <a:moveTo>
                    <a:pt x="4191" y="0"/>
                  </a:moveTo>
                  <a:lnTo>
                    <a:pt x="12683872" y="0"/>
                  </a:lnTo>
                  <a:cubicBezTo>
                    <a:pt x="12686157" y="0"/>
                    <a:pt x="12688062" y="1905"/>
                    <a:pt x="12688062" y="4191"/>
                  </a:cubicBezTo>
                  <a:lnTo>
                    <a:pt x="12688062" y="808863"/>
                  </a:lnTo>
                  <a:cubicBezTo>
                    <a:pt x="12688062" y="811149"/>
                    <a:pt x="12686157" y="813054"/>
                    <a:pt x="12683872" y="813054"/>
                  </a:cubicBezTo>
                  <a:lnTo>
                    <a:pt x="4191" y="813054"/>
                  </a:lnTo>
                  <a:cubicBezTo>
                    <a:pt x="1905" y="813054"/>
                    <a:pt x="0" y="811149"/>
                    <a:pt x="0" y="808863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808863"/>
                  </a:lnTo>
                  <a:lnTo>
                    <a:pt x="4191" y="808863"/>
                  </a:lnTo>
                  <a:lnTo>
                    <a:pt x="4191" y="804672"/>
                  </a:lnTo>
                  <a:lnTo>
                    <a:pt x="12683872" y="804672"/>
                  </a:lnTo>
                  <a:lnTo>
                    <a:pt x="12683872" y="808863"/>
                  </a:lnTo>
                  <a:lnTo>
                    <a:pt x="12679680" y="808863"/>
                  </a:lnTo>
                  <a:lnTo>
                    <a:pt x="12679680" y="4191"/>
                  </a:lnTo>
                  <a:lnTo>
                    <a:pt x="12683872" y="4191"/>
                  </a:lnTo>
                  <a:lnTo>
                    <a:pt x="12683872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060704" y="6510528"/>
            <a:ext cx="402336" cy="402336"/>
            <a:chOff x="0" y="0"/>
            <a:chExt cx="536448" cy="53644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60704" y="6510528"/>
            <a:ext cx="402336" cy="402336"/>
            <a:chOff x="0" y="0"/>
            <a:chExt cx="536448" cy="53644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536448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554480" y="6528816"/>
            <a:ext cx="5486400" cy="365760"/>
            <a:chOff x="0" y="0"/>
            <a:chExt cx="7315200" cy="4876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onsolas"/>
                  <a:ea typeface="Consolas"/>
                  <a:cs typeface="Consolas"/>
                  <a:sym typeface="Consolas"/>
                </a:rPr>
                <a:t>cmake .. &amp;&amp; make -j$(nproc)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7132320" y="6528816"/>
            <a:ext cx="3291840" cy="365760"/>
            <a:chOff x="0" y="0"/>
            <a:chExt cx="4389120" cy="4876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389120" cy="487680"/>
            </a:xfrm>
            <a:custGeom>
              <a:avLst/>
              <a:gdLst/>
              <a:ahLst/>
              <a:cxnLst/>
              <a:rect r="r" b="b" t="t" l="l"/>
              <a:pathLst>
                <a:path h="4876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438912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# Build with all cores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02668" y="7129148"/>
            <a:ext cx="9516113" cy="609857"/>
            <a:chOff x="0" y="0"/>
            <a:chExt cx="12688151" cy="81314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4191" y="4191"/>
              <a:ext cx="12679681" cy="804672"/>
            </a:xfrm>
            <a:custGeom>
              <a:avLst/>
              <a:gdLst/>
              <a:ahLst/>
              <a:cxnLst/>
              <a:rect r="r" b="b" t="t" l="l"/>
              <a:pathLst>
                <a:path h="804672" w="12679681">
                  <a:moveTo>
                    <a:pt x="0" y="0"/>
                  </a:moveTo>
                  <a:lnTo>
                    <a:pt x="12679681" y="0"/>
                  </a:lnTo>
                  <a:lnTo>
                    <a:pt x="12679681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2688062" cy="813054"/>
            </a:xfrm>
            <a:custGeom>
              <a:avLst/>
              <a:gdLst/>
              <a:ahLst/>
              <a:cxnLst/>
              <a:rect r="r" b="b" t="t" l="l"/>
              <a:pathLst>
                <a:path h="813054" w="12688062">
                  <a:moveTo>
                    <a:pt x="4191" y="0"/>
                  </a:moveTo>
                  <a:lnTo>
                    <a:pt x="12683872" y="0"/>
                  </a:lnTo>
                  <a:cubicBezTo>
                    <a:pt x="12686157" y="0"/>
                    <a:pt x="12688062" y="1905"/>
                    <a:pt x="12688062" y="4191"/>
                  </a:cubicBezTo>
                  <a:lnTo>
                    <a:pt x="12688062" y="808863"/>
                  </a:lnTo>
                  <a:cubicBezTo>
                    <a:pt x="12688062" y="811149"/>
                    <a:pt x="12686157" y="813054"/>
                    <a:pt x="12683872" y="813054"/>
                  </a:cubicBezTo>
                  <a:lnTo>
                    <a:pt x="4191" y="813054"/>
                  </a:lnTo>
                  <a:cubicBezTo>
                    <a:pt x="1905" y="813054"/>
                    <a:pt x="0" y="811149"/>
                    <a:pt x="0" y="808863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808863"/>
                  </a:lnTo>
                  <a:lnTo>
                    <a:pt x="4191" y="808863"/>
                  </a:lnTo>
                  <a:lnTo>
                    <a:pt x="4191" y="804672"/>
                  </a:lnTo>
                  <a:lnTo>
                    <a:pt x="12683872" y="804672"/>
                  </a:lnTo>
                  <a:lnTo>
                    <a:pt x="12683872" y="808863"/>
                  </a:lnTo>
                  <a:lnTo>
                    <a:pt x="12679680" y="808863"/>
                  </a:lnTo>
                  <a:lnTo>
                    <a:pt x="12679680" y="4191"/>
                  </a:lnTo>
                  <a:lnTo>
                    <a:pt x="12683872" y="4191"/>
                  </a:lnTo>
                  <a:lnTo>
                    <a:pt x="12683872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060704" y="7205472"/>
            <a:ext cx="402336" cy="402336"/>
            <a:chOff x="0" y="0"/>
            <a:chExt cx="536448" cy="53644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060704" y="7205472"/>
            <a:ext cx="402336" cy="402336"/>
            <a:chOff x="0" y="0"/>
            <a:chExt cx="536448" cy="53644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536448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554480" y="7223760"/>
            <a:ext cx="5486400" cy="365760"/>
            <a:chOff x="0" y="0"/>
            <a:chExt cx="7315200" cy="48768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onsolas"/>
                  <a:ea typeface="Consolas"/>
                  <a:cs typeface="Consolas"/>
                  <a:sym typeface="Consolas"/>
                </a:rPr>
                <a:t>sudo make install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7132320" y="7223760"/>
            <a:ext cx="3291840" cy="365760"/>
            <a:chOff x="0" y="0"/>
            <a:chExt cx="4389120" cy="4876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389120" cy="487680"/>
            </a:xfrm>
            <a:custGeom>
              <a:avLst/>
              <a:gdLst/>
              <a:ahLst/>
              <a:cxnLst/>
              <a:rect r="r" b="b" t="t" l="l"/>
              <a:pathLst>
                <a:path h="4876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438912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# Install system-wide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96315" y="7890891"/>
            <a:ext cx="9528810" cy="1664970"/>
            <a:chOff x="0" y="0"/>
            <a:chExt cx="12705080" cy="221996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2700" y="12700"/>
              <a:ext cx="12679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2705080" cy="2219960"/>
            </a:xfrm>
            <a:custGeom>
              <a:avLst/>
              <a:gdLst/>
              <a:ahLst/>
              <a:cxnLst/>
              <a:rect r="r" b="b" t="t" l="l"/>
              <a:pathLst>
                <a:path h="2219960" w="12705080">
                  <a:moveTo>
                    <a:pt x="12700" y="0"/>
                  </a:moveTo>
                  <a:lnTo>
                    <a:pt x="12692380" y="0"/>
                  </a:lnTo>
                  <a:cubicBezTo>
                    <a:pt x="12699365" y="0"/>
                    <a:pt x="12705080" y="5715"/>
                    <a:pt x="12705080" y="12700"/>
                  </a:cubicBezTo>
                  <a:lnTo>
                    <a:pt x="12705080" y="2207260"/>
                  </a:lnTo>
                  <a:cubicBezTo>
                    <a:pt x="12705080" y="2214245"/>
                    <a:pt x="12699365" y="2219960"/>
                    <a:pt x="12692380" y="2219960"/>
                  </a:cubicBezTo>
                  <a:lnTo>
                    <a:pt x="12700" y="2219960"/>
                  </a:lnTo>
                  <a:cubicBezTo>
                    <a:pt x="5715" y="2219960"/>
                    <a:pt x="0" y="2214245"/>
                    <a:pt x="0" y="22072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207260"/>
                  </a:lnTo>
                  <a:lnTo>
                    <a:pt x="12700" y="2207260"/>
                  </a:lnTo>
                  <a:lnTo>
                    <a:pt x="12700" y="2194560"/>
                  </a:lnTo>
                  <a:lnTo>
                    <a:pt x="12692380" y="2194560"/>
                  </a:lnTo>
                  <a:lnTo>
                    <a:pt x="12692380" y="2207260"/>
                  </a:lnTo>
                  <a:lnTo>
                    <a:pt x="12679680" y="2207260"/>
                  </a:lnTo>
                  <a:lnTo>
                    <a:pt x="12679680" y="12700"/>
                  </a:lnTo>
                  <a:lnTo>
                    <a:pt x="12692380" y="12700"/>
                  </a:lnTo>
                  <a:lnTo>
                    <a:pt x="126923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243584" y="8010144"/>
            <a:ext cx="8961120" cy="457200"/>
            <a:chOff x="0" y="0"/>
            <a:chExt cx="11948160" cy="6096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1948160" cy="609600"/>
            </a:xfrm>
            <a:custGeom>
              <a:avLst/>
              <a:gdLst/>
              <a:ahLst/>
              <a:cxnLst/>
              <a:rect r="r" b="b" t="t" l="l"/>
              <a:pathLst>
                <a:path h="60960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906" r="0" b="-33190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19481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Prerequisites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71600" y="8522208"/>
            <a:ext cx="8778240" cy="292608"/>
            <a:chOff x="0" y="0"/>
            <a:chExt cx="11704320" cy="39014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1704320" cy="390144"/>
            </a:xfrm>
            <a:custGeom>
              <a:avLst/>
              <a:gdLst/>
              <a:ahLst/>
              <a:cxnLst/>
              <a:rect r="r" b="b" t="t" l="l"/>
              <a:pathLst>
                <a:path h="39014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1170432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Ubuntu 20.04+ or Debian 10+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371600" y="8851392"/>
            <a:ext cx="8778240" cy="292608"/>
            <a:chOff x="0" y="0"/>
            <a:chExt cx="11704320" cy="39014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1704320" cy="390144"/>
            </a:xfrm>
            <a:custGeom>
              <a:avLst/>
              <a:gdLst/>
              <a:ahLst/>
              <a:cxnLst/>
              <a:rect r="r" b="b" t="t" l="l"/>
              <a:pathLst>
                <a:path h="39014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1170432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CMake 3.16+ installed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71600" y="9180576"/>
            <a:ext cx="8778240" cy="292608"/>
            <a:chOff x="0" y="0"/>
            <a:chExt cx="11704320" cy="39014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1704320" cy="390144"/>
            </a:xfrm>
            <a:custGeom>
              <a:avLst/>
              <a:gdLst/>
              <a:ahLst/>
              <a:cxnLst/>
              <a:rect r="r" b="b" t="t" l="l"/>
              <a:pathLst>
                <a:path h="39014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1170432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Git installed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0963275" y="2459355"/>
            <a:ext cx="6602730" cy="7517130"/>
            <a:chOff x="0" y="0"/>
            <a:chExt cx="8803640" cy="100228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2700" y="12700"/>
              <a:ext cx="8778240" cy="9997440"/>
            </a:xfrm>
            <a:custGeom>
              <a:avLst/>
              <a:gdLst/>
              <a:ahLst/>
              <a:cxnLst/>
              <a:rect r="r" b="b" t="t" l="l"/>
              <a:pathLst>
                <a:path h="99974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8803640" cy="10022840"/>
            </a:xfrm>
            <a:custGeom>
              <a:avLst/>
              <a:gdLst/>
              <a:ahLst/>
              <a:cxnLst/>
              <a:rect r="r" b="b" t="t" l="l"/>
              <a:pathLst>
                <a:path h="10022840" w="8803640">
                  <a:moveTo>
                    <a:pt x="12700" y="0"/>
                  </a:moveTo>
                  <a:lnTo>
                    <a:pt x="8790940" y="0"/>
                  </a:lnTo>
                  <a:cubicBezTo>
                    <a:pt x="8797925" y="0"/>
                    <a:pt x="8803640" y="5715"/>
                    <a:pt x="8803640" y="12700"/>
                  </a:cubicBezTo>
                  <a:lnTo>
                    <a:pt x="8803640" y="10010140"/>
                  </a:lnTo>
                  <a:cubicBezTo>
                    <a:pt x="8803640" y="10017125"/>
                    <a:pt x="8797925" y="10022840"/>
                    <a:pt x="8790940" y="10022840"/>
                  </a:cubicBezTo>
                  <a:lnTo>
                    <a:pt x="12700" y="10022840"/>
                  </a:lnTo>
                  <a:cubicBezTo>
                    <a:pt x="5715" y="10022840"/>
                    <a:pt x="0" y="10017125"/>
                    <a:pt x="0" y="1001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10140"/>
                  </a:lnTo>
                  <a:lnTo>
                    <a:pt x="12700" y="10010140"/>
                  </a:lnTo>
                  <a:lnTo>
                    <a:pt x="12700" y="9997440"/>
                  </a:lnTo>
                  <a:lnTo>
                    <a:pt x="8790940" y="9997440"/>
                  </a:lnTo>
                  <a:lnTo>
                    <a:pt x="8790940" y="10010140"/>
                  </a:lnTo>
                  <a:lnTo>
                    <a:pt x="8778240" y="10010140"/>
                  </a:lnTo>
                  <a:lnTo>
                    <a:pt x="8778240" y="12700"/>
                  </a:lnTo>
                  <a:lnTo>
                    <a:pt x="8790940" y="12700"/>
                  </a:lnTo>
                  <a:lnTo>
                    <a:pt x="87909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1247120" y="2615184"/>
            <a:ext cx="6035040" cy="512064"/>
            <a:chOff x="0" y="0"/>
            <a:chExt cx="8046720" cy="68275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8046720" cy="682752"/>
            </a:xfrm>
            <a:custGeom>
              <a:avLst/>
              <a:gdLst/>
              <a:ahLst/>
              <a:cxnLst/>
              <a:rect r="r" b="b" t="t" l="l"/>
              <a:pathLst>
                <a:path h="68275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645" r="0" b="-179645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57150"/>
              <a:ext cx="804672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Terminal Output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1247120" y="3163824"/>
            <a:ext cx="6035040" cy="365760"/>
            <a:chOff x="0" y="0"/>
            <a:chExt cx="8046720" cy="48768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8046720" cy="487680"/>
            </a:xfrm>
            <a:custGeom>
              <a:avLst/>
              <a:gdLst/>
              <a:ahLst/>
              <a:cxnLst/>
              <a:rect r="r" b="b" t="t" l="l"/>
              <a:pathLst>
                <a:path h="4876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03" r="0" b="-271503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80467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Expected Installation Output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1149327" y="3651247"/>
            <a:ext cx="6322057" cy="5864857"/>
            <a:chOff x="0" y="0"/>
            <a:chExt cx="8429409" cy="7819809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8509" y="8509"/>
              <a:ext cx="8412480" cy="7802880"/>
            </a:xfrm>
            <a:custGeom>
              <a:avLst/>
              <a:gdLst/>
              <a:ahLst/>
              <a:cxnLst/>
              <a:rect r="r" b="b" t="t" l="l"/>
              <a:pathLst>
                <a:path h="78028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1E1E1E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8429499" cy="7819899"/>
            </a:xfrm>
            <a:custGeom>
              <a:avLst/>
              <a:gdLst/>
              <a:ahLst/>
              <a:cxnLst/>
              <a:rect r="r" b="b" t="t" l="l"/>
              <a:pathLst>
                <a:path h="7819899" w="8429499">
                  <a:moveTo>
                    <a:pt x="8509" y="0"/>
                  </a:moveTo>
                  <a:lnTo>
                    <a:pt x="8420989" y="0"/>
                  </a:lnTo>
                  <a:cubicBezTo>
                    <a:pt x="8425688" y="0"/>
                    <a:pt x="8429499" y="3810"/>
                    <a:pt x="8429499" y="8509"/>
                  </a:cubicBezTo>
                  <a:lnTo>
                    <a:pt x="8429499" y="7811389"/>
                  </a:lnTo>
                  <a:cubicBezTo>
                    <a:pt x="8429499" y="7816088"/>
                    <a:pt x="8425688" y="7819899"/>
                    <a:pt x="8420989" y="7819899"/>
                  </a:cubicBezTo>
                  <a:lnTo>
                    <a:pt x="8509" y="7819899"/>
                  </a:lnTo>
                  <a:cubicBezTo>
                    <a:pt x="3810" y="7819899"/>
                    <a:pt x="0" y="7816088"/>
                    <a:pt x="0" y="78113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11389"/>
                  </a:lnTo>
                  <a:lnTo>
                    <a:pt x="8509" y="7811389"/>
                  </a:lnTo>
                  <a:lnTo>
                    <a:pt x="8509" y="7802880"/>
                  </a:lnTo>
                  <a:lnTo>
                    <a:pt x="8420989" y="7802880"/>
                  </a:lnTo>
                  <a:lnTo>
                    <a:pt x="8420989" y="7811389"/>
                  </a:lnTo>
                  <a:lnTo>
                    <a:pt x="8412480" y="7811389"/>
                  </a:lnTo>
                  <a:lnTo>
                    <a:pt x="8412480" y="8509"/>
                  </a:lnTo>
                  <a:lnTo>
                    <a:pt x="8420989" y="8509"/>
                  </a:lnTo>
                  <a:lnTo>
                    <a:pt x="84209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1338560" y="3840480"/>
            <a:ext cx="256032" cy="256032"/>
            <a:chOff x="0" y="0"/>
            <a:chExt cx="341376" cy="341376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FF5F56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11740896" y="3840480"/>
            <a:ext cx="256032" cy="256032"/>
            <a:chOff x="0" y="0"/>
            <a:chExt cx="341376" cy="341376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12143232" y="3840480"/>
            <a:ext cx="256032" cy="256032"/>
            <a:chOff x="0" y="0"/>
            <a:chExt cx="341376" cy="34137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27C93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1218545" y="4362920"/>
            <a:ext cx="6318885" cy="4788992"/>
            <a:chOff x="0" y="0"/>
            <a:chExt cx="8425180" cy="638532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8425180" cy="6385322"/>
            </a:xfrm>
            <a:custGeom>
              <a:avLst/>
              <a:gdLst/>
              <a:ahLst/>
              <a:cxnLst/>
              <a:rect r="r" b="b" t="t" l="l"/>
              <a:pathLst>
                <a:path h="6385322" w="8425180">
                  <a:moveTo>
                    <a:pt x="0" y="0"/>
                  </a:moveTo>
                  <a:lnTo>
                    <a:pt x="8425180" y="0"/>
                  </a:lnTo>
                  <a:lnTo>
                    <a:pt x="8425180" y="6385322"/>
                  </a:lnTo>
                  <a:lnTo>
                    <a:pt x="0" y="63853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54" r="4492" b="71244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8425180" cy="6423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00BF6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</a:t>
              </a:r>
              <a:r>
                <a:rPr lang="en-US" sz="1700" b="true">
                  <a:solidFill>
                    <a:srgbClr val="F8FAF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 sudo apt-get update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n-US" sz="1500" b="true">
                  <a:solidFill>
                    <a:srgbClr val="F8FAF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Hit:1 http://archive.ubuntu.com/ubuntu focal InRelease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n-US" sz="1500" b="true">
                  <a:solidFill>
                    <a:srgbClr val="F8FAF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Get:2 http://security.ubuntu.com/ubuntu focal-security </a:t>
              </a:r>
            </a:p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   InRelease [114 kB]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n-US" sz="1500" b="true">
                  <a:solidFill>
                    <a:srgbClr val="F8FAF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Fetched 114 kB in 1s (114 kB/s)</a:t>
              </a:r>
            </a:p>
            <a:p>
              <a:pPr algn="l">
                <a:lnSpc>
                  <a:spcPts val="1800"/>
                </a:lnSpc>
              </a:pP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00BF6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</a:t>
              </a:r>
              <a:r>
                <a:rPr lang="en-US" sz="1700" b="true">
                  <a:solidFill>
                    <a:srgbClr val="F8FAF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 git clone https://github.com/opencog/cogutil.git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n-US" sz="1500" b="true">
                  <a:solidFill>
                    <a:srgbClr val="F8FAF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Cloning into 'cogutil'...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n-US" sz="1500" b="true">
                  <a:solidFill>
                    <a:srgbClr val="F8FAF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remote: Enumerating objects: 1234, done.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n-US" sz="1500" b="true">
                  <a:solidFill>
                    <a:srgbClr val="F8FAF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remote: Total 1234 (delta 0), reused 0 (delta 0)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n-US" sz="1500" b="true">
                  <a:solidFill>
                    <a:srgbClr val="F8FAF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Receiving objects: 100% (1234/1234), 2.5 MiB | 1. </a:t>
              </a:r>
            </a:p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8FAF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   MiB/s, done.</a:t>
              </a:r>
            </a:p>
            <a:p>
              <a:pPr algn="l">
                <a:lnSpc>
                  <a:spcPts val="1800"/>
                </a:lnSpc>
              </a:pP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00BF6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</a:t>
              </a:r>
              <a:r>
                <a:rPr lang="en-US" sz="1700" b="true">
                  <a:solidFill>
                    <a:srgbClr val="F8FAF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 cd cogutil &amp;&amp; mkdir build &amp;&amp; cd build</a:t>
              </a:r>
            </a:p>
            <a:p>
              <a:pPr algn="l">
                <a:lnSpc>
                  <a:spcPts val="2040"/>
                </a:lnSpc>
              </a:pP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00BF63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</a:t>
              </a:r>
              <a:r>
                <a:rPr lang="en-US" sz="1700" b="true">
                  <a:solidFill>
                    <a:srgbClr val="F8FAF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 cmake .. &amp;&amp; make -j$(nproc)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n-US" sz="1500" b="true">
                  <a:solidFill>
                    <a:srgbClr val="F8FAF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-- Configuring done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n-US" sz="1500" b="true">
                  <a:solidFill>
                    <a:srgbClr val="F8FAF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-- Generating done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n-US" sz="1500" b="true">
                  <a:solidFill>
                    <a:srgbClr val="F8FAFC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[100%] Built target cogutil</a:t>
              </a:r>
            </a:p>
            <a:p>
              <a:pPr algn="l">
                <a:lnSpc>
                  <a:spcPts val="1800"/>
                </a:lnSpc>
              </a:pP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0" y="10186416"/>
            <a:ext cx="18288000" cy="128016"/>
            <a:chOff x="0" y="0"/>
            <a:chExt cx="24384000" cy="17068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0" y="10186416"/>
            <a:ext cx="6035040" cy="128016"/>
            <a:chOff x="0" y="0"/>
            <a:chExt cx="8046720" cy="170688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8046720" cy="170688"/>
            </a:xfrm>
            <a:custGeom>
              <a:avLst/>
              <a:gdLst/>
              <a:ahLst/>
              <a:cxnLst/>
              <a:rect r="r" b="b" t="t" l="l"/>
              <a:pathLst>
                <a:path h="17068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Installing AtomSpace - Step 2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Core knowledge representation system for OpenCog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34/53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499616"/>
            <a:ext cx="14630400" cy="822960"/>
            <a:chOff x="0" y="0"/>
            <a:chExt cx="195072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950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Installing AtomSpace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21995" y="2459355"/>
            <a:ext cx="10808970" cy="7517130"/>
            <a:chOff x="0" y="0"/>
            <a:chExt cx="14411960" cy="10022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4386561" cy="9997440"/>
            </a:xfrm>
            <a:custGeom>
              <a:avLst/>
              <a:gdLst/>
              <a:ahLst/>
              <a:cxnLst/>
              <a:rect r="r" b="b" t="t" l="l"/>
              <a:pathLst>
                <a:path h="999744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411961" cy="10022840"/>
            </a:xfrm>
            <a:custGeom>
              <a:avLst/>
              <a:gdLst/>
              <a:ahLst/>
              <a:cxnLst/>
              <a:rect r="r" b="b" t="t" l="l"/>
              <a:pathLst>
                <a:path h="10022840" w="14411961">
                  <a:moveTo>
                    <a:pt x="12700" y="0"/>
                  </a:moveTo>
                  <a:lnTo>
                    <a:pt x="14399261" y="0"/>
                  </a:lnTo>
                  <a:cubicBezTo>
                    <a:pt x="14406246" y="0"/>
                    <a:pt x="14411961" y="5715"/>
                    <a:pt x="14411961" y="12700"/>
                  </a:cubicBezTo>
                  <a:lnTo>
                    <a:pt x="14411961" y="10010140"/>
                  </a:lnTo>
                  <a:cubicBezTo>
                    <a:pt x="14411961" y="10017125"/>
                    <a:pt x="14406246" y="10022840"/>
                    <a:pt x="14399261" y="10022840"/>
                  </a:cubicBezTo>
                  <a:lnTo>
                    <a:pt x="12700" y="10022840"/>
                  </a:lnTo>
                  <a:cubicBezTo>
                    <a:pt x="5715" y="10022840"/>
                    <a:pt x="0" y="10017125"/>
                    <a:pt x="0" y="1001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10140"/>
                  </a:lnTo>
                  <a:lnTo>
                    <a:pt x="12700" y="10010140"/>
                  </a:lnTo>
                  <a:lnTo>
                    <a:pt x="12700" y="9997440"/>
                  </a:lnTo>
                  <a:lnTo>
                    <a:pt x="14399261" y="9997440"/>
                  </a:lnTo>
                  <a:lnTo>
                    <a:pt x="14399261" y="10010140"/>
                  </a:lnTo>
                  <a:lnTo>
                    <a:pt x="14386561" y="10010140"/>
                  </a:lnTo>
                  <a:lnTo>
                    <a:pt x="14386561" y="12700"/>
                  </a:lnTo>
                  <a:lnTo>
                    <a:pt x="14399261" y="12700"/>
                  </a:lnTo>
                  <a:lnTo>
                    <a:pt x="1439926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05840" y="2615184"/>
            <a:ext cx="10424160" cy="512064"/>
            <a:chOff x="0" y="0"/>
            <a:chExt cx="1389888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98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659" r="0" b="-34665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3898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Ubuntu Terminal Commands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9487" y="3248911"/>
            <a:ext cx="10436857" cy="6322057"/>
            <a:chOff x="0" y="0"/>
            <a:chExt cx="13915809" cy="84294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8509" y="8509"/>
              <a:ext cx="13898881" cy="8412480"/>
            </a:xfrm>
            <a:custGeom>
              <a:avLst/>
              <a:gdLst/>
              <a:ahLst/>
              <a:cxnLst/>
              <a:rect r="r" b="b" t="t" l="l"/>
              <a:pathLst>
                <a:path h="8412480" w="13898881">
                  <a:moveTo>
                    <a:pt x="0" y="0"/>
                  </a:moveTo>
                  <a:lnTo>
                    <a:pt x="13898881" y="0"/>
                  </a:lnTo>
                  <a:lnTo>
                    <a:pt x="13898881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915898" cy="8429499"/>
            </a:xfrm>
            <a:custGeom>
              <a:avLst/>
              <a:gdLst/>
              <a:ahLst/>
              <a:cxnLst/>
              <a:rect r="r" b="b" t="t" l="l"/>
              <a:pathLst>
                <a:path h="8429499" w="13915898">
                  <a:moveTo>
                    <a:pt x="8509" y="0"/>
                  </a:moveTo>
                  <a:lnTo>
                    <a:pt x="13907390" y="0"/>
                  </a:lnTo>
                  <a:cubicBezTo>
                    <a:pt x="13912089" y="0"/>
                    <a:pt x="13915898" y="3810"/>
                    <a:pt x="13915898" y="8509"/>
                  </a:cubicBezTo>
                  <a:lnTo>
                    <a:pt x="13915898" y="8420989"/>
                  </a:lnTo>
                  <a:cubicBezTo>
                    <a:pt x="13915898" y="8425688"/>
                    <a:pt x="13912089" y="8429499"/>
                    <a:pt x="13907390" y="8429499"/>
                  </a:cubicBezTo>
                  <a:lnTo>
                    <a:pt x="8509" y="8429499"/>
                  </a:lnTo>
                  <a:cubicBezTo>
                    <a:pt x="3810" y="8429499"/>
                    <a:pt x="0" y="8425688"/>
                    <a:pt x="0" y="84209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420989"/>
                  </a:lnTo>
                  <a:lnTo>
                    <a:pt x="8509" y="8420989"/>
                  </a:lnTo>
                  <a:lnTo>
                    <a:pt x="8509" y="8412480"/>
                  </a:lnTo>
                  <a:lnTo>
                    <a:pt x="13907390" y="8412480"/>
                  </a:lnTo>
                  <a:lnTo>
                    <a:pt x="13907390" y="8420989"/>
                  </a:lnTo>
                  <a:lnTo>
                    <a:pt x="13898880" y="8420989"/>
                  </a:lnTo>
                  <a:lnTo>
                    <a:pt x="13898880" y="8509"/>
                  </a:lnTo>
                  <a:lnTo>
                    <a:pt x="13907390" y="8509"/>
                  </a:lnTo>
                  <a:lnTo>
                    <a:pt x="139073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33856" y="3474720"/>
            <a:ext cx="10058400" cy="438912"/>
            <a:chOff x="0" y="0"/>
            <a:chExt cx="13411200" cy="5852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11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532" r="0" b="-39653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411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2C55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 </a:t>
              </a:r>
              <a:r>
                <a:rPr lang="en-US" sz="18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cd ~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33856" y="3968496"/>
            <a:ext cx="10058400" cy="438912"/>
            <a:chOff x="0" y="0"/>
            <a:chExt cx="13411200" cy="585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11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532" r="0" b="-39653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411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2C55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 </a:t>
              </a:r>
              <a:r>
                <a:rPr lang="en-US" sz="18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git clone https://github.com/opencog/atomspace.git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71600" y="4462272"/>
            <a:ext cx="9692640" cy="438912"/>
            <a:chOff x="0" y="0"/>
            <a:chExt cx="12923520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923520" cy="585216"/>
            </a:xfrm>
            <a:custGeom>
              <a:avLst/>
              <a:gdLst/>
              <a:ahLst/>
              <a:cxnLst/>
              <a:rect r="r" b="b" t="t" l="l"/>
              <a:pathLst>
                <a:path h="585216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0294" r="0" b="-38029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29235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Cloning into 'atomspace'...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33856" y="4956048"/>
            <a:ext cx="10058400" cy="438912"/>
            <a:chOff x="0" y="0"/>
            <a:chExt cx="13411200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11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532" r="0" b="-39653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3411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2C55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 </a:t>
              </a:r>
              <a:r>
                <a:rPr lang="en-US" sz="18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cd atomspace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33856" y="5449824"/>
            <a:ext cx="10058400" cy="438912"/>
            <a:chOff x="0" y="0"/>
            <a:chExt cx="13411200" cy="585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411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532" r="0" b="-39653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3411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2C55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 </a:t>
              </a:r>
              <a:r>
                <a:rPr lang="en-US" sz="18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mkdir build &amp;&amp; cd build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33856" y="5943600"/>
            <a:ext cx="10058400" cy="438912"/>
            <a:chOff x="0" y="0"/>
            <a:chExt cx="13411200" cy="5852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411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532" r="0" b="-39653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3411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2C55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 </a:t>
              </a:r>
              <a:r>
                <a:rPr lang="en-US" sz="18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cmake ..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71600" y="6437376"/>
            <a:ext cx="9692640" cy="438912"/>
            <a:chOff x="0" y="0"/>
            <a:chExt cx="12923520" cy="5852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923520" cy="585216"/>
            </a:xfrm>
            <a:custGeom>
              <a:avLst/>
              <a:gdLst/>
              <a:ahLst/>
              <a:cxnLst/>
              <a:rect r="r" b="b" t="t" l="l"/>
              <a:pathLst>
                <a:path h="585216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0294" r="0" b="-38029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29235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-- The C compiler identification is GNU 9.4.0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71600" y="6931152"/>
            <a:ext cx="9692640" cy="438912"/>
            <a:chOff x="0" y="0"/>
            <a:chExt cx="12923520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923520" cy="585216"/>
            </a:xfrm>
            <a:custGeom>
              <a:avLst/>
              <a:gdLst/>
              <a:ahLst/>
              <a:cxnLst/>
              <a:rect r="r" b="b" t="t" l="l"/>
              <a:pathLst>
                <a:path h="585216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0294" r="0" b="-38029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29235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-- Found Boost: /usr/lib/x86_64-linux-gnu/cmake/Boost-1.71.0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33856" y="7424928"/>
            <a:ext cx="10058400" cy="438912"/>
            <a:chOff x="0" y="0"/>
            <a:chExt cx="13411200" cy="5852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411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532" r="0" b="-39653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3411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2C55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 </a:t>
              </a:r>
              <a:r>
                <a:rPr lang="en-US" sz="18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make -j4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71600" y="7918704"/>
            <a:ext cx="9692640" cy="438912"/>
            <a:chOff x="0" y="0"/>
            <a:chExt cx="12923520" cy="585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923520" cy="585216"/>
            </a:xfrm>
            <a:custGeom>
              <a:avLst/>
              <a:gdLst/>
              <a:ahLst/>
              <a:cxnLst/>
              <a:rect r="r" b="b" t="t" l="l"/>
              <a:pathLst>
                <a:path h="585216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0294" r="0" b="-38029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29235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[  5%] Building CXX object...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33856" y="8412480"/>
            <a:ext cx="10058400" cy="438912"/>
            <a:chOff x="0" y="0"/>
            <a:chExt cx="13411200" cy="5852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411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532" r="0" b="-39653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34112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2C55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$ </a:t>
              </a:r>
              <a:r>
                <a:rPr lang="en-US" sz="18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sudo make install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71600" y="8906256"/>
            <a:ext cx="9692640" cy="438912"/>
            <a:chOff x="0" y="0"/>
            <a:chExt cx="12923520" cy="58521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923520" cy="585216"/>
            </a:xfrm>
            <a:custGeom>
              <a:avLst/>
              <a:gdLst/>
              <a:ahLst/>
              <a:cxnLst/>
              <a:rect r="r" b="b" t="t" l="l"/>
              <a:pathLst>
                <a:path h="585216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0294" r="0" b="-38029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29235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Installing: /usr/local/lib/libatomspace.so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877675" y="2459355"/>
            <a:ext cx="5688330" cy="3585210"/>
            <a:chOff x="0" y="0"/>
            <a:chExt cx="7584440" cy="47802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2700" y="12700"/>
              <a:ext cx="75590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584440" cy="4780280"/>
            </a:xfrm>
            <a:custGeom>
              <a:avLst/>
              <a:gdLst/>
              <a:ahLst/>
              <a:cxnLst/>
              <a:rect r="r" b="b" t="t" l="l"/>
              <a:pathLst>
                <a:path h="4780280" w="7584440">
                  <a:moveTo>
                    <a:pt x="12700" y="0"/>
                  </a:moveTo>
                  <a:lnTo>
                    <a:pt x="7571740" y="0"/>
                  </a:lnTo>
                  <a:cubicBezTo>
                    <a:pt x="7578725" y="0"/>
                    <a:pt x="7584440" y="5715"/>
                    <a:pt x="7584440" y="12700"/>
                  </a:cubicBezTo>
                  <a:lnTo>
                    <a:pt x="7584440" y="4767580"/>
                  </a:lnTo>
                  <a:cubicBezTo>
                    <a:pt x="7584440" y="4774565"/>
                    <a:pt x="7578725" y="4780280"/>
                    <a:pt x="7571740" y="4780280"/>
                  </a:cubicBezTo>
                  <a:lnTo>
                    <a:pt x="12700" y="4780280"/>
                  </a:lnTo>
                  <a:cubicBezTo>
                    <a:pt x="5715" y="4780280"/>
                    <a:pt x="0" y="4774565"/>
                    <a:pt x="0" y="47675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767580"/>
                  </a:lnTo>
                  <a:lnTo>
                    <a:pt x="12700" y="4767580"/>
                  </a:lnTo>
                  <a:lnTo>
                    <a:pt x="12700" y="4754880"/>
                  </a:lnTo>
                  <a:lnTo>
                    <a:pt x="7571740" y="4754880"/>
                  </a:lnTo>
                  <a:lnTo>
                    <a:pt x="7571740" y="4767580"/>
                  </a:lnTo>
                  <a:lnTo>
                    <a:pt x="7559040" y="4767580"/>
                  </a:lnTo>
                  <a:lnTo>
                    <a:pt x="7559040" y="12700"/>
                  </a:lnTo>
                  <a:lnTo>
                    <a:pt x="7571740" y="12700"/>
                  </a:lnTo>
                  <a:lnTo>
                    <a:pt x="75717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161520" y="2615184"/>
            <a:ext cx="694944" cy="694944"/>
            <a:chOff x="0" y="0"/>
            <a:chExt cx="926592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161520" y="2615184"/>
            <a:ext cx="694944" cy="694944"/>
            <a:chOff x="0" y="0"/>
            <a:chExt cx="926592" cy="9265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984480" y="2706624"/>
            <a:ext cx="4297680" cy="512064"/>
            <a:chOff x="0" y="0"/>
            <a:chExt cx="5730240" cy="682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730240" cy="682752"/>
            </a:xfrm>
            <a:custGeom>
              <a:avLst/>
              <a:gdLst/>
              <a:ahLst/>
              <a:cxnLst/>
              <a:rect r="r" b="b" t="t" l="l"/>
              <a:pathLst>
                <a:path h="68275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535" r="0" b="-11353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5730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Clone Repository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161520" y="3383280"/>
            <a:ext cx="5120640" cy="694944"/>
            <a:chOff x="0" y="0"/>
            <a:chExt cx="6827520" cy="9265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68275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Clone the AtomSpace repository from GitHub to your local machine.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155167" y="4163311"/>
            <a:ext cx="1292857" cy="378457"/>
            <a:chOff x="0" y="0"/>
            <a:chExt cx="1723809" cy="50460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8509" y="8509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723898" cy="504698"/>
            </a:xfrm>
            <a:custGeom>
              <a:avLst/>
              <a:gdLst/>
              <a:ahLst/>
              <a:cxnLst/>
              <a:rect r="r" b="b" t="t" l="l"/>
              <a:pathLst>
                <a:path h="504698" w="1723898">
                  <a:moveTo>
                    <a:pt x="8509" y="0"/>
                  </a:moveTo>
                  <a:lnTo>
                    <a:pt x="1715389" y="0"/>
                  </a:lnTo>
                  <a:cubicBezTo>
                    <a:pt x="1720088" y="0"/>
                    <a:pt x="1723898" y="3810"/>
                    <a:pt x="1723898" y="8509"/>
                  </a:cubicBezTo>
                  <a:lnTo>
                    <a:pt x="1723898" y="496189"/>
                  </a:lnTo>
                  <a:cubicBezTo>
                    <a:pt x="1723898" y="500888"/>
                    <a:pt x="1720088" y="504698"/>
                    <a:pt x="171538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715389" y="487680"/>
                  </a:lnTo>
                  <a:lnTo>
                    <a:pt x="1715389" y="496189"/>
                  </a:lnTo>
                  <a:lnTo>
                    <a:pt x="1706880" y="496189"/>
                  </a:lnTo>
                  <a:lnTo>
                    <a:pt x="1706880" y="8509"/>
                  </a:lnTo>
                  <a:lnTo>
                    <a:pt x="1715389" y="8509"/>
                  </a:lnTo>
                  <a:lnTo>
                    <a:pt x="1715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161520" y="4169664"/>
            <a:ext cx="1280160" cy="365760"/>
            <a:chOff x="0" y="0"/>
            <a:chExt cx="1706880" cy="4876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17068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3581631" y="4163311"/>
            <a:ext cx="1292857" cy="378457"/>
            <a:chOff x="0" y="0"/>
            <a:chExt cx="1723809" cy="50460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8509" y="8509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723898" cy="504698"/>
            </a:xfrm>
            <a:custGeom>
              <a:avLst/>
              <a:gdLst/>
              <a:ahLst/>
              <a:cxnLst/>
              <a:rect r="r" b="b" t="t" l="l"/>
              <a:pathLst>
                <a:path h="504698" w="1723898">
                  <a:moveTo>
                    <a:pt x="8509" y="0"/>
                  </a:moveTo>
                  <a:lnTo>
                    <a:pt x="1715389" y="0"/>
                  </a:lnTo>
                  <a:cubicBezTo>
                    <a:pt x="1720088" y="0"/>
                    <a:pt x="1723898" y="3810"/>
                    <a:pt x="1723898" y="8509"/>
                  </a:cubicBezTo>
                  <a:lnTo>
                    <a:pt x="1723898" y="496189"/>
                  </a:lnTo>
                  <a:cubicBezTo>
                    <a:pt x="1723898" y="500888"/>
                    <a:pt x="1720088" y="504698"/>
                    <a:pt x="171538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715389" y="487680"/>
                  </a:lnTo>
                  <a:lnTo>
                    <a:pt x="1715389" y="496189"/>
                  </a:lnTo>
                  <a:lnTo>
                    <a:pt x="1706880" y="496189"/>
                  </a:lnTo>
                  <a:lnTo>
                    <a:pt x="1706880" y="8509"/>
                  </a:lnTo>
                  <a:lnTo>
                    <a:pt x="1715389" y="8509"/>
                  </a:lnTo>
                  <a:lnTo>
                    <a:pt x="1715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587984" y="4169664"/>
            <a:ext cx="1280160" cy="365760"/>
            <a:chOff x="0" y="0"/>
            <a:chExt cx="1706880" cy="4876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17068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5008095" y="4163311"/>
            <a:ext cx="1292857" cy="378457"/>
            <a:chOff x="0" y="0"/>
            <a:chExt cx="1723809" cy="504609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8509" y="8509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723898" cy="504698"/>
            </a:xfrm>
            <a:custGeom>
              <a:avLst/>
              <a:gdLst/>
              <a:ahLst/>
              <a:cxnLst/>
              <a:rect r="r" b="b" t="t" l="l"/>
              <a:pathLst>
                <a:path h="504698" w="1723898">
                  <a:moveTo>
                    <a:pt x="8509" y="0"/>
                  </a:moveTo>
                  <a:lnTo>
                    <a:pt x="1715389" y="0"/>
                  </a:lnTo>
                  <a:cubicBezTo>
                    <a:pt x="1720088" y="0"/>
                    <a:pt x="1723898" y="3810"/>
                    <a:pt x="1723898" y="8509"/>
                  </a:cubicBezTo>
                  <a:lnTo>
                    <a:pt x="1723898" y="496189"/>
                  </a:lnTo>
                  <a:cubicBezTo>
                    <a:pt x="1723898" y="500888"/>
                    <a:pt x="1720088" y="504698"/>
                    <a:pt x="171538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715389" y="487680"/>
                  </a:lnTo>
                  <a:lnTo>
                    <a:pt x="1715389" y="496189"/>
                  </a:lnTo>
                  <a:lnTo>
                    <a:pt x="1706880" y="496189"/>
                  </a:lnTo>
                  <a:lnTo>
                    <a:pt x="1706880" y="8509"/>
                  </a:lnTo>
                  <a:lnTo>
                    <a:pt x="1715389" y="8509"/>
                  </a:lnTo>
                  <a:lnTo>
                    <a:pt x="1715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5014448" y="4169664"/>
            <a:ext cx="1280160" cy="365760"/>
            <a:chOff x="0" y="0"/>
            <a:chExt cx="1706880" cy="4876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17068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877675" y="6244971"/>
            <a:ext cx="5688330" cy="3585210"/>
            <a:chOff x="0" y="0"/>
            <a:chExt cx="7584440" cy="47802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2700" y="12700"/>
              <a:ext cx="75590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584440" cy="4780280"/>
            </a:xfrm>
            <a:custGeom>
              <a:avLst/>
              <a:gdLst/>
              <a:ahLst/>
              <a:cxnLst/>
              <a:rect r="r" b="b" t="t" l="l"/>
              <a:pathLst>
                <a:path h="4780280" w="7584440">
                  <a:moveTo>
                    <a:pt x="12700" y="0"/>
                  </a:moveTo>
                  <a:lnTo>
                    <a:pt x="7571740" y="0"/>
                  </a:lnTo>
                  <a:cubicBezTo>
                    <a:pt x="7578725" y="0"/>
                    <a:pt x="7584440" y="5715"/>
                    <a:pt x="7584440" y="12700"/>
                  </a:cubicBezTo>
                  <a:lnTo>
                    <a:pt x="7584440" y="4767580"/>
                  </a:lnTo>
                  <a:cubicBezTo>
                    <a:pt x="7584440" y="4774565"/>
                    <a:pt x="7578725" y="4780280"/>
                    <a:pt x="7571740" y="4780280"/>
                  </a:cubicBezTo>
                  <a:lnTo>
                    <a:pt x="12700" y="4780280"/>
                  </a:lnTo>
                  <a:cubicBezTo>
                    <a:pt x="5715" y="4780280"/>
                    <a:pt x="0" y="4774565"/>
                    <a:pt x="0" y="47675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767580"/>
                  </a:lnTo>
                  <a:lnTo>
                    <a:pt x="12700" y="4767580"/>
                  </a:lnTo>
                  <a:lnTo>
                    <a:pt x="12700" y="4754880"/>
                  </a:lnTo>
                  <a:lnTo>
                    <a:pt x="7571740" y="4754880"/>
                  </a:lnTo>
                  <a:lnTo>
                    <a:pt x="7571740" y="4767580"/>
                  </a:lnTo>
                  <a:lnTo>
                    <a:pt x="7559040" y="4767580"/>
                  </a:lnTo>
                  <a:lnTo>
                    <a:pt x="7559040" y="12700"/>
                  </a:lnTo>
                  <a:lnTo>
                    <a:pt x="7571740" y="12700"/>
                  </a:lnTo>
                  <a:lnTo>
                    <a:pt x="75717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2161520" y="6400800"/>
            <a:ext cx="694944" cy="694944"/>
            <a:chOff x="0" y="0"/>
            <a:chExt cx="926592" cy="92659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2161520" y="6400800"/>
            <a:ext cx="694944" cy="694944"/>
            <a:chOff x="0" y="0"/>
            <a:chExt cx="926592" cy="92659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2984480" y="6492240"/>
            <a:ext cx="4297680" cy="512064"/>
            <a:chOff x="0" y="0"/>
            <a:chExt cx="5730240" cy="68275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730240" cy="682752"/>
            </a:xfrm>
            <a:custGeom>
              <a:avLst/>
              <a:gdLst/>
              <a:ahLst/>
              <a:cxnLst/>
              <a:rect r="r" b="b" t="t" l="l"/>
              <a:pathLst>
                <a:path h="682752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535" r="0" b="-11353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5730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 &amp; Install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161520" y="7168896"/>
            <a:ext cx="5120640" cy="694944"/>
            <a:chOff x="0" y="0"/>
            <a:chExt cx="6827520" cy="92659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68275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 build directory, run cmake, compile, and install system-wide.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155167" y="7948927"/>
            <a:ext cx="1292857" cy="378457"/>
            <a:chOff x="0" y="0"/>
            <a:chExt cx="1723809" cy="50460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8509" y="8509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723898" cy="504698"/>
            </a:xfrm>
            <a:custGeom>
              <a:avLst/>
              <a:gdLst/>
              <a:ahLst/>
              <a:cxnLst/>
              <a:rect r="r" b="b" t="t" l="l"/>
              <a:pathLst>
                <a:path h="504698" w="1723898">
                  <a:moveTo>
                    <a:pt x="8509" y="0"/>
                  </a:moveTo>
                  <a:lnTo>
                    <a:pt x="1715389" y="0"/>
                  </a:lnTo>
                  <a:cubicBezTo>
                    <a:pt x="1720088" y="0"/>
                    <a:pt x="1723898" y="3810"/>
                    <a:pt x="1723898" y="8509"/>
                  </a:cubicBezTo>
                  <a:lnTo>
                    <a:pt x="1723898" y="496189"/>
                  </a:lnTo>
                  <a:cubicBezTo>
                    <a:pt x="1723898" y="500888"/>
                    <a:pt x="1720088" y="504698"/>
                    <a:pt x="171538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715389" y="487680"/>
                  </a:lnTo>
                  <a:lnTo>
                    <a:pt x="1715389" y="496189"/>
                  </a:lnTo>
                  <a:lnTo>
                    <a:pt x="1706880" y="496189"/>
                  </a:lnTo>
                  <a:lnTo>
                    <a:pt x="1706880" y="8509"/>
                  </a:lnTo>
                  <a:lnTo>
                    <a:pt x="1715389" y="8509"/>
                  </a:lnTo>
                  <a:lnTo>
                    <a:pt x="1715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2161520" y="7955280"/>
            <a:ext cx="1280160" cy="365760"/>
            <a:chOff x="0" y="0"/>
            <a:chExt cx="1706880" cy="4876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28575"/>
              <a:ext cx="17068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cmake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3581631" y="7948927"/>
            <a:ext cx="1292857" cy="378457"/>
            <a:chOff x="0" y="0"/>
            <a:chExt cx="1723809" cy="504609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8509" y="8509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723898" cy="504698"/>
            </a:xfrm>
            <a:custGeom>
              <a:avLst/>
              <a:gdLst/>
              <a:ahLst/>
              <a:cxnLst/>
              <a:rect r="r" b="b" t="t" l="l"/>
              <a:pathLst>
                <a:path h="504698" w="1723898">
                  <a:moveTo>
                    <a:pt x="8509" y="0"/>
                  </a:moveTo>
                  <a:lnTo>
                    <a:pt x="1715389" y="0"/>
                  </a:lnTo>
                  <a:cubicBezTo>
                    <a:pt x="1720088" y="0"/>
                    <a:pt x="1723898" y="3810"/>
                    <a:pt x="1723898" y="8509"/>
                  </a:cubicBezTo>
                  <a:lnTo>
                    <a:pt x="1723898" y="496189"/>
                  </a:lnTo>
                  <a:cubicBezTo>
                    <a:pt x="1723898" y="500888"/>
                    <a:pt x="1720088" y="504698"/>
                    <a:pt x="171538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715389" y="487680"/>
                  </a:lnTo>
                  <a:lnTo>
                    <a:pt x="1715389" y="496189"/>
                  </a:lnTo>
                  <a:lnTo>
                    <a:pt x="1706880" y="496189"/>
                  </a:lnTo>
                  <a:lnTo>
                    <a:pt x="1706880" y="8509"/>
                  </a:lnTo>
                  <a:lnTo>
                    <a:pt x="1715389" y="8509"/>
                  </a:lnTo>
                  <a:lnTo>
                    <a:pt x="1715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3587984" y="7955280"/>
            <a:ext cx="1280160" cy="365760"/>
            <a:chOff x="0" y="0"/>
            <a:chExt cx="1706880" cy="48768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28575"/>
              <a:ext cx="17068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make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5008095" y="7948927"/>
            <a:ext cx="1292857" cy="378457"/>
            <a:chOff x="0" y="0"/>
            <a:chExt cx="1723809" cy="504609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8509" y="8509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723898" cy="504698"/>
            </a:xfrm>
            <a:custGeom>
              <a:avLst/>
              <a:gdLst/>
              <a:ahLst/>
              <a:cxnLst/>
              <a:rect r="r" b="b" t="t" l="l"/>
              <a:pathLst>
                <a:path h="504698" w="1723898">
                  <a:moveTo>
                    <a:pt x="8509" y="0"/>
                  </a:moveTo>
                  <a:lnTo>
                    <a:pt x="1715389" y="0"/>
                  </a:lnTo>
                  <a:cubicBezTo>
                    <a:pt x="1720088" y="0"/>
                    <a:pt x="1723898" y="3810"/>
                    <a:pt x="1723898" y="8509"/>
                  </a:cubicBezTo>
                  <a:lnTo>
                    <a:pt x="1723898" y="496189"/>
                  </a:lnTo>
                  <a:cubicBezTo>
                    <a:pt x="1723898" y="500888"/>
                    <a:pt x="1720088" y="504698"/>
                    <a:pt x="1715389" y="504698"/>
                  </a:cubicBezTo>
                  <a:lnTo>
                    <a:pt x="8509" y="504698"/>
                  </a:lnTo>
                  <a:cubicBezTo>
                    <a:pt x="3810" y="504698"/>
                    <a:pt x="0" y="500888"/>
                    <a:pt x="0" y="4961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96189"/>
                  </a:lnTo>
                  <a:lnTo>
                    <a:pt x="8509" y="496189"/>
                  </a:lnTo>
                  <a:lnTo>
                    <a:pt x="8509" y="487680"/>
                  </a:lnTo>
                  <a:lnTo>
                    <a:pt x="1715389" y="487680"/>
                  </a:lnTo>
                  <a:lnTo>
                    <a:pt x="1715389" y="496189"/>
                  </a:lnTo>
                  <a:lnTo>
                    <a:pt x="1706880" y="496189"/>
                  </a:lnTo>
                  <a:lnTo>
                    <a:pt x="1706880" y="8509"/>
                  </a:lnTo>
                  <a:lnTo>
                    <a:pt x="1715389" y="8509"/>
                  </a:lnTo>
                  <a:lnTo>
                    <a:pt x="1715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5014448" y="7955280"/>
            <a:ext cx="1280160" cy="365760"/>
            <a:chOff x="0" y="0"/>
            <a:chExt cx="1706880" cy="48768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706880" cy="487680"/>
            </a:xfrm>
            <a:custGeom>
              <a:avLst/>
              <a:gdLst/>
              <a:ahLst/>
              <a:cxnLst/>
              <a:rect r="r" b="b" t="t" l="l"/>
              <a:pathLst>
                <a:path h="4876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28575"/>
              <a:ext cx="17068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g++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0" y="10186416"/>
            <a:ext cx="18288000" cy="128016"/>
            <a:chOff x="0" y="0"/>
            <a:chExt cx="24384000" cy="17068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0" y="10186416"/>
            <a:ext cx="7315200" cy="128016"/>
            <a:chOff x="0" y="0"/>
            <a:chExt cx="9753600" cy="17068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753600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Installing CogServer - Step 3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Configuration and Setup Guide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35/53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499616"/>
            <a:ext cx="14630400" cy="822960"/>
            <a:chOff x="0" y="0"/>
            <a:chExt cx="195072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950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CogServer Installation &amp; Configuration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21995" y="2459355"/>
            <a:ext cx="10808970" cy="7517130"/>
            <a:chOff x="0" y="0"/>
            <a:chExt cx="14411960" cy="10022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4386561" cy="9997440"/>
            </a:xfrm>
            <a:custGeom>
              <a:avLst/>
              <a:gdLst/>
              <a:ahLst/>
              <a:cxnLst/>
              <a:rect r="r" b="b" t="t" l="l"/>
              <a:pathLst>
                <a:path h="999744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411961" cy="10022840"/>
            </a:xfrm>
            <a:custGeom>
              <a:avLst/>
              <a:gdLst/>
              <a:ahLst/>
              <a:cxnLst/>
              <a:rect r="r" b="b" t="t" l="l"/>
              <a:pathLst>
                <a:path h="10022840" w="14411961">
                  <a:moveTo>
                    <a:pt x="12700" y="0"/>
                  </a:moveTo>
                  <a:lnTo>
                    <a:pt x="14399261" y="0"/>
                  </a:lnTo>
                  <a:cubicBezTo>
                    <a:pt x="14406246" y="0"/>
                    <a:pt x="14411961" y="5715"/>
                    <a:pt x="14411961" y="12700"/>
                  </a:cubicBezTo>
                  <a:lnTo>
                    <a:pt x="14411961" y="10010140"/>
                  </a:lnTo>
                  <a:cubicBezTo>
                    <a:pt x="14411961" y="10017125"/>
                    <a:pt x="14406246" y="10022840"/>
                    <a:pt x="14399261" y="10022840"/>
                  </a:cubicBezTo>
                  <a:lnTo>
                    <a:pt x="12700" y="10022840"/>
                  </a:lnTo>
                  <a:cubicBezTo>
                    <a:pt x="5715" y="10022840"/>
                    <a:pt x="0" y="10017125"/>
                    <a:pt x="0" y="1001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10140"/>
                  </a:lnTo>
                  <a:lnTo>
                    <a:pt x="12700" y="10010140"/>
                  </a:lnTo>
                  <a:lnTo>
                    <a:pt x="12700" y="9997440"/>
                  </a:lnTo>
                  <a:lnTo>
                    <a:pt x="14399261" y="9997440"/>
                  </a:lnTo>
                  <a:lnTo>
                    <a:pt x="14399261" y="10010140"/>
                  </a:lnTo>
                  <a:lnTo>
                    <a:pt x="14386561" y="10010140"/>
                  </a:lnTo>
                  <a:lnTo>
                    <a:pt x="14386561" y="12700"/>
                  </a:lnTo>
                  <a:lnTo>
                    <a:pt x="14399261" y="12700"/>
                  </a:lnTo>
                  <a:lnTo>
                    <a:pt x="1439926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05840" y="2615184"/>
            <a:ext cx="10424160" cy="512064"/>
            <a:chOff x="0" y="0"/>
            <a:chExt cx="1389888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98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659" r="0" b="-34665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3898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Installation Steps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6315" y="3245739"/>
            <a:ext cx="10443210" cy="2030730"/>
            <a:chOff x="0" y="0"/>
            <a:chExt cx="13924280" cy="2707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13898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924280" cy="2707640"/>
            </a:xfrm>
            <a:custGeom>
              <a:avLst/>
              <a:gdLst/>
              <a:ahLst/>
              <a:cxnLst/>
              <a:rect r="r" b="b" t="t" l="l"/>
              <a:pathLst>
                <a:path h="2707640" w="13924280">
                  <a:moveTo>
                    <a:pt x="12700" y="0"/>
                  </a:moveTo>
                  <a:lnTo>
                    <a:pt x="13911580" y="0"/>
                  </a:lnTo>
                  <a:cubicBezTo>
                    <a:pt x="13918566" y="0"/>
                    <a:pt x="13924280" y="5715"/>
                    <a:pt x="13924280" y="12700"/>
                  </a:cubicBezTo>
                  <a:lnTo>
                    <a:pt x="13924280" y="2694940"/>
                  </a:lnTo>
                  <a:cubicBezTo>
                    <a:pt x="13924280" y="2701925"/>
                    <a:pt x="13918566" y="2707640"/>
                    <a:pt x="13911580" y="2707640"/>
                  </a:cubicBezTo>
                  <a:lnTo>
                    <a:pt x="12700" y="2707640"/>
                  </a:lnTo>
                  <a:cubicBezTo>
                    <a:pt x="5715" y="2707640"/>
                    <a:pt x="0" y="2701925"/>
                    <a:pt x="0" y="26949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94940"/>
                  </a:lnTo>
                  <a:lnTo>
                    <a:pt x="12700" y="2694940"/>
                  </a:lnTo>
                  <a:lnTo>
                    <a:pt x="12700" y="2682240"/>
                  </a:lnTo>
                  <a:lnTo>
                    <a:pt x="13911580" y="2682240"/>
                  </a:lnTo>
                  <a:lnTo>
                    <a:pt x="13911580" y="2694940"/>
                  </a:lnTo>
                  <a:lnTo>
                    <a:pt x="13898880" y="2694940"/>
                  </a:lnTo>
                  <a:lnTo>
                    <a:pt x="13898880" y="12700"/>
                  </a:lnTo>
                  <a:lnTo>
                    <a:pt x="13911580" y="12700"/>
                  </a:lnTo>
                  <a:lnTo>
                    <a:pt x="139115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88720" y="3401568"/>
            <a:ext cx="640080" cy="640080"/>
            <a:chOff x="0" y="0"/>
            <a:chExt cx="85344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88720" y="3401568"/>
            <a:ext cx="640080" cy="640080"/>
            <a:chOff x="0" y="0"/>
            <a:chExt cx="853440" cy="85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53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920240" y="3401568"/>
            <a:ext cx="9326880" cy="457200"/>
            <a:chOff x="0" y="0"/>
            <a:chExt cx="12435840" cy="609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35840" cy="609600"/>
            </a:xfrm>
            <a:custGeom>
              <a:avLst/>
              <a:gdLst/>
              <a:ahLst/>
              <a:cxnLst/>
              <a:rect r="r" b="b" t="t" l="l"/>
              <a:pathLst>
                <a:path h="6096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494" r="0" b="-34749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24358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Clone CogServer Repository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920240" y="3895344"/>
            <a:ext cx="9326880" cy="329184"/>
            <a:chOff x="0" y="0"/>
            <a:chExt cx="12435840" cy="43891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35840" cy="438912"/>
            </a:xfrm>
            <a:custGeom>
              <a:avLst/>
              <a:gdLst/>
              <a:ahLst/>
              <a:cxnLst/>
              <a:rect r="r" b="b" t="t" l="l"/>
              <a:pathLst>
                <a:path h="43891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2435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Download the latest source from GitHub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82367" y="4291327"/>
            <a:ext cx="10162537" cy="853945"/>
            <a:chOff x="0" y="0"/>
            <a:chExt cx="13550049" cy="113859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8509" y="8509"/>
              <a:ext cx="135331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550137" cy="1138682"/>
            </a:xfrm>
            <a:custGeom>
              <a:avLst/>
              <a:gdLst/>
              <a:ahLst/>
              <a:cxnLst/>
              <a:rect r="r" b="b" t="t" l="l"/>
              <a:pathLst>
                <a:path h="1138682" w="13550137">
                  <a:moveTo>
                    <a:pt x="8509" y="0"/>
                  </a:moveTo>
                  <a:lnTo>
                    <a:pt x="13541629" y="0"/>
                  </a:lnTo>
                  <a:cubicBezTo>
                    <a:pt x="13546328" y="0"/>
                    <a:pt x="13550137" y="3810"/>
                    <a:pt x="13550137" y="8509"/>
                  </a:cubicBezTo>
                  <a:lnTo>
                    <a:pt x="13550137" y="1130173"/>
                  </a:lnTo>
                  <a:cubicBezTo>
                    <a:pt x="13550137" y="1134872"/>
                    <a:pt x="13546328" y="1138682"/>
                    <a:pt x="13541629" y="1138682"/>
                  </a:cubicBezTo>
                  <a:lnTo>
                    <a:pt x="8509" y="1138682"/>
                  </a:lnTo>
                  <a:cubicBezTo>
                    <a:pt x="3810" y="1138682"/>
                    <a:pt x="0" y="1134872"/>
                    <a:pt x="0" y="113017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30173"/>
                  </a:lnTo>
                  <a:lnTo>
                    <a:pt x="8509" y="1130173"/>
                  </a:lnTo>
                  <a:lnTo>
                    <a:pt x="8509" y="1121664"/>
                  </a:lnTo>
                  <a:lnTo>
                    <a:pt x="13541629" y="1121664"/>
                  </a:lnTo>
                  <a:lnTo>
                    <a:pt x="13541629" y="1130173"/>
                  </a:lnTo>
                  <a:lnTo>
                    <a:pt x="13533120" y="1130173"/>
                  </a:lnTo>
                  <a:lnTo>
                    <a:pt x="13533120" y="8509"/>
                  </a:lnTo>
                  <a:lnTo>
                    <a:pt x="13541629" y="8509"/>
                  </a:lnTo>
                  <a:lnTo>
                    <a:pt x="135416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371600" y="4405884"/>
            <a:ext cx="9784080" cy="60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git clone https://github.com/opencog/cogserver.git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cd cogserver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96315" y="5440299"/>
            <a:ext cx="10443210" cy="2030730"/>
            <a:chOff x="0" y="0"/>
            <a:chExt cx="13924280" cy="2707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700" y="12700"/>
              <a:ext cx="13898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924280" cy="2707640"/>
            </a:xfrm>
            <a:custGeom>
              <a:avLst/>
              <a:gdLst/>
              <a:ahLst/>
              <a:cxnLst/>
              <a:rect r="r" b="b" t="t" l="l"/>
              <a:pathLst>
                <a:path h="2707640" w="13924280">
                  <a:moveTo>
                    <a:pt x="12700" y="0"/>
                  </a:moveTo>
                  <a:lnTo>
                    <a:pt x="13911580" y="0"/>
                  </a:lnTo>
                  <a:cubicBezTo>
                    <a:pt x="13918566" y="0"/>
                    <a:pt x="13924280" y="5715"/>
                    <a:pt x="13924280" y="12700"/>
                  </a:cubicBezTo>
                  <a:lnTo>
                    <a:pt x="13924280" y="2694940"/>
                  </a:lnTo>
                  <a:cubicBezTo>
                    <a:pt x="13924280" y="2701925"/>
                    <a:pt x="13918566" y="2707640"/>
                    <a:pt x="13911580" y="2707640"/>
                  </a:cubicBezTo>
                  <a:lnTo>
                    <a:pt x="12700" y="2707640"/>
                  </a:lnTo>
                  <a:cubicBezTo>
                    <a:pt x="5715" y="2707640"/>
                    <a:pt x="0" y="2701925"/>
                    <a:pt x="0" y="26949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94940"/>
                  </a:lnTo>
                  <a:lnTo>
                    <a:pt x="12700" y="2694940"/>
                  </a:lnTo>
                  <a:lnTo>
                    <a:pt x="12700" y="2682240"/>
                  </a:lnTo>
                  <a:lnTo>
                    <a:pt x="13911580" y="2682240"/>
                  </a:lnTo>
                  <a:lnTo>
                    <a:pt x="13911580" y="2694940"/>
                  </a:lnTo>
                  <a:lnTo>
                    <a:pt x="13898880" y="2694940"/>
                  </a:lnTo>
                  <a:lnTo>
                    <a:pt x="13898880" y="12700"/>
                  </a:lnTo>
                  <a:lnTo>
                    <a:pt x="13911580" y="12700"/>
                  </a:lnTo>
                  <a:lnTo>
                    <a:pt x="139115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88720" y="5596128"/>
            <a:ext cx="640080" cy="640080"/>
            <a:chOff x="0" y="0"/>
            <a:chExt cx="85344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88720" y="5596128"/>
            <a:ext cx="640080" cy="640080"/>
            <a:chOff x="0" y="0"/>
            <a:chExt cx="85344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853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920240" y="5596128"/>
            <a:ext cx="9326880" cy="457200"/>
            <a:chOff x="0" y="0"/>
            <a:chExt cx="12435840" cy="609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435840" cy="609600"/>
            </a:xfrm>
            <a:custGeom>
              <a:avLst/>
              <a:gdLst/>
              <a:ahLst/>
              <a:cxnLst/>
              <a:rect r="r" b="b" t="t" l="l"/>
              <a:pathLst>
                <a:path h="6096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494" r="0" b="-34749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24358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 Dependencies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920240" y="6089904"/>
            <a:ext cx="9326880" cy="329184"/>
            <a:chOff x="0" y="0"/>
            <a:chExt cx="12435840" cy="43891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435840" cy="438912"/>
            </a:xfrm>
            <a:custGeom>
              <a:avLst/>
              <a:gdLst/>
              <a:ahLst/>
              <a:cxnLst/>
              <a:rect r="r" b="b" t="t" l="l"/>
              <a:pathLst>
                <a:path h="43891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2435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Install required dependencies and build tools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82367" y="6485887"/>
            <a:ext cx="10162537" cy="853945"/>
            <a:chOff x="0" y="0"/>
            <a:chExt cx="13550049" cy="113859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8509" y="8509"/>
              <a:ext cx="135331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550137" cy="1138682"/>
            </a:xfrm>
            <a:custGeom>
              <a:avLst/>
              <a:gdLst/>
              <a:ahLst/>
              <a:cxnLst/>
              <a:rect r="r" b="b" t="t" l="l"/>
              <a:pathLst>
                <a:path h="1138682" w="13550137">
                  <a:moveTo>
                    <a:pt x="8509" y="0"/>
                  </a:moveTo>
                  <a:lnTo>
                    <a:pt x="13541629" y="0"/>
                  </a:lnTo>
                  <a:cubicBezTo>
                    <a:pt x="13546328" y="0"/>
                    <a:pt x="13550137" y="3810"/>
                    <a:pt x="13550137" y="8509"/>
                  </a:cubicBezTo>
                  <a:lnTo>
                    <a:pt x="13550137" y="1130173"/>
                  </a:lnTo>
                  <a:cubicBezTo>
                    <a:pt x="13550137" y="1134872"/>
                    <a:pt x="13546328" y="1138682"/>
                    <a:pt x="13541629" y="1138682"/>
                  </a:cubicBezTo>
                  <a:lnTo>
                    <a:pt x="8509" y="1138682"/>
                  </a:lnTo>
                  <a:cubicBezTo>
                    <a:pt x="3810" y="1138682"/>
                    <a:pt x="0" y="1134872"/>
                    <a:pt x="0" y="113017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30173"/>
                  </a:lnTo>
                  <a:lnTo>
                    <a:pt x="8509" y="1130173"/>
                  </a:lnTo>
                  <a:lnTo>
                    <a:pt x="8509" y="1121664"/>
                  </a:lnTo>
                  <a:lnTo>
                    <a:pt x="13541629" y="1121664"/>
                  </a:lnTo>
                  <a:lnTo>
                    <a:pt x="13541629" y="1130173"/>
                  </a:lnTo>
                  <a:lnTo>
                    <a:pt x="13533120" y="1130173"/>
                  </a:lnTo>
                  <a:lnTo>
                    <a:pt x="13533120" y="8509"/>
                  </a:lnTo>
                  <a:lnTo>
                    <a:pt x="13541629" y="8509"/>
                  </a:lnTo>
                  <a:lnTo>
                    <a:pt x="135416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371600" y="6600444"/>
            <a:ext cx="9784080" cy="60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apt-get install build-essential cmake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apt-get install libboost-all-dev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96315" y="7634859"/>
            <a:ext cx="10443210" cy="2030730"/>
            <a:chOff x="0" y="0"/>
            <a:chExt cx="13924280" cy="2707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2700" y="12700"/>
              <a:ext cx="13898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924280" cy="2707640"/>
            </a:xfrm>
            <a:custGeom>
              <a:avLst/>
              <a:gdLst/>
              <a:ahLst/>
              <a:cxnLst/>
              <a:rect r="r" b="b" t="t" l="l"/>
              <a:pathLst>
                <a:path h="2707640" w="13924280">
                  <a:moveTo>
                    <a:pt x="12700" y="0"/>
                  </a:moveTo>
                  <a:lnTo>
                    <a:pt x="13911580" y="0"/>
                  </a:lnTo>
                  <a:cubicBezTo>
                    <a:pt x="13918566" y="0"/>
                    <a:pt x="13924280" y="5715"/>
                    <a:pt x="13924280" y="12700"/>
                  </a:cubicBezTo>
                  <a:lnTo>
                    <a:pt x="13924280" y="2694940"/>
                  </a:lnTo>
                  <a:cubicBezTo>
                    <a:pt x="13924280" y="2701925"/>
                    <a:pt x="13918566" y="2707640"/>
                    <a:pt x="13911580" y="2707640"/>
                  </a:cubicBezTo>
                  <a:lnTo>
                    <a:pt x="12700" y="2707640"/>
                  </a:lnTo>
                  <a:cubicBezTo>
                    <a:pt x="5715" y="2707640"/>
                    <a:pt x="0" y="2701925"/>
                    <a:pt x="0" y="26949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94940"/>
                  </a:lnTo>
                  <a:lnTo>
                    <a:pt x="12700" y="2694940"/>
                  </a:lnTo>
                  <a:lnTo>
                    <a:pt x="12700" y="2682240"/>
                  </a:lnTo>
                  <a:lnTo>
                    <a:pt x="13911580" y="2682240"/>
                  </a:lnTo>
                  <a:lnTo>
                    <a:pt x="13911580" y="2694940"/>
                  </a:lnTo>
                  <a:lnTo>
                    <a:pt x="13898880" y="2694940"/>
                  </a:lnTo>
                  <a:lnTo>
                    <a:pt x="13898880" y="12700"/>
                  </a:lnTo>
                  <a:lnTo>
                    <a:pt x="13911580" y="12700"/>
                  </a:lnTo>
                  <a:lnTo>
                    <a:pt x="139115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88720" y="7790688"/>
            <a:ext cx="640080" cy="640080"/>
            <a:chOff x="0" y="0"/>
            <a:chExt cx="85344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88720" y="7790688"/>
            <a:ext cx="640080" cy="640080"/>
            <a:chOff x="0" y="0"/>
            <a:chExt cx="853440" cy="853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853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920240" y="7790688"/>
            <a:ext cx="9326880" cy="457200"/>
            <a:chOff x="0" y="0"/>
            <a:chExt cx="12435840" cy="609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435840" cy="609600"/>
            </a:xfrm>
            <a:custGeom>
              <a:avLst/>
              <a:gdLst/>
              <a:ahLst/>
              <a:cxnLst/>
              <a:rect r="r" b="b" t="t" l="l"/>
              <a:pathLst>
                <a:path h="6096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494" r="0" b="-34749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24358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Configure Build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920240" y="8284464"/>
            <a:ext cx="9326880" cy="329184"/>
            <a:chOff x="0" y="0"/>
            <a:chExt cx="12435840" cy="43891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435840" cy="438912"/>
            </a:xfrm>
            <a:custGeom>
              <a:avLst/>
              <a:gdLst/>
              <a:ahLst/>
              <a:cxnLst/>
              <a:rect r="r" b="b" t="t" l="l"/>
              <a:pathLst>
                <a:path h="43891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2435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 up build configuration with CMake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82367" y="8680447"/>
            <a:ext cx="10162537" cy="853945"/>
            <a:chOff x="0" y="0"/>
            <a:chExt cx="13550049" cy="113859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8509" y="8509"/>
              <a:ext cx="135331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3550137" cy="1138682"/>
            </a:xfrm>
            <a:custGeom>
              <a:avLst/>
              <a:gdLst/>
              <a:ahLst/>
              <a:cxnLst/>
              <a:rect r="r" b="b" t="t" l="l"/>
              <a:pathLst>
                <a:path h="1138682" w="13550137">
                  <a:moveTo>
                    <a:pt x="8509" y="0"/>
                  </a:moveTo>
                  <a:lnTo>
                    <a:pt x="13541629" y="0"/>
                  </a:lnTo>
                  <a:cubicBezTo>
                    <a:pt x="13546328" y="0"/>
                    <a:pt x="13550137" y="3810"/>
                    <a:pt x="13550137" y="8509"/>
                  </a:cubicBezTo>
                  <a:lnTo>
                    <a:pt x="13550137" y="1130173"/>
                  </a:lnTo>
                  <a:cubicBezTo>
                    <a:pt x="13550137" y="1134872"/>
                    <a:pt x="13546328" y="1138682"/>
                    <a:pt x="13541629" y="1138682"/>
                  </a:cubicBezTo>
                  <a:lnTo>
                    <a:pt x="8509" y="1138682"/>
                  </a:lnTo>
                  <a:cubicBezTo>
                    <a:pt x="3810" y="1138682"/>
                    <a:pt x="0" y="1134872"/>
                    <a:pt x="0" y="113017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30173"/>
                  </a:lnTo>
                  <a:lnTo>
                    <a:pt x="8509" y="1130173"/>
                  </a:lnTo>
                  <a:lnTo>
                    <a:pt x="8509" y="1121664"/>
                  </a:lnTo>
                  <a:lnTo>
                    <a:pt x="13541629" y="1121664"/>
                  </a:lnTo>
                  <a:lnTo>
                    <a:pt x="13541629" y="1130173"/>
                  </a:lnTo>
                  <a:lnTo>
                    <a:pt x="13533120" y="1130173"/>
                  </a:lnTo>
                  <a:lnTo>
                    <a:pt x="13533120" y="8509"/>
                  </a:lnTo>
                  <a:lnTo>
                    <a:pt x="13541629" y="8509"/>
                  </a:lnTo>
                  <a:lnTo>
                    <a:pt x="135416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1371600" y="8795004"/>
            <a:ext cx="9784080" cy="60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mkdir build &amp;&amp; cd build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cmake .. -DCMAKE_INSTALL_PREFIX=/usr/local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1877675" y="2459355"/>
            <a:ext cx="5688330" cy="7517130"/>
            <a:chOff x="0" y="0"/>
            <a:chExt cx="7584440" cy="100228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2700" y="12700"/>
              <a:ext cx="7559040" cy="9997440"/>
            </a:xfrm>
            <a:custGeom>
              <a:avLst/>
              <a:gdLst/>
              <a:ahLst/>
              <a:cxnLst/>
              <a:rect r="r" b="b" t="t" l="l"/>
              <a:pathLst>
                <a:path h="99974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584440" cy="10022840"/>
            </a:xfrm>
            <a:custGeom>
              <a:avLst/>
              <a:gdLst/>
              <a:ahLst/>
              <a:cxnLst/>
              <a:rect r="r" b="b" t="t" l="l"/>
              <a:pathLst>
                <a:path h="10022840" w="7584440">
                  <a:moveTo>
                    <a:pt x="12700" y="0"/>
                  </a:moveTo>
                  <a:lnTo>
                    <a:pt x="7571740" y="0"/>
                  </a:lnTo>
                  <a:cubicBezTo>
                    <a:pt x="7578725" y="0"/>
                    <a:pt x="7584440" y="5715"/>
                    <a:pt x="7584440" y="12700"/>
                  </a:cubicBezTo>
                  <a:lnTo>
                    <a:pt x="7584440" y="10010140"/>
                  </a:lnTo>
                  <a:cubicBezTo>
                    <a:pt x="7584440" y="10017125"/>
                    <a:pt x="7578725" y="10022840"/>
                    <a:pt x="7571740" y="10022840"/>
                  </a:cubicBezTo>
                  <a:lnTo>
                    <a:pt x="12700" y="10022840"/>
                  </a:lnTo>
                  <a:cubicBezTo>
                    <a:pt x="5715" y="10022840"/>
                    <a:pt x="0" y="10017125"/>
                    <a:pt x="0" y="1001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10140"/>
                  </a:lnTo>
                  <a:lnTo>
                    <a:pt x="12700" y="10010140"/>
                  </a:lnTo>
                  <a:lnTo>
                    <a:pt x="12700" y="9997440"/>
                  </a:lnTo>
                  <a:lnTo>
                    <a:pt x="7571740" y="9997440"/>
                  </a:lnTo>
                  <a:lnTo>
                    <a:pt x="7571740" y="10010140"/>
                  </a:lnTo>
                  <a:lnTo>
                    <a:pt x="7559040" y="10010140"/>
                  </a:lnTo>
                  <a:lnTo>
                    <a:pt x="7559040" y="12700"/>
                  </a:lnTo>
                  <a:lnTo>
                    <a:pt x="7571740" y="12700"/>
                  </a:lnTo>
                  <a:lnTo>
                    <a:pt x="75717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161520" y="2615184"/>
            <a:ext cx="5120640" cy="512064"/>
            <a:chOff x="0" y="0"/>
            <a:chExt cx="6827520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682752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Configuration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155167" y="3248911"/>
            <a:ext cx="5133337" cy="2975353"/>
            <a:chOff x="0" y="0"/>
            <a:chExt cx="6844449" cy="396713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8509" y="8509"/>
              <a:ext cx="6827519" cy="3950208"/>
            </a:xfrm>
            <a:custGeom>
              <a:avLst/>
              <a:gdLst/>
              <a:ahLst/>
              <a:cxnLst/>
              <a:rect r="r" b="b" t="t" l="l"/>
              <a:pathLst>
                <a:path h="3950208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3950208"/>
                  </a:lnTo>
                  <a:lnTo>
                    <a:pt x="0" y="395020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844538" cy="3967226"/>
            </a:xfrm>
            <a:custGeom>
              <a:avLst/>
              <a:gdLst/>
              <a:ahLst/>
              <a:cxnLst/>
              <a:rect r="r" b="b" t="t" l="l"/>
              <a:pathLst>
                <a:path h="3967226" w="684453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3958717"/>
                  </a:lnTo>
                  <a:cubicBezTo>
                    <a:pt x="6844538" y="3963416"/>
                    <a:pt x="6840727" y="3967226"/>
                    <a:pt x="6836028" y="3967226"/>
                  </a:cubicBezTo>
                  <a:lnTo>
                    <a:pt x="8509" y="3967226"/>
                  </a:lnTo>
                  <a:cubicBezTo>
                    <a:pt x="3810" y="3967226"/>
                    <a:pt x="0" y="3963416"/>
                    <a:pt x="0" y="39587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958717"/>
                  </a:lnTo>
                  <a:lnTo>
                    <a:pt x="8509" y="3958717"/>
                  </a:lnTo>
                  <a:lnTo>
                    <a:pt x="8509" y="3950208"/>
                  </a:lnTo>
                  <a:lnTo>
                    <a:pt x="6836028" y="3950208"/>
                  </a:lnTo>
                  <a:lnTo>
                    <a:pt x="6836028" y="3958717"/>
                  </a:lnTo>
                  <a:lnTo>
                    <a:pt x="6827520" y="3958717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344400" y="3346704"/>
            <a:ext cx="4754880" cy="457200"/>
            <a:chOff x="0" y="0"/>
            <a:chExt cx="6339840" cy="6096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339840" cy="609600"/>
            </a:xfrm>
            <a:custGeom>
              <a:avLst/>
              <a:gdLst/>
              <a:ahLst/>
              <a:cxnLst/>
              <a:rect r="r" b="b" t="t" l="l"/>
              <a:pathLst>
                <a:path h="6096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3398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Server Settings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155167" y="3834127"/>
            <a:ext cx="5133337" cy="12697"/>
            <a:chOff x="0" y="0"/>
            <a:chExt cx="6844449" cy="1692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8509" y="0"/>
              <a:ext cx="6827519" cy="16891"/>
            </a:xfrm>
            <a:custGeom>
              <a:avLst/>
              <a:gdLst/>
              <a:ahLst/>
              <a:cxnLst/>
              <a:rect r="r" b="b" t="t" l="l"/>
              <a:pathLst>
                <a:path h="16891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2344400" y="3895344"/>
            <a:ext cx="2743200" cy="457200"/>
            <a:chOff x="0" y="0"/>
            <a:chExt cx="3657600" cy="6096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3657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Port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996160" y="3895344"/>
            <a:ext cx="1828800" cy="457200"/>
            <a:chOff x="0" y="0"/>
            <a:chExt cx="2438400" cy="6096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438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2438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17034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155167" y="4419343"/>
            <a:ext cx="5133337" cy="12697"/>
            <a:chOff x="0" y="0"/>
            <a:chExt cx="6844449" cy="1692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8509" y="0"/>
              <a:ext cx="6827519" cy="16891"/>
            </a:xfrm>
            <a:custGeom>
              <a:avLst/>
              <a:gdLst/>
              <a:ahLst/>
              <a:cxnLst/>
              <a:rect r="r" b="b" t="t" l="l"/>
              <a:pathLst>
                <a:path h="16891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2344400" y="4480560"/>
            <a:ext cx="2743200" cy="457200"/>
            <a:chOff x="0" y="0"/>
            <a:chExt cx="3657600" cy="6096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3657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 Connections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4996160" y="4480560"/>
            <a:ext cx="1828800" cy="457200"/>
            <a:chOff x="0" y="0"/>
            <a:chExt cx="2438400" cy="6096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438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2438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155167" y="5004559"/>
            <a:ext cx="5133337" cy="12697"/>
            <a:chOff x="0" y="0"/>
            <a:chExt cx="6844449" cy="16929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8509" y="0"/>
              <a:ext cx="6827519" cy="16891"/>
            </a:xfrm>
            <a:custGeom>
              <a:avLst/>
              <a:gdLst/>
              <a:ahLst/>
              <a:cxnLst/>
              <a:rect r="r" b="b" t="t" l="l"/>
              <a:pathLst>
                <a:path h="16891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344400" y="5065776"/>
            <a:ext cx="2743200" cy="457200"/>
            <a:chOff x="0" y="0"/>
            <a:chExt cx="3657600" cy="6096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3657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Timeout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4996160" y="5065776"/>
            <a:ext cx="1828800" cy="457200"/>
            <a:chOff x="0" y="0"/>
            <a:chExt cx="2438400" cy="6096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438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2438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300s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155167" y="5589775"/>
            <a:ext cx="5133337" cy="12697"/>
            <a:chOff x="0" y="0"/>
            <a:chExt cx="6844449" cy="1692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8509" y="0"/>
              <a:ext cx="6827519" cy="16891"/>
            </a:xfrm>
            <a:custGeom>
              <a:avLst/>
              <a:gdLst/>
              <a:ahLst/>
              <a:cxnLst/>
              <a:rect r="r" b="b" t="t" l="l"/>
              <a:pathLst>
                <a:path h="16891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2344400" y="5650992"/>
            <a:ext cx="2743200" cy="457200"/>
            <a:chOff x="0" y="0"/>
            <a:chExt cx="3657600" cy="6096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657600" cy="609600"/>
            </a:xfrm>
            <a:custGeom>
              <a:avLst/>
              <a:gdLst/>
              <a:ahLst/>
              <a:cxnLst/>
              <a:rect r="r" b="b" t="t" l="l"/>
              <a:pathLst>
                <a:path h="609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3657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 Level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4996160" y="5650992"/>
            <a:ext cx="1828800" cy="457200"/>
            <a:chOff x="0" y="0"/>
            <a:chExt cx="2438400" cy="6096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438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2438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INFO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2216384" y="6345936"/>
            <a:ext cx="219456" cy="219456"/>
            <a:chOff x="0" y="0"/>
            <a:chExt cx="292608" cy="29260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2527280" y="6291072"/>
            <a:ext cx="4572000" cy="329184"/>
            <a:chOff x="0" y="0"/>
            <a:chExt cx="6096000" cy="43891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096000" cy="438912"/>
            </a:xfrm>
            <a:custGeom>
              <a:avLst/>
              <a:gdLst/>
              <a:ahLst/>
              <a:cxnLst/>
              <a:rect r="r" b="b" t="t" l="l"/>
              <a:pathLst>
                <a:path h="43891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60960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Server status: Ready to start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2155167" y="6760207"/>
            <a:ext cx="5133337" cy="2755897"/>
            <a:chOff x="0" y="0"/>
            <a:chExt cx="6844449" cy="3674529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8509" y="8509"/>
              <a:ext cx="6827519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844538" cy="3674618"/>
            </a:xfrm>
            <a:custGeom>
              <a:avLst/>
              <a:gdLst/>
              <a:ahLst/>
              <a:cxnLst/>
              <a:rect r="r" b="b" t="t" l="l"/>
              <a:pathLst>
                <a:path h="3674618" w="684453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3666109"/>
                  </a:lnTo>
                  <a:cubicBezTo>
                    <a:pt x="6844538" y="3670808"/>
                    <a:pt x="6840727" y="3674618"/>
                    <a:pt x="6836028" y="3674618"/>
                  </a:cubicBezTo>
                  <a:lnTo>
                    <a:pt x="8509" y="3674618"/>
                  </a:lnTo>
                  <a:cubicBezTo>
                    <a:pt x="3810" y="3674618"/>
                    <a:pt x="0" y="3670808"/>
                    <a:pt x="0" y="3666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666109"/>
                  </a:lnTo>
                  <a:lnTo>
                    <a:pt x="8509" y="3666109"/>
                  </a:lnTo>
                  <a:lnTo>
                    <a:pt x="8509" y="3657600"/>
                  </a:lnTo>
                  <a:lnTo>
                    <a:pt x="6836028" y="3657600"/>
                  </a:lnTo>
                  <a:lnTo>
                    <a:pt x="6836028" y="3666109"/>
                  </a:lnTo>
                  <a:lnTo>
                    <a:pt x="6827520" y="366610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sp>
        <p:nvSpPr>
          <p:cNvPr name="TextBox 126" id="126"/>
          <p:cNvSpPr txBox="true"/>
          <p:nvPr/>
        </p:nvSpPr>
        <p:spPr>
          <a:xfrm rot="0">
            <a:off x="12326112" y="7153656"/>
            <a:ext cx="55961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BF63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r>
              <a:rPr lang="en-US" sz="18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./cogserver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[INFO] Starting CogServer on port 17034...</a:t>
            </a:r>
          </a:p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[INFO] Server initialized successfully</a:t>
            </a:r>
          </a:p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[INFO] Ready for connections</a:t>
            </a:r>
          </a:p>
        </p:txBody>
      </p:sp>
      <p:grpSp>
        <p:nvGrpSpPr>
          <p:cNvPr name="Group 127" id="127"/>
          <p:cNvGrpSpPr/>
          <p:nvPr/>
        </p:nvGrpSpPr>
        <p:grpSpPr>
          <a:xfrm rot="0">
            <a:off x="0" y="10186416"/>
            <a:ext cx="18288000" cy="128016"/>
            <a:chOff x="0" y="0"/>
            <a:chExt cx="24384000" cy="17068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0" y="10186416"/>
            <a:ext cx="12070080" cy="128016"/>
            <a:chOff x="0" y="0"/>
            <a:chExt cx="16093440" cy="170688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6093439" cy="170688"/>
            </a:xfrm>
            <a:custGeom>
              <a:avLst/>
              <a:gdLst/>
              <a:ahLst/>
              <a:cxnLst/>
              <a:rect r="r" b="b" t="t" l="l"/>
              <a:pathLst>
                <a:path h="170688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 Alternative Installation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Containerized deployment for OpenCog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36/53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499616"/>
            <a:ext cx="14630400" cy="822960"/>
            <a:chOff x="0" y="0"/>
            <a:chExt cx="195072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950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 Installation Guide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21995" y="2459355"/>
            <a:ext cx="8522970" cy="7517130"/>
            <a:chOff x="0" y="0"/>
            <a:chExt cx="11363960" cy="10022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1338560" cy="9997440"/>
            </a:xfrm>
            <a:custGeom>
              <a:avLst/>
              <a:gdLst/>
              <a:ahLst/>
              <a:cxnLst/>
              <a:rect r="r" b="b" t="t" l="l"/>
              <a:pathLst>
                <a:path h="999744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63960" cy="10022840"/>
            </a:xfrm>
            <a:custGeom>
              <a:avLst/>
              <a:gdLst/>
              <a:ahLst/>
              <a:cxnLst/>
              <a:rect r="r" b="b" t="t" l="l"/>
              <a:pathLst>
                <a:path h="10022840" w="11363960">
                  <a:moveTo>
                    <a:pt x="12700" y="0"/>
                  </a:moveTo>
                  <a:lnTo>
                    <a:pt x="11351260" y="0"/>
                  </a:lnTo>
                  <a:cubicBezTo>
                    <a:pt x="11358245" y="0"/>
                    <a:pt x="11363960" y="5715"/>
                    <a:pt x="11363960" y="12700"/>
                  </a:cubicBezTo>
                  <a:lnTo>
                    <a:pt x="11363960" y="10010140"/>
                  </a:lnTo>
                  <a:cubicBezTo>
                    <a:pt x="11363960" y="10017125"/>
                    <a:pt x="11358245" y="10022840"/>
                    <a:pt x="11351260" y="10022840"/>
                  </a:cubicBezTo>
                  <a:lnTo>
                    <a:pt x="12700" y="10022840"/>
                  </a:lnTo>
                  <a:cubicBezTo>
                    <a:pt x="5715" y="10022840"/>
                    <a:pt x="0" y="10017125"/>
                    <a:pt x="0" y="1001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10140"/>
                  </a:lnTo>
                  <a:lnTo>
                    <a:pt x="12700" y="10010140"/>
                  </a:lnTo>
                  <a:lnTo>
                    <a:pt x="12700" y="9997440"/>
                  </a:lnTo>
                  <a:lnTo>
                    <a:pt x="11351260" y="9997440"/>
                  </a:lnTo>
                  <a:lnTo>
                    <a:pt x="11351260" y="10010140"/>
                  </a:lnTo>
                  <a:lnTo>
                    <a:pt x="11338560" y="10010140"/>
                  </a:lnTo>
                  <a:lnTo>
                    <a:pt x="11338560" y="12700"/>
                  </a:lnTo>
                  <a:lnTo>
                    <a:pt x="11351260" y="12700"/>
                  </a:lnTo>
                  <a:lnTo>
                    <a:pt x="11351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05840" y="2615184"/>
            <a:ext cx="8046720" cy="512064"/>
            <a:chOff x="0" y="0"/>
            <a:chExt cx="1072896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72896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🐳  Docker Setup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5840" y="3163824"/>
            <a:ext cx="8046720" cy="365760"/>
            <a:chOff x="0" y="0"/>
            <a:chExt cx="10728960" cy="487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28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728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Containerized deployment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99487" y="3614671"/>
            <a:ext cx="8059417" cy="5956297"/>
            <a:chOff x="0" y="0"/>
            <a:chExt cx="10745889" cy="79417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8509" y="8509"/>
              <a:ext cx="10728960" cy="7924800"/>
            </a:xfrm>
            <a:custGeom>
              <a:avLst/>
              <a:gdLst/>
              <a:ahLst/>
              <a:cxnLst/>
              <a:rect r="r" b="b" t="t" l="l"/>
              <a:pathLst>
                <a:path h="79248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924800"/>
                  </a:lnTo>
                  <a:lnTo>
                    <a:pt x="0" y="7924800"/>
                  </a:lnTo>
                  <a:close/>
                </a:path>
              </a:pathLst>
            </a:custGeom>
            <a:solidFill>
              <a:srgbClr val="1E1E1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45978" cy="7941818"/>
            </a:xfrm>
            <a:custGeom>
              <a:avLst/>
              <a:gdLst/>
              <a:ahLst/>
              <a:cxnLst/>
              <a:rect r="r" b="b" t="t" l="l"/>
              <a:pathLst>
                <a:path h="794181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7933309"/>
                  </a:lnTo>
                  <a:cubicBezTo>
                    <a:pt x="10745978" y="7938008"/>
                    <a:pt x="10742168" y="7941818"/>
                    <a:pt x="10737469" y="7941818"/>
                  </a:cubicBezTo>
                  <a:lnTo>
                    <a:pt x="8509" y="7941818"/>
                  </a:lnTo>
                  <a:cubicBezTo>
                    <a:pt x="3810" y="7941818"/>
                    <a:pt x="0" y="7938008"/>
                    <a:pt x="0" y="7933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933309"/>
                  </a:lnTo>
                  <a:lnTo>
                    <a:pt x="8509" y="7933309"/>
                  </a:lnTo>
                  <a:lnTo>
                    <a:pt x="8509" y="7924800"/>
                  </a:lnTo>
                  <a:lnTo>
                    <a:pt x="10737469" y="7924800"/>
                  </a:lnTo>
                  <a:lnTo>
                    <a:pt x="10737469" y="7933309"/>
                  </a:lnTo>
                  <a:lnTo>
                    <a:pt x="10728960" y="793330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7415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88720" y="3803904"/>
            <a:ext cx="256032" cy="256032"/>
            <a:chOff x="0" y="0"/>
            <a:chExt cx="341376" cy="3413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FF5F5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91056" y="3803904"/>
            <a:ext cx="256032" cy="256032"/>
            <a:chOff x="0" y="0"/>
            <a:chExt cx="341376" cy="34137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993392" y="3803904"/>
            <a:ext cx="256032" cy="256032"/>
            <a:chOff x="0" y="0"/>
            <a:chExt cx="341376" cy="3413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4922" y="341376"/>
                    <a:pt x="170688" y="341376"/>
                  </a:cubicBezTo>
                  <a:cubicBezTo>
                    <a:pt x="76454" y="341376"/>
                    <a:pt x="0" y="264922"/>
                    <a:pt x="0" y="170688"/>
                  </a:cubicBezTo>
                  <a:close/>
                </a:path>
              </a:pathLst>
            </a:custGeom>
            <a:solidFill>
              <a:srgbClr val="27C93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88720" y="4206240"/>
            <a:ext cx="7680960" cy="438912"/>
            <a:chOff x="0" y="0"/>
            <a:chExt cx="10241280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241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# Pull OpenCog Docker image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88720" y="4718304"/>
            <a:ext cx="7680960" cy="438912"/>
            <a:chOff x="0" y="0"/>
            <a:chExt cx="10241280" cy="585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241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22C55E"/>
                  </a:solidFill>
                  <a:latin typeface="Consolas"/>
                  <a:ea typeface="Consolas"/>
                  <a:cs typeface="Consolas"/>
                  <a:sym typeface="Consolas"/>
                </a:rPr>
                <a:t>$ docker pull opencog/opencog-dev:latest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88720" y="5230368"/>
            <a:ext cx="7680960" cy="438912"/>
            <a:chOff x="0" y="0"/>
            <a:chExt cx="10241280" cy="5852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241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# Run container with AtomSpace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88720" y="5742432"/>
            <a:ext cx="7680960" cy="438912"/>
            <a:chOff x="0" y="0"/>
            <a:chExt cx="10241280" cy="5852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241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22C55E"/>
                  </a:solidFill>
                  <a:latin typeface="Consolas"/>
                  <a:ea typeface="Consolas"/>
                  <a:cs typeface="Consolas"/>
                  <a:sym typeface="Consolas"/>
                </a:rPr>
                <a:t>$ docker run -it --name opencog \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88720" y="6254496"/>
            <a:ext cx="7680960" cy="438912"/>
            <a:chOff x="0" y="0"/>
            <a:chExt cx="10241280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241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 -p 17034:17034 \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88720" y="6766560"/>
            <a:ext cx="7680960" cy="438912"/>
            <a:chOff x="0" y="0"/>
            <a:chExt cx="10241280" cy="5852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241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 -v $(pwd)/data:/data \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88720" y="7278624"/>
            <a:ext cx="7680960" cy="438912"/>
            <a:chOff x="0" y="0"/>
            <a:chExt cx="10241280" cy="585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241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 opencog/opencog-dev:latest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88720" y="7790688"/>
            <a:ext cx="7680960" cy="438912"/>
            <a:chOff x="0" y="0"/>
            <a:chExt cx="10241280" cy="5852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241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# Access CogServer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88720" y="8302752"/>
            <a:ext cx="7680960" cy="438912"/>
            <a:chOff x="0" y="0"/>
            <a:chExt cx="10241280" cy="58521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241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22C55E"/>
                  </a:solidFill>
                  <a:latin typeface="Consolas"/>
                  <a:ea typeface="Consolas"/>
                  <a:cs typeface="Consolas"/>
                  <a:sym typeface="Consolas"/>
                </a:rPr>
                <a:t>$ docker exec -it opencog \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88720" y="8814816"/>
            <a:ext cx="7680960" cy="438912"/>
            <a:chOff x="0" y="0"/>
            <a:chExt cx="10241280" cy="5852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1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241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 cogserver -c /data/config.conf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591675" y="2459355"/>
            <a:ext cx="7974330" cy="7517130"/>
            <a:chOff x="0" y="0"/>
            <a:chExt cx="10632440" cy="10022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2700" y="12700"/>
              <a:ext cx="10607040" cy="9997440"/>
            </a:xfrm>
            <a:custGeom>
              <a:avLst/>
              <a:gdLst/>
              <a:ahLst/>
              <a:cxnLst/>
              <a:rect r="r" b="b" t="t" l="l"/>
              <a:pathLst>
                <a:path h="99974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632440" cy="10022840"/>
            </a:xfrm>
            <a:custGeom>
              <a:avLst/>
              <a:gdLst/>
              <a:ahLst/>
              <a:cxnLst/>
              <a:rect r="r" b="b" t="t" l="l"/>
              <a:pathLst>
                <a:path h="10022840" w="10632440">
                  <a:moveTo>
                    <a:pt x="12700" y="0"/>
                  </a:moveTo>
                  <a:lnTo>
                    <a:pt x="10619740" y="0"/>
                  </a:lnTo>
                  <a:cubicBezTo>
                    <a:pt x="10626725" y="0"/>
                    <a:pt x="10632440" y="5715"/>
                    <a:pt x="10632440" y="12700"/>
                  </a:cubicBezTo>
                  <a:lnTo>
                    <a:pt x="10632440" y="10010140"/>
                  </a:lnTo>
                  <a:cubicBezTo>
                    <a:pt x="10632440" y="10017125"/>
                    <a:pt x="10626725" y="10022840"/>
                    <a:pt x="10619740" y="10022840"/>
                  </a:cubicBezTo>
                  <a:lnTo>
                    <a:pt x="12700" y="10022840"/>
                  </a:lnTo>
                  <a:cubicBezTo>
                    <a:pt x="5715" y="10022840"/>
                    <a:pt x="0" y="10017125"/>
                    <a:pt x="0" y="1001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10140"/>
                  </a:lnTo>
                  <a:lnTo>
                    <a:pt x="12700" y="10010140"/>
                  </a:lnTo>
                  <a:lnTo>
                    <a:pt x="12700" y="9997440"/>
                  </a:lnTo>
                  <a:lnTo>
                    <a:pt x="10619740" y="9997440"/>
                  </a:lnTo>
                  <a:lnTo>
                    <a:pt x="10619740" y="10010140"/>
                  </a:lnTo>
                  <a:lnTo>
                    <a:pt x="10607040" y="10010140"/>
                  </a:lnTo>
                  <a:lnTo>
                    <a:pt x="10607040" y="12700"/>
                  </a:lnTo>
                  <a:lnTo>
                    <a:pt x="10619740" y="12700"/>
                  </a:lnTo>
                  <a:lnTo>
                    <a:pt x="106197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875520" y="2615184"/>
            <a:ext cx="7315200" cy="512064"/>
            <a:chOff x="0" y="0"/>
            <a:chExt cx="975360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97536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📦  Docker Compose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875520" y="3163824"/>
            <a:ext cx="7315200" cy="365760"/>
            <a:chOff x="0" y="0"/>
            <a:chExt cx="9753600" cy="4876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753600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7536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Multi-container setup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869167" y="3614671"/>
            <a:ext cx="7419337" cy="5499097"/>
            <a:chOff x="0" y="0"/>
            <a:chExt cx="9892449" cy="733212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8509" y="8509"/>
              <a:ext cx="9875519" cy="7315200"/>
            </a:xfrm>
            <a:custGeom>
              <a:avLst/>
              <a:gdLst/>
              <a:ahLst/>
              <a:cxnLst/>
              <a:rect r="r" b="b" t="t" l="l"/>
              <a:pathLst>
                <a:path h="7315200" w="9875519">
                  <a:moveTo>
                    <a:pt x="0" y="0"/>
                  </a:moveTo>
                  <a:lnTo>
                    <a:pt x="9875519" y="0"/>
                  </a:lnTo>
                  <a:lnTo>
                    <a:pt x="9875519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892538" cy="7332218"/>
            </a:xfrm>
            <a:custGeom>
              <a:avLst/>
              <a:gdLst/>
              <a:ahLst/>
              <a:cxnLst/>
              <a:rect r="r" b="b" t="t" l="l"/>
              <a:pathLst>
                <a:path h="7332218" w="9892538">
                  <a:moveTo>
                    <a:pt x="8509" y="0"/>
                  </a:moveTo>
                  <a:lnTo>
                    <a:pt x="9884028" y="0"/>
                  </a:lnTo>
                  <a:cubicBezTo>
                    <a:pt x="9888727" y="0"/>
                    <a:pt x="9892538" y="3810"/>
                    <a:pt x="9892538" y="8509"/>
                  </a:cubicBezTo>
                  <a:lnTo>
                    <a:pt x="9892538" y="7323709"/>
                  </a:lnTo>
                  <a:cubicBezTo>
                    <a:pt x="9892538" y="7328408"/>
                    <a:pt x="9888727" y="7332218"/>
                    <a:pt x="9884028" y="7332218"/>
                  </a:cubicBezTo>
                  <a:lnTo>
                    <a:pt x="8509" y="7332218"/>
                  </a:lnTo>
                  <a:cubicBezTo>
                    <a:pt x="3810" y="7332218"/>
                    <a:pt x="0" y="7328408"/>
                    <a:pt x="0" y="7323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323709"/>
                  </a:lnTo>
                  <a:lnTo>
                    <a:pt x="8509" y="7323709"/>
                  </a:lnTo>
                  <a:lnTo>
                    <a:pt x="8509" y="7315200"/>
                  </a:lnTo>
                  <a:lnTo>
                    <a:pt x="9884028" y="7315200"/>
                  </a:lnTo>
                  <a:lnTo>
                    <a:pt x="9884028" y="7323709"/>
                  </a:lnTo>
                  <a:lnTo>
                    <a:pt x="9875520" y="7323709"/>
                  </a:lnTo>
                  <a:lnTo>
                    <a:pt x="9875520" y="8509"/>
                  </a:lnTo>
                  <a:lnTo>
                    <a:pt x="9884028" y="8509"/>
                  </a:lnTo>
                  <a:lnTo>
                    <a:pt x="9884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058400" y="3730752"/>
            <a:ext cx="7040880" cy="402336"/>
            <a:chOff x="0" y="0"/>
            <a:chExt cx="9387840" cy="53644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387840" cy="536448"/>
            </a:xfrm>
            <a:custGeom>
              <a:avLst/>
              <a:gdLst/>
              <a:ahLst/>
              <a:cxnLst/>
              <a:rect r="r" b="b" t="t" l="l"/>
              <a:pathLst>
                <a:path h="53644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93878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docker-compose.yml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058400" y="4206240"/>
            <a:ext cx="7040880" cy="329184"/>
            <a:chOff x="0" y="0"/>
            <a:chExt cx="9387840" cy="43891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387840" cy="438912"/>
            </a:xfrm>
            <a:custGeom>
              <a:avLst/>
              <a:gdLst/>
              <a:ahLst/>
              <a:cxnLst/>
              <a:rect r="r" b="b" t="t" l="l"/>
              <a:pathLst>
                <a:path h="43891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763" r="0" b="-36676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387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74151"/>
                  </a:solidFill>
                  <a:latin typeface="Consolas"/>
                  <a:ea typeface="Consolas"/>
                  <a:cs typeface="Consolas"/>
                  <a:sym typeface="Consolas"/>
                </a:rPr>
                <a:t>version: '3.8'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058400" y="4573524"/>
            <a:ext cx="7040880" cy="329184"/>
            <a:chOff x="0" y="0"/>
            <a:chExt cx="9387840" cy="43891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387840" cy="438912"/>
            </a:xfrm>
            <a:custGeom>
              <a:avLst/>
              <a:gdLst/>
              <a:ahLst/>
              <a:cxnLst/>
              <a:rect r="r" b="b" t="t" l="l"/>
              <a:pathLst>
                <a:path h="43891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763" r="0" b="-36676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9387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74151"/>
                  </a:solidFill>
                  <a:latin typeface="Consolas"/>
                  <a:ea typeface="Consolas"/>
                  <a:cs typeface="Consolas"/>
                  <a:sym typeface="Consolas"/>
                </a:rPr>
                <a:t>services: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058400" y="4939284"/>
            <a:ext cx="7040880" cy="329184"/>
            <a:chOff x="0" y="0"/>
            <a:chExt cx="9387840" cy="43891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387840" cy="438912"/>
            </a:xfrm>
            <a:custGeom>
              <a:avLst/>
              <a:gdLst/>
              <a:ahLst/>
              <a:cxnLst/>
              <a:rect r="r" b="b" t="t" l="l"/>
              <a:pathLst>
                <a:path h="43891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763" r="0" b="-36676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9387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74151"/>
                  </a:solidFill>
                  <a:latin typeface="Consolas"/>
                  <a:ea typeface="Consolas"/>
                  <a:cs typeface="Consolas"/>
                  <a:sym typeface="Consolas"/>
                </a:rPr>
                <a:t>  opencog: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058400" y="5305044"/>
            <a:ext cx="7040880" cy="329184"/>
            <a:chOff x="0" y="0"/>
            <a:chExt cx="9387840" cy="43891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387840" cy="438912"/>
            </a:xfrm>
            <a:custGeom>
              <a:avLst/>
              <a:gdLst/>
              <a:ahLst/>
              <a:cxnLst/>
              <a:rect r="r" b="b" t="t" l="l"/>
              <a:pathLst>
                <a:path h="43891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763" r="0" b="-36676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9387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74151"/>
                  </a:solidFill>
                  <a:latin typeface="Consolas"/>
                  <a:ea typeface="Consolas"/>
                  <a:cs typeface="Consolas"/>
                  <a:sym typeface="Consolas"/>
                </a:rPr>
                <a:t>    image: opencog/opencog-dev:latest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058400" y="5670804"/>
            <a:ext cx="7040880" cy="329184"/>
            <a:chOff x="0" y="0"/>
            <a:chExt cx="9387840" cy="43891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387840" cy="438912"/>
            </a:xfrm>
            <a:custGeom>
              <a:avLst/>
              <a:gdLst/>
              <a:ahLst/>
              <a:cxnLst/>
              <a:rect r="r" b="b" t="t" l="l"/>
              <a:pathLst>
                <a:path h="43891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763" r="0" b="-36676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9387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74151"/>
                  </a:solidFill>
                  <a:latin typeface="Consolas"/>
                  <a:ea typeface="Consolas"/>
                  <a:cs typeface="Consolas"/>
                  <a:sym typeface="Consolas"/>
                </a:rPr>
                <a:t>    ports: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058400" y="6036564"/>
            <a:ext cx="7040880" cy="329184"/>
            <a:chOff x="0" y="0"/>
            <a:chExt cx="9387840" cy="43891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387840" cy="438912"/>
            </a:xfrm>
            <a:custGeom>
              <a:avLst/>
              <a:gdLst/>
              <a:ahLst/>
              <a:cxnLst/>
              <a:rect r="r" b="b" t="t" l="l"/>
              <a:pathLst>
                <a:path h="43891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763" r="0" b="-36676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9387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74151"/>
                  </a:solidFill>
                  <a:latin typeface="Consolas"/>
                  <a:ea typeface="Consolas"/>
                  <a:cs typeface="Consolas"/>
                  <a:sym typeface="Consolas"/>
                </a:rPr>
                <a:t>      - "17034:17034"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058400" y="6402324"/>
            <a:ext cx="7040880" cy="329184"/>
            <a:chOff x="0" y="0"/>
            <a:chExt cx="9387840" cy="43891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387840" cy="438912"/>
            </a:xfrm>
            <a:custGeom>
              <a:avLst/>
              <a:gdLst/>
              <a:ahLst/>
              <a:cxnLst/>
              <a:rect r="r" b="b" t="t" l="l"/>
              <a:pathLst>
                <a:path h="43891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763" r="0" b="-36676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9387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74151"/>
                  </a:solidFill>
                  <a:latin typeface="Consolas"/>
                  <a:ea typeface="Consolas"/>
                  <a:cs typeface="Consolas"/>
                  <a:sym typeface="Consolas"/>
                </a:rPr>
                <a:t>    volumes: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058400" y="6768084"/>
            <a:ext cx="7040880" cy="329184"/>
            <a:chOff x="0" y="0"/>
            <a:chExt cx="9387840" cy="43891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387840" cy="438912"/>
            </a:xfrm>
            <a:custGeom>
              <a:avLst/>
              <a:gdLst/>
              <a:ahLst/>
              <a:cxnLst/>
              <a:rect r="r" b="b" t="t" l="l"/>
              <a:pathLst>
                <a:path h="43891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763" r="0" b="-366763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9387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74151"/>
                  </a:solidFill>
                  <a:latin typeface="Consolas"/>
                  <a:ea typeface="Consolas"/>
                  <a:cs typeface="Consolas"/>
                  <a:sym typeface="Consolas"/>
                </a:rPr>
                <a:t>      - ./data:/data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058400" y="7133844"/>
            <a:ext cx="7040880" cy="329184"/>
            <a:chOff x="0" y="0"/>
            <a:chExt cx="9387840" cy="43891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387840" cy="438912"/>
            </a:xfrm>
            <a:custGeom>
              <a:avLst/>
              <a:gdLst/>
              <a:ahLst/>
              <a:cxnLst/>
              <a:rect r="r" b="b" t="t" l="l"/>
              <a:pathLst>
                <a:path h="43891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763" r="0" b="-36676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9387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74151"/>
                  </a:solidFill>
                  <a:latin typeface="Consolas"/>
                  <a:ea typeface="Consolas"/>
                  <a:cs typeface="Consolas"/>
                  <a:sym typeface="Consolas"/>
                </a:rPr>
                <a:t>    environment: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058400" y="7499604"/>
            <a:ext cx="7040880" cy="329184"/>
            <a:chOff x="0" y="0"/>
            <a:chExt cx="9387840" cy="43891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387840" cy="438912"/>
            </a:xfrm>
            <a:custGeom>
              <a:avLst/>
              <a:gdLst/>
              <a:ahLst/>
              <a:cxnLst/>
              <a:rect r="r" b="b" t="t" l="l"/>
              <a:pathLst>
                <a:path h="43891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763" r="0" b="-36676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9387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74151"/>
                  </a:solidFill>
                  <a:latin typeface="Consolas"/>
                  <a:ea typeface="Consolas"/>
                  <a:cs typeface="Consolas"/>
                  <a:sym typeface="Consolas"/>
                </a:rPr>
                <a:t>      - COGSERVER_PORT=17034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058400" y="8231124"/>
            <a:ext cx="7040880" cy="329184"/>
            <a:chOff x="0" y="0"/>
            <a:chExt cx="9387840" cy="43891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387840" cy="438912"/>
            </a:xfrm>
            <a:custGeom>
              <a:avLst/>
              <a:gdLst/>
              <a:ahLst/>
              <a:cxnLst/>
              <a:rect r="r" b="b" t="t" l="l"/>
              <a:pathLst>
                <a:path h="43891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763" r="0" b="-36676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9387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74151"/>
                  </a:solidFill>
                  <a:latin typeface="Consolas"/>
                  <a:ea typeface="Consolas"/>
                  <a:cs typeface="Consolas"/>
                  <a:sym typeface="Consolas"/>
                </a:rPr>
                <a:t>  postgres: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058400" y="8596884"/>
            <a:ext cx="7040880" cy="329184"/>
            <a:chOff x="0" y="0"/>
            <a:chExt cx="9387840" cy="43891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387840" cy="438912"/>
            </a:xfrm>
            <a:custGeom>
              <a:avLst/>
              <a:gdLst/>
              <a:ahLst/>
              <a:cxnLst/>
              <a:rect r="r" b="b" t="t" l="l"/>
              <a:pathLst>
                <a:path h="43891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763" r="0" b="-36676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9387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74151"/>
                  </a:solidFill>
                  <a:latin typeface="Consolas"/>
                  <a:ea typeface="Consolas"/>
                  <a:cs typeface="Consolas"/>
                  <a:sym typeface="Consolas"/>
                </a:rPr>
                <a:t>    image: postgres:13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058400" y="9326880"/>
            <a:ext cx="7040880" cy="329184"/>
            <a:chOff x="0" y="0"/>
            <a:chExt cx="9387840" cy="43891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387840" cy="438912"/>
            </a:xfrm>
            <a:custGeom>
              <a:avLst/>
              <a:gdLst/>
              <a:ahLst/>
              <a:cxnLst/>
              <a:rect r="r" b="b" t="t" l="l"/>
              <a:pathLst>
                <a:path h="43891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763" r="0" b="-366763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9387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74151"/>
                  </a:solidFill>
                  <a:latin typeface="Consolas"/>
                  <a:ea typeface="Consolas"/>
                  <a:cs typeface="Consolas"/>
                  <a:sym typeface="Consolas"/>
                </a:rPr>
                <a:t>    environment: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0058400" y="9328404"/>
            <a:ext cx="7040880" cy="329184"/>
            <a:chOff x="0" y="0"/>
            <a:chExt cx="9387840" cy="43891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9387840" cy="438912"/>
            </a:xfrm>
            <a:custGeom>
              <a:avLst/>
              <a:gdLst/>
              <a:ahLst/>
              <a:cxnLst/>
              <a:rect r="r" b="b" t="t" l="l"/>
              <a:pathLst>
                <a:path h="43891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763" r="0" b="-366763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9387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74151"/>
                  </a:solidFill>
                  <a:latin typeface="Consolas"/>
                  <a:ea typeface="Consolas"/>
                  <a:cs typeface="Consolas"/>
                  <a:sym typeface="Consolas"/>
                </a:rPr>
                <a:t>      POSTGRES_DB: atomspace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869167" y="9283951"/>
            <a:ext cx="3487417" cy="469897"/>
            <a:chOff x="0" y="0"/>
            <a:chExt cx="4649889" cy="62652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8509" y="8509"/>
              <a:ext cx="4632960" cy="609600"/>
            </a:xfrm>
            <a:custGeom>
              <a:avLst/>
              <a:gdLst/>
              <a:ahLst/>
              <a:cxnLst/>
              <a:rect r="r" b="b" t="t" l="l"/>
              <a:pathLst>
                <a:path h="6096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649978" cy="626618"/>
            </a:xfrm>
            <a:custGeom>
              <a:avLst/>
              <a:gdLst/>
              <a:ahLst/>
              <a:cxnLst/>
              <a:rect r="r" b="b" t="t" l="l"/>
              <a:pathLst>
                <a:path h="626618" w="4649978">
                  <a:moveTo>
                    <a:pt x="8509" y="0"/>
                  </a:moveTo>
                  <a:lnTo>
                    <a:pt x="4641469" y="0"/>
                  </a:lnTo>
                  <a:cubicBezTo>
                    <a:pt x="4646168" y="0"/>
                    <a:pt x="4649978" y="3810"/>
                    <a:pt x="4649978" y="8509"/>
                  </a:cubicBezTo>
                  <a:lnTo>
                    <a:pt x="4649978" y="618109"/>
                  </a:lnTo>
                  <a:cubicBezTo>
                    <a:pt x="4649978" y="622808"/>
                    <a:pt x="4646168" y="626618"/>
                    <a:pt x="4641469" y="626618"/>
                  </a:cubicBezTo>
                  <a:lnTo>
                    <a:pt x="8509" y="626618"/>
                  </a:lnTo>
                  <a:cubicBezTo>
                    <a:pt x="3810" y="626618"/>
                    <a:pt x="0" y="622808"/>
                    <a:pt x="0" y="618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18109"/>
                  </a:lnTo>
                  <a:lnTo>
                    <a:pt x="8509" y="618109"/>
                  </a:lnTo>
                  <a:lnTo>
                    <a:pt x="8509" y="609600"/>
                  </a:lnTo>
                  <a:lnTo>
                    <a:pt x="4641469" y="609600"/>
                  </a:lnTo>
                  <a:lnTo>
                    <a:pt x="4641469" y="618109"/>
                  </a:lnTo>
                  <a:lnTo>
                    <a:pt x="4632960" y="618109"/>
                  </a:lnTo>
                  <a:lnTo>
                    <a:pt x="4632960" y="8509"/>
                  </a:lnTo>
                  <a:lnTo>
                    <a:pt x="4641469" y="8509"/>
                  </a:lnTo>
                  <a:lnTo>
                    <a:pt x="4641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875520" y="9290304"/>
            <a:ext cx="3474720" cy="457200"/>
            <a:chOff x="0" y="0"/>
            <a:chExt cx="4632960" cy="6096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632960" cy="609600"/>
            </a:xfrm>
            <a:custGeom>
              <a:avLst/>
              <a:gdLst/>
              <a:ahLst/>
              <a:cxnLst/>
              <a:rect r="r" b="b" t="t" l="l"/>
              <a:pathLst>
                <a:path h="6096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46329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Easy Setup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618207" y="9283951"/>
            <a:ext cx="3487417" cy="469897"/>
            <a:chOff x="0" y="0"/>
            <a:chExt cx="4649889" cy="626529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8509" y="8509"/>
              <a:ext cx="4632960" cy="609600"/>
            </a:xfrm>
            <a:custGeom>
              <a:avLst/>
              <a:gdLst/>
              <a:ahLst/>
              <a:cxnLst/>
              <a:rect r="r" b="b" t="t" l="l"/>
              <a:pathLst>
                <a:path h="6096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649978" cy="626618"/>
            </a:xfrm>
            <a:custGeom>
              <a:avLst/>
              <a:gdLst/>
              <a:ahLst/>
              <a:cxnLst/>
              <a:rect r="r" b="b" t="t" l="l"/>
              <a:pathLst>
                <a:path h="626618" w="4649978">
                  <a:moveTo>
                    <a:pt x="8509" y="0"/>
                  </a:moveTo>
                  <a:lnTo>
                    <a:pt x="4641469" y="0"/>
                  </a:lnTo>
                  <a:cubicBezTo>
                    <a:pt x="4646168" y="0"/>
                    <a:pt x="4649978" y="3810"/>
                    <a:pt x="4649978" y="8509"/>
                  </a:cubicBezTo>
                  <a:lnTo>
                    <a:pt x="4649978" y="618109"/>
                  </a:lnTo>
                  <a:cubicBezTo>
                    <a:pt x="4649978" y="622808"/>
                    <a:pt x="4646168" y="626618"/>
                    <a:pt x="4641469" y="626618"/>
                  </a:cubicBezTo>
                  <a:lnTo>
                    <a:pt x="8509" y="626618"/>
                  </a:lnTo>
                  <a:cubicBezTo>
                    <a:pt x="3810" y="626618"/>
                    <a:pt x="0" y="622808"/>
                    <a:pt x="0" y="618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18109"/>
                  </a:lnTo>
                  <a:lnTo>
                    <a:pt x="8509" y="618109"/>
                  </a:lnTo>
                  <a:lnTo>
                    <a:pt x="8509" y="609600"/>
                  </a:lnTo>
                  <a:lnTo>
                    <a:pt x="4641469" y="609600"/>
                  </a:lnTo>
                  <a:lnTo>
                    <a:pt x="4641469" y="618109"/>
                  </a:lnTo>
                  <a:lnTo>
                    <a:pt x="4632960" y="618109"/>
                  </a:lnTo>
                  <a:lnTo>
                    <a:pt x="4632960" y="8509"/>
                  </a:lnTo>
                  <a:lnTo>
                    <a:pt x="4641469" y="8509"/>
                  </a:lnTo>
                  <a:lnTo>
                    <a:pt x="4641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3624560" y="9290304"/>
            <a:ext cx="3474720" cy="457200"/>
            <a:chOff x="0" y="0"/>
            <a:chExt cx="4632960" cy="6096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632960" cy="609600"/>
            </a:xfrm>
            <a:custGeom>
              <a:avLst/>
              <a:gdLst/>
              <a:ahLst/>
              <a:cxnLst/>
              <a:rect r="r" b="b" t="t" l="l"/>
              <a:pathLst>
                <a:path h="6096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46329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1E40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Scalable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Code Walkthrough Demo - Medical Knowledge Reasoner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37/53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1499616"/>
            <a:ext cx="14630400" cy="822960"/>
            <a:chOff x="0" y="0"/>
            <a:chExt cx="1950720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950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Code Walkthrough: Medical Knowledge Reasoner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1995" y="2459355"/>
            <a:ext cx="8522970" cy="7517130"/>
            <a:chOff x="0" y="0"/>
            <a:chExt cx="11363960" cy="10022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11338560" cy="9997440"/>
            </a:xfrm>
            <a:custGeom>
              <a:avLst/>
              <a:gdLst/>
              <a:ahLst/>
              <a:cxnLst/>
              <a:rect r="r" b="b" t="t" l="l"/>
              <a:pathLst>
                <a:path h="999744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63960" cy="10022840"/>
            </a:xfrm>
            <a:custGeom>
              <a:avLst/>
              <a:gdLst/>
              <a:ahLst/>
              <a:cxnLst/>
              <a:rect r="r" b="b" t="t" l="l"/>
              <a:pathLst>
                <a:path h="10022840" w="11363960">
                  <a:moveTo>
                    <a:pt x="12700" y="0"/>
                  </a:moveTo>
                  <a:lnTo>
                    <a:pt x="11351260" y="0"/>
                  </a:lnTo>
                  <a:cubicBezTo>
                    <a:pt x="11358245" y="0"/>
                    <a:pt x="11363960" y="5715"/>
                    <a:pt x="11363960" y="12700"/>
                  </a:cubicBezTo>
                  <a:lnTo>
                    <a:pt x="11363960" y="10010140"/>
                  </a:lnTo>
                  <a:cubicBezTo>
                    <a:pt x="11363960" y="10017125"/>
                    <a:pt x="11358245" y="10022840"/>
                    <a:pt x="11351260" y="10022840"/>
                  </a:cubicBezTo>
                  <a:lnTo>
                    <a:pt x="12700" y="10022840"/>
                  </a:lnTo>
                  <a:cubicBezTo>
                    <a:pt x="5715" y="10022840"/>
                    <a:pt x="0" y="10017125"/>
                    <a:pt x="0" y="1001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10140"/>
                  </a:lnTo>
                  <a:lnTo>
                    <a:pt x="12700" y="10010140"/>
                  </a:lnTo>
                  <a:lnTo>
                    <a:pt x="12700" y="9997440"/>
                  </a:lnTo>
                  <a:lnTo>
                    <a:pt x="11351260" y="9997440"/>
                  </a:lnTo>
                  <a:lnTo>
                    <a:pt x="11351260" y="10010140"/>
                  </a:lnTo>
                  <a:lnTo>
                    <a:pt x="11338560" y="10010140"/>
                  </a:lnTo>
                  <a:lnTo>
                    <a:pt x="11338560" y="12700"/>
                  </a:lnTo>
                  <a:lnTo>
                    <a:pt x="11351260" y="12700"/>
                  </a:lnTo>
                  <a:lnTo>
                    <a:pt x="113512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05840" y="2615184"/>
            <a:ext cx="8046720" cy="512064"/>
            <a:chOff x="0" y="0"/>
            <a:chExt cx="1072896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072896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Overview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96315" y="3245739"/>
            <a:ext cx="8065770" cy="1335786"/>
            <a:chOff x="0" y="0"/>
            <a:chExt cx="10754360" cy="17810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107289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54360" cy="1781048"/>
            </a:xfrm>
            <a:custGeom>
              <a:avLst/>
              <a:gdLst/>
              <a:ahLst/>
              <a:cxnLst/>
              <a:rect r="r" b="b" t="t" l="l"/>
              <a:pathLst>
                <a:path h="1781048" w="10754360">
                  <a:moveTo>
                    <a:pt x="12700" y="0"/>
                  </a:moveTo>
                  <a:lnTo>
                    <a:pt x="10741660" y="0"/>
                  </a:lnTo>
                  <a:cubicBezTo>
                    <a:pt x="10748645" y="0"/>
                    <a:pt x="10754360" y="5715"/>
                    <a:pt x="10754360" y="12700"/>
                  </a:cubicBezTo>
                  <a:lnTo>
                    <a:pt x="10754360" y="1768348"/>
                  </a:lnTo>
                  <a:cubicBezTo>
                    <a:pt x="10754360" y="1775333"/>
                    <a:pt x="10748645" y="1781048"/>
                    <a:pt x="10741660" y="1781048"/>
                  </a:cubicBezTo>
                  <a:lnTo>
                    <a:pt x="12700" y="1781048"/>
                  </a:lnTo>
                  <a:cubicBezTo>
                    <a:pt x="5715" y="1781048"/>
                    <a:pt x="0" y="1775333"/>
                    <a:pt x="0" y="176834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68348"/>
                  </a:lnTo>
                  <a:lnTo>
                    <a:pt x="12700" y="1768348"/>
                  </a:lnTo>
                  <a:lnTo>
                    <a:pt x="12700" y="1755648"/>
                  </a:lnTo>
                  <a:lnTo>
                    <a:pt x="10741660" y="1755648"/>
                  </a:lnTo>
                  <a:lnTo>
                    <a:pt x="10741660" y="1768348"/>
                  </a:lnTo>
                  <a:lnTo>
                    <a:pt x="10728960" y="1768348"/>
                  </a:lnTo>
                  <a:lnTo>
                    <a:pt x="10728960" y="12700"/>
                  </a:lnTo>
                  <a:lnTo>
                    <a:pt x="10741660" y="12700"/>
                  </a:lnTo>
                  <a:lnTo>
                    <a:pt x="10741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88720" y="3419856"/>
            <a:ext cx="694944" cy="694944"/>
            <a:chOff x="0" y="0"/>
            <a:chExt cx="926592" cy="9265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88720" y="3419856"/>
            <a:ext cx="694944" cy="694944"/>
            <a:chOff x="0" y="0"/>
            <a:chExt cx="926592" cy="9265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🗄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011680" y="3419856"/>
            <a:ext cx="6858000" cy="365760"/>
            <a:chOff x="0" y="0"/>
            <a:chExt cx="9144000" cy="487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0" cy="487680"/>
            </a:xfrm>
            <a:custGeom>
              <a:avLst/>
              <a:gdLst/>
              <a:ahLst/>
              <a:cxnLst/>
              <a:rect r="r" b="b" t="t" l="l"/>
              <a:pathLst>
                <a:path h="4876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1440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Medical Knowledge Base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011680" y="3840480"/>
            <a:ext cx="6858000" cy="457200"/>
            <a:chOff x="0" y="0"/>
            <a:chExt cx="9144000" cy="609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0" cy="609600"/>
            </a:xfrm>
            <a:custGeom>
              <a:avLst/>
              <a:gdLst/>
              <a:ahLst/>
              <a:cxnLst/>
              <a:rect r="r" b="b" t="t" l="l"/>
              <a:pathLst>
                <a:path h="6096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144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Load and manage medical ontologies, symptoms, and diagnostic rules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96315" y="4745355"/>
            <a:ext cx="8065770" cy="1335786"/>
            <a:chOff x="0" y="0"/>
            <a:chExt cx="10754360" cy="17810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2700" y="12700"/>
              <a:ext cx="107289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54360" cy="1781048"/>
            </a:xfrm>
            <a:custGeom>
              <a:avLst/>
              <a:gdLst/>
              <a:ahLst/>
              <a:cxnLst/>
              <a:rect r="r" b="b" t="t" l="l"/>
              <a:pathLst>
                <a:path h="1781048" w="10754360">
                  <a:moveTo>
                    <a:pt x="12700" y="0"/>
                  </a:moveTo>
                  <a:lnTo>
                    <a:pt x="10741660" y="0"/>
                  </a:lnTo>
                  <a:cubicBezTo>
                    <a:pt x="10748645" y="0"/>
                    <a:pt x="10754360" y="5715"/>
                    <a:pt x="10754360" y="12700"/>
                  </a:cubicBezTo>
                  <a:lnTo>
                    <a:pt x="10754360" y="1768348"/>
                  </a:lnTo>
                  <a:cubicBezTo>
                    <a:pt x="10754360" y="1775333"/>
                    <a:pt x="10748645" y="1781048"/>
                    <a:pt x="10741660" y="1781048"/>
                  </a:cubicBezTo>
                  <a:lnTo>
                    <a:pt x="12700" y="1781048"/>
                  </a:lnTo>
                  <a:cubicBezTo>
                    <a:pt x="5715" y="1781048"/>
                    <a:pt x="0" y="1775333"/>
                    <a:pt x="0" y="176834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68348"/>
                  </a:lnTo>
                  <a:lnTo>
                    <a:pt x="12700" y="1768348"/>
                  </a:lnTo>
                  <a:lnTo>
                    <a:pt x="12700" y="1755648"/>
                  </a:lnTo>
                  <a:lnTo>
                    <a:pt x="10741660" y="1755648"/>
                  </a:lnTo>
                  <a:lnTo>
                    <a:pt x="10741660" y="1768348"/>
                  </a:lnTo>
                  <a:lnTo>
                    <a:pt x="10728960" y="1768348"/>
                  </a:lnTo>
                  <a:lnTo>
                    <a:pt x="10728960" y="12700"/>
                  </a:lnTo>
                  <a:lnTo>
                    <a:pt x="10741660" y="12700"/>
                  </a:lnTo>
                  <a:lnTo>
                    <a:pt x="10741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88720" y="4919472"/>
            <a:ext cx="694944" cy="694944"/>
            <a:chOff x="0" y="0"/>
            <a:chExt cx="926592" cy="9265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88720" y="4919472"/>
            <a:ext cx="694944" cy="694944"/>
            <a:chOff x="0" y="0"/>
            <a:chExt cx="926592" cy="9265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🔍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011680" y="4919472"/>
            <a:ext cx="6858000" cy="365760"/>
            <a:chOff x="0" y="0"/>
            <a:chExt cx="9144000" cy="487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0" cy="487680"/>
            </a:xfrm>
            <a:custGeom>
              <a:avLst/>
              <a:gdLst/>
              <a:ahLst/>
              <a:cxnLst/>
              <a:rect r="r" b="b" t="t" l="l"/>
              <a:pathLst>
                <a:path h="4876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1440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Pattern Matching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011680" y="5340096"/>
            <a:ext cx="6858000" cy="457200"/>
            <a:chOff x="0" y="0"/>
            <a:chExt cx="9144000" cy="609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0" cy="609600"/>
            </a:xfrm>
            <a:custGeom>
              <a:avLst/>
              <a:gdLst/>
              <a:ahLst/>
              <a:cxnLst/>
              <a:rect r="r" b="b" t="t" l="l"/>
              <a:pathLst>
                <a:path h="6096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144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Identify symptom patterns and disease correlations using PLN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96315" y="6244971"/>
            <a:ext cx="8065770" cy="1335786"/>
            <a:chOff x="0" y="0"/>
            <a:chExt cx="10754360" cy="17810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2700" y="12700"/>
              <a:ext cx="107289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754360" cy="1781048"/>
            </a:xfrm>
            <a:custGeom>
              <a:avLst/>
              <a:gdLst/>
              <a:ahLst/>
              <a:cxnLst/>
              <a:rect r="r" b="b" t="t" l="l"/>
              <a:pathLst>
                <a:path h="1781048" w="10754360">
                  <a:moveTo>
                    <a:pt x="12700" y="0"/>
                  </a:moveTo>
                  <a:lnTo>
                    <a:pt x="10741660" y="0"/>
                  </a:lnTo>
                  <a:cubicBezTo>
                    <a:pt x="10748645" y="0"/>
                    <a:pt x="10754360" y="5715"/>
                    <a:pt x="10754360" y="12700"/>
                  </a:cubicBezTo>
                  <a:lnTo>
                    <a:pt x="10754360" y="1768348"/>
                  </a:lnTo>
                  <a:cubicBezTo>
                    <a:pt x="10754360" y="1775333"/>
                    <a:pt x="10748645" y="1781048"/>
                    <a:pt x="10741660" y="1781048"/>
                  </a:cubicBezTo>
                  <a:lnTo>
                    <a:pt x="12700" y="1781048"/>
                  </a:lnTo>
                  <a:cubicBezTo>
                    <a:pt x="5715" y="1781048"/>
                    <a:pt x="0" y="1775333"/>
                    <a:pt x="0" y="176834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768348"/>
                  </a:lnTo>
                  <a:lnTo>
                    <a:pt x="12700" y="1768348"/>
                  </a:lnTo>
                  <a:lnTo>
                    <a:pt x="12700" y="1755648"/>
                  </a:lnTo>
                  <a:lnTo>
                    <a:pt x="10741660" y="1755648"/>
                  </a:lnTo>
                  <a:lnTo>
                    <a:pt x="10741660" y="1768348"/>
                  </a:lnTo>
                  <a:lnTo>
                    <a:pt x="10728960" y="1768348"/>
                  </a:lnTo>
                  <a:lnTo>
                    <a:pt x="10728960" y="12700"/>
                  </a:lnTo>
                  <a:lnTo>
                    <a:pt x="10741660" y="12700"/>
                  </a:lnTo>
                  <a:lnTo>
                    <a:pt x="107416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88720" y="6419088"/>
            <a:ext cx="694944" cy="694944"/>
            <a:chOff x="0" y="0"/>
            <a:chExt cx="926592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88720" y="6419088"/>
            <a:ext cx="694944" cy="694944"/>
            <a:chOff x="0" y="0"/>
            <a:chExt cx="926592" cy="9265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🔗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011680" y="6419088"/>
            <a:ext cx="6858000" cy="365760"/>
            <a:chOff x="0" y="0"/>
            <a:chExt cx="9144000" cy="4876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0" cy="487680"/>
            </a:xfrm>
            <a:custGeom>
              <a:avLst/>
              <a:gdLst/>
              <a:ahLst/>
              <a:cxnLst/>
              <a:rect r="r" b="b" t="t" l="l"/>
              <a:pathLst>
                <a:path h="4876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1440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Inference Engine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011680" y="6839712"/>
            <a:ext cx="6858000" cy="457200"/>
            <a:chOff x="0" y="0"/>
            <a:chExt cx="9144000" cy="6096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44000" cy="609600"/>
            </a:xfrm>
            <a:custGeom>
              <a:avLst/>
              <a:gdLst/>
              <a:ahLst/>
              <a:cxnLst/>
              <a:rect r="r" b="b" t="t" l="l"/>
              <a:pathLst>
                <a:path h="6096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144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 backward chaining for diagnostic reasoning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99487" y="7802623"/>
            <a:ext cx="8059417" cy="1841497"/>
            <a:chOff x="0" y="0"/>
            <a:chExt cx="10745889" cy="245532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8509" y="8509"/>
              <a:ext cx="107289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745978" cy="2455418"/>
            </a:xfrm>
            <a:custGeom>
              <a:avLst/>
              <a:gdLst/>
              <a:ahLst/>
              <a:cxnLst/>
              <a:rect r="r" b="b" t="t" l="l"/>
              <a:pathLst>
                <a:path h="2455418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2446909"/>
                  </a:lnTo>
                  <a:cubicBezTo>
                    <a:pt x="10745978" y="2451608"/>
                    <a:pt x="10742168" y="2455418"/>
                    <a:pt x="10737469" y="2455418"/>
                  </a:cubicBezTo>
                  <a:lnTo>
                    <a:pt x="8509" y="2455418"/>
                  </a:lnTo>
                  <a:cubicBezTo>
                    <a:pt x="3810" y="2455418"/>
                    <a:pt x="0" y="2451608"/>
                    <a:pt x="0" y="2446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446909"/>
                  </a:lnTo>
                  <a:lnTo>
                    <a:pt x="8509" y="2446909"/>
                  </a:lnTo>
                  <a:lnTo>
                    <a:pt x="8509" y="2438400"/>
                  </a:lnTo>
                  <a:lnTo>
                    <a:pt x="10737469" y="2438400"/>
                  </a:lnTo>
                  <a:lnTo>
                    <a:pt x="10737469" y="2446909"/>
                  </a:lnTo>
                  <a:lnTo>
                    <a:pt x="10728960" y="244690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591675" y="2459355"/>
            <a:ext cx="7974330" cy="7517130"/>
            <a:chOff x="0" y="0"/>
            <a:chExt cx="10632440" cy="100228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2700" y="12700"/>
              <a:ext cx="10607040" cy="9997440"/>
            </a:xfrm>
            <a:custGeom>
              <a:avLst/>
              <a:gdLst/>
              <a:ahLst/>
              <a:cxnLst/>
              <a:rect r="r" b="b" t="t" l="l"/>
              <a:pathLst>
                <a:path h="99974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632440" cy="10022840"/>
            </a:xfrm>
            <a:custGeom>
              <a:avLst/>
              <a:gdLst/>
              <a:ahLst/>
              <a:cxnLst/>
              <a:rect r="r" b="b" t="t" l="l"/>
              <a:pathLst>
                <a:path h="10022840" w="10632440">
                  <a:moveTo>
                    <a:pt x="12700" y="0"/>
                  </a:moveTo>
                  <a:lnTo>
                    <a:pt x="10619740" y="0"/>
                  </a:lnTo>
                  <a:cubicBezTo>
                    <a:pt x="10626725" y="0"/>
                    <a:pt x="10632440" y="5715"/>
                    <a:pt x="10632440" y="12700"/>
                  </a:cubicBezTo>
                  <a:lnTo>
                    <a:pt x="10632440" y="10010140"/>
                  </a:lnTo>
                  <a:cubicBezTo>
                    <a:pt x="10632440" y="10017125"/>
                    <a:pt x="10626725" y="10022840"/>
                    <a:pt x="10619740" y="10022840"/>
                  </a:cubicBezTo>
                  <a:lnTo>
                    <a:pt x="12700" y="10022840"/>
                  </a:lnTo>
                  <a:cubicBezTo>
                    <a:pt x="5715" y="10022840"/>
                    <a:pt x="0" y="10017125"/>
                    <a:pt x="0" y="1001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10140"/>
                  </a:lnTo>
                  <a:lnTo>
                    <a:pt x="12700" y="10010140"/>
                  </a:lnTo>
                  <a:lnTo>
                    <a:pt x="12700" y="9997440"/>
                  </a:lnTo>
                  <a:lnTo>
                    <a:pt x="10619740" y="9997440"/>
                  </a:lnTo>
                  <a:lnTo>
                    <a:pt x="10619740" y="10010140"/>
                  </a:lnTo>
                  <a:lnTo>
                    <a:pt x="10607040" y="10010140"/>
                  </a:lnTo>
                  <a:lnTo>
                    <a:pt x="10607040" y="12700"/>
                  </a:lnTo>
                  <a:lnTo>
                    <a:pt x="10619740" y="12700"/>
                  </a:lnTo>
                  <a:lnTo>
                    <a:pt x="106197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875520" y="2615184"/>
            <a:ext cx="7315200" cy="512064"/>
            <a:chOff x="0" y="0"/>
            <a:chExt cx="9753600" cy="682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97536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 Steps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869167" y="3248911"/>
            <a:ext cx="7510777" cy="963673"/>
            <a:chOff x="0" y="0"/>
            <a:chExt cx="10014369" cy="128489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8509" y="8509"/>
              <a:ext cx="9997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01445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014458">
                  <a:moveTo>
                    <a:pt x="8509" y="0"/>
                  </a:moveTo>
                  <a:lnTo>
                    <a:pt x="10005949" y="0"/>
                  </a:lnTo>
                  <a:cubicBezTo>
                    <a:pt x="10010648" y="0"/>
                    <a:pt x="10014458" y="3810"/>
                    <a:pt x="10014458" y="8509"/>
                  </a:cubicBezTo>
                  <a:lnTo>
                    <a:pt x="10014458" y="1276477"/>
                  </a:lnTo>
                  <a:cubicBezTo>
                    <a:pt x="10014458" y="1281176"/>
                    <a:pt x="10010648" y="1284986"/>
                    <a:pt x="1000594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005949" y="1267968"/>
                  </a:lnTo>
                  <a:lnTo>
                    <a:pt x="10005949" y="1276477"/>
                  </a:lnTo>
                  <a:lnTo>
                    <a:pt x="9997440" y="1276477"/>
                  </a:lnTo>
                  <a:lnTo>
                    <a:pt x="9997440" y="8509"/>
                  </a:lnTo>
                  <a:lnTo>
                    <a:pt x="10005949" y="8509"/>
                  </a:lnTo>
                  <a:lnTo>
                    <a:pt x="10005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058400" y="3456432"/>
            <a:ext cx="548640" cy="548640"/>
            <a:chOff x="0" y="0"/>
            <a:chExt cx="73152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058400" y="3456432"/>
            <a:ext cx="548640" cy="548640"/>
            <a:chOff x="0" y="0"/>
            <a:chExt cx="73152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789920" y="3346704"/>
            <a:ext cx="6400800" cy="402336"/>
            <a:chOff x="0" y="0"/>
            <a:chExt cx="8534400" cy="53644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Setup AtomSpace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789920" y="3749040"/>
            <a:ext cx="6400800" cy="365760"/>
            <a:chOff x="0" y="0"/>
            <a:chExt cx="8534400" cy="4876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534400" cy="487680"/>
            </a:xfrm>
            <a:custGeom>
              <a:avLst/>
              <a:gdLst/>
              <a:ahLst/>
              <a:cxnLst/>
              <a:rect r="r" b="b" t="t" l="l"/>
              <a:pathLst>
                <a:path h="4876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8534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Initialize AtomSpace and load medical ontologies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869167" y="4748527"/>
            <a:ext cx="7510777" cy="963673"/>
            <a:chOff x="0" y="0"/>
            <a:chExt cx="10014369" cy="1284897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8509" y="8509"/>
              <a:ext cx="9997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01445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014458">
                  <a:moveTo>
                    <a:pt x="8509" y="0"/>
                  </a:moveTo>
                  <a:lnTo>
                    <a:pt x="10005949" y="0"/>
                  </a:lnTo>
                  <a:cubicBezTo>
                    <a:pt x="10010648" y="0"/>
                    <a:pt x="10014458" y="3810"/>
                    <a:pt x="10014458" y="8509"/>
                  </a:cubicBezTo>
                  <a:lnTo>
                    <a:pt x="10014458" y="1276477"/>
                  </a:lnTo>
                  <a:cubicBezTo>
                    <a:pt x="10014458" y="1281176"/>
                    <a:pt x="10010648" y="1284986"/>
                    <a:pt x="1000594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005949" y="1267968"/>
                  </a:lnTo>
                  <a:lnTo>
                    <a:pt x="10005949" y="1276477"/>
                  </a:lnTo>
                  <a:lnTo>
                    <a:pt x="9997440" y="1276477"/>
                  </a:lnTo>
                  <a:lnTo>
                    <a:pt x="9997440" y="8509"/>
                  </a:lnTo>
                  <a:lnTo>
                    <a:pt x="10005949" y="8509"/>
                  </a:lnTo>
                  <a:lnTo>
                    <a:pt x="10005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058400" y="4956048"/>
            <a:ext cx="548640" cy="548640"/>
            <a:chOff x="0" y="0"/>
            <a:chExt cx="731520" cy="7315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0058400" y="4956048"/>
            <a:ext cx="548640" cy="548640"/>
            <a:chOff x="0" y="0"/>
            <a:chExt cx="73152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789920" y="4846320"/>
            <a:ext cx="6400800" cy="402336"/>
            <a:chOff x="0" y="0"/>
            <a:chExt cx="8534400" cy="53644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Define Rules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789920" y="5248656"/>
            <a:ext cx="6400800" cy="365760"/>
            <a:chOff x="0" y="0"/>
            <a:chExt cx="8534400" cy="4876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534400" cy="487680"/>
            </a:xfrm>
            <a:custGeom>
              <a:avLst/>
              <a:gdLst/>
              <a:ahLst/>
              <a:cxnLst/>
              <a:rect r="r" b="b" t="t" l="l"/>
              <a:pathLst>
                <a:path h="4876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8534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 PLN rules for medical reasoning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869167" y="6248143"/>
            <a:ext cx="7510777" cy="963673"/>
            <a:chOff x="0" y="0"/>
            <a:chExt cx="10014369" cy="128489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8509" y="8509"/>
              <a:ext cx="9997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01445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014458">
                  <a:moveTo>
                    <a:pt x="8509" y="0"/>
                  </a:moveTo>
                  <a:lnTo>
                    <a:pt x="10005949" y="0"/>
                  </a:lnTo>
                  <a:cubicBezTo>
                    <a:pt x="10010648" y="0"/>
                    <a:pt x="10014458" y="3810"/>
                    <a:pt x="10014458" y="8509"/>
                  </a:cubicBezTo>
                  <a:lnTo>
                    <a:pt x="10014458" y="1276477"/>
                  </a:lnTo>
                  <a:cubicBezTo>
                    <a:pt x="10014458" y="1281176"/>
                    <a:pt x="10010648" y="1284986"/>
                    <a:pt x="1000594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005949" y="1267968"/>
                  </a:lnTo>
                  <a:lnTo>
                    <a:pt x="10005949" y="1276477"/>
                  </a:lnTo>
                  <a:lnTo>
                    <a:pt x="9997440" y="1276477"/>
                  </a:lnTo>
                  <a:lnTo>
                    <a:pt x="9997440" y="8509"/>
                  </a:lnTo>
                  <a:lnTo>
                    <a:pt x="10005949" y="8509"/>
                  </a:lnTo>
                  <a:lnTo>
                    <a:pt x="10005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0058400" y="6455664"/>
            <a:ext cx="548640" cy="548640"/>
            <a:chOff x="0" y="0"/>
            <a:chExt cx="731520" cy="7315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0058400" y="6455664"/>
            <a:ext cx="548640" cy="548640"/>
            <a:chOff x="0" y="0"/>
            <a:chExt cx="731520" cy="7315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0789920" y="6345936"/>
            <a:ext cx="6400800" cy="402336"/>
            <a:chOff x="0" y="0"/>
            <a:chExt cx="8534400" cy="53644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 Inference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0789920" y="6748272"/>
            <a:ext cx="6400800" cy="365760"/>
            <a:chOff x="0" y="0"/>
            <a:chExt cx="8534400" cy="48768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8534400" cy="487680"/>
            </a:xfrm>
            <a:custGeom>
              <a:avLst/>
              <a:gdLst/>
              <a:ahLst/>
              <a:cxnLst/>
              <a:rect r="r" b="b" t="t" l="l"/>
              <a:pathLst>
                <a:path h="4876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8534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Execute backward chaining for diagnosis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869167" y="7747759"/>
            <a:ext cx="7510777" cy="963673"/>
            <a:chOff x="0" y="0"/>
            <a:chExt cx="10014369" cy="1284897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8509" y="8509"/>
              <a:ext cx="9997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01445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014458">
                  <a:moveTo>
                    <a:pt x="8509" y="0"/>
                  </a:moveTo>
                  <a:lnTo>
                    <a:pt x="10005949" y="0"/>
                  </a:lnTo>
                  <a:cubicBezTo>
                    <a:pt x="10010648" y="0"/>
                    <a:pt x="10014458" y="3810"/>
                    <a:pt x="10014458" y="8509"/>
                  </a:cubicBezTo>
                  <a:lnTo>
                    <a:pt x="10014458" y="1276477"/>
                  </a:lnTo>
                  <a:cubicBezTo>
                    <a:pt x="10014458" y="1281176"/>
                    <a:pt x="10010648" y="1284986"/>
                    <a:pt x="1000594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005949" y="1267968"/>
                  </a:lnTo>
                  <a:lnTo>
                    <a:pt x="10005949" y="1276477"/>
                  </a:lnTo>
                  <a:lnTo>
                    <a:pt x="9997440" y="1276477"/>
                  </a:lnTo>
                  <a:lnTo>
                    <a:pt x="9997440" y="8509"/>
                  </a:lnTo>
                  <a:lnTo>
                    <a:pt x="10005949" y="8509"/>
                  </a:lnTo>
                  <a:lnTo>
                    <a:pt x="10005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0058400" y="7955280"/>
            <a:ext cx="548640" cy="548640"/>
            <a:chOff x="0" y="0"/>
            <a:chExt cx="731520" cy="73152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058400" y="7955280"/>
            <a:ext cx="548640" cy="548640"/>
            <a:chOff x="0" y="0"/>
            <a:chExt cx="731520" cy="73152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0789920" y="7845552"/>
            <a:ext cx="6400800" cy="402336"/>
            <a:chOff x="0" y="0"/>
            <a:chExt cx="8534400" cy="53644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Analyze Results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0789920" y="8247888"/>
            <a:ext cx="6400800" cy="365760"/>
            <a:chOff x="0" y="0"/>
            <a:chExt cx="8534400" cy="48768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8534400" cy="487680"/>
            </a:xfrm>
            <a:custGeom>
              <a:avLst/>
              <a:gdLst/>
              <a:ahLst/>
              <a:cxnLst/>
              <a:rect r="r" b="b" t="t" l="l"/>
              <a:pathLst>
                <a:path h="4876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8534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Interpret and validate diagnostic outputs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0" y="10186416"/>
            <a:ext cx="18288000" cy="128016"/>
            <a:chOff x="0" y="0"/>
            <a:chExt cx="24384000" cy="17068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0" y="10186416"/>
            <a:ext cx="12801600" cy="128016"/>
            <a:chOff x="0" y="0"/>
            <a:chExt cx="17068800" cy="17068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7068800" cy="170688"/>
            </a:xfrm>
            <a:custGeom>
              <a:avLst/>
              <a:gdLst/>
              <a:ahLst/>
              <a:cxnLst/>
              <a:rect r="r" b="b" t="t" l="l"/>
              <a:pathLst>
                <a:path h="170688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Freeform 130" id="130"/>
          <p:cNvSpPr/>
          <p:nvPr/>
        </p:nvSpPr>
        <p:spPr>
          <a:xfrm flipH="false" flipV="false" rot="0">
            <a:off x="1564767" y="7974330"/>
            <a:ext cx="4622872" cy="1422422"/>
          </a:xfrm>
          <a:custGeom>
            <a:avLst/>
            <a:gdLst/>
            <a:ahLst/>
            <a:cxnLst/>
            <a:rect r="r" b="b" t="t" l="l"/>
            <a:pathLst>
              <a:path h="1422422" w="4622872">
                <a:moveTo>
                  <a:pt x="0" y="0"/>
                </a:moveTo>
                <a:lnTo>
                  <a:pt x="4622872" y="0"/>
                </a:lnTo>
                <a:lnTo>
                  <a:pt x="4622872" y="1422422"/>
                </a:lnTo>
                <a:lnTo>
                  <a:pt x="0" y="14224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1" id="131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Practical implementation using OpenCog AtomSpace API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Medical Reasoner Demo Overview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OpenCog Knowledge-Based Medical Reasoning System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38/53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499616"/>
            <a:ext cx="14630400" cy="822960"/>
            <a:chOff x="0" y="0"/>
            <a:chExt cx="195072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950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Medical Reasoner System Architecture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21995" y="2459355"/>
            <a:ext cx="10808970" cy="7517130"/>
            <a:chOff x="0" y="0"/>
            <a:chExt cx="14411960" cy="10022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4386561" cy="9997440"/>
            </a:xfrm>
            <a:custGeom>
              <a:avLst/>
              <a:gdLst/>
              <a:ahLst/>
              <a:cxnLst/>
              <a:rect r="r" b="b" t="t" l="l"/>
              <a:pathLst>
                <a:path h="999744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411961" cy="10022840"/>
            </a:xfrm>
            <a:custGeom>
              <a:avLst/>
              <a:gdLst/>
              <a:ahLst/>
              <a:cxnLst/>
              <a:rect r="r" b="b" t="t" l="l"/>
              <a:pathLst>
                <a:path h="10022840" w="14411961">
                  <a:moveTo>
                    <a:pt x="12700" y="0"/>
                  </a:moveTo>
                  <a:lnTo>
                    <a:pt x="14399261" y="0"/>
                  </a:lnTo>
                  <a:cubicBezTo>
                    <a:pt x="14406246" y="0"/>
                    <a:pt x="14411961" y="5715"/>
                    <a:pt x="14411961" y="12700"/>
                  </a:cubicBezTo>
                  <a:lnTo>
                    <a:pt x="14411961" y="10010140"/>
                  </a:lnTo>
                  <a:cubicBezTo>
                    <a:pt x="14411961" y="10017125"/>
                    <a:pt x="14406246" y="10022840"/>
                    <a:pt x="14399261" y="10022840"/>
                  </a:cubicBezTo>
                  <a:lnTo>
                    <a:pt x="12700" y="10022840"/>
                  </a:lnTo>
                  <a:cubicBezTo>
                    <a:pt x="5715" y="10022840"/>
                    <a:pt x="0" y="10017125"/>
                    <a:pt x="0" y="1001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10140"/>
                  </a:lnTo>
                  <a:lnTo>
                    <a:pt x="12700" y="10010140"/>
                  </a:lnTo>
                  <a:lnTo>
                    <a:pt x="12700" y="9997440"/>
                  </a:lnTo>
                  <a:lnTo>
                    <a:pt x="14399261" y="9997440"/>
                  </a:lnTo>
                  <a:lnTo>
                    <a:pt x="14399261" y="10010140"/>
                  </a:lnTo>
                  <a:lnTo>
                    <a:pt x="14386561" y="10010140"/>
                  </a:lnTo>
                  <a:lnTo>
                    <a:pt x="14386561" y="12700"/>
                  </a:lnTo>
                  <a:lnTo>
                    <a:pt x="14399261" y="12700"/>
                  </a:lnTo>
                  <a:lnTo>
                    <a:pt x="1439926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05840" y="2615184"/>
            <a:ext cx="10424160" cy="512064"/>
            <a:chOff x="0" y="0"/>
            <a:chExt cx="1389888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98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659" r="0" b="-34665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3898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Components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9487" y="3248911"/>
            <a:ext cx="4950457" cy="1109977"/>
            <a:chOff x="0" y="0"/>
            <a:chExt cx="6600609" cy="14799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8509" y="8509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00699" cy="1480058"/>
            </a:xfrm>
            <a:custGeom>
              <a:avLst/>
              <a:gdLst/>
              <a:ahLst/>
              <a:cxnLst/>
              <a:rect r="r" b="b" t="t" l="l"/>
              <a:pathLst>
                <a:path h="1480058" w="6600699">
                  <a:moveTo>
                    <a:pt x="8509" y="0"/>
                  </a:moveTo>
                  <a:lnTo>
                    <a:pt x="6592189" y="0"/>
                  </a:lnTo>
                  <a:cubicBezTo>
                    <a:pt x="6596888" y="0"/>
                    <a:pt x="6600699" y="3810"/>
                    <a:pt x="6600699" y="8509"/>
                  </a:cubicBezTo>
                  <a:lnTo>
                    <a:pt x="6600699" y="1471549"/>
                  </a:lnTo>
                  <a:cubicBezTo>
                    <a:pt x="6600699" y="1476248"/>
                    <a:pt x="6596888" y="1480058"/>
                    <a:pt x="6592189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6592189" y="1463040"/>
                  </a:lnTo>
                  <a:lnTo>
                    <a:pt x="6592189" y="1471549"/>
                  </a:lnTo>
                  <a:lnTo>
                    <a:pt x="6583680" y="1471549"/>
                  </a:lnTo>
                  <a:lnTo>
                    <a:pt x="6583680" y="8509"/>
                  </a:lnTo>
                  <a:lnTo>
                    <a:pt x="6592189" y="8509"/>
                  </a:lnTo>
                  <a:lnTo>
                    <a:pt x="65921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88720" y="3364992"/>
            <a:ext cx="4572000" cy="402336"/>
            <a:chOff x="0" y="0"/>
            <a:chExt cx="6096000" cy="5364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AtomSpace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8720" y="3803904"/>
            <a:ext cx="4572000" cy="402336"/>
            <a:chOff x="0" y="0"/>
            <a:chExt cx="6096000" cy="5364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Knowledge storage &amp; management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211567" y="3248911"/>
            <a:ext cx="4950457" cy="1109977"/>
            <a:chOff x="0" y="0"/>
            <a:chExt cx="6600609" cy="147996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8509" y="8509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600699" cy="1480058"/>
            </a:xfrm>
            <a:custGeom>
              <a:avLst/>
              <a:gdLst/>
              <a:ahLst/>
              <a:cxnLst/>
              <a:rect r="r" b="b" t="t" l="l"/>
              <a:pathLst>
                <a:path h="1480058" w="6600699">
                  <a:moveTo>
                    <a:pt x="8509" y="0"/>
                  </a:moveTo>
                  <a:lnTo>
                    <a:pt x="6592189" y="0"/>
                  </a:lnTo>
                  <a:cubicBezTo>
                    <a:pt x="6596888" y="0"/>
                    <a:pt x="6600699" y="3810"/>
                    <a:pt x="6600699" y="8509"/>
                  </a:cubicBezTo>
                  <a:lnTo>
                    <a:pt x="6600699" y="1471549"/>
                  </a:lnTo>
                  <a:cubicBezTo>
                    <a:pt x="6600699" y="1476248"/>
                    <a:pt x="6596888" y="1480058"/>
                    <a:pt x="6592189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6592189" y="1463040"/>
                  </a:lnTo>
                  <a:lnTo>
                    <a:pt x="6592189" y="1471549"/>
                  </a:lnTo>
                  <a:lnTo>
                    <a:pt x="6583680" y="1471549"/>
                  </a:lnTo>
                  <a:lnTo>
                    <a:pt x="6583680" y="8509"/>
                  </a:lnTo>
                  <a:lnTo>
                    <a:pt x="6592189" y="8509"/>
                  </a:lnTo>
                  <a:lnTo>
                    <a:pt x="65921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00800" y="3364992"/>
            <a:ext cx="4572000" cy="402336"/>
            <a:chOff x="0" y="0"/>
            <a:chExt cx="6096000" cy="5364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00800" y="3803904"/>
            <a:ext cx="4572000" cy="402336"/>
            <a:chOff x="0" y="0"/>
            <a:chExt cx="6096000" cy="5364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Probabilistic logic reasoning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99487" y="4565647"/>
            <a:ext cx="4950457" cy="1109977"/>
            <a:chOff x="0" y="0"/>
            <a:chExt cx="6600609" cy="147996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8509" y="8509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600699" cy="1480058"/>
            </a:xfrm>
            <a:custGeom>
              <a:avLst/>
              <a:gdLst/>
              <a:ahLst/>
              <a:cxnLst/>
              <a:rect r="r" b="b" t="t" l="l"/>
              <a:pathLst>
                <a:path h="1480058" w="6600699">
                  <a:moveTo>
                    <a:pt x="8509" y="0"/>
                  </a:moveTo>
                  <a:lnTo>
                    <a:pt x="6592189" y="0"/>
                  </a:lnTo>
                  <a:cubicBezTo>
                    <a:pt x="6596888" y="0"/>
                    <a:pt x="6600699" y="3810"/>
                    <a:pt x="6600699" y="8509"/>
                  </a:cubicBezTo>
                  <a:lnTo>
                    <a:pt x="6600699" y="1471549"/>
                  </a:lnTo>
                  <a:cubicBezTo>
                    <a:pt x="6600699" y="1476248"/>
                    <a:pt x="6596888" y="1480058"/>
                    <a:pt x="6592189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6592189" y="1463040"/>
                  </a:lnTo>
                  <a:lnTo>
                    <a:pt x="6592189" y="1471549"/>
                  </a:lnTo>
                  <a:lnTo>
                    <a:pt x="6583680" y="1471549"/>
                  </a:lnTo>
                  <a:lnTo>
                    <a:pt x="6583680" y="8509"/>
                  </a:lnTo>
                  <a:lnTo>
                    <a:pt x="6592189" y="8509"/>
                  </a:lnTo>
                  <a:lnTo>
                    <a:pt x="65921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88720" y="4681728"/>
            <a:ext cx="4572000" cy="402336"/>
            <a:chOff x="0" y="0"/>
            <a:chExt cx="6096000" cy="5364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Pattern Miner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88720" y="5120640"/>
            <a:ext cx="4572000" cy="402336"/>
            <a:chOff x="0" y="0"/>
            <a:chExt cx="6096000" cy="5364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Pattern discovery &amp; analysis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211567" y="4565647"/>
            <a:ext cx="4950457" cy="1109977"/>
            <a:chOff x="0" y="0"/>
            <a:chExt cx="6600609" cy="147996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600699" cy="1480058"/>
            </a:xfrm>
            <a:custGeom>
              <a:avLst/>
              <a:gdLst/>
              <a:ahLst/>
              <a:cxnLst/>
              <a:rect r="r" b="b" t="t" l="l"/>
              <a:pathLst>
                <a:path h="1480058" w="6600699">
                  <a:moveTo>
                    <a:pt x="8509" y="0"/>
                  </a:moveTo>
                  <a:lnTo>
                    <a:pt x="6592189" y="0"/>
                  </a:lnTo>
                  <a:cubicBezTo>
                    <a:pt x="6596888" y="0"/>
                    <a:pt x="6600699" y="3810"/>
                    <a:pt x="6600699" y="8509"/>
                  </a:cubicBezTo>
                  <a:lnTo>
                    <a:pt x="6600699" y="1471549"/>
                  </a:lnTo>
                  <a:cubicBezTo>
                    <a:pt x="6600699" y="1476248"/>
                    <a:pt x="6596888" y="1480058"/>
                    <a:pt x="6592189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6592189" y="1463040"/>
                  </a:lnTo>
                  <a:lnTo>
                    <a:pt x="6592189" y="1471549"/>
                  </a:lnTo>
                  <a:lnTo>
                    <a:pt x="6583680" y="1471549"/>
                  </a:lnTo>
                  <a:lnTo>
                    <a:pt x="6583680" y="8509"/>
                  </a:lnTo>
                  <a:lnTo>
                    <a:pt x="6592189" y="8509"/>
                  </a:lnTo>
                  <a:lnTo>
                    <a:pt x="65921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400800" y="4681728"/>
            <a:ext cx="4572000" cy="402336"/>
            <a:chOff x="0" y="0"/>
            <a:chExt cx="6096000" cy="5364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ECAN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400800" y="5120640"/>
            <a:ext cx="4572000" cy="402336"/>
            <a:chOff x="0" y="0"/>
            <a:chExt cx="6096000" cy="5364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096000" cy="536448"/>
            </a:xfrm>
            <a:custGeom>
              <a:avLst/>
              <a:gdLst/>
              <a:ahLst/>
              <a:cxnLst/>
              <a:rect r="r" b="b" t="t" l="l"/>
              <a:pathLst>
                <a:path h="53644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420" r="0" b="-17142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096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Attention allocation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99487" y="6065263"/>
            <a:ext cx="10436857" cy="1201417"/>
            <a:chOff x="0" y="0"/>
            <a:chExt cx="13915809" cy="160188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8509" y="8509"/>
              <a:ext cx="138988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13898881">
                  <a:moveTo>
                    <a:pt x="0" y="0"/>
                  </a:moveTo>
                  <a:lnTo>
                    <a:pt x="13898881" y="0"/>
                  </a:lnTo>
                  <a:lnTo>
                    <a:pt x="138988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915898" cy="1601978"/>
            </a:xfrm>
            <a:custGeom>
              <a:avLst/>
              <a:gdLst/>
              <a:ahLst/>
              <a:cxnLst/>
              <a:rect r="r" b="b" t="t" l="l"/>
              <a:pathLst>
                <a:path h="1601978" w="13915898">
                  <a:moveTo>
                    <a:pt x="8509" y="0"/>
                  </a:moveTo>
                  <a:lnTo>
                    <a:pt x="13907390" y="0"/>
                  </a:lnTo>
                  <a:cubicBezTo>
                    <a:pt x="13912089" y="0"/>
                    <a:pt x="13915898" y="3810"/>
                    <a:pt x="13915898" y="8509"/>
                  </a:cubicBezTo>
                  <a:lnTo>
                    <a:pt x="13915898" y="1593469"/>
                  </a:lnTo>
                  <a:cubicBezTo>
                    <a:pt x="13915898" y="1598168"/>
                    <a:pt x="13912089" y="1601978"/>
                    <a:pt x="13907390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13907390" y="1584960"/>
                  </a:lnTo>
                  <a:lnTo>
                    <a:pt x="13907390" y="1593469"/>
                  </a:lnTo>
                  <a:lnTo>
                    <a:pt x="13898880" y="1593469"/>
                  </a:lnTo>
                  <a:lnTo>
                    <a:pt x="13898880" y="8509"/>
                  </a:lnTo>
                  <a:lnTo>
                    <a:pt x="13907390" y="8509"/>
                  </a:lnTo>
                  <a:lnTo>
                    <a:pt x="139073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79195" y="6244971"/>
            <a:ext cx="2213610" cy="787146"/>
            <a:chOff x="0" y="0"/>
            <a:chExt cx="2951480" cy="104952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2700" y="12700"/>
              <a:ext cx="2926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51480" cy="1049528"/>
            </a:xfrm>
            <a:custGeom>
              <a:avLst/>
              <a:gdLst/>
              <a:ahLst/>
              <a:cxnLst/>
              <a:rect r="r" b="b" t="t" l="l"/>
              <a:pathLst>
                <a:path h="1049528" w="2951480">
                  <a:moveTo>
                    <a:pt x="12700" y="0"/>
                  </a:moveTo>
                  <a:lnTo>
                    <a:pt x="2938780" y="0"/>
                  </a:lnTo>
                  <a:cubicBezTo>
                    <a:pt x="2945765" y="0"/>
                    <a:pt x="2951480" y="5715"/>
                    <a:pt x="2951480" y="12700"/>
                  </a:cubicBezTo>
                  <a:lnTo>
                    <a:pt x="2951480" y="1036828"/>
                  </a:lnTo>
                  <a:cubicBezTo>
                    <a:pt x="2951480" y="1043813"/>
                    <a:pt x="2945765" y="1049528"/>
                    <a:pt x="2938780" y="1049528"/>
                  </a:cubicBezTo>
                  <a:lnTo>
                    <a:pt x="12700" y="1049528"/>
                  </a:lnTo>
                  <a:cubicBezTo>
                    <a:pt x="5715" y="1049528"/>
                    <a:pt x="0" y="1043813"/>
                    <a:pt x="0" y="10368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36828"/>
                  </a:lnTo>
                  <a:lnTo>
                    <a:pt x="12700" y="1036828"/>
                  </a:lnTo>
                  <a:lnTo>
                    <a:pt x="12700" y="1024128"/>
                  </a:lnTo>
                  <a:lnTo>
                    <a:pt x="2938780" y="1024128"/>
                  </a:lnTo>
                  <a:lnTo>
                    <a:pt x="2938780" y="1036828"/>
                  </a:lnTo>
                  <a:lnTo>
                    <a:pt x="2926080" y="1036828"/>
                  </a:lnTo>
                  <a:lnTo>
                    <a:pt x="2926080" y="12700"/>
                  </a:lnTo>
                  <a:lnTo>
                    <a:pt x="2938780" y="12700"/>
                  </a:lnTo>
                  <a:lnTo>
                    <a:pt x="29387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88720" y="6254496"/>
            <a:ext cx="2194560" cy="768096"/>
            <a:chOff x="0" y="0"/>
            <a:chExt cx="2926080" cy="10241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926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292608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 Data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3370583" y="6625847"/>
            <a:ext cx="318011" cy="25403"/>
            <a:chOff x="0" y="0"/>
            <a:chExt cx="424015" cy="3387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0"/>
              <a:ext cx="390144" cy="33909"/>
            </a:xfrm>
            <a:custGeom>
              <a:avLst/>
              <a:gdLst/>
              <a:ahLst/>
              <a:cxnLst/>
              <a:rect r="r" b="b" t="t" l="l"/>
              <a:pathLst>
                <a:path h="33909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3666363" y="6244971"/>
            <a:ext cx="2213610" cy="787146"/>
            <a:chOff x="0" y="0"/>
            <a:chExt cx="2951480" cy="104952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2700" y="12700"/>
              <a:ext cx="2926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951480" cy="1049528"/>
            </a:xfrm>
            <a:custGeom>
              <a:avLst/>
              <a:gdLst/>
              <a:ahLst/>
              <a:cxnLst/>
              <a:rect r="r" b="b" t="t" l="l"/>
              <a:pathLst>
                <a:path h="1049528" w="2951480">
                  <a:moveTo>
                    <a:pt x="12700" y="0"/>
                  </a:moveTo>
                  <a:lnTo>
                    <a:pt x="2938780" y="0"/>
                  </a:lnTo>
                  <a:cubicBezTo>
                    <a:pt x="2945765" y="0"/>
                    <a:pt x="2951480" y="5715"/>
                    <a:pt x="2951480" y="12700"/>
                  </a:cubicBezTo>
                  <a:lnTo>
                    <a:pt x="2951480" y="1036828"/>
                  </a:lnTo>
                  <a:cubicBezTo>
                    <a:pt x="2951480" y="1043813"/>
                    <a:pt x="2945765" y="1049528"/>
                    <a:pt x="2938780" y="1049528"/>
                  </a:cubicBezTo>
                  <a:lnTo>
                    <a:pt x="12700" y="1049528"/>
                  </a:lnTo>
                  <a:cubicBezTo>
                    <a:pt x="5715" y="1049528"/>
                    <a:pt x="0" y="1043813"/>
                    <a:pt x="0" y="10368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36828"/>
                  </a:lnTo>
                  <a:lnTo>
                    <a:pt x="12700" y="1036828"/>
                  </a:lnTo>
                  <a:lnTo>
                    <a:pt x="12700" y="1024128"/>
                  </a:lnTo>
                  <a:lnTo>
                    <a:pt x="2938780" y="1024128"/>
                  </a:lnTo>
                  <a:lnTo>
                    <a:pt x="2938780" y="1036828"/>
                  </a:lnTo>
                  <a:lnTo>
                    <a:pt x="2926080" y="1036828"/>
                  </a:lnTo>
                  <a:lnTo>
                    <a:pt x="2926080" y="12700"/>
                  </a:lnTo>
                  <a:lnTo>
                    <a:pt x="2938780" y="12700"/>
                  </a:lnTo>
                  <a:lnTo>
                    <a:pt x="29387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3675888" y="6254496"/>
            <a:ext cx="2194560" cy="768096"/>
            <a:chOff x="0" y="0"/>
            <a:chExt cx="2926080" cy="102412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926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292608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AtomSpace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857751" y="6625847"/>
            <a:ext cx="318011" cy="25403"/>
            <a:chOff x="0" y="0"/>
            <a:chExt cx="424015" cy="3387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0"/>
              <a:ext cx="390144" cy="33909"/>
            </a:xfrm>
            <a:custGeom>
              <a:avLst/>
              <a:gdLst/>
              <a:ahLst/>
              <a:cxnLst/>
              <a:rect r="r" b="b" t="t" l="l"/>
              <a:pathLst>
                <a:path h="33909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6153531" y="6244971"/>
            <a:ext cx="2213610" cy="787146"/>
            <a:chOff x="0" y="0"/>
            <a:chExt cx="2951480" cy="10495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2700" y="12700"/>
              <a:ext cx="2926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951480" cy="1049528"/>
            </a:xfrm>
            <a:custGeom>
              <a:avLst/>
              <a:gdLst/>
              <a:ahLst/>
              <a:cxnLst/>
              <a:rect r="r" b="b" t="t" l="l"/>
              <a:pathLst>
                <a:path h="1049528" w="2951480">
                  <a:moveTo>
                    <a:pt x="12700" y="0"/>
                  </a:moveTo>
                  <a:lnTo>
                    <a:pt x="2938780" y="0"/>
                  </a:lnTo>
                  <a:cubicBezTo>
                    <a:pt x="2945765" y="0"/>
                    <a:pt x="2951480" y="5715"/>
                    <a:pt x="2951480" y="12700"/>
                  </a:cubicBezTo>
                  <a:lnTo>
                    <a:pt x="2951480" y="1036828"/>
                  </a:lnTo>
                  <a:cubicBezTo>
                    <a:pt x="2951480" y="1043813"/>
                    <a:pt x="2945765" y="1049528"/>
                    <a:pt x="2938780" y="1049528"/>
                  </a:cubicBezTo>
                  <a:lnTo>
                    <a:pt x="12700" y="1049528"/>
                  </a:lnTo>
                  <a:cubicBezTo>
                    <a:pt x="5715" y="1049528"/>
                    <a:pt x="0" y="1043813"/>
                    <a:pt x="0" y="10368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36828"/>
                  </a:lnTo>
                  <a:lnTo>
                    <a:pt x="12700" y="1036828"/>
                  </a:lnTo>
                  <a:lnTo>
                    <a:pt x="12700" y="1024128"/>
                  </a:lnTo>
                  <a:lnTo>
                    <a:pt x="2938780" y="1024128"/>
                  </a:lnTo>
                  <a:lnTo>
                    <a:pt x="2938780" y="1036828"/>
                  </a:lnTo>
                  <a:lnTo>
                    <a:pt x="2926080" y="1036828"/>
                  </a:lnTo>
                  <a:lnTo>
                    <a:pt x="2926080" y="12700"/>
                  </a:lnTo>
                  <a:lnTo>
                    <a:pt x="2938780" y="12700"/>
                  </a:lnTo>
                  <a:lnTo>
                    <a:pt x="29387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6163056" y="6254496"/>
            <a:ext cx="2194560" cy="768096"/>
            <a:chOff x="0" y="0"/>
            <a:chExt cx="2926080" cy="102412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926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292608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PLN Reasoning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8344919" y="6625847"/>
            <a:ext cx="318011" cy="25403"/>
            <a:chOff x="0" y="0"/>
            <a:chExt cx="424015" cy="3387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0"/>
              <a:ext cx="390144" cy="33909"/>
            </a:xfrm>
            <a:custGeom>
              <a:avLst/>
              <a:gdLst/>
              <a:ahLst/>
              <a:cxnLst/>
              <a:rect r="r" b="b" t="t" l="l"/>
              <a:pathLst>
                <a:path h="33909" w="390144">
                  <a:moveTo>
                    <a:pt x="0" y="0"/>
                  </a:moveTo>
                  <a:lnTo>
                    <a:pt x="390144" y="0"/>
                  </a:lnTo>
                  <a:lnTo>
                    <a:pt x="390144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8640699" y="6244971"/>
            <a:ext cx="2213610" cy="787146"/>
            <a:chOff x="0" y="0"/>
            <a:chExt cx="2951480" cy="104952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2700" y="12700"/>
              <a:ext cx="2926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951480" cy="1049528"/>
            </a:xfrm>
            <a:custGeom>
              <a:avLst/>
              <a:gdLst/>
              <a:ahLst/>
              <a:cxnLst/>
              <a:rect r="r" b="b" t="t" l="l"/>
              <a:pathLst>
                <a:path h="1049528" w="2951480">
                  <a:moveTo>
                    <a:pt x="12700" y="0"/>
                  </a:moveTo>
                  <a:lnTo>
                    <a:pt x="2938780" y="0"/>
                  </a:lnTo>
                  <a:cubicBezTo>
                    <a:pt x="2945765" y="0"/>
                    <a:pt x="2951480" y="5715"/>
                    <a:pt x="2951480" y="12700"/>
                  </a:cubicBezTo>
                  <a:lnTo>
                    <a:pt x="2951480" y="1036828"/>
                  </a:lnTo>
                  <a:cubicBezTo>
                    <a:pt x="2951480" y="1043813"/>
                    <a:pt x="2945765" y="1049528"/>
                    <a:pt x="2938780" y="1049528"/>
                  </a:cubicBezTo>
                  <a:lnTo>
                    <a:pt x="12700" y="1049528"/>
                  </a:lnTo>
                  <a:cubicBezTo>
                    <a:pt x="5715" y="1049528"/>
                    <a:pt x="0" y="1043813"/>
                    <a:pt x="0" y="103682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36828"/>
                  </a:lnTo>
                  <a:lnTo>
                    <a:pt x="12700" y="1036828"/>
                  </a:lnTo>
                  <a:lnTo>
                    <a:pt x="12700" y="1024128"/>
                  </a:lnTo>
                  <a:lnTo>
                    <a:pt x="2938780" y="1024128"/>
                  </a:lnTo>
                  <a:lnTo>
                    <a:pt x="2938780" y="1036828"/>
                  </a:lnTo>
                  <a:lnTo>
                    <a:pt x="2926080" y="1036828"/>
                  </a:lnTo>
                  <a:lnTo>
                    <a:pt x="2926080" y="12700"/>
                  </a:lnTo>
                  <a:lnTo>
                    <a:pt x="2938780" y="12700"/>
                  </a:lnTo>
                  <a:lnTo>
                    <a:pt x="29387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8650224" y="6254496"/>
            <a:ext cx="2194560" cy="768096"/>
            <a:chOff x="0" y="0"/>
            <a:chExt cx="2926080" cy="102412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926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2926080" cy="1052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Diagnosis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99487" y="7455151"/>
            <a:ext cx="10436857" cy="2024377"/>
            <a:chOff x="0" y="0"/>
            <a:chExt cx="13915809" cy="269916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8509" y="8509"/>
              <a:ext cx="13898881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898881">
                  <a:moveTo>
                    <a:pt x="0" y="0"/>
                  </a:moveTo>
                  <a:lnTo>
                    <a:pt x="13898881" y="0"/>
                  </a:lnTo>
                  <a:lnTo>
                    <a:pt x="13898881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3915898" cy="2699258"/>
            </a:xfrm>
            <a:custGeom>
              <a:avLst/>
              <a:gdLst/>
              <a:ahLst/>
              <a:cxnLst/>
              <a:rect r="r" b="b" t="t" l="l"/>
              <a:pathLst>
                <a:path h="2699258" w="13915898">
                  <a:moveTo>
                    <a:pt x="8509" y="0"/>
                  </a:moveTo>
                  <a:lnTo>
                    <a:pt x="13907390" y="0"/>
                  </a:lnTo>
                  <a:cubicBezTo>
                    <a:pt x="13912089" y="0"/>
                    <a:pt x="13915898" y="3810"/>
                    <a:pt x="13915898" y="8509"/>
                  </a:cubicBezTo>
                  <a:lnTo>
                    <a:pt x="13915898" y="2690749"/>
                  </a:lnTo>
                  <a:cubicBezTo>
                    <a:pt x="13915898" y="2695448"/>
                    <a:pt x="13912089" y="2699258"/>
                    <a:pt x="13907390" y="2699258"/>
                  </a:cubicBezTo>
                  <a:lnTo>
                    <a:pt x="8509" y="2699258"/>
                  </a:lnTo>
                  <a:cubicBezTo>
                    <a:pt x="3810" y="2699258"/>
                    <a:pt x="0" y="2695448"/>
                    <a:pt x="0" y="26907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690749"/>
                  </a:lnTo>
                  <a:lnTo>
                    <a:pt x="8509" y="2690749"/>
                  </a:lnTo>
                  <a:lnTo>
                    <a:pt x="8509" y="2682240"/>
                  </a:lnTo>
                  <a:lnTo>
                    <a:pt x="13907390" y="2682240"/>
                  </a:lnTo>
                  <a:lnTo>
                    <a:pt x="13907390" y="2690749"/>
                  </a:lnTo>
                  <a:lnTo>
                    <a:pt x="13898880" y="2690749"/>
                  </a:lnTo>
                  <a:lnTo>
                    <a:pt x="13898880" y="8509"/>
                  </a:lnTo>
                  <a:lnTo>
                    <a:pt x="13907390" y="8509"/>
                  </a:lnTo>
                  <a:lnTo>
                    <a:pt x="139073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sp>
        <p:nvSpPr>
          <p:cNvPr name="TextBox 92" id="92"/>
          <p:cNvSpPr txBox="true"/>
          <p:nvPr/>
        </p:nvSpPr>
        <p:spPr>
          <a:xfrm rot="0">
            <a:off x="1188720" y="7569708"/>
            <a:ext cx="100584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# Medical knowledge representation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InheritanceLink </a:t>
            </a:r>
            <a:r>
              <a:rPr lang="en-US" sz="1800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"Patient" "Human"</a:t>
            </a:r>
            <a:r>
              <a:rPr lang="en-US" sz="180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(EvaluationLink "</a:t>
            </a:r>
            <a:r>
              <a:rPr lang="en-US" sz="1800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hasSymptom" "fever"</a:t>
            </a:r>
            <a:r>
              <a:rPr lang="en-US" sz="1800">
                <a:solidFill>
                  <a:srgbClr val="1E40A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# Backward chaining for diagnosis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11877675" y="2459355"/>
            <a:ext cx="5688330" cy="7517130"/>
            <a:chOff x="0" y="0"/>
            <a:chExt cx="7584440" cy="100228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12700" y="12700"/>
              <a:ext cx="7559040" cy="9997440"/>
            </a:xfrm>
            <a:custGeom>
              <a:avLst/>
              <a:gdLst/>
              <a:ahLst/>
              <a:cxnLst/>
              <a:rect r="r" b="b" t="t" l="l"/>
              <a:pathLst>
                <a:path h="99974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584440" cy="10022840"/>
            </a:xfrm>
            <a:custGeom>
              <a:avLst/>
              <a:gdLst/>
              <a:ahLst/>
              <a:cxnLst/>
              <a:rect r="r" b="b" t="t" l="l"/>
              <a:pathLst>
                <a:path h="10022840" w="7584440">
                  <a:moveTo>
                    <a:pt x="12700" y="0"/>
                  </a:moveTo>
                  <a:lnTo>
                    <a:pt x="7571740" y="0"/>
                  </a:lnTo>
                  <a:cubicBezTo>
                    <a:pt x="7578725" y="0"/>
                    <a:pt x="7584440" y="5715"/>
                    <a:pt x="7584440" y="12700"/>
                  </a:cubicBezTo>
                  <a:lnTo>
                    <a:pt x="7584440" y="10010140"/>
                  </a:lnTo>
                  <a:cubicBezTo>
                    <a:pt x="7584440" y="10017125"/>
                    <a:pt x="7578725" y="10022840"/>
                    <a:pt x="7571740" y="10022840"/>
                  </a:cubicBezTo>
                  <a:lnTo>
                    <a:pt x="12700" y="10022840"/>
                  </a:lnTo>
                  <a:cubicBezTo>
                    <a:pt x="5715" y="10022840"/>
                    <a:pt x="0" y="10017125"/>
                    <a:pt x="0" y="10010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010140"/>
                  </a:lnTo>
                  <a:lnTo>
                    <a:pt x="12700" y="10010140"/>
                  </a:lnTo>
                  <a:lnTo>
                    <a:pt x="12700" y="9997440"/>
                  </a:lnTo>
                  <a:lnTo>
                    <a:pt x="7571740" y="9997440"/>
                  </a:lnTo>
                  <a:lnTo>
                    <a:pt x="7571740" y="10010140"/>
                  </a:lnTo>
                  <a:lnTo>
                    <a:pt x="7559040" y="10010140"/>
                  </a:lnTo>
                  <a:lnTo>
                    <a:pt x="7559040" y="12700"/>
                  </a:lnTo>
                  <a:lnTo>
                    <a:pt x="7571740" y="12700"/>
                  </a:lnTo>
                  <a:lnTo>
                    <a:pt x="75717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2161520" y="2615184"/>
            <a:ext cx="5120640" cy="512064"/>
            <a:chOff x="0" y="0"/>
            <a:chExt cx="6827520" cy="68275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57150"/>
              <a:ext cx="682752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Preview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2155167" y="3248911"/>
            <a:ext cx="5133337" cy="1109977"/>
            <a:chOff x="0" y="0"/>
            <a:chExt cx="6844449" cy="1479969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8509" y="8509"/>
              <a:ext cx="6827519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844538" cy="1480058"/>
            </a:xfrm>
            <a:custGeom>
              <a:avLst/>
              <a:gdLst/>
              <a:ahLst/>
              <a:cxnLst/>
              <a:rect r="r" b="b" t="t" l="l"/>
              <a:pathLst>
                <a:path h="1480058" w="684453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471549"/>
                  </a:lnTo>
                  <a:cubicBezTo>
                    <a:pt x="6844538" y="1476248"/>
                    <a:pt x="6840727" y="1480058"/>
                    <a:pt x="6836028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6836028" y="1463040"/>
                  </a:lnTo>
                  <a:lnTo>
                    <a:pt x="6836028" y="1471549"/>
                  </a:lnTo>
                  <a:lnTo>
                    <a:pt x="6827520" y="147154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2344400" y="3438144"/>
            <a:ext cx="2743200" cy="512064"/>
            <a:chOff x="0" y="0"/>
            <a:chExt cx="3657600" cy="68275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👤  Patient ID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4849856" y="3438144"/>
            <a:ext cx="2286000" cy="512064"/>
            <a:chOff x="0" y="0"/>
            <a:chExt cx="3048000" cy="68275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P-2024-001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2155167" y="4565647"/>
            <a:ext cx="5133337" cy="1109977"/>
            <a:chOff x="0" y="0"/>
            <a:chExt cx="6844449" cy="1479969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8509" y="8509"/>
              <a:ext cx="6827519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844538" cy="1480058"/>
            </a:xfrm>
            <a:custGeom>
              <a:avLst/>
              <a:gdLst/>
              <a:ahLst/>
              <a:cxnLst/>
              <a:rect r="r" b="b" t="t" l="l"/>
              <a:pathLst>
                <a:path h="1480058" w="684453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471549"/>
                  </a:lnTo>
                  <a:cubicBezTo>
                    <a:pt x="6844538" y="1476248"/>
                    <a:pt x="6840727" y="1480058"/>
                    <a:pt x="6836028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6836028" y="1463040"/>
                  </a:lnTo>
                  <a:lnTo>
                    <a:pt x="6836028" y="1471549"/>
                  </a:lnTo>
                  <a:lnTo>
                    <a:pt x="6827520" y="147154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2344400" y="4754880"/>
            <a:ext cx="2743200" cy="512064"/>
            <a:chOff x="0" y="0"/>
            <a:chExt cx="3657600" cy="68275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🌡  Symptoms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4849856" y="4754880"/>
            <a:ext cx="2286000" cy="512064"/>
            <a:chOff x="0" y="0"/>
            <a:chExt cx="3048000" cy="68275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Fever, Cough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2155167" y="5882383"/>
            <a:ext cx="5133337" cy="1109977"/>
            <a:chOff x="0" y="0"/>
            <a:chExt cx="6844449" cy="1479969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8509" y="8509"/>
              <a:ext cx="6827519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844538" cy="1480058"/>
            </a:xfrm>
            <a:custGeom>
              <a:avLst/>
              <a:gdLst/>
              <a:ahLst/>
              <a:cxnLst/>
              <a:rect r="r" b="b" t="t" l="l"/>
              <a:pathLst>
                <a:path h="1480058" w="684453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471549"/>
                  </a:lnTo>
                  <a:cubicBezTo>
                    <a:pt x="6844538" y="1476248"/>
                    <a:pt x="6840727" y="1480058"/>
                    <a:pt x="6836028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6836028" y="1463040"/>
                  </a:lnTo>
                  <a:lnTo>
                    <a:pt x="6836028" y="1471549"/>
                  </a:lnTo>
                  <a:lnTo>
                    <a:pt x="6827520" y="147154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2344400" y="6071616"/>
            <a:ext cx="2743200" cy="512064"/>
            <a:chOff x="0" y="0"/>
            <a:chExt cx="3657600" cy="68275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🩺  Diagnosis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4849856" y="6071616"/>
            <a:ext cx="2286000" cy="512064"/>
            <a:chOff x="0" y="0"/>
            <a:chExt cx="3048000" cy="68275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Flu (85%)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2155167" y="7199119"/>
            <a:ext cx="5133337" cy="1109977"/>
            <a:chOff x="0" y="0"/>
            <a:chExt cx="6844449" cy="1479969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8509" y="8509"/>
              <a:ext cx="6827519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844538" cy="1480058"/>
            </a:xfrm>
            <a:custGeom>
              <a:avLst/>
              <a:gdLst/>
              <a:ahLst/>
              <a:cxnLst/>
              <a:rect r="r" b="b" t="t" l="l"/>
              <a:pathLst>
                <a:path h="1480058" w="6844538">
                  <a:moveTo>
                    <a:pt x="8509" y="0"/>
                  </a:moveTo>
                  <a:lnTo>
                    <a:pt x="6836028" y="0"/>
                  </a:lnTo>
                  <a:cubicBezTo>
                    <a:pt x="6840727" y="0"/>
                    <a:pt x="6844538" y="3810"/>
                    <a:pt x="6844538" y="8509"/>
                  </a:cubicBezTo>
                  <a:lnTo>
                    <a:pt x="6844538" y="1471549"/>
                  </a:lnTo>
                  <a:cubicBezTo>
                    <a:pt x="6844538" y="1476248"/>
                    <a:pt x="6840727" y="1480058"/>
                    <a:pt x="6836028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6836028" y="1463040"/>
                  </a:lnTo>
                  <a:lnTo>
                    <a:pt x="6836028" y="1471549"/>
                  </a:lnTo>
                  <a:lnTo>
                    <a:pt x="6827520" y="1471549"/>
                  </a:lnTo>
                  <a:lnTo>
                    <a:pt x="6827520" y="8509"/>
                  </a:lnTo>
                  <a:lnTo>
                    <a:pt x="6836028" y="8509"/>
                  </a:lnTo>
                  <a:lnTo>
                    <a:pt x="6836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2344400" y="7388352"/>
            <a:ext cx="2743200" cy="512064"/>
            <a:chOff x="0" y="0"/>
            <a:chExt cx="3657600" cy="682752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💊  Treatment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4849856" y="7388352"/>
            <a:ext cx="2286000" cy="512064"/>
            <a:chOff x="0" y="0"/>
            <a:chExt cx="3048000" cy="682752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304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3048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Rest, Flu meds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2216384" y="8595360"/>
            <a:ext cx="219456" cy="219456"/>
            <a:chOff x="0" y="0"/>
            <a:chExt cx="292608" cy="292608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2527280" y="8540496"/>
            <a:ext cx="4389120" cy="365760"/>
            <a:chOff x="0" y="0"/>
            <a:chExt cx="5852160" cy="48768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58521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Status: Active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1 - Setting up AtomSpace with Python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Medical Knowledge Reasoner Demo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39/53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0555" y="1544955"/>
            <a:ext cx="10168890" cy="8705850"/>
            <a:chOff x="0" y="0"/>
            <a:chExt cx="13558520" cy="11607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13533120" cy="11582400"/>
            </a:xfrm>
            <a:custGeom>
              <a:avLst/>
              <a:gdLst/>
              <a:ahLst/>
              <a:cxnLst/>
              <a:rect r="r" b="b" t="t" l="l"/>
              <a:pathLst>
                <a:path h="1158240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11582400"/>
                  </a:lnTo>
                  <a:lnTo>
                    <a:pt x="0" y="11582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558520" cy="11607800"/>
            </a:xfrm>
            <a:custGeom>
              <a:avLst/>
              <a:gdLst/>
              <a:ahLst/>
              <a:cxnLst/>
              <a:rect r="r" b="b" t="t" l="l"/>
              <a:pathLst>
                <a:path h="11607800" w="13558520">
                  <a:moveTo>
                    <a:pt x="12700" y="0"/>
                  </a:moveTo>
                  <a:lnTo>
                    <a:pt x="13545820" y="0"/>
                  </a:lnTo>
                  <a:cubicBezTo>
                    <a:pt x="13552805" y="0"/>
                    <a:pt x="13558520" y="5715"/>
                    <a:pt x="13558520" y="12700"/>
                  </a:cubicBezTo>
                  <a:lnTo>
                    <a:pt x="13558520" y="11595100"/>
                  </a:lnTo>
                  <a:cubicBezTo>
                    <a:pt x="13558520" y="11602085"/>
                    <a:pt x="13552805" y="11607800"/>
                    <a:pt x="13545820" y="11607800"/>
                  </a:cubicBezTo>
                  <a:lnTo>
                    <a:pt x="12700" y="11607800"/>
                  </a:lnTo>
                  <a:cubicBezTo>
                    <a:pt x="5715" y="11607800"/>
                    <a:pt x="0" y="11602085"/>
                    <a:pt x="0" y="115951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595100"/>
                  </a:lnTo>
                  <a:lnTo>
                    <a:pt x="12700" y="11595100"/>
                  </a:lnTo>
                  <a:lnTo>
                    <a:pt x="12700" y="11582400"/>
                  </a:lnTo>
                  <a:lnTo>
                    <a:pt x="13545820" y="11582400"/>
                  </a:lnTo>
                  <a:lnTo>
                    <a:pt x="13545820" y="11595100"/>
                  </a:lnTo>
                  <a:lnTo>
                    <a:pt x="13533120" y="11595100"/>
                  </a:lnTo>
                  <a:lnTo>
                    <a:pt x="13533120" y="12700"/>
                  </a:lnTo>
                  <a:lnTo>
                    <a:pt x="13545820" y="12700"/>
                  </a:lnTo>
                  <a:lnTo>
                    <a:pt x="135458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1682496"/>
            <a:ext cx="9692640" cy="512064"/>
            <a:chOff x="0" y="0"/>
            <a:chExt cx="1292352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923520" cy="682752"/>
            </a:xfrm>
            <a:custGeom>
              <a:avLst/>
              <a:gdLst/>
              <a:ahLst/>
              <a:cxnLst/>
              <a:rect r="r" b="b" t="t" l="l"/>
              <a:pathLst>
                <a:path h="68275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823" r="0" b="-31882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292352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Code Example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2249424"/>
            <a:ext cx="5486400" cy="365760"/>
            <a:chOff x="0" y="0"/>
            <a:chExt cx="7315200" cy="487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atomspace_setup.py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8047" y="2700271"/>
            <a:ext cx="9705337" cy="6962137"/>
            <a:chOff x="0" y="0"/>
            <a:chExt cx="12940449" cy="92828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8509" y="8509"/>
              <a:ext cx="12923519" cy="9265919"/>
            </a:xfrm>
            <a:custGeom>
              <a:avLst/>
              <a:gdLst/>
              <a:ahLst/>
              <a:cxnLst/>
              <a:rect r="r" b="b" t="t" l="l"/>
              <a:pathLst>
                <a:path h="9265919" w="12923519">
                  <a:moveTo>
                    <a:pt x="0" y="0"/>
                  </a:moveTo>
                  <a:lnTo>
                    <a:pt x="12923519" y="0"/>
                  </a:lnTo>
                  <a:lnTo>
                    <a:pt x="12923519" y="9265919"/>
                  </a:lnTo>
                  <a:lnTo>
                    <a:pt x="0" y="9265919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940538" cy="9282938"/>
            </a:xfrm>
            <a:custGeom>
              <a:avLst/>
              <a:gdLst/>
              <a:ahLst/>
              <a:cxnLst/>
              <a:rect r="r" b="b" t="t" l="l"/>
              <a:pathLst>
                <a:path h="9282938" w="12940538">
                  <a:moveTo>
                    <a:pt x="8509" y="0"/>
                  </a:moveTo>
                  <a:lnTo>
                    <a:pt x="12932028" y="0"/>
                  </a:lnTo>
                  <a:cubicBezTo>
                    <a:pt x="12936727" y="0"/>
                    <a:pt x="12940538" y="3810"/>
                    <a:pt x="12940538" y="8509"/>
                  </a:cubicBezTo>
                  <a:lnTo>
                    <a:pt x="12940538" y="9274428"/>
                  </a:lnTo>
                  <a:cubicBezTo>
                    <a:pt x="12940538" y="9279127"/>
                    <a:pt x="12936727" y="9282938"/>
                    <a:pt x="12932028" y="9282938"/>
                  </a:cubicBezTo>
                  <a:lnTo>
                    <a:pt x="8509" y="9282938"/>
                  </a:lnTo>
                  <a:cubicBezTo>
                    <a:pt x="3810" y="9282938"/>
                    <a:pt x="0" y="9279127"/>
                    <a:pt x="0" y="9274428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274428"/>
                  </a:lnTo>
                  <a:lnTo>
                    <a:pt x="8509" y="9274428"/>
                  </a:lnTo>
                  <a:lnTo>
                    <a:pt x="8509" y="9265920"/>
                  </a:lnTo>
                  <a:lnTo>
                    <a:pt x="12932028" y="9265920"/>
                  </a:lnTo>
                  <a:lnTo>
                    <a:pt x="12932028" y="9274428"/>
                  </a:lnTo>
                  <a:lnTo>
                    <a:pt x="12923520" y="9274428"/>
                  </a:lnTo>
                  <a:lnTo>
                    <a:pt x="12923520" y="8509"/>
                  </a:lnTo>
                  <a:lnTo>
                    <a:pt x="12932028" y="8509"/>
                  </a:lnTo>
                  <a:lnTo>
                    <a:pt x="12932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60704" y="2926080"/>
            <a:ext cx="9363456" cy="6357052"/>
            <a:chOff x="0" y="0"/>
            <a:chExt cx="12435840" cy="8442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435840" cy="8442960"/>
            </a:xfrm>
            <a:custGeom>
              <a:avLst/>
              <a:gdLst/>
              <a:ahLst/>
              <a:cxnLst/>
              <a:rect r="r" b="b" t="t" l="l"/>
              <a:pathLst>
                <a:path h="844296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8442960"/>
                  </a:lnTo>
                  <a:lnTo>
                    <a:pt x="0" y="844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45" r="0" b="6884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435840" cy="848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nsolas"/>
                  <a:ea typeface="Consolas"/>
                  <a:cs typeface="Consolas"/>
                  <a:sym typeface="Consolas"/>
                </a:rPr>
                <a:t># Step 1: Import OpenCog modules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BBF24"/>
                  </a:solidFill>
                  <a:latin typeface="Consolas"/>
                  <a:ea typeface="Consolas"/>
                  <a:cs typeface="Consolas"/>
                  <a:sym typeface="Consolas"/>
                </a:rPr>
                <a:t>from opencog.atomspace import AtomSpace, types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BBF24"/>
                  </a:solidFill>
                  <a:latin typeface="Consolas"/>
                  <a:ea typeface="Consolas"/>
                  <a:cs typeface="Consolas"/>
                  <a:sym typeface="Consolas"/>
                </a:rPr>
                <a:t>from opencog.type_constructors import *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BBF24"/>
                  </a:solidFill>
                  <a:latin typeface="Consolas"/>
                  <a:ea typeface="Consolas"/>
                  <a:cs typeface="Consolas"/>
                  <a:sym typeface="Consolas"/>
                </a:rPr>
                <a:t>from opencog.bindlink import execute_atom</a:t>
              </a:r>
            </a:p>
            <a:p>
              <a:pPr algn="l">
                <a:lnSpc>
                  <a:spcPts val="2040"/>
                </a:lnSpc>
              </a:pP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BBF24"/>
                  </a:solidFill>
                  <a:latin typeface="Consolas"/>
                  <a:ea typeface="Consolas"/>
                  <a:cs typeface="Consolas"/>
                  <a:sym typeface="Consolas"/>
                </a:rPr>
                <a:t># Step 2: Initialize AtomSpace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BBF24"/>
                  </a:solidFill>
                  <a:latin typeface="Consolas"/>
                  <a:ea typeface="Consolas"/>
                  <a:cs typeface="Consolas"/>
                  <a:sym typeface="Consolas"/>
                </a:rPr>
                <a:t>atomspace = AtomSpace()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BBF24"/>
                  </a:solidFill>
                  <a:latin typeface="Consolas"/>
                  <a:ea typeface="Consolas"/>
                  <a:cs typeface="Consolas"/>
                  <a:sym typeface="Consolas"/>
                </a:rPr>
                <a:t>set_default_atomspace(atomspace)</a:t>
              </a:r>
            </a:p>
            <a:p>
              <a:pPr algn="l">
                <a:lnSpc>
                  <a:spcPts val="2040"/>
                </a:lnSpc>
              </a:pP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BBF24"/>
                  </a:solidFill>
                  <a:latin typeface="Consolas"/>
                  <a:ea typeface="Consolas"/>
                  <a:cs typeface="Consolas"/>
                  <a:sym typeface="Consolas"/>
                </a:rPr>
                <a:t># Step 3: Create medical knowledge nodes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BBF24"/>
                  </a:solidFill>
                  <a:latin typeface="Consolas"/>
                  <a:ea typeface="Consolas"/>
                  <a:cs typeface="Consolas"/>
                  <a:sym typeface="Consolas"/>
                </a:rPr>
                <a:t>patient = ConceptNode("Patient-001")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BBF24"/>
                  </a:solidFill>
                  <a:latin typeface="Consolas"/>
                  <a:ea typeface="Consolas"/>
                  <a:cs typeface="Consolas"/>
                  <a:sym typeface="Consolas"/>
                </a:rPr>
                <a:t>disease = ConceptNode("Diabetes")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BBF24"/>
                  </a:solidFill>
                  <a:latin typeface="Consolas"/>
                  <a:ea typeface="Consolas"/>
                  <a:cs typeface="Consolas"/>
                  <a:sym typeface="Consolas"/>
                </a:rPr>
                <a:t>symptom = ConceptNode("HighBloodSugar")</a:t>
              </a:r>
            </a:p>
            <a:p>
              <a:pPr algn="l">
                <a:lnSpc>
                  <a:spcPts val="2040"/>
                </a:lnSpc>
              </a:pP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BBF24"/>
                  </a:solidFill>
                  <a:latin typeface="Consolas"/>
                  <a:ea typeface="Consolas"/>
                  <a:cs typeface="Consolas"/>
                  <a:sym typeface="Consolas"/>
                </a:rPr>
                <a:t># Step 4: Create relationships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BBF24"/>
                  </a:solidFill>
                  <a:latin typeface="Consolas"/>
                  <a:ea typeface="Consolas"/>
                  <a:cs typeface="Consolas"/>
                  <a:sym typeface="Consolas"/>
                </a:rPr>
                <a:t>InheritanceLink(patient, disease)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BBF24"/>
                  </a:solidFill>
                  <a:latin typeface="Consolas"/>
                  <a:ea typeface="Consolas"/>
                  <a:cs typeface="Consolas"/>
                  <a:sym typeface="Consolas"/>
                </a:rPr>
                <a:t>EvaluationLink(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BBF24"/>
                  </a:solidFill>
                  <a:latin typeface="Consolas"/>
                  <a:ea typeface="Consolas"/>
                  <a:cs typeface="Consolas"/>
                  <a:sym typeface="Consolas"/>
                </a:rPr>
                <a:t>    PredicateNode("hasSymptom"),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BBF24"/>
                  </a:solidFill>
                  <a:latin typeface="Consolas"/>
                  <a:ea typeface="Consolas"/>
                  <a:cs typeface="Consolas"/>
                  <a:sym typeface="Consolas"/>
                </a:rPr>
                <a:t>    ListLink(patient, symptom)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BBF24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8047" y="9777727"/>
            <a:ext cx="9705337" cy="341881"/>
            <a:chOff x="0" y="0"/>
            <a:chExt cx="12940449" cy="45584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8509" y="8509"/>
              <a:ext cx="12923519" cy="438912"/>
            </a:xfrm>
            <a:custGeom>
              <a:avLst/>
              <a:gdLst/>
              <a:ahLst/>
              <a:cxnLst/>
              <a:rect r="r" b="b" t="t" l="l"/>
              <a:pathLst>
                <a:path h="438912" w="12923519">
                  <a:moveTo>
                    <a:pt x="0" y="0"/>
                  </a:moveTo>
                  <a:lnTo>
                    <a:pt x="12923519" y="0"/>
                  </a:lnTo>
                  <a:lnTo>
                    <a:pt x="12923519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940538" cy="455930"/>
            </a:xfrm>
            <a:custGeom>
              <a:avLst/>
              <a:gdLst/>
              <a:ahLst/>
              <a:cxnLst/>
              <a:rect r="r" b="b" t="t" l="l"/>
              <a:pathLst>
                <a:path h="455930" w="12940538">
                  <a:moveTo>
                    <a:pt x="8509" y="0"/>
                  </a:moveTo>
                  <a:lnTo>
                    <a:pt x="12932028" y="0"/>
                  </a:lnTo>
                  <a:cubicBezTo>
                    <a:pt x="12936727" y="0"/>
                    <a:pt x="12940538" y="3810"/>
                    <a:pt x="12940538" y="8509"/>
                  </a:cubicBezTo>
                  <a:lnTo>
                    <a:pt x="12940538" y="447421"/>
                  </a:lnTo>
                  <a:cubicBezTo>
                    <a:pt x="12940538" y="452120"/>
                    <a:pt x="12936727" y="455930"/>
                    <a:pt x="12932028" y="455930"/>
                  </a:cubicBezTo>
                  <a:lnTo>
                    <a:pt x="8509" y="455930"/>
                  </a:lnTo>
                  <a:cubicBezTo>
                    <a:pt x="3810" y="455930"/>
                    <a:pt x="0" y="452120"/>
                    <a:pt x="0" y="44742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47421"/>
                  </a:lnTo>
                  <a:lnTo>
                    <a:pt x="8509" y="447421"/>
                  </a:lnTo>
                  <a:lnTo>
                    <a:pt x="8509" y="438912"/>
                  </a:lnTo>
                  <a:lnTo>
                    <a:pt x="12932028" y="438912"/>
                  </a:lnTo>
                  <a:lnTo>
                    <a:pt x="12932028" y="447421"/>
                  </a:lnTo>
                  <a:lnTo>
                    <a:pt x="12923520" y="447421"/>
                  </a:lnTo>
                  <a:lnTo>
                    <a:pt x="12923520" y="8509"/>
                  </a:lnTo>
                  <a:lnTo>
                    <a:pt x="12932028" y="8509"/>
                  </a:lnTo>
                  <a:lnTo>
                    <a:pt x="129320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97280" y="9784080"/>
            <a:ext cx="9326880" cy="329184"/>
            <a:chOff x="0" y="0"/>
            <a:chExt cx="12435840" cy="4389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435840" cy="438912"/>
            </a:xfrm>
            <a:custGeom>
              <a:avLst/>
              <a:gdLst/>
              <a:ahLst/>
              <a:cxnLst/>
              <a:rect r="r" b="b" t="t" l="l"/>
              <a:pathLst>
                <a:path h="43891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24358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1E40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Tip: Ensure OpenCog is installed before running this code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146155" y="1544955"/>
            <a:ext cx="6419850" cy="5870448"/>
            <a:chOff x="0" y="0"/>
            <a:chExt cx="8559800" cy="78272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2700" y="13023"/>
              <a:ext cx="8534400" cy="7801218"/>
            </a:xfrm>
            <a:custGeom>
              <a:avLst/>
              <a:gdLst/>
              <a:ahLst/>
              <a:cxnLst/>
              <a:rect r="r" b="b" t="t" l="l"/>
              <a:pathLst>
                <a:path h="780121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801218"/>
                  </a:lnTo>
                  <a:lnTo>
                    <a:pt x="0" y="78012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559800" cy="7827264"/>
            </a:xfrm>
            <a:custGeom>
              <a:avLst/>
              <a:gdLst/>
              <a:ahLst/>
              <a:cxnLst/>
              <a:rect r="r" b="b" t="t" l="l"/>
              <a:pathLst>
                <a:path h="7827264" w="8559800">
                  <a:moveTo>
                    <a:pt x="12700" y="0"/>
                  </a:moveTo>
                  <a:lnTo>
                    <a:pt x="8547100" y="0"/>
                  </a:lnTo>
                  <a:cubicBezTo>
                    <a:pt x="8554085" y="0"/>
                    <a:pt x="8559800" y="5860"/>
                    <a:pt x="8559800" y="13023"/>
                  </a:cubicBezTo>
                  <a:lnTo>
                    <a:pt x="8559800" y="7814241"/>
                  </a:lnTo>
                  <a:cubicBezTo>
                    <a:pt x="8559800" y="7821403"/>
                    <a:pt x="8554085" y="7827264"/>
                    <a:pt x="8547100" y="7827264"/>
                  </a:cubicBezTo>
                  <a:lnTo>
                    <a:pt x="12700" y="7827264"/>
                  </a:lnTo>
                  <a:cubicBezTo>
                    <a:pt x="5715" y="7827264"/>
                    <a:pt x="0" y="7821403"/>
                    <a:pt x="0" y="7814241"/>
                  </a:cubicBezTo>
                  <a:lnTo>
                    <a:pt x="0" y="13023"/>
                  </a:lnTo>
                  <a:cubicBezTo>
                    <a:pt x="0" y="5860"/>
                    <a:pt x="5715" y="0"/>
                    <a:pt x="12700" y="0"/>
                  </a:cubicBezTo>
                  <a:moveTo>
                    <a:pt x="12700" y="26046"/>
                  </a:moveTo>
                  <a:lnTo>
                    <a:pt x="12700" y="13023"/>
                  </a:lnTo>
                  <a:lnTo>
                    <a:pt x="25400" y="13023"/>
                  </a:lnTo>
                  <a:lnTo>
                    <a:pt x="25400" y="7814241"/>
                  </a:lnTo>
                  <a:lnTo>
                    <a:pt x="12700" y="7814241"/>
                  </a:lnTo>
                  <a:lnTo>
                    <a:pt x="12700" y="7801218"/>
                  </a:lnTo>
                  <a:lnTo>
                    <a:pt x="8547100" y="7801218"/>
                  </a:lnTo>
                  <a:lnTo>
                    <a:pt x="8547100" y="7814241"/>
                  </a:lnTo>
                  <a:lnTo>
                    <a:pt x="8534400" y="7814241"/>
                  </a:lnTo>
                  <a:lnTo>
                    <a:pt x="8534400" y="13023"/>
                  </a:lnTo>
                  <a:lnTo>
                    <a:pt x="8547100" y="13023"/>
                  </a:lnTo>
                  <a:lnTo>
                    <a:pt x="8547100" y="26046"/>
                  </a:lnTo>
                  <a:lnTo>
                    <a:pt x="12700" y="2604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430000" y="1700784"/>
            <a:ext cx="694944" cy="694944"/>
            <a:chOff x="0" y="0"/>
            <a:chExt cx="926592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430000" y="1700784"/>
            <a:ext cx="694944" cy="694944"/>
            <a:chOff x="0" y="0"/>
            <a:chExt cx="926592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252960" y="1792224"/>
            <a:ext cx="5120640" cy="512064"/>
            <a:chOff x="0" y="0"/>
            <a:chExt cx="682752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827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Initialize AtomSpace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430000" y="2523744"/>
            <a:ext cx="5943600" cy="822960"/>
            <a:chOff x="0" y="0"/>
            <a:chExt cx="792480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924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79248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 up the AtomSpace environment for storing and reasoning about medical knowledge.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426828" y="3471548"/>
            <a:ext cx="5949953" cy="701297"/>
            <a:chOff x="0" y="0"/>
            <a:chExt cx="7933271" cy="93506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4191" y="4191"/>
              <a:ext cx="7924800" cy="926592"/>
            </a:xfrm>
            <a:custGeom>
              <a:avLst/>
              <a:gdLst/>
              <a:ahLst/>
              <a:cxnLst/>
              <a:rect r="r" b="b" t="t" l="l"/>
              <a:pathLst>
                <a:path h="926592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933182" cy="934974"/>
            </a:xfrm>
            <a:custGeom>
              <a:avLst/>
              <a:gdLst/>
              <a:ahLst/>
              <a:cxnLst/>
              <a:rect r="r" b="b" t="t" l="l"/>
              <a:pathLst>
                <a:path h="934974" w="7933182">
                  <a:moveTo>
                    <a:pt x="4191" y="0"/>
                  </a:moveTo>
                  <a:lnTo>
                    <a:pt x="7928991" y="0"/>
                  </a:lnTo>
                  <a:cubicBezTo>
                    <a:pt x="7931277" y="0"/>
                    <a:pt x="7933182" y="1905"/>
                    <a:pt x="7933182" y="4191"/>
                  </a:cubicBezTo>
                  <a:lnTo>
                    <a:pt x="7933182" y="930783"/>
                  </a:lnTo>
                  <a:cubicBezTo>
                    <a:pt x="7933182" y="933069"/>
                    <a:pt x="7931277" y="934974"/>
                    <a:pt x="7928991" y="934974"/>
                  </a:cubicBezTo>
                  <a:lnTo>
                    <a:pt x="4191" y="934974"/>
                  </a:lnTo>
                  <a:cubicBezTo>
                    <a:pt x="1905" y="934974"/>
                    <a:pt x="0" y="933069"/>
                    <a:pt x="0" y="930783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930783"/>
                  </a:lnTo>
                  <a:lnTo>
                    <a:pt x="4191" y="930783"/>
                  </a:lnTo>
                  <a:lnTo>
                    <a:pt x="4191" y="926592"/>
                  </a:lnTo>
                  <a:lnTo>
                    <a:pt x="7928991" y="926592"/>
                  </a:lnTo>
                  <a:lnTo>
                    <a:pt x="7928991" y="930783"/>
                  </a:lnTo>
                  <a:lnTo>
                    <a:pt x="7924800" y="930783"/>
                  </a:lnTo>
                  <a:lnTo>
                    <a:pt x="7924800" y="4191"/>
                  </a:lnTo>
                  <a:lnTo>
                    <a:pt x="7928991" y="4191"/>
                  </a:lnTo>
                  <a:lnTo>
                    <a:pt x="792899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558016" y="3602736"/>
            <a:ext cx="457200" cy="457200"/>
            <a:chOff x="0" y="0"/>
            <a:chExt cx="609600" cy="609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558016" y="3602736"/>
            <a:ext cx="457200" cy="457200"/>
            <a:chOff x="0" y="0"/>
            <a:chExt cx="609600" cy="609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106656" y="3657600"/>
            <a:ext cx="5120640" cy="548640"/>
            <a:chOff x="0" y="0"/>
            <a:chExt cx="682752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6827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Import modules: Import OpenCog Python bindings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426828" y="4294508"/>
            <a:ext cx="5949953" cy="701297"/>
            <a:chOff x="0" y="0"/>
            <a:chExt cx="7933271" cy="93506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4191" y="4191"/>
              <a:ext cx="7924800" cy="926592"/>
            </a:xfrm>
            <a:custGeom>
              <a:avLst/>
              <a:gdLst/>
              <a:ahLst/>
              <a:cxnLst/>
              <a:rect r="r" b="b" t="t" l="l"/>
              <a:pathLst>
                <a:path h="926592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933182" cy="934974"/>
            </a:xfrm>
            <a:custGeom>
              <a:avLst/>
              <a:gdLst/>
              <a:ahLst/>
              <a:cxnLst/>
              <a:rect r="r" b="b" t="t" l="l"/>
              <a:pathLst>
                <a:path h="934974" w="7933182">
                  <a:moveTo>
                    <a:pt x="4191" y="0"/>
                  </a:moveTo>
                  <a:lnTo>
                    <a:pt x="7928991" y="0"/>
                  </a:lnTo>
                  <a:cubicBezTo>
                    <a:pt x="7931277" y="0"/>
                    <a:pt x="7933182" y="1905"/>
                    <a:pt x="7933182" y="4191"/>
                  </a:cubicBezTo>
                  <a:lnTo>
                    <a:pt x="7933182" y="930783"/>
                  </a:lnTo>
                  <a:cubicBezTo>
                    <a:pt x="7933182" y="933069"/>
                    <a:pt x="7931277" y="934974"/>
                    <a:pt x="7928991" y="934974"/>
                  </a:cubicBezTo>
                  <a:lnTo>
                    <a:pt x="4191" y="934974"/>
                  </a:lnTo>
                  <a:cubicBezTo>
                    <a:pt x="1905" y="934974"/>
                    <a:pt x="0" y="933069"/>
                    <a:pt x="0" y="930783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930783"/>
                  </a:lnTo>
                  <a:lnTo>
                    <a:pt x="4191" y="930783"/>
                  </a:lnTo>
                  <a:lnTo>
                    <a:pt x="4191" y="926592"/>
                  </a:lnTo>
                  <a:lnTo>
                    <a:pt x="7928991" y="926592"/>
                  </a:lnTo>
                  <a:lnTo>
                    <a:pt x="7928991" y="930783"/>
                  </a:lnTo>
                  <a:lnTo>
                    <a:pt x="7924800" y="930783"/>
                  </a:lnTo>
                  <a:lnTo>
                    <a:pt x="7924800" y="4191"/>
                  </a:lnTo>
                  <a:lnTo>
                    <a:pt x="7928991" y="4191"/>
                  </a:lnTo>
                  <a:lnTo>
                    <a:pt x="792899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558016" y="4425696"/>
            <a:ext cx="457200" cy="457200"/>
            <a:chOff x="0" y="0"/>
            <a:chExt cx="609600" cy="6096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58016" y="4425696"/>
            <a:ext cx="457200" cy="457200"/>
            <a:chOff x="0" y="0"/>
            <a:chExt cx="609600" cy="609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106656" y="4480560"/>
            <a:ext cx="5120640" cy="548640"/>
            <a:chOff x="0" y="0"/>
            <a:chExt cx="682752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6827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 AtomSpace: Initialize empty knowledge base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426828" y="5117468"/>
            <a:ext cx="5949953" cy="701297"/>
            <a:chOff x="0" y="0"/>
            <a:chExt cx="7933271" cy="93506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4191" y="4191"/>
              <a:ext cx="7924800" cy="926592"/>
            </a:xfrm>
            <a:custGeom>
              <a:avLst/>
              <a:gdLst/>
              <a:ahLst/>
              <a:cxnLst/>
              <a:rect r="r" b="b" t="t" l="l"/>
              <a:pathLst>
                <a:path h="926592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933182" cy="934974"/>
            </a:xfrm>
            <a:custGeom>
              <a:avLst/>
              <a:gdLst/>
              <a:ahLst/>
              <a:cxnLst/>
              <a:rect r="r" b="b" t="t" l="l"/>
              <a:pathLst>
                <a:path h="934974" w="7933182">
                  <a:moveTo>
                    <a:pt x="4191" y="0"/>
                  </a:moveTo>
                  <a:lnTo>
                    <a:pt x="7928991" y="0"/>
                  </a:lnTo>
                  <a:cubicBezTo>
                    <a:pt x="7931277" y="0"/>
                    <a:pt x="7933182" y="1905"/>
                    <a:pt x="7933182" y="4191"/>
                  </a:cubicBezTo>
                  <a:lnTo>
                    <a:pt x="7933182" y="930783"/>
                  </a:lnTo>
                  <a:cubicBezTo>
                    <a:pt x="7933182" y="933069"/>
                    <a:pt x="7931277" y="934974"/>
                    <a:pt x="7928991" y="934974"/>
                  </a:cubicBezTo>
                  <a:lnTo>
                    <a:pt x="4191" y="934974"/>
                  </a:lnTo>
                  <a:cubicBezTo>
                    <a:pt x="1905" y="934974"/>
                    <a:pt x="0" y="933069"/>
                    <a:pt x="0" y="930783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930783"/>
                  </a:lnTo>
                  <a:lnTo>
                    <a:pt x="4191" y="930783"/>
                  </a:lnTo>
                  <a:lnTo>
                    <a:pt x="4191" y="926592"/>
                  </a:lnTo>
                  <a:lnTo>
                    <a:pt x="7928991" y="926592"/>
                  </a:lnTo>
                  <a:lnTo>
                    <a:pt x="7928991" y="930783"/>
                  </a:lnTo>
                  <a:lnTo>
                    <a:pt x="7924800" y="930783"/>
                  </a:lnTo>
                  <a:lnTo>
                    <a:pt x="7924800" y="4191"/>
                  </a:lnTo>
                  <a:lnTo>
                    <a:pt x="7928991" y="4191"/>
                  </a:lnTo>
                  <a:lnTo>
                    <a:pt x="792899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558016" y="5248656"/>
            <a:ext cx="457200" cy="457200"/>
            <a:chOff x="0" y="0"/>
            <a:chExt cx="609600" cy="6096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558016" y="5248656"/>
            <a:ext cx="457200" cy="457200"/>
            <a:chOff x="0" y="0"/>
            <a:chExt cx="609600" cy="6096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106656" y="5303520"/>
            <a:ext cx="5120640" cy="548640"/>
            <a:chOff x="0" y="0"/>
            <a:chExt cx="6827520" cy="7315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6827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Define nodes: Create medical concept nodes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426828" y="5940428"/>
            <a:ext cx="5949953" cy="701297"/>
            <a:chOff x="0" y="0"/>
            <a:chExt cx="7933271" cy="935063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4191" y="4191"/>
              <a:ext cx="7924800" cy="926592"/>
            </a:xfrm>
            <a:custGeom>
              <a:avLst/>
              <a:gdLst/>
              <a:ahLst/>
              <a:cxnLst/>
              <a:rect r="r" b="b" t="t" l="l"/>
              <a:pathLst>
                <a:path h="926592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933182" cy="934974"/>
            </a:xfrm>
            <a:custGeom>
              <a:avLst/>
              <a:gdLst/>
              <a:ahLst/>
              <a:cxnLst/>
              <a:rect r="r" b="b" t="t" l="l"/>
              <a:pathLst>
                <a:path h="934974" w="7933182">
                  <a:moveTo>
                    <a:pt x="4191" y="0"/>
                  </a:moveTo>
                  <a:lnTo>
                    <a:pt x="7928991" y="0"/>
                  </a:lnTo>
                  <a:cubicBezTo>
                    <a:pt x="7931277" y="0"/>
                    <a:pt x="7933182" y="1905"/>
                    <a:pt x="7933182" y="4191"/>
                  </a:cubicBezTo>
                  <a:lnTo>
                    <a:pt x="7933182" y="930783"/>
                  </a:lnTo>
                  <a:cubicBezTo>
                    <a:pt x="7933182" y="933069"/>
                    <a:pt x="7931277" y="934974"/>
                    <a:pt x="7928991" y="934974"/>
                  </a:cubicBezTo>
                  <a:lnTo>
                    <a:pt x="4191" y="934974"/>
                  </a:lnTo>
                  <a:cubicBezTo>
                    <a:pt x="1905" y="934974"/>
                    <a:pt x="0" y="933069"/>
                    <a:pt x="0" y="930783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930783"/>
                  </a:lnTo>
                  <a:lnTo>
                    <a:pt x="4191" y="930783"/>
                  </a:lnTo>
                  <a:lnTo>
                    <a:pt x="4191" y="926592"/>
                  </a:lnTo>
                  <a:lnTo>
                    <a:pt x="7928991" y="926592"/>
                  </a:lnTo>
                  <a:lnTo>
                    <a:pt x="7928991" y="930783"/>
                  </a:lnTo>
                  <a:lnTo>
                    <a:pt x="7924800" y="930783"/>
                  </a:lnTo>
                  <a:lnTo>
                    <a:pt x="7924800" y="4191"/>
                  </a:lnTo>
                  <a:lnTo>
                    <a:pt x="7928991" y="4191"/>
                  </a:lnTo>
                  <a:lnTo>
                    <a:pt x="792899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558016" y="6071616"/>
            <a:ext cx="457200" cy="457200"/>
            <a:chOff x="0" y="0"/>
            <a:chExt cx="609600" cy="6096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1558016" y="6071616"/>
            <a:ext cx="457200" cy="457200"/>
            <a:chOff x="0" y="0"/>
            <a:chExt cx="609600" cy="6096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106656" y="6126480"/>
            <a:ext cx="5120640" cy="548640"/>
            <a:chOff x="0" y="0"/>
            <a:chExt cx="6827520" cy="7315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6827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Establish links: Connect nodes with relationships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430000" y="6949440"/>
            <a:ext cx="5943600" cy="47625"/>
            <a:chOff x="0" y="0"/>
            <a:chExt cx="7924800" cy="635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924800" cy="63500"/>
            </a:xfrm>
            <a:custGeom>
              <a:avLst/>
              <a:gdLst/>
              <a:ahLst/>
              <a:cxnLst/>
              <a:rect r="r" b="b" t="t" l="l"/>
              <a:pathLst>
                <a:path h="6350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1430000" y="6949440"/>
            <a:ext cx="1188720" cy="47625"/>
            <a:chOff x="0" y="0"/>
            <a:chExt cx="1584960" cy="635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584960" cy="63500"/>
            </a:xfrm>
            <a:custGeom>
              <a:avLst/>
              <a:gdLst/>
              <a:ahLst/>
              <a:cxnLst/>
              <a:rect r="r" b="b" t="t" l="l"/>
              <a:pathLst>
                <a:path h="6350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1430000" y="6989445"/>
            <a:ext cx="5943600" cy="329184"/>
            <a:chOff x="0" y="0"/>
            <a:chExt cx="7924800" cy="43891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924800" cy="438912"/>
            </a:xfrm>
            <a:custGeom>
              <a:avLst/>
              <a:gdLst/>
              <a:ahLst/>
              <a:cxnLst/>
              <a:rect r="r" b="b" t="t" l="l"/>
              <a:pathLst>
                <a:path h="438912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813" r="0" b="-30181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792480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Progress: 1/5 steps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146155" y="7415403"/>
            <a:ext cx="6419850" cy="1573530"/>
            <a:chOff x="0" y="0"/>
            <a:chExt cx="8559800" cy="20980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2700" y="12700"/>
              <a:ext cx="85344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559800" cy="2098040"/>
            </a:xfrm>
            <a:custGeom>
              <a:avLst/>
              <a:gdLst/>
              <a:ahLst/>
              <a:cxnLst/>
              <a:rect r="r" b="b" t="t" l="l"/>
              <a:pathLst>
                <a:path h="2098040" w="8559800">
                  <a:moveTo>
                    <a:pt x="12700" y="0"/>
                  </a:moveTo>
                  <a:lnTo>
                    <a:pt x="8547100" y="0"/>
                  </a:lnTo>
                  <a:cubicBezTo>
                    <a:pt x="8554085" y="0"/>
                    <a:pt x="8559800" y="5715"/>
                    <a:pt x="8559800" y="12700"/>
                  </a:cubicBezTo>
                  <a:lnTo>
                    <a:pt x="8559800" y="2085340"/>
                  </a:lnTo>
                  <a:cubicBezTo>
                    <a:pt x="8559800" y="2092325"/>
                    <a:pt x="8554085" y="2098040"/>
                    <a:pt x="8547100" y="2098040"/>
                  </a:cubicBezTo>
                  <a:lnTo>
                    <a:pt x="12700" y="2098040"/>
                  </a:lnTo>
                  <a:cubicBezTo>
                    <a:pt x="5715" y="2098040"/>
                    <a:pt x="0" y="2092325"/>
                    <a:pt x="0" y="20853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085340"/>
                  </a:lnTo>
                  <a:lnTo>
                    <a:pt x="12700" y="2085340"/>
                  </a:lnTo>
                  <a:lnTo>
                    <a:pt x="12700" y="2072640"/>
                  </a:lnTo>
                  <a:lnTo>
                    <a:pt x="8547100" y="2072640"/>
                  </a:lnTo>
                  <a:lnTo>
                    <a:pt x="8547100" y="2085340"/>
                  </a:lnTo>
                  <a:lnTo>
                    <a:pt x="8534400" y="2085340"/>
                  </a:lnTo>
                  <a:lnTo>
                    <a:pt x="8534400" y="12700"/>
                  </a:lnTo>
                  <a:lnTo>
                    <a:pt x="8547100" y="12700"/>
                  </a:lnTo>
                  <a:lnTo>
                    <a:pt x="8547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1430000" y="7589520"/>
            <a:ext cx="585216" cy="585216"/>
            <a:chOff x="0" y="0"/>
            <a:chExt cx="780288" cy="78028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625"/>
                    <a:pt x="780288" y="390144"/>
                  </a:cubicBezTo>
                  <a:cubicBezTo>
                    <a:pt x="780288" y="605663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94A3B8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1430000" y="7589520"/>
            <a:ext cx="585216" cy="585216"/>
            <a:chOff x="0" y="0"/>
            <a:chExt cx="780288" cy="78028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47625"/>
              <a:ext cx="780288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161520" y="7644384"/>
            <a:ext cx="5120640" cy="457200"/>
            <a:chOff x="0" y="0"/>
            <a:chExt cx="6827520" cy="6096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827520" cy="609600"/>
            </a:xfrm>
            <a:custGeom>
              <a:avLst/>
              <a:gdLst/>
              <a:ahLst/>
              <a:cxnLst/>
              <a:rect r="r" b="b" t="t" l="l"/>
              <a:pathLst>
                <a:path h="609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232" r="0" b="-168232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68275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Next: Load Medical Ontology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1430000" y="8193024"/>
            <a:ext cx="5943600" cy="585216"/>
            <a:chOff x="0" y="0"/>
            <a:chExt cx="7924800" cy="78028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7924800" cy="780288"/>
            </a:xfrm>
            <a:custGeom>
              <a:avLst/>
              <a:gdLst/>
              <a:ahLst/>
              <a:cxnLst/>
              <a:rect r="r" b="b" t="t" l="l"/>
              <a:pathLst>
                <a:path h="780288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894" r="0" b="-147894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79248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Load predefined medical knowledge base for reasoning.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6736"/>
            <a:chOff x="0" y="0"/>
            <a:chExt cx="24384000" cy="1755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2: Adding Medical Knowledge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44800" y="365760"/>
            <a:ext cx="2377440" cy="548640"/>
            <a:chOff x="0" y="0"/>
            <a:chExt cx="3169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9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169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40/53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3900" y="1331191"/>
            <a:ext cx="14630400" cy="822960"/>
            <a:chOff x="0" y="0"/>
            <a:chExt cx="1950720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9507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Medical Knowledge Base Setup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10186416"/>
            <a:ext cx="18288000" cy="128016"/>
            <a:chOff x="0" y="0"/>
            <a:chExt cx="24384000" cy="1706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0" y="10186416"/>
            <a:ext cx="10972800" cy="128016"/>
            <a:chOff x="0" y="0"/>
            <a:chExt cx="14630400" cy="1706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170688"/>
            </a:xfrm>
            <a:custGeom>
              <a:avLst/>
              <a:gdLst/>
              <a:ahLst/>
              <a:cxnLst/>
              <a:rect r="r" b="b" t="t" l="l"/>
              <a:pathLst>
                <a:path h="17068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608653" y="2060273"/>
            <a:ext cx="16537166" cy="7979183"/>
          </a:xfrm>
          <a:custGeom>
            <a:avLst/>
            <a:gdLst/>
            <a:ahLst/>
            <a:cxnLst/>
            <a:rect r="r" b="b" t="t" l="l"/>
            <a:pathLst>
              <a:path h="7979183" w="16537166">
                <a:moveTo>
                  <a:pt x="0" y="0"/>
                </a:moveTo>
                <a:lnTo>
                  <a:pt x="16537166" y="0"/>
                </a:lnTo>
                <a:lnTo>
                  <a:pt x="16537166" y="7979183"/>
                </a:lnTo>
                <a:lnTo>
                  <a:pt x="0" y="79791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14400" y="784860"/>
            <a:ext cx="13716000" cy="53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CE0FF"/>
                </a:solidFill>
                <a:latin typeface="Calibri (MS)"/>
                <a:ea typeface="Calibri (MS)"/>
                <a:cs typeface="Calibri (MS)"/>
                <a:sym typeface="Calibri (MS)"/>
              </a:rPr>
              <a:t>Creating medical ontology with Python AtomSpace API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144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82880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3 - PLN Backward Chaining with Inference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14400"/>
            <a:ext cx="13716000" cy="512064"/>
            <a:chOff x="0" y="0"/>
            <a:chExt cx="182880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288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E0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Implementing probabilistic logic reasoning in AtomSpace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30400" y="512064"/>
            <a:ext cx="3291840" cy="548640"/>
            <a:chOff x="0" y="0"/>
            <a:chExt cx="43891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41/53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795247" y="1731007"/>
            <a:ext cx="5133337" cy="597913"/>
            <a:chOff x="0" y="0"/>
            <a:chExt cx="6844449" cy="7972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509" y="8509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365760"/>
                  </a:moveTo>
                  <a:cubicBezTo>
                    <a:pt x="0" y="163703"/>
                    <a:pt x="166878" y="0"/>
                    <a:pt x="372745" y="0"/>
                  </a:cubicBezTo>
                  <a:lnTo>
                    <a:pt x="6454775" y="0"/>
                  </a:lnTo>
                  <a:cubicBezTo>
                    <a:pt x="6660642" y="0"/>
                    <a:pt x="6827520" y="163703"/>
                    <a:pt x="6827520" y="365760"/>
                  </a:cubicBezTo>
                  <a:lnTo>
                    <a:pt x="6827520" y="414528"/>
                  </a:lnTo>
                  <a:cubicBezTo>
                    <a:pt x="6827520" y="616585"/>
                    <a:pt x="6660642" y="780288"/>
                    <a:pt x="6454775" y="780288"/>
                  </a:cubicBezTo>
                  <a:lnTo>
                    <a:pt x="372745" y="780288"/>
                  </a:lnTo>
                  <a:cubicBezTo>
                    <a:pt x="166878" y="780288"/>
                    <a:pt x="0" y="616458"/>
                    <a:pt x="0" y="41452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44538" cy="797306"/>
            </a:xfrm>
            <a:custGeom>
              <a:avLst/>
              <a:gdLst/>
              <a:ahLst/>
              <a:cxnLst/>
              <a:rect r="r" b="b" t="t" l="l"/>
              <a:pathLst>
                <a:path h="797306" w="6844538">
                  <a:moveTo>
                    <a:pt x="0" y="374269"/>
                  </a:moveTo>
                  <a:cubicBezTo>
                    <a:pt x="0" y="167386"/>
                    <a:pt x="170815" y="0"/>
                    <a:pt x="381254" y="0"/>
                  </a:cubicBezTo>
                  <a:lnTo>
                    <a:pt x="6463284" y="0"/>
                  </a:lnTo>
                  <a:lnTo>
                    <a:pt x="6463284" y="8509"/>
                  </a:lnTo>
                  <a:lnTo>
                    <a:pt x="6463284" y="0"/>
                  </a:lnTo>
                  <a:cubicBezTo>
                    <a:pt x="6673723" y="0"/>
                    <a:pt x="6844538" y="167386"/>
                    <a:pt x="6844538" y="374269"/>
                  </a:cubicBezTo>
                  <a:lnTo>
                    <a:pt x="6836029" y="374269"/>
                  </a:lnTo>
                  <a:lnTo>
                    <a:pt x="6844538" y="374269"/>
                  </a:lnTo>
                  <a:lnTo>
                    <a:pt x="6844538" y="423037"/>
                  </a:lnTo>
                  <a:lnTo>
                    <a:pt x="6836029" y="423037"/>
                  </a:lnTo>
                  <a:lnTo>
                    <a:pt x="6844538" y="423037"/>
                  </a:lnTo>
                  <a:cubicBezTo>
                    <a:pt x="6844538" y="629920"/>
                    <a:pt x="6673723" y="797306"/>
                    <a:pt x="6463284" y="797306"/>
                  </a:cubicBezTo>
                  <a:lnTo>
                    <a:pt x="6463284" y="788797"/>
                  </a:lnTo>
                  <a:lnTo>
                    <a:pt x="6463284" y="797306"/>
                  </a:lnTo>
                  <a:lnTo>
                    <a:pt x="381254" y="797306"/>
                  </a:lnTo>
                  <a:lnTo>
                    <a:pt x="381254" y="788797"/>
                  </a:lnTo>
                  <a:lnTo>
                    <a:pt x="381254" y="797306"/>
                  </a:lnTo>
                  <a:cubicBezTo>
                    <a:pt x="170815" y="797179"/>
                    <a:pt x="0" y="629793"/>
                    <a:pt x="0" y="423037"/>
                  </a:cubicBezTo>
                  <a:lnTo>
                    <a:pt x="0" y="374269"/>
                  </a:lnTo>
                  <a:lnTo>
                    <a:pt x="8509" y="374269"/>
                  </a:lnTo>
                  <a:lnTo>
                    <a:pt x="0" y="374269"/>
                  </a:lnTo>
                  <a:moveTo>
                    <a:pt x="16891" y="374269"/>
                  </a:moveTo>
                  <a:lnTo>
                    <a:pt x="16891" y="423037"/>
                  </a:lnTo>
                  <a:lnTo>
                    <a:pt x="8509" y="423037"/>
                  </a:lnTo>
                  <a:lnTo>
                    <a:pt x="17018" y="423037"/>
                  </a:lnTo>
                  <a:cubicBezTo>
                    <a:pt x="17018" y="620268"/>
                    <a:pt x="179959" y="780288"/>
                    <a:pt x="381381" y="780288"/>
                  </a:cubicBezTo>
                  <a:lnTo>
                    <a:pt x="6463411" y="780288"/>
                  </a:lnTo>
                  <a:cubicBezTo>
                    <a:pt x="6664706" y="780288"/>
                    <a:pt x="6827774" y="620141"/>
                    <a:pt x="6827774" y="423037"/>
                  </a:cubicBezTo>
                  <a:lnTo>
                    <a:pt x="6827774" y="374269"/>
                  </a:lnTo>
                  <a:cubicBezTo>
                    <a:pt x="6827774" y="177038"/>
                    <a:pt x="6664833" y="17018"/>
                    <a:pt x="6463411" y="17018"/>
                  </a:cubicBezTo>
                  <a:lnTo>
                    <a:pt x="381254" y="17018"/>
                  </a:lnTo>
                  <a:lnTo>
                    <a:pt x="381254" y="8509"/>
                  </a:lnTo>
                  <a:lnTo>
                    <a:pt x="381254" y="17018"/>
                  </a:lnTo>
                  <a:cubicBezTo>
                    <a:pt x="179832" y="16891"/>
                    <a:pt x="16891" y="177038"/>
                    <a:pt x="16891" y="374269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801600" y="1737360"/>
            <a:ext cx="5120640" cy="585216"/>
            <a:chOff x="0" y="0"/>
            <a:chExt cx="6827520" cy="780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8275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PLN Inference Engine Active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1792224"/>
            <a:ext cx="16459200" cy="822960"/>
            <a:chOff x="0" y="0"/>
            <a:chExt cx="2194560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219456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③  PLN Backward Chaining Implementation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25167" y="2794121"/>
            <a:ext cx="10619737" cy="7053577"/>
            <a:chOff x="0" y="0"/>
            <a:chExt cx="14159649" cy="94047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8509" y="8509"/>
              <a:ext cx="14142720" cy="9387840"/>
            </a:xfrm>
            <a:custGeom>
              <a:avLst/>
              <a:gdLst/>
              <a:ahLst/>
              <a:cxnLst/>
              <a:rect r="r" b="b" t="t" l="l"/>
              <a:pathLst>
                <a:path h="938784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9387840"/>
                  </a:lnTo>
                  <a:lnTo>
                    <a:pt x="0" y="938784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159737" cy="9404858"/>
            </a:xfrm>
            <a:custGeom>
              <a:avLst/>
              <a:gdLst/>
              <a:ahLst/>
              <a:cxnLst/>
              <a:rect r="r" b="b" t="t" l="l"/>
              <a:pathLst>
                <a:path h="9404858" w="14159737">
                  <a:moveTo>
                    <a:pt x="8509" y="0"/>
                  </a:moveTo>
                  <a:lnTo>
                    <a:pt x="14151229" y="0"/>
                  </a:lnTo>
                  <a:cubicBezTo>
                    <a:pt x="14155928" y="0"/>
                    <a:pt x="14159737" y="3810"/>
                    <a:pt x="14159737" y="8509"/>
                  </a:cubicBezTo>
                  <a:lnTo>
                    <a:pt x="14159737" y="9396349"/>
                  </a:lnTo>
                  <a:cubicBezTo>
                    <a:pt x="14159737" y="9401048"/>
                    <a:pt x="14155928" y="9404858"/>
                    <a:pt x="14151229" y="9404858"/>
                  </a:cubicBezTo>
                  <a:lnTo>
                    <a:pt x="8509" y="9404858"/>
                  </a:lnTo>
                  <a:cubicBezTo>
                    <a:pt x="3810" y="9404858"/>
                    <a:pt x="0" y="9401048"/>
                    <a:pt x="0" y="93963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96349"/>
                  </a:lnTo>
                  <a:lnTo>
                    <a:pt x="8509" y="9396349"/>
                  </a:lnTo>
                  <a:lnTo>
                    <a:pt x="8509" y="9387840"/>
                  </a:lnTo>
                  <a:lnTo>
                    <a:pt x="14151229" y="9387840"/>
                  </a:lnTo>
                  <a:lnTo>
                    <a:pt x="14151229" y="9396349"/>
                  </a:lnTo>
                  <a:lnTo>
                    <a:pt x="14142720" y="9396349"/>
                  </a:lnTo>
                  <a:lnTo>
                    <a:pt x="14142720" y="8509"/>
                  </a:lnTo>
                  <a:lnTo>
                    <a:pt x="14151229" y="8509"/>
                  </a:lnTo>
                  <a:lnTo>
                    <a:pt x="141512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97280" y="2794121"/>
            <a:ext cx="5486400" cy="512064"/>
            <a:chOff x="0" y="0"/>
            <a:chExt cx="731520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73152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Python Implementation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25167" y="3409559"/>
            <a:ext cx="10619737" cy="12697"/>
            <a:chOff x="0" y="0"/>
            <a:chExt cx="14159649" cy="169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8509" y="0"/>
              <a:ext cx="14142720" cy="16891"/>
            </a:xfrm>
            <a:custGeom>
              <a:avLst/>
              <a:gdLst/>
              <a:ahLst/>
              <a:cxnLst/>
              <a:rect r="r" b="b" t="t" l="l"/>
              <a:pathLst>
                <a:path h="16891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" y="3562217"/>
            <a:ext cx="10241280" cy="310896"/>
            <a:chOff x="0" y="0"/>
            <a:chExt cx="13655040" cy="4145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655039" cy="414528"/>
            </a:xfrm>
            <a:custGeom>
              <a:avLst/>
              <a:gdLst/>
              <a:ahLst/>
              <a:cxnLst/>
              <a:rect r="r" b="b" t="t" l="l"/>
              <a:pathLst>
                <a:path h="414528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860" r="0" b="-59186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36550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1  from opencog.atomspace import AtomSpace, TruthValue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3891401"/>
            <a:ext cx="10241280" cy="310896"/>
            <a:chOff x="0" y="0"/>
            <a:chExt cx="13655040" cy="4145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655039" cy="414528"/>
            </a:xfrm>
            <a:custGeom>
              <a:avLst/>
              <a:gdLst/>
              <a:ahLst/>
              <a:cxnLst/>
              <a:rect r="r" b="b" t="t" l="l"/>
              <a:pathLst>
                <a:path h="414528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860" r="0" b="-59186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36550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2  from opencog.pln import BackwardChainer, InferenceRule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400" y="4220585"/>
            <a:ext cx="10241280" cy="310896"/>
            <a:chOff x="0" y="0"/>
            <a:chExt cx="13655040" cy="4145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655039" cy="414528"/>
            </a:xfrm>
            <a:custGeom>
              <a:avLst/>
              <a:gdLst/>
              <a:ahLst/>
              <a:cxnLst/>
              <a:rect r="r" b="b" t="t" l="l"/>
              <a:pathLst>
                <a:path h="414528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860" r="0" b="-59186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36550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3  from opencog.bindlink import execute_atom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14400" y="4878953"/>
            <a:ext cx="10241280" cy="310896"/>
            <a:chOff x="0" y="0"/>
            <a:chExt cx="13655040" cy="4145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655039" cy="414528"/>
            </a:xfrm>
            <a:custGeom>
              <a:avLst/>
              <a:gdLst/>
              <a:ahLst/>
              <a:cxnLst/>
              <a:rect r="r" b="b" t="t" l="l"/>
              <a:pathLst>
                <a:path h="414528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860" r="0" b="-59186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36550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5  # Initialize AtomSpace and PLN chainer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14400" y="5208137"/>
            <a:ext cx="10241280" cy="310896"/>
            <a:chOff x="0" y="0"/>
            <a:chExt cx="13655040" cy="4145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655039" cy="414528"/>
            </a:xfrm>
            <a:custGeom>
              <a:avLst/>
              <a:gdLst/>
              <a:ahLst/>
              <a:cxnLst/>
              <a:rect r="r" b="b" t="t" l="l"/>
              <a:pathLst>
                <a:path h="414528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860" r="0" b="-59186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36550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6  atomspace = AtomSpace()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4400" y="5537321"/>
            <a:ext cx="10241280" cy="310896"/>
            <a:chOff x="0" y="0"/>
            <a:chExt cx="13655040" cy="4145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655039" cy="414528"/>
            </a:xfrm>
            <a:custGeom>
              <a:avLst/>
              <a:gdLst/>
              <a:ahLst/>
              <a:cxnLst/>
              <a:rect r="r" b="b" t="t" l="l"/>
              <a:pathLst>
                <a:path h="414528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860" r="0" b="-59186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136550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7  chainer = BackwardChainer(atomspace)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4400" y="6195689"/>
            <a:ext cx="10241280" cy="310896"/>
            <a:chOff x="0" y="0"/>
            <a:chExt cx="13655040" cy="4145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655039" cy="414528"/>
            </a:xfrm>
            <a:custGeom>
              <a:avLst/>
              <a:gdLst/>
              <a:ahLst/>
              <a:cxnLst/>
              <a:rect r="r" b="b" t="t" l="l"/>
              <a:pathLst>
                <a:path h="414528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860" r="0" b="-59186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36550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9  # Define inference rules for medical reasoning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14400" y="6524873"/>
            <a:ext cx="10241280" cy="310896"/>
            <a:chOff x="0" y="0"/>
            <a:chExt cx="13655040" cy="41452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655039" cy="414528"/>
            </a:xfrm>
            <a:custGeom>
              <a:avLst/>
              <a:gdLst/>
              <a:ahLst/>
              <a:cxnLst/>
              <a:rect r="r" b="b" t="t" l="l"/>
              <a:pathLst>
                <a:path h="414528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860" r="0" b="-59186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136550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  rules = [InferenceRule(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14400" y="6854057"/>
            <a:ext cx="10241280" cy="310896"/>
            <a:chOff x="0" y="0"/>
            <a:chExt cx="13655040" cy="4145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655039" cy="414528"/>
            </a:xfrm>
            <a:custGeom>
              <a:avLst/>
              <a:gdLst/>
              <a:ahLst/>
              <a:cxnLst/>
              <a:rect r="r" b="b" t="t" l="l"/>
              <a:pathLst>
                <a:path h="414528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860" r="0" b="-59186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136550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11    name="symptom_disease",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14400" y="7183241"/>
            <a:ext cx="10241280" cy="310896"/>
            <a:chOff x="0" y="0"/>
            <a:chExt cx="13655040" cy="41452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655039" cy="414528"/>
            </a:xfrm>
            <a:custGeom>
              <a:avLst/>
              <a:gdLst/>
              <a:ahLst/>
              <a:cxnLst/>
              <a:rect r="r" b="b" t="t" l="l"/>
              <a:pathLst>
                <a:path h="414528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860" r="0" b="-59186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36550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12    premises=["has_symptom(X,S)", "symptom_indicates(S,D)"],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14400" y="7512425"/>
            <a:ext cx="10241280" cy="310896"/>
            <a:chOff x="0" y="0"/>
            <a:chExt cx="13655040" cy="41452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655039" cy="414528"/>
            </a:xfrm>
            <a:custGeom>
              <a:avLst/>
              <a:gdLst/>
              <a:ahLst/>
              <a:cxnLst/>
              <a:rect r="r" b="b" t="t" l="l"/>
              <a:pathLst>
                <a:path h="414528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860" r="0" b="-59186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136550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13    conclusion="has_disease(X, D)", strength=0.85),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14400" y="7841609"/>
            <a:ext cx="10241280" cy="310896"/>
            <a:chOff x="0" y="0"/>
            <a:chExt cx="13655040" cy="41452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3655039" cy="414528"/>
            </a:xfrm>
            <a:custGeom>
              <a:avLst/>
              <a:gdLst/>
              <a:ahLst/>
              <a:cxnLst/>
              <a:rect r="r" b="b" t="t" l="l"/>
              <a:pathLst>
                <a:path h="414528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860" r="0" b="-59186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136550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14    InferenceRule(name="treatment_effectiveness",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14400" y="8170793"/>
            <a:ext cx="10241280" cy="310896"/>
            <a:chOff x="0" y="0"/>
            <a:chExt cx="13655040" cy="4145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655039" cy="414528"/>
            </a:xfrm>
            <a:custGeom>
              <a:avLst/>
              <a:gdLst/>
              <a:ahLst/>
              <a:cxnLst/>
              <a:rect r="r" b="b" t="t" l="l"/>
              <a:pathLst>
                <a:path h="414528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860" r="0" b="-59186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136550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15    strength=0.92)]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14400" y="8499977"/>
            <a:ext cx="10241280" cy="310896"/>
            <a:chOff x="0" y="0"/>
            <a:chExt cx="13655040" cy="41452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3655039" cy="414528"/>
            </a:xfrm>
            <a:custGeom>
              <a:avLst/>
              <a:gdLst/>
              <a:ahLst/>
              <a:cxnLst/>
              <a:rect r="r" b="b" t="t" l="l"/>
              <a:pathLst>
                <a:path h="414528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860" r="0" b="-59186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136550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16  # Execute backward chaining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14400" y="8829161"/>
            <a:ext cx="10241280" cy="310896"/>
            <a:chOff x="0" y="0"/>
            <a:chExt cx="13655040" cy="41452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3655039" cy="414528"/>
            </a:xfrm>
            <a:custGeom>
              <a:avLst/>
              <a:gdLst/>
              <a:ahLst/>
              <a:cxnLst/>
              <a:rect r="r" b="b" t="t" l="l"/>
              <a:pathLst>
                <a:path h="414528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860" r="0" b="-59186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136550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17  result = chainer.backward_chain(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14400" y="9158345"/>
            <a:ext cx="10241280" cy="310896"/>
            <a:chOff x="0" y="0"/>
            <a:chExt cx="13655040" cy="4145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655039" cy="414528"/>
            </a:xfrm>
            <a:custGeom>
              <a:avLst/>
              <a:gdLst/>
              <a:ahLst/>
              <a:cxnLst/>
              <a:rect r="r" b="b" t="t" l="l"/>
              <a:pathLst>
                <a:path h="414528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860" r="0" b="-59186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136550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18    target="has_disease(patient, unknown)",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14400" y="9487529"/>
            <a:ext cx="10241280" cy="310896"/>
            <a:chOff x="0" y="0"/>
            <a:chExt cx="13655040" cy="41452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3655039" cy="414528"/>
            </a:xfrm>
            <a:custGeom>
              <a:avLst/>
              <a:gdLst/>
              <a:ahLst/>
              <a:cxnLst/>
              <a:rect r="r" b="b" t="t" l="l"/>
              <a:pathLst>
                <a:path h="414528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860" r="0" b="-59186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136550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19    max_depth=3, confidence_threshold=0.7)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697967" y="2773423"/>
            <a:ext cx="5681977" cy="7053577"/>
            <a:chOff x="0" y="0"/>
            <a:chExt cx="7575969" cy="940476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8509" y="8509"/>
              <a:ext cx="7559040" cy="9387840"/>
            </a:xfrm>
            <a:custGeom>
              <a:avLst/>
              <a:gdLst/>
              <a:ahLst/>
              <a:cxnLst/>
              <a:rect r="r" b="b" t="t" l="l"/>
              <a:pathLst>
                <a:path h="9387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387840"/>
                  </a:lnTo>
                  <a:lnTo>
                    <a:pt x="0" y="93878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576058" cy="9404858"/>
            </a:xfrm>
            <a:custGeom>
              <a:avLst/>
              <a:gdLst/>
              <a:ahLst/>
              <a:cxnLst/>
              <a:rect r="r" b="b" t="t" l="l"/>
              <a:pathLst>
                <a:path h="9404858" w="7576058">
                  <a:moveTo>
                    <a:pt x="8509" y="0"/>
                  </a:moveTo>
                  <a:lnTo>
                    <a:pt x="7567549" y="0"/>
                  </a:lnTo>
                  <a:cubicBezTo>
                    <a:pt x="7572248" y="0"/>
                    <a:pt x="7576058" y="3810"/>
                    <a:pt x="7576058" y="8509"/>
                  </a:cubicBezTo>
                  <a:lnTo>
                    <a:pt x="7576058" y="9396349"/>
                  </a:lnTo>
                  <a:cubicBezTo>
                    <a:pt x="7576058" y="9401048"/>
                    <a:pt x="7572248" y="9404858"/>
                    <a:pt x="7567549" y="9404858"/>
                  </a:cubicBezTo>
                  <a:lnTo>
                    <a:pt x="8509" y="9404858"/>
                  </a:lnTo>
                  <a:cubicBezTo>
                    <a:pt x="3810" y="9404858"/>
                    <a:pt x="0" y="9401048"/>
                    <a:pt x="0" y="93963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96349"/>
                  </a:lnTo>
                  <a:lnTo>
                    <a:pt x="8509" y="9396349"/>
                  </a:lnTo>
                  <a:lnTo>
                    <a:pt x="8509" y="9387840"/>
                  </a:lnTo>
                  <a:lnTo>
                    <a:pt x="7567549" y="9387840"/>
                  </a:lnTo>
                  <a:lnTo>
                    <a:pt x="7567549" y="9396349"/>
                  </a:lnTo>
                  <a:lnTo>
                    <a:pt x="7559040" y="9396349"/>
                  </a:lnTo>
                  <a:lnTo>
                    <a:pt x="7559040" y="8509"/>
                  </a:lnTo>
                  <a:lnTo>
                    <a:pt x="7567549" y="8509"/>
                  </a:lnTo>
                  <a:lnTo>
                    <a:pt x="75675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1978640" y="2926080"/>
            <a:ext cx="4572000" cy="512064"/>
            <a:chOff x="0" y="0"/>
            <a:chExt cx="6096000" cy="6827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Inference Results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697967" y="3559807"/>
            <a:ext cx="5681977" cy="12697"/>
            <a:chOff x="0" y="0"/>
            <a:chExt cx="7575969" cy="1692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8509" y="0"/>
              <a:ext cx="7559040" cy="16891"/>
            </a:xfrm>
            <a:custGeom>
              <a:avLst/>
              <a:gdLst/>
              <a:ahLst/>
              <a:cxnLst/>
              <a:rect r="r" b="b" t="t" l="l"/>
              <a:pathLst>
                <a:path h="16891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1887200" y="3749040"/>
            <a:ext cx="5120640" cy="402336"/>
            <a:chOff x="0" y="0"/>
            <a:chExt cx="6827520" cy="53644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827520" cy="536448"/>
            </a:xfrm>
            <a:custGeom>
              <a:avLst/>
              <a:gdLst/>
              <a:ahLst/>
              <a:cxnLst/>
              <a:rect r="r" b="b" t="t" l="l"/>
              <a:pathLst>
                <a:path h="53644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Inference completed successfully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887200" y="4297680"/>
            <a:ext cx="2011680" cy="365760"/>
            <a:chOff x="0" y="0"/>
            <a:chExt cx="2682240" cy="4876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682240" cy="487680"/>
            </a:xfrm>
            <a:custGeom>
              <a:avLst/>
              <a:gdLst/>
              <a:ahLst/>
              <a:cxnLst/>
              <a:rect r="r" b="b" t="t" l="l"/>
              <a:pathLst>
                <a:path h="4876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6822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Target: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990320" y="4297680"/>
            <a:ext cx="3108960" cy="365760"/>
            <a:chOff x="0" y="0"/>
            <a:chExt cx="4145280" cy="4876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145280" cy="487680"/>
            </a:xfrm>
            <a:custGeom>
              <a:avLst/>
              <a:gdLst/>
              <a:ahLst/>
              <a:cxnLst/>
              <a:rect r="r" b="b" t="t" l="l"/>
              <a:pathLst>
                <a:path h="4876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1452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has_disease(patient, unknown)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887200" y="4700016"/>
            <a:ext cx="2011680" cy="365760"/>
            <a:chOff x="0" y="0"/>
            <a:chExt cx="2682240" cy="4876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682240" cy="487680"/>
            </a:xfrm>
            <a:custGeom>
              <a:avLst/>
              <a:gdLst/>
              <a:ahLst/>
              <a:cxnLst/>
              <a:rect r="r" b="b" t="t" l="l"/>
              <a:pathLst>
                <a:path h="4876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26822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Result: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990320" y="4700016"/>
            <a:ext cx="3108960" cy="365760"/>
            <a:chOff x="0" y="0"/>
            <a:chExt cx="4145280" cy="48768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145280" cy="487680"/>
            </a:xfrm>
            <a:custGeom>
              <a:avLst/>
              <a:gdLst/>
              <a:ahLst/>
              <a:cxnLst/>
              <a:rect r="r" b="b" t="t" l="l"/>
              <a:pathLst>
                <a:path h="4876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41452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has_disease(patient, flu)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1887200" y="5102352"/>
            <a:ext cx="2011680" cy="365760"/>
            <a:chOff x="0" y="0"/>
            <a:chExt cx="2682240" cy="4876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682240" cy="487680"/>
            </a:xfrm>
            <a:custGeom>
              <a:avLst/>
              <a:gdLst/>
              <a:ahLst/>
              <a:cxnLst/>
              <a:rect r="r" b="b" t="t" l="l"/>
              <a:pathLst>
                <a:path h="4876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26822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Confidence: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990320" y="5102352"/>
            <a:ext cx="3108960" cy="365760"/>
            <a:chOff x="0" y="0"/>
            <a:chExt cx="4145280" cy="4876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145280" cy="487680"/>
            </a:xfrm>
            <a:custGeom>
              <a:avLst/>
              <a:gdLst/>
              <a:ahLst/>
              <a:cxnLst/>
              <a:rect r="r" b="b" t="t" l="l"/>
              <a:pathLst>
                <a:path h="4876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41452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0.87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887200" y="5504688"/>
            <a:ext cx="2011680" cy="365760"/>
            <a:chOff x="0" y="0"/>
            <a:chExt cx="2682240" cy="4876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682240" cy="487680"/>
            </a:xfrm>
            <a:custGeom>
              <a:avLst/>
              <a:gdLst/>
              <a:ahLst/>
              <a:cxnLst/>
              <a:rect r="r" b="b" t="t" l="l"/>
              <a:pathLst>
                <a:path h="4876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26822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Depth: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990320" y="5504688"/>
            <a:ext cx="3108960" cy="365760"/>
            <a:chOff x="0" y="0"/>
            <a:chExt cx="4145280" cy="48768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145280" cy="487680"/>
            </a:xfrm>
            <a:custGeom>
              <a:avLst/>
              <a:gdLst/>
              <a:ahLst/>
              <a:cxnLst/>
              <a:rect r="r" b="b" t="t" l="l"/>
              <a:pathLst>
                <a:path h="4876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41452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levels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1887200" y="5907024"/>
            <a:ext cx="2011680" cy="365760"/>
            <a:chOff x="0" y="0"/>
            <a:chExt cx="2682240" cy="48768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682240" cy="487680"/>
            </a:xfrm>
            <a:custGeom>
              <a:avLst/>
              <a:gdLst/>
              <a:ahLst/>
              <a:cxnLst/>
              <a:rect r="r" b="b" t="t" l="l"/>
              <a:pathLst>
                <a:path h="4876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26822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Rules Used: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990320" y="5907024"/>
            <a:ext cx="3108960" cy="365760"/>
            <a:chOff x="0" y="0"/>
            <a:chExt cx="4145280" cy="48768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145280" cy="487680"/>
            </a:xfrm>
            <a:custGeom>
              <a:avLst/>
              <a:gdLst/>
              <a:ahLst/>
              <a:cxnLst/>
              <a:rect r="r" b="b" t="t" l="l"/>
              <a:pathLst>
                <a:path h="4876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41452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1887200" y="6309360"/>
            <a:ext cx="2011680" cy="365760"/>
            <a:chOff x="0" y="0"/>
            <a:chExt cx="2682240" cy="48768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682240" cy="487680"/>
            </a:xfrm>
            <a:custGeom>
              <a:avLst/>
              <a:gdLst/>
              <a:ahLst/>
              <a:cxnLst/>
              <a:rect r="r" b="b" t="t" l="l"/>
              <a:pathLst>
                <a:path h="4876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26822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Time: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990320" y="6309360"/>
            <a:ext cx="3108960" cy="365760"/>
            <a:chOff x="0" y="0"/>
            <a:chExt cx="4145280" cy="48768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145280" cy="487680"/>
            </a:xfrm>
            <a:custGeom>
              <a:avLst/>
              <a:gdLst/>
              <a:ahLst/>
              <a:cxnLst/>
              <a:rect r="r" b="b" t="t" l="l"/>
              <a:pathLst>
                <a:path h="4876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41452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0.023s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1789407" y="7134354"/>
            <a:ext cx="5407657" cy="561337"/>
            <a:chOff x="0" y="0"/>
            <a:chExt cx="7210209" cy="748449"/>
          </a:xfrm>
        </p:grpSpPr>
        <p:grpSp>
          <p:nvGrpSpPr>
            <p:cNvPr name="Group 129" id="129"/>
            <p:cNvGrpSpPr/>
            <p:nvPr/>
          </p:nvGrpSpPr>
          <p:grpSpPr>
            <a:xfrm rot="0">
              <a:off x="0" y="0"/>
              <a:ext cx="7210209" cy="748449"/>
              <a:chOff x="0" y="0"/>
              <a:chExt cx="7210209" cy="748449"/>
            </a:xfrm>
          </p:grpSpPr>
          <p:sp>
            <p:nvSpPr>
              <p:cNvPr name="Freeform 130" id="130"/>
              <p:cNvSpPr/>
              <p:nvPr/>
            </p:nvSpPr>
            <p:spPr>
              <a:xfrm flipH="false" flipV="false" rot="0">
                <a:off x="8509" y="8509"/>
                <a:ext cx="719328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7193280">
                    <a:moveTo>
                      <a:pt x="0" y="0"/>
                    </a:moveTo>
                    <a:lnTo>
                      <a:pt x="7193280" y="0"/>
                    </a:lnTo>
                    <a:lnTo>
                      <a:pt x="719328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solidFill>
                <a:srgbClr val="DCFCE7"/>
              </a:solidFill>
            </p:spPr>
          </p:sp>
          <p:sp>
            <p:nvSpPr>
              <p:cNvPr name="Freeform 131" id="131"/>
              <p:cNvSpPr/>
              <p:nvPr/>
            </p:nvSpPr>
            <p:spPr>
              <a:xfrm flipH="false" flipV="false" rot="0">
                <a:off x="0" y="0"/>
                <a:ext cx="7210299" cy="748538"/>
              </a:xfrm>
              <a:custGeom>
                <a:avLst/>
                <a:gdLst/>
                <a:ahLst/>
                <a:cxnLst/>
                <a:rect r="r" b="b" t="t" l="l"/>
                <a:pathLst>
                  <a:path h="748538" w="7210299">
                    <a:moveTo>
                      <a:pt x="8509" y="0"/>
                    </a:moveTo>
                    <a:lnTo>
                      <a:pt x="7201789" y="0"/>
                    </a:lnTo>
                    <a:cubicBezTo>
                      <a:pt x="7206488" y="0"/>
                      <a:pt x="7210299" y="3810"/>
                      <a:pt x="7210299" y="8509"/>
                    </a:cubicBezTo>
                    <a:lnTo>
                      <a:pt x="7210299" y="740029"/>
                    </a:lnTo>
                    <a:cubicBezTo>
                      <a:pt x="7210299" y="744728"/>
                      <a:pt x="7206488" y="748538"/>
                      <a:pt x="7201789" y="748538"/>
                    </a:cubicBezTo>
                    <a:lnTo>
                      <a:pt x="8509" y="748538"/>
                    </a:lnTo>
                    <a:cubicBezTo>
                      <a:pt x="3810" y="748538"/>
                      <a:pt x="0" y="744728"/>
                      <a:pt x="0" y="740029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moveTo>
                      <a:pt x="8509" y="16891"/>
                    </a:move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740029"/>
                    </a:lnTo>
                    <a:lnTo>
                      <a:pt x="8509" y="740029"/>
                    </a:lnTo>
                    <a:lnTo>
                      <a:pt x="8509" y="731520"/>
                    </a:lnTo>
                    <a:lnTo>
                      <a:pt x="7201789" y="731520"/>
                    </a:lnTo>
                    <a:lnTo>
                      <a:pt x="7201789" y="740029"/>
                    </a:lnTo>
                    <a:lnTo>
                      <a:pt x="7193280" y="740029"/>
                    </a:lnTo>
                    <a:lnTo>
                      <a:pt x="7193280" y="8509"/>
                    </a:lnTo>
                    <a:lnTo>
                      <a:pt x="7201789" y="8509"/>
                    </a:lnTo>
                    <a:lnTo>
                      <a:pt x="7201789" y="17018"/>
                    </a:lnTo>
                    <a:lnTo>
                      <a:pt x="8509" y="17018"/>
                    </a:lnTo>
                    <a:close/>
                  </a:path>
                </a:pathLst>
              </a:custGeom>
              <a:solidFill>
                <a:srgbClr val="22C55E"/>
              </a:solidFill>
            </p:spPr>
          </p:sp>
        </p:grpSp>
        <p:grpSp>
          <p:nvGrpSpPr>
            <p:cNvPr name="Group 132" id="132"/>
            <p:cNvGrpSpPr/>
            <p:nvPr/>
          </p:nvGrpSpPr>
          <p:grpSpPr>
            <a:xfrm rot="0">
              <a:off x="130391" y="8471"/>
              <a:ext cx="7071360" cy="731520"/>
              <a:chOff x="0" y="0"/>
              <a:chExt cx="7071360" cy="731520"/>
            </a:xfrm>
          </p:grpSpPr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707136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8355" r="0" b="-138355"/>
                </a:stretch>
              </a:blipFill>
            </p:spPr>
          </p:sp>
          <p:sp>
            <p:nvSpPr>
              <p:cNvPr name="TextBox 134" id="134"/>
              <p:cNvSpPr txBox="true"/>
              <p:nvPr/>
            </p:nvSpPr>
            <p:spPr>
              <a:xfrm>
                <a:off x="0" y="-38100"/>
                <a:ext cx="7071360" cy="7696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166534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✓ Inference successful - 87% confidence</a:t>
                </a:r>
              </a:p>
            </p:txBody>
          </p:sp>
        </p:grpSp>
      </p:grpSp>
      <p:grpSp>
        <p:nvGrpSpPr>
          <p:cNvPr name="Group 135" id="135"/>
          <p:cNvGrpSpPr/>
          <p:nvPr/>
        </p:nvGrpSpPr>
        <p:grpSpPr>
          <a:xfrm rot="0">
            <a:off x="11789407" y="8029065"/>
            <a:ext cx="5407657" cy="1622041"/>
            <a:chOff x="0" y="0"/>
            <a:chExt cx="7210209" cy="2162721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8509" y="8509"/>
              <a:ext cx="71932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7210299" cy="2162810"/>
            </a:xfrm>
            <a:custGeom>
              <a:avLst/>
              <a:gdLst/>
              <a:ahLst/>
              <a:cxnLst/>
              <a:rect r="r" b="b" t="t" l="l"/>
              <a:pathLst>
                <a:path h="2162810" w="7210299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2154301"/>
                  </a:lnTo>
                  <a:cubicBezTo>
                    <a:pt x="7210299" y="2159000"/>
                    <a:pt x="7206488" y="2162810"/>
                    <a:pt x="7201789" y="2162810"/>
                  </a:cubicBezTo>
                  <a:lnTo>
                    <a:pt x="8509" y="2162810"/>
                  </a:lnTo>
                  <a:cubicBezTo>
                    <a:pt x="3810" y="2162810"/>
                    <a:pt x="0" y="2159000"/>
                    <a:pt x="0" y="21543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154301"/>
                  </a:lnTo>
                  <a:lnTo>
                    <a:pt x="8509" y="2154301"/>
                  </a:lnTo>
                  <a:lnTo>
                    <a:pt x="8509" y="2145792"/>
                  </a:lnTo>
                  <a:lnTo>
                    <a:pt x="7201789" y="2145792"/>
                  </a:lnTo>
                  <a:lnTo>
                    <a:pt x="7201789" y="2154301"/>
                  </a:lnTo>
                  <a:lnTo>
                    <a:pt x="7193280" y="2154301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11978640" y="8126859"/>
            <a:ext cx="4937760" cy="402336"/>
            <a:chOff x="0" y="0"/>
            <a:chExt cx="6583680" cy="536448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583680" cy="536448"/>
            </a:xfrm>
            <a:custGeom>
              <a:avLst/>
              <a:gdLst/>
              <a:ahLst/>
              <a:cxnLst/>
              <a:rect r="r" b="b" t="t" l="l"/>
              <a:pathLst>
                <a:path h="53644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34" r="0" b="-189134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65836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92400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Applied Rules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2070080" y="8584059"/>
            <a:ext cx="4937760" cy="329184"/>
            <a:chOff x="0" y="0"/>
            <a:chExt cx="6583680" cy="438912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583680" cy="438912"/>
            </a:xfrm>
            <a:custGeom>
              <a:avLst/>
              <a:gdLst/>
              <a:ahLst/>
              <a:cxnLst/>
              <a:rect r="r" b="b" t="t" l="l"/>
              <a:pathLst>
                <a:path h="43891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65836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78350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symptom_disease (0.85)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2070080" y="8931531"/>
            <a:ext cx="4937760" cy="329184"/>
            <a:chOff x="0" y="0"/>
            <a:chExt cx="6583680" cy="438912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583680" cy="438912"/>
            </a:xfrm>
            <a:custGeom>
              <a:avLst/>
              <a:gdLst/>
              <a:ahLst/>
              <a:cxnLst/>
              <a:rect r="r" b="b" t="t" l="l"/>
              <a:pathLst>
                <a:path h="43891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38100"/>
              <a:ext cx="65836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78350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treatment_effectiveness (0.92)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2070080" y="10387584"/>
            <a:ext cx="4937760" cy="329184"/>
            <a:chOff x="0" y="0"/>
            <a:chExt cx="6583680" cy="438912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583680" cy="438912"/>
            </a:xfrm>
            <a:custGeom>
              <a:avLst/>
              <a:gdLst/>
              <a:ahLst/>
              <a:cxnLst/>
              <a:rect r="r" b="b" t="t" l="l"/>
              <a:pathLst>
                <a:path h="43891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38100"/>
              <a:ext cx="65836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78350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disease_progression (0.78)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2075795" y="9260715"/>
            <a:ext cx="4937760" cy="340984"/>
            <a:chOff x="0" y="0"/>
            <a:chExt cx="6583680" cy="454645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583680" cy="454645"/>
            </a:xfrm>
            <a:custGeom>
              <a:avLst/>
              <a:gdLst/>
              <a:ahLst/>
              <a:cxnLst/>
              <a:rect r="r" b="b" t="t" l="l"/>
              <a:pathLst>
                <a:path h="45464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454645"/>
                  </a:lnTo>
                  <a:lnTo>
                    <a:pt x="0" y="4546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891" r="0" b="-230431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38100"/>
              <a:ext cx="6583680" cy="492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78350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  <a:r>
                <a:rPr lang="en-US" sz="1700">
                  <a:solidFill>
                    <a:srgbClr val="78350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 disease_progression (0.78)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144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82880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4: Query and Results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14400"/>
            <a:ext cx="13716000" cy="512064"/>
            <a:chOff x="0" y="0"/>
            <a:chExt cx="182880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288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E0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 Knowledge Reasoner - Python Implementation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30400" y="512064"/>
            <a:ext cx="3291840" cy="548640"/>
            <a:chOff x="0" y="0"/>
            <a:chExt cx="43891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42/53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62704" y="1728216"/>
            <a:ext cx="16459200" cy="822960"/>
            <a:chOff x="0" y="0"/>
            <a:chExt cx="2194560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219456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Query Execution &amp; Results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68096" y="1755648"/>
            <a:ext cx="768096" cy="768096"/>
            <a:chOff x="0" y="0"/>
            <a:chExt cx="1024128" cy="10241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68096" y="1755648"/>
            <a:ext cx="768096" cy="768096"/>
            <a:chOff x="0" y="0"/>
            <a:chExt cx="1024128" cy="10241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25167" y="2700271"/>
            <a:ext cx="8790937" cy="4421505"/>
            <a:chOff x="0" y="0"/>
            <a:chExt cx="11721249" cy="58953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8509" y="8206"/>
              <a:ext cx="11704319" cy="5879014"/>
            </a:xfrm>
            <a:custGeom>
              <a:avLst/>
              <a:gdLst/>
              <a:ahLst/>
              <a:cxnLst/>
              <a:rect r="r" b="b" t="t" l="l"/>
              <a:pathLst>
                <a:path h="5879014" w="11704319">
                  <a:moveTo>
                    <a:pt x="0" y="0"/>
                  </a:moveTo>
                  <a:lnTo>
                    <a:pt x="11704319" y="0"/>
                  </a:lnTo>
                  <a:lnTo>
                    <a:pt x="11704319" y="5879014"/>
                  </a:lnTo>
                  <a:lnTo>
                    <a:pt x="0" y="5879014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721338" cy="5895429"/>
            </a:xfrm>
            <a:custGeom>
              <a:avLst/>
              <a:gdLst/>
              <a:ahLst/>
              <a:cxnLst/>
              <a:rect r="r" b="b" t="t" l="l"/>
              <a:pathLst>
                <a:path h="5895429" w="11721338">
                  <a:moveTo>
                    <a:pt x="8509" y="0"/>
                  </a:moveTo>
                  <a:lnTo>
                    <a:pt x="11712828" y="0"/>
                  </a:lnTo>
                  <a:cubicBezTo>
                    <a:pt x="11717527" y="0"/>
                    <a:pt x="11721338" y="3674"/>
                    <a:pt x="11721338" y="8206"/>
                  </a:cubicBezTo>
                  <a:lnTo>
                    <a:pt x="11721338" y="5887220"/>
                  </a:lnTo>
                  <a:cubicBezTo>
                    <a:pt x="11721338" y="5891752"/>
                    <a:pt x="11717527" y="5895429"/>
                    <a:pt x="11712828" y="5895429"/>
                  </a:cubicBezTo>
                  <a:lnTo>
                    <a:pt x="8509" y="5895429"/>
                  </a:lnTo>
                  <a:cubicBezTo>
                    <a:pt x="3810" y="5895429"/>
                    <a:pt x="0" y="5891752"/>
                    <a:pt x="0" y="5887220"/>
                  </a:cubicBezTo>
                  <a:lnTo>
                    <a:pt x="0" y="8206"/>
                  </a:lnTo>
                  <a:cubicBezTo>
                    <a:pt x="0" y="3674"/>
                    <a:pt x="3810" y="0"/>
                    <a:pt x="8509" y="0"/>
                  </a:cubicBezTo>
                  <a:moveTo>
                    <a:pt x="8509" y="16290"/>
                  </a:moveTo>
                  <a:lnTo>
                    <a:pt x="8509" y="8206"/>
                  </a:lnTo>
                  <a:lnTo>
                    <a:pt x="17018" y="8206"/>
                  </a:lnTo>
                  <a:lnTo>
                    <a:pt x="17018" y="5887220"/>
                  </a:lnTo>
                  <a:lnTo>
                    <a:pt x="8509" y="5887220"/>
                  </a:lnTo>
                  <a:lnTo>
                    <a:pt x="8509" y="5879014"/>
                  </a:lnTo>
                  <a:lnTo>
                    <a:pt x="11712828" y="5879014"/>
                  </a:lnTo>
                  <a:lnTo>
                    <a:pt x="11712828" y="5887220"/>
                  </a:lnTo>
                  <a:lnTo>
                    <a:pt x="11704320" y="5887220"/>
                  </a:lnTo>
                  <a:lnTo>
                    <a:pt x="11704320" y="8206"/>
                  </a:lnTo>
                  <a:lnTo>
                    <a:pt x="11712828" y="8206"/>
                  </a:lnTo>
                  <a:lnTo>
                    <a:pt x="11712828" y="16412"/>
                  </a:lnTo>
                  <a:lnTo>
                    <a:pt x="8509" y="16412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2834640"/>
            <a:ext cx="8412480" cy="310896"/>
            <a:chOff x="0" y="0"/>
            <a:chExt cx="11216640" cy="4145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216640" cy="414528"/>
            </a:xfrm>
            <a:custGeom>
              <a:avLst/>
              <a:gdLst/>
              <a:ahLst/>
              <a:cxnLst/>
              <a:rect r="r" b="b" t="t" l="l"/>
              <a:pathLst>
                <a:path h="4145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242" r="0" b="-47724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12166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1  def query_medical_knowledge(atomspace, query):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3163824"/>
            <a:ext cx="8412480" cy="310896"/>
            <a:chOff x="0" y="0"/>
            <a:chExt cx="11216640" cy="4145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216640" cy="414528"/>
            </a:xfrm>
            <a:custGeom>
              <a:avLst/>
              <a:gdLst/>
              <a:ahLst/>
              <a:cxnLst/>
              <a:rect r="r" b="b" t="t" l="l"/>
              <a:pathLst>
                <a:path h="4145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242" r="0" b="-47724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12166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2    # Execute PLN backward chaining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" y="3493008"/>
            <a:ext cx="8412480" cy="310896"/>
            <a:chOff x="0" y="0"/>
            <a:chExt cx="11216640" cy="4145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216640" cy="414528"/>
            </a:xfrm>
            <a:custGeom>
              <a:avLst/>
              <a:gdLst/>
              <a:ahLst/>
              <a:cxnLst/>
              <a:rect r="r" b="b" t="t" l="l"/>
              <a:pathLst>
                <a:path h="4145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242" r="0" b="-47724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12166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3    results = atomspace.query(query)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3822192"/>
            <a:ext cx="8412480" cy="310896"/>
            <a:chOff x="0" y="0"/>
            <a:chExt cx="11216640" cy="4145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216640" cy="414528"/>
            </a:xfrm>
            <a:custGeom>
              <a:avLst/>
              <a:gdLst/>
              <a:ahLst/>
              <a:cxnLst/>
              <a:rect r="r" b="b" t="t" l="l"/>
              <a:pathLst>
                <a:path h="4145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242" r="0" b="-47724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12166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4 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400" y="4151376"/>
            <a:ext cx="8412480" cy="310896"/>
            <a:chOff x="0" y="0"/>
            <a:chExt cx="11216640" cy="4145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216640" cy="414528"/>
            </a:xfrm>
            <a:custGeom>
              <a:avLst/>
              <a:gdLst/>
              <a:ahLst/>
              <a:cxnLst/>
              <a:rect r="r" b="b" t="t" l="l"/>
              <a:pathLst>
                <a:path h="4145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242" r="0" b="-47724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12166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5    # Process and format results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14400" y="4480560"/>
            <a:ext cx="8412480" cy="310896"/>
            <a:chOff x="0" y="0"/>
            <a:chExt cx="11216640" cy="4145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216640" cy="414528"/>
            </a:xfrm>
            <a:custGeom>
              <a:avLst/>
              <a:gdLst/>
              <a:ahLst/>
              <a:cxnLst/>
              <a:rect r="r" b="b" t="t" l="l"/>
              <a:pathLst>
                <a:path h="4145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242" r="0" b="-47724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12166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6    formatted_results = []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14400" y="4809744"/>
            <a:ext cx="8412480" cy="310896"/>
            <a:chOff x="0" y="0"/>
            <a:chExt cx="11216640" cy="4145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216640" cy="414528"/>
            </a:xfrm>
            <a:custGeom>
              <a:avLst/>
              <a:gdLst/>
              <a:ahLst/>
              <a:cxnLst/>
              <a:rect r="r" b="b" t="t" l="l"/>
              <a:pathLst>
                <a:path h="4145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242" r="0" b="-47724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12166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7    for result in results: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4400" y="5138928"/>
            <a:ext cx="8412480" cy="310896"/>
            <a:chOff x="0" y="0"/>
            <a:chExt cx="11216640" cy="4145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216640" cy="414528"/>
            </a:xfrm>
            <a:custGeom>
              <a:avLst/>
              <a:gdLst/>
              <a:ahLst/>
              <a:cxnLst/>
              <a:rect r="r" b="b" t="t" l="l"/>
              <a:pathLst>
                <a:path h="4145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242" r="0" b="-47724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112166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8      formatted_results.append({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4400" y="5468112"/>
            <a:ext cx="8412480" cy="310896"/>
            <a:chOff x="0" y="0"/>
            <a:chExt cx="11216640" cy="4145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216640" cy="414528"/>
            </a:xfrm>
            <a:custGeom>
              <a:avLst/>
              <a:gdLst/>
              <a:ahLst/>
              <a:cxnLst/>
              <a:rect r="r" b="b" t="t" l="l"/>
              <a:pathLst>
                <a:path h="4145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242" r="0" b="-47724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12166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9        'confidence': result.confidence,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14400" y="5797296"/>
            <a:ext cx="8412480" cy="310896"/>
            <a:chOff x="0" y="0"/>
            <a:chExt cx="11216640" cy="41452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216640" cy="414528"/>
            </a:xfrm>
            <a:custGeom>
              <a:avLst/>
              <a:gdLst/>
              <a:ahLst/>
              <a:cxnLst/>
              <a:rect r="r" b="b" t="t" l="l"/>
              <a:pathLst>
                <a:path h="4145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242" r="0" b="-47724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112166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        'truth_value': result.tv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14400" y="6126480"/>
            <a:ext cx="8412480" cy="310896"/>
            <a:chOff x="0" y="0"/>
            <a:chExt cx="11216640" cy="4145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216640" cy="414528"/>
            </a:xfrm>
            <a:custGeom>
              <a:avLst/>
              <a:gdLst/>
              <a:ahLst/>
              <a:cxnLst/>
              <a:rect r="r" b="b" t="t" l="l"/>
              <a:pathLst>
                <a:path h="4145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242" r="0" b="-47724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112166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11      })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14400" y="6455664"/>
            <a:ext cx="8412480" cy="310896"/>
            <a:chOff x="0" y="0"/>
            <a:chExt cx="11216640" cy="41452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216640" cy="414528"/>
            </a:xfrm>
            <a:custGeom>
              <a:avLst/>
              <a:gdLst/>
              <a:ahLst/>
              <a:cxnLst/>
              <a:rect r="r" b="b" t="t" l="l"/>
              <a:pathLst>
                <a:path h="4145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242" r="0" b="-47724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1216640" cy="414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BBF2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12    return formatted_results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25167" y="7455151"/>
            <a:ext cx="8790937" cy="1292857"/>
            <a:chOff x="0" y="0"/>
            <a:chExt cx="11721249" cy="172380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8509" y="8509"/>
              <a:ext cx="11704319" cy="1706880"/>
            </a:xfrm>
            <a:custGeom>
              <a:avLst/>
              <a:gdLst/>
              <a:ahLst/>
              <a:cxnLst/>
              <a:rect r="r" b="b" t="t" l="l"/>
              <a:pathLst>
                <a:path h="1706880" w="11704319">
                  <a:moveTo>
                    <a:pt x="0" y="0"/>
                  </a:moveTo>
                  <a:lnTo>
                    <a:pt x="11704319" y="0"/>
                  </a:lnTo>
                  <a:lnTo>
                    <a:pt x="1170431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721338" cy="1723898"/>
            </a:xfrm>
            <a:custGeom>
              <a:avLst/>
              <a:gdLst/>
              <a:ahLst/>
              <a:cxnLst/>
              <a:rect r="r" b="b" t="t" l="l"/>
              <a:pathLst>
                <a:path h="1723898" w="11721338">
                  <a:moveTo>
                    <a:pt x="8509" y="0"/>
                  </a:moveTo>
                  <a:lnTo>
                    <a:pt x="11712828" y="0"/>
                  </a:lnTo>
                  <a:cubicBezTo>
                    <a:pt x="11717527" y="0"/>
                    <a:pt x="11721338" y="3810"/>
                    <a:pt x="11721338" y="8509"/>
                  </a:cubicBezTo>
                  <a:lnTo>
                    <a:pt x="11721338" y="1715389"/>
                  </a:lnTo>
                  <a:cubicBezTo>
                    <a:pt x="11721338" y="1720088"/>
                    <a:pt x="11717527" y="1723898"/>
                    <a:pt x="11712828" y="1723898"/>
                  </a:cubicBezTo>
                  <a:lnTo>
                    <a:pt x="8509" y="1723898"/>
                  </a:lnTo>
                  <a:cubicBezTo>
                    <a:pt x="3810" y="1723898"/>
                    <a:pt x="0" y="1720088"/>
                    <a:pt x="0" y="17153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715389"/>
                  </a:lnTo>
                  <a:lnTo>
                    <a:pt x="8509" y="1715389"/>
                  </a:lnTo>
                  <a:lnTo>
                    <a:pt x="8509" y="1706880"/>
                  </a:lnTo>
                  <a:lnTo>
                    <a:pt x="11712828" y="1706880"/>
                  </a:lnTo>
                  <a:lnTo>
                    <a:pt x="11712828" y="1715389"/>
                  </a:lnTo>
                  <a:lnTo>
                    <a:pt x="11704320" y="1715389"/>
                  </a:lnTo>
                  <a:lnTo>
                    <a:pt x="11704320" y="8509"/>
                  </a:lnTo>
                  <a:lnTo>
                    <a:pt x="11712828" y="8509"/>
                  </a:lnTo>
                  <a:lnTo>
                    <a:pt x="117128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05840" y="7534656"/>
            <a:ext cx="8229600" cy="402336"/>
            <a:chOff x="0" y="0"/>
            <a:chExt cx="10972800" cy="5364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972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109728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Query Logic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05840" y="7973568"/>
            <a:ext cx="8229600" cy="658368"/>
            <a:chOff x="0" y="0"/>
            <a:chExt cx="10972800" cy="87782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877824"/>
            </a:xfrm>
            <a:custGeom>
              <a:avLst/>
              <a:gdLst/>
              <a:ahLst/>
              <a:cxnLst/>
              <a:rect r="r" b="b" t="t" l="l"/>
              <a:pathLst>
                <a:path h="87782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097280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query function performs backward chaining inference using PLN to find medical knowledge relationships. Results include confidence scores and truth values.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25167" y="8863327"/>
            <a:ext cx="8790937" cy="1109977"/>
            <a:chOff x="0" y="0"/>
            <a:chExt cx="11721249" cy="147996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8509" y="8509"/>
              <a:ext cx="11704319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704319">
                  <a:moveTo>
                    <a:pt x="0" y="0"/>
                  </a:moveTo>
                  <a:lnTo>
                    <a:pt x="11704319" y="0"/>
                  </a:lnTo>
                  <a:lnTo>
                    <a:pt x="11704319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721338" cy="1480058"/>
            </a:xfrm>
            <a:custGeom>
              <a:avLst/>
              <a:gdLst/>
              <a:ahLst/>
              <a:cxnLst/>
              <a:rect r="r" b="b" t="t" l="l"/>
              <a:pathLst>
                <a:path h="1480058" w="11721338">
                  <a:moveTo>
                    <a:pt x="8509" y="0"/>
                  </a:moveTo>
                  <a:lnTo>
                    <a:pt x="11712828" y="0"/>
                  </a:lnTo>
                  <a:cubicBezTo>
                    <a:pt x="11717527" y="0"/>
                    <a:pt x="11721338" y="3810"/>
                    <a:pt x="11721338" y="8509"/>
                  </a:cubicBezTo>
                  <a:lnTo>
                    <a:pt x="11721338" y="1471549"/>
                  </a:lnTo>
                  <a:cubicBezTo>
                    <a:pt x="11721338" y="1476248"/>
                    <a:pt x="11717527" y="1480058"/>
                    <a:pt x="11712828" y="1480058"/>
                  </a:cubicBezTo>
                  <a:lnTo>
                    <a:pt x="8509" y="1480058"/>
                  </a:lnTo>
                  <a:cubicBezTo>
                    <a:pt x="3810" y="1480058"/>
                    <a:pt x="0" y="1476248"/>
                    <a:pt x="0" y="14715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71549"/>
                  </a:lnTo>
                  <a:lnTo>
                    <a:pt x="8509" y="1471549"/>
                  </a:lnTo>
                  <a:lnTo>
                    <a:pt x="8509" y="1463040"/>
                  </a:lnTo>
                  <a:lnTo>
                    <a:pt x="11712828" y="1463040"/>
                  </a:lnTo>
                  <a:lnTo>
                    <a:pt x="11712828" y="1471549"/>
                  </a:lnTo>
                  <a:lnTo>
                    <a:pt x="11704320" y="1471549"/>
                  </a:lnTo>
                  <a:lnTo>
                    <a:pt x="11704320" y="8509"/>
                  </a:lnTo>
                  <a:lnTo>
                    <a:pt x="11712828" y="8509"/>
                  </a:lnTo>
                  <a:lnTo>
                    <a:pt x="117128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005840" y="8961120"/>
            <a:ext cx="3657600" cy="402336"/>
            <a:chOff x="0" y="0"/>
            <a:chExt cx="4876800" cy="53644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487680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Query Parameters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662927" y="8918191"/>
            <a:ext cx="1658617" cy="415033"/>
            <a:chOff x="0" y="0"/>
            <a:chExt cx="2211489" cy="55337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8509" y="8509"/>
              <a:ext cx="219456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11578" cy="553466"/>
            </a:xfrm>
            <a:custGeom>
              <a:avLst/>
              <a:gdLst/>
              <a:ahLst/>
              <a:cxnLst/>
              <a:rect r="r" b="b" t="t" l="l"/>
              <a:pathLst>
                <a:path h="553466" w="2211578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544957"/>
                  </a:lnTo>
                  <a:cubicBezTo>
                    <a:pt x="2211578" y="549656"/>
                    <a:pt x="2207768" y="553466"/>
                    <a:pt x="2203069" y="553466"/>
                  </a:cubicBezTo>
                  <a:lnTo>
                    <a:pt x="8509" y="553466"/>
                  </a:lnTo>
                  <a:cubicBezTo>
                    <a:pt x="3810" y="553466"/>
                    <a:pt x="0" y="549656"/>
                    <a:pt x="0" y="5449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44957"/>
                  </a:lnTo>
                  <a:lnTo>
                    <a:pt x="8509" y="544957"/>
                  </a:lnTo>
                  <a:lnTo>
                    <a:pt x="8509" y="536448"/>
                  </a:lnTo>
                  <a:lnTo>
                    <a:pt x="2203069" y="536448"/>
                  </a:lnTo>
                  <a:lnTo>
                    <a:pt x="2203069" y="544957"/>
                  </a:lnTo>
                  <a:lnTo>
                    <a:pt x="2194560" y="544957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5669280" y="8924544"/>
            <a:ext cx="1645920" cy="402336"/>
            <a:chOff x="0" y="0"/>
            <a:chExt cx="2194560" cy="53644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19456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21945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1665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Success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05840" y="9363456"/>
            <a:ext cx="8229600" cy="475488"/>
            <a:chOff x="0" y="0"/>
            <a:chExt cx="10972800" cy="63398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972800" cy="633984"/>
            </a:xfrm>
            <a:custGeom>
              <a:avLst/>
              <a:gdLst/>
              <a:ahLst/>
              <a:cxnLst/>
              <a:rect r="r" b="b" t="t" l="l"/>
              <a:pathLst>
                <a:path h="63398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10972800" cy="633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✓ Query: (EvaluationLink (PredicateNode "treats") (ListLink (ConceptNode "aspirin") (ConceptNode "headache")))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875520" y="2706624"/>
            <a:ext cx="7680960" cy="640080"/>
            <a:chOff x="0" y="0"/>
            <a:chExt cx="10241280" cy="8534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058400" y="2852928"/>
            <a:ext cx="237744" cy="237744"/>
            <a:chOff x="0" y="0"/>
            <a:chExt cx="316992" cy="3169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0387584" y="2852928"/>
            <a:ext cx="237744" cy="237744"/>
            <a:chOff x="0" y="0"/>
            <a:chExt cx="316992" cy="31699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0716768" y="2852928"/>
            <a:ext cx="237744" cy="237744"/>
            <a:chOff x="0" y="0"/>
            <a:chExt cx="316992" cy="3169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1155680" y="2816352"/>
            <a:ext cx="5486400" cy="365760"/>
            <a:chOff x="0" y="0"/>
            <a:chExt cx="7315200" cy="4876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2E8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Terminal Output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875520" y="3346704"/>
            <a:ext cx="7680960" cy="6766560"/>
            <a:chOff x="0" y="0"/>
            <a:chExt cx="10241280" cy="90220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241280" cy="9022080"/>
            </a:xfrm>
            <a:custGeom>
              <a:avLst/>
              <a:gdLst/>
              <a:ahLst/>
              <a:cxnLst/>
              <a:rect r="r" b="b" t="t" l="l"/>
              <a:pathLst>
                <a:path h="90220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022080"/>
                  </a:lnTo>
                  <a:lnTo>
                    <a:pt x="0" y="9022080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0149840" y="3566160"/>
            <a:ext cx="7132320" cy="512064"/>
            <a:chOff x="0" y="0"/>
            <a:chExt cx="9509760" cy="68275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950976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2C5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✓ Query executed successfully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0149840" y="4261104"/>
            <a:ext cx="7132320" cy="512064"/>
            <a:chOff x="0" y="0"/>
            <a:chExt cx="9509760" cy="68275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950976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1. (ConceptNode "aspirin") -&gt; (ConceptNode "headache")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0149840" y="4956048"/>
            <a:ext cx="7132320" cy="512064"/>
            <a:chOff x="0" y="0"/>
            <a:chExt cx="9509760" cy="68275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950976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Confidence: 0.85 | TV: 0.92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0149840" y="5650992"/>
            <a:ext cx="7132320" cy="512064"/>
            <a:chOff x="0" y="0"/>
            <a:chExt cx="9509760" cy="68275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9525"/>
              <a:ext cx="950976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2. (ConceptNode "ibuprofen") -&gt; (ConceptNode "pain")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0149840" y="6345936"/>
            <a:ext cx="7132320" cy="512064"/>
            <a:chOff x="0" y="0"/>
            <a:chExt cx="9509760" cy="68275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9525"/>
              <a:ext cx="950976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Confidence: 0.78 | TV: 0.89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0149840" y="7040880"/>
            <a:ext cx="7132320" cy="512064"/>
            <a:chOff x="0" y="0"/>
            <a:chExt cx="9509760" cy="68275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9525"/>
              <a:ext cx="950976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2E8F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3. (ConceptNode "acetaminophen") -&gt; (ConceptNode "fever")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149840" y="7735824"/>
            <a:ext cx="7132320" cy="512064"/>
            <a:chOff x="0" y="0"/>
            <a:chExt cx="9509760" cy="68275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9525"/>
              <a:ext cx="950976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Confidence: 0.91 | TV: 0.95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869167" y="8314687"/>
            <a:ext cx="7693657" cy="1658617"/>
            <a:chOff x="0" y="0"/>
            <a:chExt cx="10258209" cy="2211489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8509" y="8509"/>
              <a:ext cx="10241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0258299" cy="2211578"/>
            </a:xfrm>
            <a:custGeom>
              <a:avLst/>
              <a:gdLst/>
              <a:ahLst/>
              <a:cxnLst/>
              <a:rect r="r" b="b" t="t" l="l"/>
              <a:pathLst>
                <a:path h="2211578" w="10258299">
                  <a:moveTo>
                    <a:pt x="8509" y="0"/>
                  </a:moveTo>
                  <a:lnTo>
                    <a:pt x="10249789" y="0"/>
                  </a:lnTo>
                  <a:cubicBezTo>
                    <a:pt x="10254488" y="0"/>
                    <a:pt x="10258299" y="3810"/>
                    <a:pt x="10258299" y="8509"/>
                  </a:cubicBezTo>
                  <a:lnTo>
                    <a:pt x="10258299" y="2203069"/>
                  </a:lnTo>
                  <a:cubicBezTo>
                    <a:pt x="10258299" y="2207768"/>
                    <a:pt x="10254488" y="2211578"/>
                    <a:pt x="10249789" y="2211578"/>
                  </a:cubicBezTo>
                  <a:lnTo>
                    <a:pt x="8509" y="2211578"/>
                  </a:lnTo>
                  <a:cubicBezTo>
                    <a:pt x="3810" y="2211578"/>
                    <a:pt x="0" y="2207768"/>
                    <a:pt x="0" y="22030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203069"/>
                  </a:lnTo>
                  <a:lnTo>
                    <a:pt x="8509" y="2203069"/>
                  </a:lnTo>
                  <a:lnTo>
                    <a:pt x="8509" y="2194560"/>
                  </a:lnTo>
                  <a:lnTo>
                    <a:pt x="10249789" y="2194560"/>
                  </a:lnTo>
                  <a:lnTo>
                    <a:pt x="10249789" y="2203069"/>
                  </a:lnTo>
                  <a:lnTo>
                    <a:pt x="10241280" y="2203069"/>
                  </a:lnTo>
                  <a:lnTo>
                    <a:pt x="10241280" y="8509"/>
                  </a:lnTo>
                  <a:lnTo>
                    <a:pt x="10249789" y="8509"/>
                  </a:lnTo>
                  <a:lnTo>
                    <a:pt x="10249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0058400" y="8449056"/>
            <a:ext cx="457200" cy="457200"/>
            <a:chOff x="0" y="0"/>
            <a:chExt cx="609600" cy="60960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9525"/>
              <a:ext cx="60960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B82F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$ 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0515600" y="8449056"/>
            <a:ext cx="6766560" cy="457200"/>
            <a:chOff x="0" y="0"/>
            <a:chExt cx="9022080" cy="6096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9022080" cy="609600"/>
            </a:xfrm>
            <a:custGeom>
              <a:avLst/>
              <a:gdLst/>
              <a:ahLst/>
              <a:cxnLst/>
              <a:rect r="r" b="b" t="t" l="l"/>
              <a:pathLst>
                <a:path h="6096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78" r="0" b="-238378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9525"/>
              <a:ext cx="902208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python medical_reasoner.py --query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0058400" y="9034272"/>
            <a:ext cx="457200" cy="457200"/>
            <a:chOff x="0" y="0"/>
            <a:chExt cx="609600" cy="60960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9525"/>
              <a:ext cx="60960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B82F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0515600" y="9034272"/>
            <a:ext cx="6766560" cy="457200"/>
            <a:chOff x="0" y="0"/>
            <a:chExt cx="9022080" cy="60960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9022080" cy="609600"/>
            </a:xfrm>
            <a:custGeom>
              <a:avLst/>
              <a:gdLst/>
              <a:ahLst/>
              <a:cxnLst/>
              <a:rect r="r" b="b" t="t" l="l"/>
              <a:pathLst>
                <a:path h="6096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78" r="0" b="-238378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9525"/>
              <a:ext cx="902208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Results found: 3 | Confidence: 0.85 | TV: 0.92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144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82880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Complete - Execution Flow Summary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14400"/>
            <a:ext cx="13716000" cy="512064"/>
            <a:chOff x="0" y="0"/>
            <a:chExt cx="182880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288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E0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 knowledge reasoner with PLN backward chaining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30400" y="512064"/>
            <a:ext cx="3291840" cy="548640"/>
            <a:chOff x="0" y="0"/>
            <a:chExt cx="43891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43/53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1792224"/>
            <a:ext cx="16459200" cy="822960"/>
            <a:chOff x="0" y="0"/>
            <a:chExt cx="2194560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219456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🔷  Execution Flow Summary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25167" y="2828287"/>
            <a:ext cx="11351257" cy="1201417"/>
            <a:chOff x="0" y="0"/>
            <a:chExt cx="15135009" cy="16018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8509" y="8509"/>
              <a:ext cx="151180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118081">
                  <a:moveTo>
                    <a:pt x="0" y="0"/>
                  </a:moveTo>
                  <a:lnTo>
                    <a:pt x="15118081" y="0"/>
                  </a:lnTo>
                  <a:lnTo>
                    <a:pt x="151180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135098" cy="1601978"/>
            </a:xfrm>
            <a:custGeom>
              <a:avLst/>
              <a:gdLst/>
              <a:ahLst/>
              <a:cxnLst/>
              <a:rect r="r" b="b" t="t" l="l"/>
              <a:pathLst>
                <a:path h="1601978" w="15135098">
                  <a:moveTo>
                    <a:pt x="8509" y="0"/>
                  </a:moveTo>
                  <a:lnTo>
                    <a:pt x="15126590" y="0"/>
                  </a:lnTo>
                  <a:cubicBezTo>
                    <a:pt x="15131289" y="0"/>
                    <a:pt x="15135098" y="3810"/>
                    <a:pt x="15135098" y="8509"/>
                  </a:cubicBezTo>
                  <a:lnTo>
                    <a:pt x="15135098" y="1593469"/>
                  </a:lnTo>
                  <a:cubicBezTo>
                    <a:pt x="15135098" y="1598168"/>
                    <a:pt x="15131289" y="1601978"/>
                    <a:pt x="15126590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15126590" y="1584960"/>
                  </a:lnTo>
                  <a:lnTo>
                    <a:pt x="15126590" y="1593469"/>
                  </a:lnTo>
                  <a:lnTo>
                    <a:pt x="15118080" y="1593469"/>
                  </a:lnTo>
                  <a:lnTo>
                    <a:pt x="15118080" y="8509"/>
                  </a:lnTo>
                  <a:lnTo>
                    <a:pt x="15126590" y="8509"/>
                  </a:lnTo>
                  <a:lnTo>
                    <a:pt x="151265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97280" y="3054096"/>
            <a:ext cx="768096" cy="768096"/>
            <a:chOff x="0" y="0"/>
            <a:chExt cx="1024128" cy="10241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97280" y="3054096"/>
            <a:ext cx="768096" cy="768096"/>
            <a:chOff x="0" y="0"/>
            <a:chExt cx="1024128" cy="10241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57984" y="2944368"/>
            <a:ext cx="6400800" cy="457200"/>
            <a:chOff x="0" y="0"/>
            <a:chExt cx="8534400" cy="609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34400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853440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Setup AtomSpace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157984" y="3438144"/>
            <a:ext cx="6400800" cy="365760"/>
            <a:chOff x="0" y="0"/>
            <a:chExt cx="8534400" cy="487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534400" cy="487680"/>
            </a:xfrm>
            <a:custGeom>
              <a:avLst/>
              <a:gdLst/>
              <a:ahLst/>
              <a:cxnLst/>
              <a:rect r="r" b="b" t="t" l="l"/>
              <a:pathLst>
                <a:path h="4876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534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Initialize AtomSpace and load medical ontology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052047" y="3194047"/>
            <a:ext cx="1841497" cy="469897"/>
            <a:chOff x="0" y="0"/>
            <a:chExt cx="2455329" cy="62652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8509" y="8509"/>
              <a:ext cx="2438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55418" cy="626618"/>
            </a:xfrm>
            <a:custGeom>
              <a:avLst/>
              <a:gdLst/>
              <a:ahLst/>
              <a:cxnLst/>
              <a:rect r="r" b="b" t="t" l="l"/>
              <a:pathLst>
                <a:path h="626618" w="2455418">
                  <a:moveTo>
                    <a:pt x="8509" y="0"/>
                  </a:moveTo>
                  <a:lnTo>
                    <a:pt x="2446909" y="0"/>
                  </a:lnTo>
                  <a:cubicBezTo>
                    <a:pt x="2451608" y="0"/>
                    <a:pt x="2455418" y="3810"/>
                    <a:pt x="2455418" y="8509"/>
                  </a:cubicBezTo>
                  <a:lnTo>
                    <a:pt x="2455418" y="618109"/>
                  </a:lnTo>
                  <a:cubicBezTo>
                    <a:pt x="2455418" y="622808"/>
                    <a:pt x="2451608" y="626618"/>
                    <a:pt x="2446909" y="626618"/>
                  </a:cubicBezTo>
                  <a:lnTo>
                    <a:pt x="8509" y="626618"/>
                  </a:lnTo>
                  <a:cubicBezTo>
                    <a:pt x="3810" y="626618"/>
                    <a:pt x="0" y="622808"/>
                    <a:pt x="0" y="618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18109"/>
                  </a:lnTo>
                  <a:lnTo>
                    <a:pt x="8509" y="618109"/>
                  </a:lnTo>
                  <a:lnTo>
                    <a:pt x="8509" y="609600"/>
                  </a:lnTo>
                  <a:lnTo>
                    <a:pt x="2446909" y="609600"/>
                  </a:lnTo>
                  <a:lnTo>
                    <a:pt x="2446909" y="618109"/>
                  </a:lnTo>
                  <a:lnTo>
                    <a:pt x="2438400" y="618109"/>
                  </a:lnTo>
                  <a:lnTo>
                    <a:pt x="2438400" y="8509"/>
                  </a:lnTo>
                  <a:lnTo>
                    <a:pt x="2446909" y="8509"/>
                  </a:lnTo>
                  <a:lnTo>
                    <a:pt x="2446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058400" y="3200400"/>
            <a:ext cx="1828800" cy="457200"/>
            <a:chOff x="0" y="0"/>
            <a:chExt cx="2438400" cy="609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38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438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Completed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25167" y="4199887"/>
            <a:ext cx="11351257" cy="1201417"/>
            <a:chOff x="0" y="0"/>
            <a:chExt cx="15135009" cy="160188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8509" y="8509"/>
              <a:ext cx="151180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118081">
                  <a:moveTo>
                    <a:pt x="0" y="0"/>
                  </a:moveTo>
                  <a:lnTo>
                    <a:pt x="15118081" y="0"/>
                  </a:lnTo>
                  <a:lnTo>
                    <a:pt x="151180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135098" cy="1601978"/>
            </a:xfrm>
            <a:custGeom>
              <a:avLst/>
              <a:gdLst/>
              <a:ahLst/>
              <a:cxnLst/>
              <a:rect r="r" b="b" t="t" l="l"/>
              <a:pathLst>
                <a:path h="1601978" w="15135098">
                  <a:moveTo>
                    <a:pt x="8509" y="0"/>
                  </a:moveTo>
                  <a:lnTo>
                    <a:pt x="15126590" y="0"/>
                  </a:lnTo>
                  <a:cubicBezTo>
                    <a:pt x="15131289" y="0"/>
                    <a:pt x="15135098" y="3810"/>
                    <a:pt x="15135098" y="8509"/>
                  </a:cubicBezTo>
                  <a:lnTo>
                    <a:pt x="15135098" y="1593469"/>
                  </a:lnTo>
                  <a:cubicBezTo>
                    <a:pt x="15135098" y="1598168"/>
                    <a:pt x="15131289" y="1601978"/>
                    <a:pt x="15126590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15126590" y="1584960"/>
                  </a:lnTo>
                  <a:lnTo>
                    <a:pt x="15126590" y="1593469"/>
                  </a:lnTo>
                  <a:lnTo>
                    <a:pt x="15118080" y="1593469"/>
                  </a:lnTo>
                  <a:lnTo>
                    <a:pt x="15118080" y="8509"/>
                  </a:lnTo>
                  <a:lnTo>
                    <a:pt x="15126590" y="8509"/>
                  </a:lnTo>
                  <a:lnTo>
                    <a:pt x="151265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97280" y="4425696"/>
            <a:ext cx="768096" cy="768096"/>
            <a:chOff x="0" y="0"/>
            <a:chExt cx="1024128" cy="10241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97280" y="4425696"/>
            <a:ext cx="768096" cy="768096"/>
            <a:chOff x="0" y="0"/>
            <a:chExt cx="1024128" cy="1024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157984" y="4315968"/>
            <a:ext cx="6400800" cy="457200"/>
            <a:chOff x="0" y="0"/>
            <a:chExt cx="8534400" cy="609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534400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853440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 Medical Knowledge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157984" y="4809744"/>
            <a:ext cx="6400800" cy="365760"/>
            <a:chOff x="0" y="0"/>
            <a:chExt cx="8534400" cy="487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534400" cy="487680"/>
            </a:xfrm>
            <a:custGeom>
              <a:avLst/>
              <a:gdLst/>
              <a:ahLst/>
              <a:cxnLst/>
              <a:rect r="r" b="b" t="t" l="l"/>
              <a:pathLst>
                <a:path h="4876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8534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Load medical concepts, relationships, and rules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052047" y="4565647"/>
            <a:ext cx="1841497" cy="469897"/>
            <a:chOff x="0" y="0"/>
            <a:chExt cx="2455329" cy="62652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8509" y="8509"/>
              <a:ext cx="2438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55418" cy="626618"/>
            </a:xfrm>
            <a:custGeom>
              <a:avLst/>
              <a:gdLst/>
              <a:ahLst/>
              <a:cxnLst/>
              <a:rect r="r" b="b" t="t" l="l"/>
              <a:pathLst>
                <a:path h="626618" w="2455418">
                  <a:moveTo>
                    <a:pt x="8509" y="0"/>
                  </a:moveTo>
                  <a:lnTo>
                    <a:pt x="2446909" y="0"/>
                  </a:lnTo>
                  <a:cubicBezTo>
                    <a:pt x="2451608" y="0"/>
                    <a:pt x="2455418" y="3810"/>
                    <a:pt x="2455418" y="8509"/>
                  </a:cubicBezTo>
                  <a:lnTo>
                    <a:pt x="2455418" y="618109"/>
                  </a:lnTo>
                  <a:cubicBezTo>
                    <a:pt x="2455418" y="622808"/>
                    <a:pt x="2451608" y="626618"/>
                    <a:pt x="2446909" y="626618"/>
                  </a:cubicBezTo>
                  <a:lnTo>
                    <a:pt x="8509" y="626618"/>
                  </a:lnTo>
                  <a:cubicBezTo>
                    <a:pt x="3810" y="626618"/>
                    <a:pt x="0" y="622808"/>
                    <a:pt x="0" y="618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18109"/>
                  </a:lnTo>
                  <a:lnTo>
                    <a:pt x="8509" y="618109"/>
                  </a:lnTo>
                  <a:lnTo>
                    <a:pt x="8509" y="609600"/>
                  </a:lnTo>
                  <a:lnTo>
                    <a:pt x="2446909" y="609600"/>
                  </a:lnTo>
                  <a:lnTo>
                    <a:pt x="2446909" y="618109"/>
                  </a:lnTo>
                  <a:lnTo>
                    <a:pt x="2438400" y="618109"/>
                  </a:lnTo>
                  <a:lnTo>
                    <a:pt x="2438400" y="8509"/>
                  </a:lnTo>
                  <a:lnTo>
                    <a:pt x="2446909" y="8509"/>
                  </a:lnTo>
                  <a:lnTo>
                    <a:pt x="2446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058400" y="4572000"/>
            <a:ext cx="1828800" cy="457200"/>
            <a:chOff x="0" y="0"/>
            <a:chExt cx="243840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438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438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25167" y="5571487"/>
            <a:ext cx="11351257" cy="1201417"/>
            <a:chOff x="0" y="0"/>
            <a:chExt cx="15135009" cy="160188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8509" y="8509"/>
              <a:ext cx="151180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118081">
                  <a:moveTo>
                    <a:pt x="0" y="0"/>
                  </a:moveTo>
                  <a:lnTo>
                    <a:pt x="15118081" y="0"/>
                  </a:lnTo>
                  <a:lnTo>
                    <a:pt x="151180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135098" cy="1601978"/>
            </a:xfrm>
            <a:custGeom>
              <a:avLst/>
              <a:gdLst/>
              <a:ahLst/>
              <a:cxnLst/>
              <a:rect r="r" b="b" t="t" l="l"/>
              <a:pathLst>
                <a:path h="1601978" w="15135098">
                  <a:moveTo>
                    <a:pt x="8509" y="0"/>
                  </a:moveTo>
                  <a:lnTo>
                    <a:pt x="15126590" y="0"/>
                  </a:lnTo>
                  <a:cubicBezTo>
                    <a:pt x="15131289" y="0"/>
                    <a:pt x="15135098" y="3810"/>
                    <a:pt x="15135098" y="8509"/>
                  </a:cubicBezTo>
                  <a:lnTo>
                    <a:pt x="15135098" y="1593469"/>
                  </a:lnTo>
                  <a:cubicBezTo>
                    <a:pt x="15135098" y="1598168"/>
                    <a:pt x="15131289" y="1601978"/>
                    <a:pt x="15126590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15126590" y="1584960"/>
                  </a:lnTo>
                  <a:lnTo>
                    <a:pt x="15126590" y="1593469"/>
                  </a:lnTo>
                  <a:lnTo>
                    <a:pt x="15118080" y="1593469"/>
                  </a:lnTo>
                  <a:lnTo>
                    <a:pt x="15118080" y="8509"/>
                  </a:lnTo>
                  <a:lnTo>
                    <a:pt x="15126590" y="8509"/>
                  </a:lnTo>
                  <a:lnTo>
                    <a:pt x="151265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97280" y="5797296"/>
            <a:ext cx="768096" cy="768096"/>
            <a:chOff x="0" y="0"/>
            <a:chExt cx="1024128" cy="102412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97280" y="5797296"/>
            <a:ext cx="768096" cy="768096"/>
            <a:chOff x="0" y="0"/>
            <a:chExt cx="1024128" cy="10241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157984" y="5687568"/>
            <a:ext cx="6400800" cy="457200"/>
            <a:chOff x="0" y="0"/>
            <a:chExt cx="8534400" cy="609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534400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853440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PLN Backward Chaining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157984" y="6181344"/>
            <a:ext cx="6400800" cy="365760"/>
            <a:chOff x="0" y="0"/>
            <a:chExt cx="8534400" cy="4876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534400" cy="487680"/>
            </a:xfrm>
            <a:custGeom>
              <a:avLst/>
              <a:gdLst/>
              <a:ahLst/>
              <a:cxnLst/>
              <a:rect r="r" b="b" t="t" l="l"/>
              <a:pathLst>
                <a:path h="4876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8534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Execute inference rules to find diagnosis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052047" y="5937247"/>
            <a:ext cx="1841497" cy="469897"/>
            <a:chOff x="0" y="0"/>
            <a:chExt cx="2455329" cy="62652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8509" y="8509"/>
              <a:ext cx="2438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455418" cy="626618"/>
            </a:xfrm>
            <a:custGeom>
              <a:avLst/>
              <a:gdLst/>
              <a:ahLst/>
              <a:cxnLst/>
              <a:rect r="r" b="b" t="t" l="l"/>
              <a:pathLst>
                <a:path h="626618" w="2455418">
                  <a:moveTo>
                    <a:pt x="8509" y="0"/>
                  </a:moveTo>
                  <a:lnTo>
                    <a:pt x="2446909" y="0"/>
                  </a:lnTo>
                  <a:cubicBezTo>
                    <a:pt x="2451608" y="0"/>
                    <a:pt x="2455418" y="3810"/>
                    <a:pt x="2455418" y="8509"/>
                  </a:cubicBezTo>
                  <a:lnTo>
                    <a:pt x="2455418" y="618109"/>
                  </a:lnTo>
                  <a:cubicBezTo>
                    <a:pt x="2455418" y="622808"/>
                    <a:pt x="2451608" y="626618"/>
                    <a:pt x="2446909" y="626618"/>
                  </a:cubicBezTo>
                  <a:lnTo>
                    <a:pt x="8509" y="626618"/>
                  </a:lnTo>
                  <a:cubicBezTo>
                    <a:pt x="3810" y="626618"/>
                    <a:pt x="0" y="622808"/>
                    <a:pt x="0" y="618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18109"/>
                  </a:lnTo>
                  <a:lnTo>
                    <a:pt x="8509" y="618109"/>
                  </a:lnTo>
                  <a:lnTo>
                    <a:pt x="8509" y="609600"/>
                  </a:lnTo>
                  <a:lnTo>
                    <a:pt x="2446909" y="609600"/>
                  </a:lnTo>
                  <a:lnTo>
                    <a:pt x="2446909" y="618109"/>
                  </a:lnTo>
                  <a:lnTo>
                    <a:pt x="2438400" y="618109"/>
                  </a:lnTo>
                  <a:lnTo>
                    <a:pt x="2438400" y="8509"/>
                  </a:lnTo>
                  <a:lnTo>
                    <a:pt x="2446909" y="8509"/>
                  </a:lnTo>
                  <a:lnTo>
                    <a:pt x="2446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058400" y="5943600"/>
            <a:ext cx="1828800" cy="457200"/>
            <a:chOff x="0" y="0"/>
            <a:chExt cx="2438400" cy="6096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438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2438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Completed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25167" y="6943087"/>
            <a:ext cx="11351257" cy="1201417"/>
            <a:chOff x="0" y="0"/>
            <a:chExt cx="15135009" cy="160188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8509" y="8509"/>
              <a:ext cx="15118081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118081">
                  <a:moveTo>
                    <a:pt x="0" y="0"/>
                  </a:moveTo>
                  <a:lnTo>
                    <a:pt x="15118081" y="0"/>
                  </a:lnTo>
                  <a:lnTo>
                    <a:pt x="15118081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5135098" cy="1601978"/>
            </a:xfrm>
            <a:custGeom>
              <a:avLst/>
              <a:gdLst/>
              <a:ahLst/>
              <a:cxnLst/>
              <a:rect r="r" b="b" t="t" l="l"/>
              <a:pathLst>
                <a:path h="1601978" w="15135098">
                  <a:moveTo>
                    <a:pt x="8509" y="0"/>
                  </a:moveTo>
                  <a:lnTo>
                    <a:pt x="15126590" y="0"/>
                  </a:lnTo>
                  <a:cubicBezTo>
                    <a:pt x="15131289" y="0"/>
                    <a:pt x="15135098" y="3810"/>
                    <a:pt x="15135098" y="8509"/>
                  </a:cubicBezTo>
                  <a:lnTo>
                    <a:pt x="15135098" y="1593469"/>
                  </a:lnTo>
                  <a:cubicBezTo>
                    <a:pt x="15135098" y="1598168"/>
                    <a:pt x="15131289" y="1601978"/>
                    <a:pt x="15126590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15126590" y="1584960"/>
                  </a:lnTo>
                  <a:lnTo>
                    <a:pt x="15126590" y="1593469"/>
                  </a:lnTo>
                  <a:lnTo>
                    <a:pt x="15118080" y="1593469"/>
                  </a:lnTo>
                  <a:lnTo>
                    <a:pt x="15118080" y="8509"/>
                  </a:lnTo>
                  <a:lnTo>
                    <a:pt x="15126590" y="8509"/>
                  </a:lnTo>
                  <a:lnTo>
                    <a:pt x="151265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097280" y="7168896"/>
            <a:ext cx="768096" cy="768096"/>
            <a:chOff x="0" y="0"/>
            <a:chExt cx="1024128" cy="102412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097280" y="7168896"/>
            <a:ext cx="768096" cy="768096"/>
            <a:chOff x="0" y="0"/>
            <a:chExt cx="1024128" cy="102412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2157984" y="7059168"/>
            <a:ext cx="6400800" cy="457200"/>
            <a:chOff x="0" y="0"/>
            <a:chExt cx="8534400" cy="6096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534400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853440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Query Results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2157984" y="7552944"/>
            <a:ext cx="6400800" cy="365760"/>
            <a:chOff x="0" y="0"/>
            <a:chExt cx="8534400" cy="4876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8534400" cy="487680"/>
            </a:xfrm>
            <a:custGeom>
              <a:avLst/>
              <a:gdLst/>
              <a:ahLst/>
              <a:cxnLst/>
              <a:rect r="r" b="b" t="t" l="l"/>
              <a:pathLst>
                <a:path h="4876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8534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Display inferred medical conclusions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052047" y="7308847"/>
            <a:ext cx="1841497" cy="469897"/>
            <a:chOff x="0" y="0"/>
            <a:chExt cx="2455329" cy="62652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8509" y="8509"/>
              <a:ext cx="2438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455418" cy="626618"/>
            </a:xfrm>
            <a:custGeom>
              <a:avLst/>
              <a:gdLst/>
              <a:ahLst/>
              <a:cxnLst/>
              <a:rect r="r" b="b" t="t" l="l"/>
              <a:pathLst>
                <a:path h="626618" w="2455418">
                  <a:moveTo>
                    <a:pt x="8509" y="0"/>
                  </a:moveTo>
                  <a:lnTo>
                    <a:pt x="2446909" y="0"/>
                  </a:lnTo>
                  <a:cubicBezTo>
                    <a:pt x="2451608" y="0"/>
                    <a:pt x="2455418" y="3810"/>
                    <a:pt x="2455418" y="8509"/>
                  </a:cubicBezTo>
                  <a:lnTo>
                    <a:pt x="2455418" y="618109"/>
                  </a:lnTo>
                  <a:cubicBezTo>
                    <a:pt x="2455418" y="622808"/>
                    <a:pt x="2451608" y="626618"/>
                    <a:pt x="2446909" y="626618"/>
                  </a:cubicBezTo>
                  <a:lnTo>
                    <a:pt x="8509" y="626618"/>
                  </a:lnTo>
                  <a:cubicBezTo>
                    <a:pt x="3810" y="626618"/>
                    <a:pt x="0" y="622808"/>
                    <a:pt x="0" y="618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18109"/>
                  </a:lnTo>
                  <a:lnTo>
                    <a:pt x="8509" y="618109"/>
                  </a:lnTo>
                  <a:lnTo>
                    <a:pt x="8509" y="609600"/>
                  </a:lnTo>
                  <a:lnTo>
                    <a:pt x="2446909" y="609600"/>
                  </a:lnTo>
                  <a:lnTo>
                    <a:pt x="2446909" y="618109"/>
                  </a:lnTo>
                  <a:lnTo>
                    <a:pt x="2438400" y="618109"/>
                  </a:lnTo>
                  <a:lnTo>
                    <a:pt x="2438400" y="8509"/>
                  </a:lnTo>
                  <a:lnTo>
                    <a:pt x="2446909" y="8509"/>
                  </a:lnTo>
                  <a:lnTo>
                    <a:pt x="2446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0058400" y="7315200"/>
            <a:ext cx="1828800" cy="457200"/>
            <a:chOff x="0" y="0"/>
            <a:chExt cx="2438400" cy="6096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438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2438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Completed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725167" y="8497567"/>
            <a:ext cx="3578857" cy="1384297"/>
            <a:chOff x="0" y="0"/>
            <a:chExt cx="4771809" cy="1845729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8509" y="8509"/>
              <a:ext cx="4754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771898" cy="1845818"/>
            </a:xfrm>
            <a:custGeom>
              <a:avLst/>
              <a:gdLst/>
              <a:ahLst/>
              <a:cxnLst/>
              <a:rect r="r" b="b" t="t" l="l"/>
              <a:pathLst>
                <a:path h="1845818" w="4771898">
                  <a:moveTo>
                    <a:pt x="8509" y="0"/>
                  </a:moveTo>
                  <a:lnTo>
                    <a:pt x="4763389" y="0"/>
                  </a:lnTo>
                  <a:cubicBezTo>
                    <a:pt x="4768088" y="0"/>
                    <a:pt x="4771898" y="3810"/>
                    <a:pt x="4771898" y="8509"/>
                  </a:cubicBezTo>
                  <a:lnTo>
                    <a:pt x="4771898" y="1837309"/>
                  </a:lnTo>
                  <a:cubicBezTo>
                    <a:pt x="4771898" y="1842008"/>
                    <a:pt x="4768088" y="1845818"/>
                    <a:pt x="476338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763389" y="1828800"/>
                  </a:lnTo>
                  <a:lnTo>
                    <a:pt x="4763389" y="1837309"/>
                  </a:lnTo>
                  <a:lnTo>
                    <a:pt x="4754880" y="1837309"/>
                  </a:lnTo>
                  <a:lnTo>
                    <a:pt x="4754880" y="8509"/>
                  </a:lnTo>
                  <a:lnTo>
                    <a:pt x="4763389" y="8509"/>
                  </a:lnTo>
                  <a:lnTo>
                    <a:pt x="4763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914400" y="8631936"/>
            <a:ext cx="3200400" cy="640080"/>
            <a:chOff x="0" y="0"/>
            <a:chExt cx="4267200" cy="8534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267200" cy="853440"/>
            </a:xfrm>
            <a:custGeom>
              <a:avLst/>
              <a:gdLst/>
              <a:ahLst/>
              <a:cxnLst/>
              <a:rect r="r" b="b" t="t" l="l"/>
              <a:pathLst>
                <a:path h="8534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85725"/>
              <a:ext cx="4267200" cy="939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14400" y="9235440"/>
            <a:ext cx="3200400" cy="402336"/>
            <a:chOff x="0" y="0"/>
            <a:chExt cx="4267200" cy="53644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267200" cy="536448"/>
            </a:xfrm>
            <a:custGeom>
              <a:avLst/>
              <a:gdLst/>
              <a:ahLst/>
              <a:cxnLst/>
              <a:rect r="r" b="b" t="t" l="l"/>
              <a:pathLst>
                <a:path h="53644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94" r="0" b="-104994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42672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Execution Time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4657087" y="8497567"/>
            <a:ext cx="3578857" cy="1384297"/>
            <a:chOff x="0" y="0"/>
            <a:chExt cx="4771809" cy="184572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8509" y="8509"/>
              <a:ext cx="4754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771898" cy="1845818"/>
            </a:xfrm>
            <a:custGeom>
              <a:avLst/>
              <a:gdLst/>
              <a:ahLst/>
              <a:cxnLst/>
              <a:rect r="r" b="b" t="t" l="l"/>
              <a:pathLst>
                <a:path h="1845818" w="4771898">
                  <a:moveTo>
                    <a:pt x="8509" y="0"/>
                  </a:moveTo>
                  <a:lnTo>
                    <a:pt x="4763389" y="0"/>
                  </a:lnTo>
                  <a:cubicBezTo>
                    <a:pt x="4768088" y="0"/>
                    <a:pt x="4771898" y="3810"/>
                    <a:pt x="4771898" y="8509"/>
                  </a:cubicBezTo>
                  <a:lnTo>
                    <a:pt x="4771898" y="1837309"/>
                  </a:lnTo>
                  <a:cubicBezTo>
                    <a:pt x="4771898" y="1842008"/>
                    <a:pt x="4768088" y="1845818"/>
                    <a:pt x="476338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763389" y="1828800"/>
                  </a:lnTo>
                  <a:lnTo>
                    <a:pt x="4763389" y="1837309"/>
                  </a:lnTo>
                  <a:lnTo>
                    <a:pt x="4754880" y="1837309"/>
                  </a:lnTo>
                  <a:lnTo>
                    <a:pt x="4754880" y="8509"/>
                  </a:lnTo>
                  <a:lnTo>
                    <a:pt x="4763389" y="8509"/>
                  </a:lnTo>
                  <a:lnTo>
                    <a:pt x="4763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4846320" y="8631936"/>
            <a:ext cx="3200400" cy="640080"/>
            <a:chOff x="0" y="0"/>
            <a:chExt cx="4267200" cy="85344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267200" cy="853440"/>
            </a:xfrm>
            <a:custGeom>
              <a:avLst/>
              <a:gdLst/>
              <a:ahLst/>
              <a:cxnLst/>
              <a:rect r="r" b="b" t="t" l="l"/>
              <a:pathLst>
                <a:path h="8534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85725"/>
              <a:ext cx="4267200" cy="939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156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4846320" y="9235440"/>
            <a:ext cx="3200400" cy="402336"/>
            <a:chOff x="0" y="0"/>
            <a:chExt cx="4267200" cy="53644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267200" cy="536448"/>
            </a:xfrm>
            <a:custGeom>
              <a:avLst/>
              <a:gdLst/>
              <a:ahLst/>
              <a:cxnLst/>
              <a:rect r="r" b="b" t="t" l="l"/>
              <a:pathLst>
                <a:path h="53644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94" r="0" b="-104994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42672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Atoms Created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8589007" y="8497567"/>
            <a:ext cx="3578857" cy="1384297"/>
            <a:chOff x="0" y="0"/>
            <a:chExt cx="4771809" cy="1845729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8509" y="8509"/>
              <a:ext cx="4754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771898" cy="1845818"/>
            </a:xfrm>
            <a:custGeom>
              <a:avLst/>
              <a:gdLst/>
              <a:ahLst/>
              <a:cxnLst/>
              <a:rect r="r" b="b" t="t" l="l"/>
              <a:pathLst>
                <a:path h="1845818" w="4771898">
                  <a:moveTo>
                    <a:pt x="8509" y="0"/>
                  </a:moveTo>
                  <a:lnTo>
                    <a:pt x="4763389" y="0"/>
                  </a:lnTo>
                  <a:cubicBezTo>
                    <a:pt x="4768088" y="0"/>
                    <a:pt x="4771898" y="3810"/>
                    <a:pt x="4771898" y="8509"/>
                  </a:cubicBezTo>
                  <a:lnTo>
                    <a:pt x="4771898" y="1837309"/>
                  </a:lnTo>
                  <a:cubicBezTo>
                    <a:pt x="4771898" y="1842008"/>
                    <a:pt x="4768088" y="1845818"/>
                    <a:pt x="476338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763389" y="1828800"/>
                  </a:lnTo>
                  <a:lnTo>
                    <a:pt x="4763389" y="1837309"/>
                  </a:lnTo>
                  <a:lnTo>
                    <a:pt x="4754880" y="1837309"/>
                  </a:lnTo>
                  <a:lnTo>
                    <a:pt x="4754880" y="8509"/>
                  </a:lnTo>
                  <a:lnTo>
                    <a:pt x="4763389" y="8509"/>
                  </a:lnTo>
                  <a:lnTo>
                    <a:pt x="4763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8778240" y="8631936"/>
            <a:ext cx="3200400" cy="640080"/>
            <a:chOff x="0" y="0"/>
            <a:chExt cx="4267200" cy="8534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267200" cy="853440"/>
            </a:xfrm>
            <a:custGeom>
              <a:avLst/>
              <a:gdLst/>
              <a:ahLst/>
              <a:cxnLst/>
              <a:rect r="r" b="b" t="t" l="l"/>
              <a:pathLst>
                <a:path h="8534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85725"/>
              <a:ext cx="4267200" cy="939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8778240" y="9235440"/>
            <a:ext cx="3200400" cy="402336"/>
            <a:chOff x="0" y="0"/>
            <a:chExt cx="4267200" cy="53644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267200" cy="536448"/>
            </a:xfrm>
            <a:custGeom>
              <a:avLst/>
              <a:gdLst/>
              <a:ahLst/>
              <a:cxnLst/>
              <a:rect r="r" b="b" t="t" l="l"/>
              <a:pathLst>
                <a:path h="53644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94" r="0" b="-104994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42672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Inferences</a:t>
              </a:r>
            </a:p>
          </p:txBody>
        </p:sp>
      </p:grpSp>
      <p:sp>
        <p:nvSpPr>
          <p:cNvPr name="Freeform 123" id="123"/>
          <p:cNvSpPr/>
          <p:nvPr/>
        </p:nvSpPr>
        <p:spPr>
          <a:xfrm flipH="false" flipV="false" rot="0">
            <a:off x="12491714" y="2281027"/>
            <a:ext cx="5122161" cy="7689383"/>
          </a:xfrm>
          <a:custGeom>
            <a:avLst/>
            <a:gdLst/>
            <a:ahLst/>
            <a:cxnLst/>
            <a:rect r="r" b="b" t="t" l="l"/>
            <a:pathLst>
              <a:path h="7689383" w="5122161">
                <a:moveTo>
                  <a:pt x="0" y="0"/>
                </a:moveTo>
                <a:lnTo>
                  <a:pt x="5122160" y="0"/>
                </a:lnTo>
                <a:lnTo>
                  <a:pt x="5122160" y="7689382"/>
                </a:lnTo>
                <a:lnTo>
                  <a:pt x="0" y="76893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144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82880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Tools Used in OpenCog Project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14400"/>
            <a:ext cx="13716000" cy="512064"/>
            <a:chOff x="0" y="0"/>
            <a:chExt cx="182880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288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E0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Overview of AI tools and their practical contributions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30400" y="512064"/>
            <a:ext cx="3291840" cy="548640"/>
            <a:chOff x="0" y="0"/>
            <a:chExt cx="43891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44/53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1792224"/>
            <a:ext cx="16459200" cy="822960"/>
            <a:chOff x="0" y="0"/>
            <a:chExt cx="2194560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219456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⚙  AI Tools Overview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25167" y="2736847"/>
            <a:ext cx="5864857" cy="2060953"/>
            <a:chOff x="0" y="0"/>
            <a:chExt cx="7819809" cy="27479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8509" y="8509"/>
              <a:ext cx="7802880" cy="2731008"/>
            </a:xfrm>
            <a:custGeom>
              <a:avLst/>
              <a:gdLst/>
              <a:ahLst/>
              <a:cxnLst/>
              <a:rect r="r" b="b" t="t" l="l"/>
              <a:pathLst>
                <a:path h="273100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2731008"/>
                  </a:lnTo>
                  <a:lnTo>
                    <a:pt x="0" y="27310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19899" cy="2748026"/>
            </a:xfrm>
            <a:custGeom>
              <a:avLst/>
              <a:gdLst/>
              <a:ahLst/>
              <a:cxnLst/>
              <a:rect r="r" b="b" t="t" l="l"/>
              <a:pathLst>
                <a:path h="2748026" w="7819899">
                  <a:moveTo>
                    <a:pt x="8509" y="0"/>
                  </a:moveTo>
                  <a:lnTo>
                    <a:pt x="7811389" y="0"/>
                  </a:lnTo>
                  <a:cubicBezTo>
                    <a:pt x="7816088" y="0"/>
                    <a:pt x="7819899" y="3810"/>
                    <a:pt x="7819899" y="8509"/>
                  </a:cubicBezTo>
                  <a:lnTo>
                    <a:pt x="7819899" y="2739517"/>
                  </a:lnTo>
                  <a:cubicBezTo>
                    <a:pt x="7819899" y="2744216"/>
                    <a:pt x="7816088" y="2748026"/>
                    <a:pt x="7811389" y="2748026"/>
                  </a:cubicBezTo>
                  <a:lnTo>
                    <a:pt x="8509" y="2748026"/>
                  </a:lnTo>
                  <a:cubicBezTo>
                    <a:pt x="3810" y="2748026"/>
                    <a:pt x="0" y="2744216"/>
                    <a:pt x="0" y="27395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739517"/>
                  </a:lnTo>
                  <a:lnTo>
                    <a:pt x="8509" y="2739517"/>
                  </a:lnTo>
                  <a:lnTo>
                    <a:pt x="8509" y="2731008"/>
                  </a:lnTo>
                  <a:lnTo>
                    <a:pt x="7811389" y="2731008"/>
                  </a:lnTo>
                  <a:lnTo>
                    <a:pt x="7811389" y="2739517"/>
                  </a:lnTo>
                  <a:lnTo>
                    <a:pt x="7802880" y="2739517"/>
                  </a:lnTo>
                  <a:lnTo>
                    <a:pt x="7802880" y="8509"/>
                  </a:lnTo>
                  <a:lnTo>
                    <a:pt x="7811389" y="8509"/>
                  </a:lnTo>
                  <a:lnTo>
                    <a:pt x="7811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50976" y="2962656"/>
            <a:ext cx="694944" cy="694944"/>
            <a:chOff x="0" y="0"/>
            <a:chExt cx="926592" cy="926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0A37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828800" y="2962656"/>
            <a:ext cx="4389120" cy="402336"/>
            <a:chOff x="0" y="0"/>
            <a:chExt cx="5852160" cy="5364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52160" cy="536448"/>
            </a:xfrm>
            <a:custGeom>
              <a:avLst/>
              <a:gdLst/>
              <a:ahLst/>
              <a:cxnLst/>
              <a:rect r="r" b="b" t="t" l="l"/>
              <a:pathLst>
                <a:path h="53644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5852160" cy="5935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ChatGPT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0976" y="3767328"/>
            <a:ext cx="5303520" cy="548640"/>
            <a:chOff x="0" y="0"/>
            <a:chExt cx="707136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071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Natural language processing, code generation, and technical documentation.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0976" y="4352544"/>
            <a:ext cx="1463040" cy="292608"/>
            <a:chOff x="0" y="0"/>
            <a:chExt cx="1950720" cy="3901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50720" cy="390144"/>
            </a:xfrm>
            <a:custGeom>
              <a:avLst/>
              <a:gdLst/>
              <a:ahLst/>
              <a:cxnLst/>
              <a:rect r="r" b="b" t="t" l="l"/>
              <a:pathLst>
                <a:path h="39014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95072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Usage: 45%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560320" y="4443984"/>
            <a:ext cx="3657600" cy="109728"/>
            <a:chOff x="0" y="0"/>
            <a:chExt cx="4876800" cy="1463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76800" cy="146304"/>
            </a:xfrm>
            <a:custGeom>
              <a:avLst/>
              <a:gdLst/>
              <a:ahLst/>
              <a:cxnLst/>
              <a:rect r="r" b="b" t="t" l="l"/>
              <a:pathLst>
                <a:path h="14630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560320" y="4443984"/>
            <a:ext cx="1645920" cy="109728"/>
            <a:chOff x="0" y="0"/>
            <a:chExt cx="2194560" cy="1463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0" cy="146304"/>
            </a:xfrm>
            <a:custGeom>
              <a:avLst/>
              <a:gdLst/>
              <a:ahLst/>
              <a:cxnLst/>
              <a:rect r="r" b="b" t="t" l="l"/>
              <a:pathLst>
                <a:path h="14630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943087" y="2736847"/>
            <a:ext cx="5864857" cy="2060953"/>
            <a:chOff x="0" y="0"/>
            <a:chExt cx="7819809" cy="274793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8509" y="8509"/>
              <a:ext cx="7802880" cy="2731008"/>
            </a:xfrm>
            <a:custGeom>
              <a:avLst/>
              <a:gdLst/>
              <a:ahLst/>
              <a:cxnLst/>
              <a:rect r="r" b="b" t="t" l="l"/>
              <a:pathLst>
                <a:path h="273100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2731008"/>
                  </a:lnTo>
                  <a:lnTo>
                    <a:pt x="0" y="27310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19899" cy="2748026"/>
            </a:xfrm>
            <a:custGeom>
              <a:avLst/>
              <a:gdLst/>
              <a:ahLst/>
              <a:cxnLst/>
              <a:rect r="r" b="b" t="t" l="l"/>
              <a:pathLst>
                <a:path h="2748026" w="7819899">
                  <a:moveTo>
                    <a:pt x="8509" y="0"/>
                  </a:moveTo>
                  <a:lnTo>
                    <a:pt x="7811389" y="0"/>
                  </a:lnTo>
                  <a:cubicBezTo>
                    <a:pt x="7816088" y="0"/>
                    <a:pt x="7819899" y="3810"/>
                    <a:pt x="7819899" y="8509"/>
                  </a:cubicBezTo>
                  <a:lnTo>
                    <a:pt x="7819899" y="2739517"/>
                  </a:lnTo>
                  <a:cubicBezTo>
                    <a:pt x="7819899" y="2744216"/>
                    <a:pt x="7816088" y="2748026"/>
                    <a:pt x="7811389" y="2748026"/>
                  </a:cubicBezTo>
                  <a:lnTo>
                    <a:pt x="8509" y="2748026"/>
                  </a:lnTo>
                  <a:cubicBezTo>
                    <a:pt x="3810" y="2748026"/>
                    <a:pt x="0" y="2744216"/>
                    <a:pt x="0" y="27395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739517"/>
                  </a:lnTo>
                  <a:lnTo>
                    <a:pt x="8509" y="2739517"/>
                  </a:lnTo>
                  <a:lnTo>
                    <a:pt x="8509" y="2731008"/>
                  </a:lnTo>
                  <a:lnTo>
                    <a:pt x="7811389" y="2731008"/>
                  </a:lnTo>
                  <a:lnTo>
                    <a:pt x="7811389" y="2739517"/>
                  </a:lnTo>
                  <a:lnTo>
                    <a:pt x="7802880" y="2739517"/>
                  </a:lnTo>
                  <a:lnTo>
                    <a:pt x="7802880" y="8509"/>
                  </a:lnTo>
                  <a:lnTo>
                    <a:pt x="7811389" y="8509"/>
                  </a:lnTo>
                  <a:lnTo>
                    <a:pt x="7811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168896" y="2962656"/>
            <a:ext cx="694944" cy="694944"/>
            <a:chOff x="0" y="0"/>
            <a:chExt cx="926592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046720" y="2962656"/>
            <a:ext cx="4389120" cy="402336"/>
            <a:chOff x="0" y="0"/>
            <a:chExt cx="5852160" cy="5364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852160" cy="536448"/>
            </a:xfrm>
            <a:custGeom>
              <a:avLst/>
              <a:gdLst/>
              <a:ahLst/>
              <a:cxnLst/>
              <a:rect r="r" b="b" t="t" l="l"/>
              <a:pathLst>
                <a:path h="53644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852160" cy="5935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Claude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168896" y="3767328"/>
            <a:ext cx="5303520" cy="548640"/>
            <a:chOff x="0" y="0"/>
            <a:chExt cx="707136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071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Advanced reasoning for complex AGI concepts and architecture design.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168896" y="4352544"/>
            <a:ext cx="1463040" cy="292608"/>
            <a:chOff x="0" y="0"/>
            <a:chExt cx="1950720" cy="39014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50720" cy="390144"/>
            </a:xfrm>
            <a:custGeom>
              <a:avLst/>
              <a:gdLst/>
              <a:ahLst/>
              <a:cxnLst/>
              <a:rect r="r" b="b" t="t" l="l"/>
              <a:pathLst>
                <a:path h="39014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95072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Usage: 35%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778240" y="4443984"/>
            <a:ext cx="3657600" cy="109728"/>
            <a:chOff x="0" y="0"/>
            <a:chExt cx="4876800" cy="14630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76800" cy="146304"/>
            </a:xfrm>
            <a:custGeom>
              <a:avLst/>
              <a:gdLst/>
              <a:ahLst/>
              <a:cxnLst/>
              <a:rect r="r" b="b" t="t" l="l"/>
              <a:pathLst>
                <a:path h="14630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778240" y="4443984"/>
            <a:ext cx="1280160" cy="109728"/>
            <a:chOff x="0" y="0"/>
            <a:chExt cx="1706880" cy="14630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706880" cy="146304"/>
            </a:xfrm>
            <a:custGeom>
              <a:avLst/>
              <a:gdLst/>
              <a:ahLst/>
              <a:cxnLst/>
              <a:rect r="r" b="b" t="t" l="l"/>
              <a:pathLst>
                <a:path h="14630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25167" y="5022847"/>
            <a:ext cx="5864857" cy="2060953"/>
            <a:chOff x="0" y="0"/>
            <a:chExt cx="7819809" cy="274793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8509" y="8509"/>
              <a:ext cx="7802880" cy="2731008"/>
            </a:xfrm>
            <a:custGeom>
              <a:avLst/>
              <a:gdLst/>
              <a:ahLst/>
              <a:cxnLst/>
              <a:rect r="r" b="b" t="t" l="l"/>
              <a:pathLst>
                <a:path h="273100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2731008"/>
                  </a:lnTo>
                  <a:lnTo>
                    <a:pt x="0" y="27310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819899" cy="2748026"/>
            </a:xfrm>
            <a:custGeom>
              <a:avLst/>
              <a:gdLst/>
              <a:ahLst/>
              <a:cxnLst/>
              <a:rect r="r" b="b" t="t" l="l"/>
              <a:pathLst>
                <a:path h="2748026" w="7819899">
                  <a:moveTo>
                    <a:pt x="8509" y="0"/>
                  </a:moveTo>
                  <a:lnTo>
                    <a:pt x="7811389" y="0"/>
                  </a:lnTo>
                  <a:cubicBezTo>
                    <a:pt x="7816088" y="0"/>
                    <a:pt x="7819899" y="3810"/>
                    <a:pt x="7819899" y="8509"/>
                  </a:cubicBezTo>
                  <a:lnTo>
                    <a:pt x="7819899" y="2739517"/>
                  </a:lnTo>
                  <a:cubicBezTo>
                    <a:pt x="7819899" y="2744216"/>
                    <a:pt x="7816088" y="2748026"/>
                    <a:pt x="7811389" y="2748026"/>
                  </a:cubicBezTo>
                  <a:lnTo>
                    <a:pt x="8509" y="2748026"/>
                  </a:lnTo>
                  <a:cubicBezTo>
                    <a:pt x="3810" y="2748026"/>
                    <a:pt x="0" y="2744216"/>
                    <a:pt x="0" y="27395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739517"/>
                  </a:lnTo>
                  <a:lnTo>
                    <a:pt x="8509" y="2739517"/>
                  </a:lnTo>
                  <a:lnTo>
                    <a:pt x="8509" y="2731008"/>
                  </a:lnTo>
                  <a:lnTo>
                    <a:pt x="7811389" y="2731008"/>
                  </a:lnTo>
                  <a:lnTo>
                    <a:pt x="7811389" y="2739517"/>
                  </a:lnTo>
                  <a:lnTo>
                    <a:pt x="7802880" y="2739517"/>
                  </a:lnTo>
                  <a:lnTo>
                    <a:pt x="7802880" y="8509"/>
                  </a:lnTo>
                  <a:lnTo>
                    <a:pt x="7811389" y="8509"/>
                  </a:lnTo>
                  <a:lnTo>
                    <a:pt x="7811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50976" y="5248656"/>
            <a:ext cx="694944" cy="694944"/>
            <a:chOff x="0" y="0"/>
            <a:chExt cx="926592" cy="9265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828800" y="5248656"/>
            <a:ext cx="4389120" cy="402336"/>
            <a:chOff x="0" y="0"/>
            <a:chExt cx="5852160" cy="53644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852160" cy="536448"/>
            </a:xfrm>
            <a:custGeom>
              <a:avLst/>
              <a:gdLst/>
              <a:ahLst/>
              <a:cxnLst/>
              <a:rect r="r" b="b" t="t" l="l"/>
              <a:pathLst>
                <a:path h="53644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5852160" cy="5935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 Copilot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50976" y="6053328"/>
            <a:ext cx="5303520" cy="548640"/>
            <a:chOff x="0" y="0"/>
            <a:chExt cx="707136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7071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pair programming for Python and Scheme code generation.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50976" y="6638544"/>
            <a:ext cx="1463040" cy="292608"/>
            <a:chOff x="0" y="0"/>
            <a:chExt cx="1950720" cy="39014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950720" cy="390144"/>
            </a:xfrm>
            <a:custGeom>
              <a:avLst/>
              <a:gdLst/>
              <a:ahLst/>
              <a:cxnLst/>
              <a:rect r="r" b="b" t="t" l="l"/>
              <a:pathLst>
                <a:path h="39014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95072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Usage: 40%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560320" y="6729984"/>
            <a:ext cx="3657600" cy="109728"/>
            <a:chOff x="0" y="0"/>
            <a:chExt cx="4876800" cy="14630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876800" cy="146304"/>
            </a:xfrm>
            <a:custGeom>
              <a:avLst/>
              <a:gdLst/>
              <a:ahLst/>
              <a:cxnLst/>
              <a:rect r="r" b="b" t="t" l="l"/>
              <a:pathLst>
                <a:path h="14630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2560320" y="6729984"/>
            <a:ext cx="1463040" cy="109728"/>
            <a:chOff x="0" y="0"/>
            <a:chExt cx="1950720" cy="14630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950720" cy="146304"/>
            </a:xfrm>
            <a:custGeom>
              <a:avLst/>
              <a:gdLst/>
              <a:ahLst/>
              <a:cxnLst/>
              <a:rect r="r" b="b" t="t" l="l"/>
              <a:pathLst>
                <a:path h="14630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943087" y="5022847"/>
            <a:ext cx="5864857" cy="2060953"/>
            <a:chOff x="0" y="0"/>
            <a:chExt cx="7819809" cy="274793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8509" y="8509"/>
              <a:ext cx="7802880" cy="2731008"/>
            </a:xfrm>
            <a:custGeom>
              <a:avLst/>
              <a:gdLst/>
              <a:ahLst/>
              <a:cxnLst/>
              <a:rect r="r" b="b" t="t" l="l"/>
              <a:pathLst>
                <a:path h="273100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2731008"/>
                  </a:lnTo>
                  <a:lnTo>
                    <a:pt x="0" y="27310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819899" cy="2748026"/>
            </a:xfrm>
            <a:custGeom>
              <a:avLst/>
              <a:gdLst/>
              <a:ahLst/>
              <a:cxnLst/>
              <a:rect r="r" b="b" t="t" l="l"/>
              <a:pathLst>
                <a:path h="2748026" w="7819899">
                  <a:moveTo>
                    <a:pt x="8509" y="0"/>
                  </a:moveTo>
                  <a:lnTo>
                    <a:pt x="7811389" y="0"/>
                  </a:lnTo>
                  <a:cubicBezTo>
                    <a:pt x="7816088" y="0"/>
                    <a:pt x="7819899" y="3810"/>
                    <a:pt x="7819899" y="8509"/>
                  </a:cubicBezTo>
                  <a:lnTo>
                    <a:pt x="7819899" y="2739517"/>
                  </a:lnTo>
                  <a:cubicBezTo>
                    <a:pt x="7819899" y="2744216"/>
                    <a:pt x="7816088" y="2748026"/>
                    <a:pt x="7811389" y="2748026"/>
                  </a:cubicBezTo>
                  <a:lnTo>
                    <a:pt x="8509" y="2748026"/>
                  </a:lnTo>
                  <a:cubicBezTo>
                    <a:pt x="3810" y="2748026"/>
                    <a:pt x="0" y="2744216"/>
                    <a:pt x="0" y="27395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739517"/>
                  </a:lnTo>
                  <a:lnTo>
                    <a:pt x="8509" y="2739517"/>
                  </a:lnTo>
                  <a:lnTo>
                    <a:pt x="8509" y="2731008"/>
                  </a:lnTo>
                  <a:lnTo>
                    <a:pt x="7811389" y="2731008"/>
                  </a:lnTo>
                  <a:lnTo>
                    <a:pt x="7811389" y="2739517"/>
                  </a:lnTo>
                  <a:lnTo>
                    <a:pt x="7802880" y="2739517"/>
                  </a:lnTo>
                  <a:lnTo>
                    <a:pt x="7802880" y="8509"/>
                  </a:lnTo>
                  <a:lnTo>
                    <a:pt x="7811389" y="8509"/>
                  </a:lnTo>
                  <a:lnTo>
                    <a:pt x="7811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7168896" y="5248656"/>
            <a:ext cx="694944" cy="694944"/>
            <a:chOff x="0" y="0"/>
            <a:chExt cx="926592" cy="9265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9333EA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8046720" y="5248656"/>
            <a:ext cx="4389120" cy="402336"/>
            <a:chOff x="0" y="0"/>
            <a:chExt cx="5852160" cy="53644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852160" cy="536448"/>
            </a:xfrm>
            <a:custGeom>
              <a:avLst/>
              <a:gdLst/>
              <a:ahLst/>
              <a:cxnLst/>
              <a:rect r="r" b="b" t="t" l="l"/>
              <a:pathLst>
                <a:path h="53644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5852160" cy="5935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Midjourney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168896" y="6053328"/>
            <a:ext cx="5303520" cy="548640"/>
            <a:chOff x="0" y="0"/>
            <a:chExt cx="7071360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7071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AI-generated images for presentation visuals and diagrams.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7168896" y="6638544"/>
            <a:ext cx="1463040" cy="292608"/>
            <a:chOff x="0" y="0"/>
            <a:chExt cx="1950720" cy="39014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950720" cy="390144"/>
            </a:xfrm>
            <a:custGeom>
              <a:avLst/>
              <a:gdLst/>
              <a:ahLst/>
              <a:cxnLst/>
              <a:rect r="r" b="b" t="t" l="l"/>
              <a:pathLst>
                <a:path h="39014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95072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Usage: 25%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8778240" y="6729984"/>
            <a:ext cx="3657600" cy="109728"/>
            <a:chOff x="0" y="0"/>
            <a:chExt cx="4876800" cy="14630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876800" cy="146304"/>
            </a:xfrm>
            <a:custGeom>
              <a:avLst/>
              <a:gdLst/>
              <a:ahLst/>
              <a:cxnLst/>
              <a:rect r="r" b="b" t="t" l="l"/>
              <a:pathLst>
                <a:path h="14630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8778240" y="6729984"/>
            <a:ext cx="914400" cy="109728"/>
            <a:chOff x="0" y="0"/>
            <a:chExt cx="1219200" cy="14630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219200" cy="146304"/>
            </a:xfrm>
            <a:custGeom>
              <a:avLst/>
              <a:gdLst/>
              <a:ahLst/>
              <a:cxnLst/>
              <a:rect r="r" b="b" t="t" l="l"/>
              <a:pathLst>
                <a:path h="146304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725167" y="7308847"/>
            <a:ext cx="5864857" cy="2060953"/>
            <a:chOff x="0" y="0"/>
            <a:chExt cx="7819809" cy="274793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8509" y="8509"/>
              <a:ext cx="7802880" cy="2731008"/>
            </a:xfrm>
            <a:custGeom>
              <a:avLst/>
              <a:gdLst/>
              <a:ahLst/>
              <a:cxnLst/>
              <a:rect r="r" b="b" t="t" l="l"/>
              <a:pathLst>
                <a:path h="273100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2731008"/>
                  </a:lnTo>
                  <a:lnTo>
                    <a:pt x="0" y="27310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819899" cy="2748026"/>
            </a:xfrm>
            <a:custGeom>
              <a:avLst/>
              <a:gdLst/>
              <a:ahLst/>
              <a:cxnLst/>
              <a:rect r="r" b="b" t="t" l="l"/>
              <a:pathLst>
                <a:path h="2748026" w="7819899">
                  <a:moveTo>
                    <a:pt x="8509" y="0"/>
                  </a:moveTo>
                  <a:lnTo>
                    <a:pt x="7811389" y="0"/>
                  </a:lnTo>
                  <a:cubicBezTo>
                    <a:pt x="7816088" y="0"/>
                    <a:pt x="7819899" y="3810"/>
                    <a:pt x="7819899" y="8509"/>
                  </a:cubicBezTo>
                  <a:lnTo>
                    <a:pt x="7819899" y="2739517"/>
                  </a:lnTo>
                  <a:cubicBezTo>
                    <a:pt x="7819899" y="2744216"/>
                    <a:pt x="7816088" y="2748026"/>
                    <a:pt x="7811389" y="2748026"/>
                  </a:cubicBezTo>
                  <a:lnTo>
                    <a:pt x="8509" y="2748026"/>
                  </a:lnTo>
                  <a:cubicBezTo>
                    <a:pt x="3810" y="2748026"/>
                    <a:pt x="0" y="2744216"/>
                    <a:pt x="0" y="27395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739517"/>
                  </a:lnTo>
                  <a:lnTo>
                    <a:pt x="8509" y="2739517"/>
                  </a:lnTo>
                  <a:lnTo>
                    <a:pt x="8509" y="2731008"/>
                  </a:lnTo>
                  <a:lnTo>
                    <a:pt x="7811389" y="2731008"/>
                  </a:lnTo>
                  <a:lnTo>
                    <a:pt x="7811389" y="2739517"/>
                  </a:lnTo>
                  <a:lnTo>
                    <a:pt x="7802880" y="2739517"/>
                  </a:lnTo>
                  <a:lnTo>
                    <a:pt x="7802880" y="8509"/>
                  </a:lnTo>
                  <a:lnTo>
                    <a:pt x="7811389" y="8509"/>
                  </a:lnTo>
                  <a:lnTo>
                    <a:pt x="7811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50976" y="7534656"/>
            <a:ext cx="694944" cy="694944"/>
            <a:chOff x="0" y="0"/>
            <a:chExt cx="926592" cy="92659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828800" y="7534656"/>
            <a:ext cx="4389120" cy="402336"/>
            <a:chOff x="0" y="0"/>
            <a:chExt cx="5852160" cy="53644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852160" cy="536448"/>
            </a:xfrm>
            <a:custGeom>
              <a:avLst/>
              <a:gdLst/>
              <a:ahLst/>
              <a:cxnLst/>
              <a:rect r="r" b="b" t="t" l="l"/>
              <a:pathLst>
                <a:path h="53644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57150"/>
              <a:ext cx="5852160" cy="5935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Runway ML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50976" y="8339328"/>
            <a:ext cx="5303520" cy="548640"/>
            <a:chOff x="0" y="0"/>
            <a:chExt cx="7071360" cy="7315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7071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Video generation and editing for AGI conceptual explanations.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50976" y="8924544"/>
            <a:ext cx="1463040" cy="292608"/>
            <a:chOff x="0" y="0"/>
            <a:chExt cx="1950720" cy="39014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950720" cy="390144"/>
            </a:xfrm>
            <a:custGeom>
              <a:avLst/>
              <a:gdLst/>
              <a:ahLst/>
              <a:cxnLst/>
              <a:rect r="r" b="b" t="t" l="l"/>
              <a:pathLst>
                <a:path h="39014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95072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Usage: 20%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2560320" y="9015984"/>
            <a:ext cx="3657600" cy="109728"/>
            <a:chOff x="0" y="0"/>
            <a:chExt cx="4876800" cy="146304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876800" cy="146304"/>
            </a:xfrm>
            <a:custGeom>
              <a:avLst/>
              <a:gdLst/>
              <a:ahLst/>
              <a:cxnLst/>
              <a:rect r="r" b="b" t="t" l="l"/>
              <a:pathLst>
                <a:path h="14630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2560320" y="9015984"/>
            <a:ext cx="731520" cy="109728"/>
            <a:chOff x="0" y="0"/>
            <a:chExt cx="975360" cy="14630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75360" cy="146304"/>
            </a:xfrm>
            <a:custGeom>
              <a:avLst/>
              <a:gdLst/>
              <a:ahLst/>
              <a:cxnLst/>
              <a:rect r="r" b="b" t="t" l="l"/>
              <a:pathLst>
                <a:path h="146304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6943087" y="7308847"/>
            <a:ext cx="5864857" cy="2060953"/>
            <a:chOff x="0" y="0"/>
            <a:chExt cx="7819809" cy="2747937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8509" y="8509"/>
              <a:ext cx="7802880" cy="2731008"/>
            </a:xfrm>
            <a:custGeom>
              <a:avLst/>
              <a:gdLst/>
              <a:ahLst/>
              <a:cxnLst/>
              <a:rect r="r" b="b" t="t" l="l"/>
              <a:pathLst>
                <a:path h="273100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2731008"/>
                  </a:lnTo>
                  <a:lnTo>
                    <a:pt x="0" y="27310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819899" cy="2748026"/>
            </a:xfrm>
            <a:custGeom>
              <a:avLst/>
              <a:gdLst/>
              <a:ahLst/>
              <a:cxnLst/>
              <a:rect r="r" b="b" t="t" l="l"/>
              <a:pathLst>
                <a:path h="2748026" w="7819899">
                  <a:moveTo>
                    <a:pt x="8509" y="0"/>
                  </a:moveTo>
                  <a:lnTo>
                    <a:pt x="7811389" y="0"/>
                  </a:lnTo>
                  <a:cubicBezTo>
                    <a:pt x="7816088" y="0"/>
                    <a:pt x="7819899" y="3810"/>
                    <a:pt x="7819899" y="8509"/>
                  </a:cubicBezTo>
                  <a:lnTo>
                    <a:pt x="7819899" y="2739517"/>
                  </a:lnTo>
                  <a:cubicBezTo>
                    <a:pt x="7819899" y="2744216"/>
                    <a:pt x="7816088" y="2748026"/>
                    <a:pt x="7811389" y="2748026"/>
                  </a:cubicBezTo>
                  <a:lnTo>
                    <a:pt x="8509" y="2748026"/>
                  </a:lnTo>
                  <a:cubicBezTo>
                    <a:pt x="3810" y="2748026"/>
                    <a:pt x="0" y="2744216"/>
                    <a:pt x="0" y="27395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739517"/>
                  </a:lnTo>
                  <a:lnTo>
                    <a:pt x="8509" y="2739517"/>
                  </a:lnTo>
                  <a:lnTo>
                    <a:pt x="8509" y="2731008"/>
                  </a:lnTo>
                  <a:lnTo>
                    <a:pt x="7811389" y="2731008"/>
                  </a:lnTo>
                  <a:lnTo>
                    <a:pt x="7811389" y="2739517"/>
                  </a:lnTo>
                  <a:lnTo>
                    <a:pt x="7802880" y="2739517"/>
                  </a:lnTo>
                  <a:lnTo>
                    <a:pt x="7802880" y="8509"/>
                  </a:lnTo>
                  <a:lnTo>
                    <a:pt x="7811389" y="8509"/>
                  </a:lnTo>
                  <a:lnTo>
                    <a:pt x="7811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7168896" y="7534656"/>
            <a:ext cx="694944" cy="694944"/>
            <a:chOff x="0" y="0"/>
            <a:chExt cx="926592" cy="92659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8046720" y="7534656"/>
            <a:ext cx="4389120" cy="402336"/>
            <a:chOff x="0" y="0"/>
            <a:chExt cx="5852160" cy="53644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852160" cy="536448"/>
            </a:xfrm>
            <a:custGeom>
              <a:avLst/>
              <a:gdLst/>
              <a:ahLst/>
              <a:cxnLst/>
              <a:rect r="r" b="b" t="t" l="l"/>
              <a:pathLst>
                <a:path h="53644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57150"/>
              <a:ext cx="5852160" cy="5935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Skywork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7168896" y="8339328"/>
            <a:ext cx="5303520" cy="548640"/>
            <a:chOff x="0" y="0"/>
            <a:chExt cx="7071360" cy="73152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7071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Chinese language model for multilingual AGI research.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7168896" y="8924544"/>
            <a:ext cx="1463040" cy="292608"/>
            <a:chOff x="0" y="0"/>
            <a:chExt cx="1950720" cy="390144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950720" cy="390144"/>
            </a:xfrm>
            <a:custGeom>
              <a:avLst/>
              <a:gdLst/>
              <a:ahLst/>
              <a:cxnLst/>
              <a:rect r="r" b="b" t="t" l="l"/>
              <a:pathLst>
                <a:path h="39014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195072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Usage: 15%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8778240" y="9015984"/>
            <a:ext cx="3657600" cy="109728"/>
            <a:chOff x="0" y="0"/>
            <a:chExt cx="4876800" cy="146304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876800" cy="146304"/>
            </a:xfrm>
            <a:custGeom>
              <a:avLst/>
              <a:gdLst/>
              <a:ahLst/>
              <a:cxnLst/>
              <a:rect r="r" b="b" t="t" l="l"/>
              <a:pathLst>
                <a:path h="14630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8778240" y="9015984"/>
            <a:ext cx="548640" cy="109728"/>
            <a:chOff x="0" y="0"/>
            <a:chExt cx="731520" cy="14630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31520" cy="146304"/>
            </a:xfrm>
            <a:custGeom>
              <a:avLst/>
              <a:gdLst/>
              <a:ahLst/>
              <a:cxnLst/>
              <a:rect r="r" b="b" t="t" l="l"/>
              <a:pathLst>
                <a:path h="14630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2978127" y="2736847"/>
            <a:ext cx="4584697" cy="5718553"/>
            <a:chOff x="0" y="0"/>
            <a:chExt cx="6112929" cy="7624737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8509" y="8509"/>
              <a:ext cx="6096000" cy="7607808"/>
            </a:xfrm>
            <a:custGeom>
              <a:avLst/>
              <a:gdLst/>
              <a:ahLst/>
              <a:cxnLst/>
              <a:rect r="r" b="b" t="t" l="l"/>
              <a:pathLst>
                <a:path h="760780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607808"/>
                  </a:lnTo>
                  <a:lnTo>
                    <a:pt x="0" y="76078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6113018" cy="7624826"/>
            </a:xfrm>
            <a:custGeom>
              <a:avLst/>
              <a:gdLst/>
              <a:ahLst/>
              <a:cxnLst/>
              <a:rect r="r" b="b" t="t" l="l"/>
              <a:pathLst>
                <a:path h="7624826" w="6113018">
                  <a:moveTo>
                    <a:pt x="8509" y="0"/>
                  </a:moveTo>
                  <a:lnTo>
                    <a:pt x="6104509" y="0"/>
                  </a:lnTo>
                  <a:cubicBezTo>
                    <a:pt x="6109208" y="0"/>
                    <a:pt x="6113018" y="3810"/>
                    <a:pt x="6113018" y="8509"/>
                  </a:cubicBezTo>
                  <a:lnTo>
                    <a:pt x="6113018" y="7616317"/>
                  </a:lnTo>
                  <a:cubicBezTo>
                    <a:pt x="6113018" y="7621016"/>
                    <a:pt x="6109208" y="7624826"/>
                    <a:pt x="6104509" y="7624826"/>
                  </a:cubicBezTo>
                  <a:lnTo>
                    <a:pt x="8509" y="7624826"/>
                  </a:lnTo>
                  <a:cubicBezTo>
                    <a:pt x="3810" y="7624826"/>
                    <a:pt x="0" y="7621016"/>
                    <a:pt x="0" y="761631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616317"/>
                  </a:lnTo>
                  <a:lnTo>
                    <a:pt x="8509" y="7616317"/>
                  </a:lnTo>
                  <a:lnTo>
                    <a:pt x="8509" y="7607808"/>
                  </a:lnTo>
                  <a:lnTo>
                    <a:pt x="6104509" y="7607808"/>
                  </a:lnTo>
                  <a:lnTo>
                    <a:pt x="6104509" y="7616317"/>
                  </a:lnTo>
                  <a:lnTo>
                    <a:pt x="6096000" y="7616317"/>
                  </a:lnTo>
                  <a:lnTo>
                    <a:pt x="6096000" y="8509"/>
                  </a:lnTo>
                  <a:lnTo>
                    <a:pt x="6104509" y="8509"/>
                  </a:lnTo>
                  <a:lnTo>
                    <a:pt x="61045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3167360" y="2889504"/>
            <a:ext cx="4206240" cy="512064"/>
            <a:chOff x="0" y="0"/>
            <a:chExt cx="5608320" cy="68275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5608320" cy="682752"/>
            </a:xfrm>
            <a:custGeom>
              <a:avLst/>
              <a:gdLst/>
              <a:ahLst/>
              <a:cxnLst/>
              <a:rect r="r" b="b" t="t" l="l"/>
              <a:pathLst>
                <a:path h="68275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5608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Tool Usage Statistics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3161007" y="3559807"/>
            <a:ext cx="4036057" cy="12697"/>
            <a:chOff x="0" y="0"/>
            <a:chExt cx="5381409" cy="16929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8509" y="0"/>
              <a:ext cx="5364480" cy="16891"/>
            </a:xfrm>
            <a:custGeom>
              <a:avLst/>
              <a:gdLst/>
              <a:ahLst/>
              <a:cxnLst/>
              <a:rect r="r" b="b" t="t" l="l"/>
              <a:pathLst>
                <a:path h="16891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3167360" y="3657600"/>
            <a:ext cx="2743200" cy="512064"/>
            <a:chOff x="0" y="0"/>
            <a:chExt cx="3657600" cy="682752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Tools Used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5910560" y="3657600"/>
            <a:ext cx="1463040" cy="512064"/>
            <a:chOff x="0" y="0"/>
            <a:chExt cx="1950720" cy="68275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950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1950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3161007" y="4401055"/>
            <a:ext cx="4036057" cy="12697"/>
            <a:chOff x="0" y="0"/>
            <a:chExt cx="5381409" cy="16929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8509" y="0"/>
              <a:ext cx="5364480" cy="16891"/>
            </a:xfrm>
            <a:custGeom>
              <a:avLst/>
              <a:gdLst/>
              <a:ahLst/>
              <a:cxnLst/>
              <a:rect r="r" b="b" t="t" l="l"/>
              <a:pathLst>
                <a:path h="16891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3167360" y="4498848"/>
            <a:ext cx="2743200" cy="512064"/>
            <a:chOff x="0" y="0"/>
            <a:chExt cx="3657600" cy="68275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Primary Language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5910560" y="4498848"/>
            <a:ext cx="1463040" cy="512064"/>
            <a:chOff x="0" y="0"/>
            <a:chExt cx="1950720" cy="68275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950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1950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3161007" y="5242303"/>
            <a:ext cx="4036057" cy="12697"/>
            <a:chOff x="0" y="0"/>
            <a:chExt cx="5381409" cy="16929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8509" y="0"/>
              <a:ext cx="5364480" cy="16891"/>
            </a:xfrm>
            <a:custGeom>
              <a:avLst/>
              <a:gdLst/>
              <a:ahLst/>
              <a:cxnLst/>
              <a:rect r="r" b="b" t="t" l="l"/>
              <a:pathLst>
                <a:path h="16891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13167360" y="5340096"/>
            <a:ext cx="2743200" cy="512064"/>
            <a:chOff x="0" y="0"/>
            <a:chExt cx="3657600" cy="682752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 Generation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5910560" y="5340096"/>
            <a:ext cx="1463040" cy="512064"/>
            <a:chOff x="0" y="0"/>
            <a:chExt cx="1950720" cy="682752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950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1950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40%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3161007" y="6083551"/>
            <a:ext cx="4036057" cy="12697"/>
            <a:chOff x="0" y="0"/>
            <a:chExt cx="5381409" cy="16929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8509" y="0"/>
              <a:ext cx="5364480" cy="16891"/>
            </a:xfrm>
            <a:custGeom>
              <a:avLst/>
              <a:gdLst/>
              <a:ahLst/>
              <a:cxnLst/>
              <a:rect r="r" b="b" t="t" l="l"/>
              <a:pathLst>
                <a:path h="16891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167360" y="6181344"/>
            <a:ext cx="2743200" cy="512064"/>
            <a:chOff x="0" y="0"/>
            <a:chExt cx="3657600" cy="682752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Documentation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5910560" y="6181344"/>
            <a:ext cx="1463040" cy="512064"/>
            <a:chOff x="0" y="0"/>
            <a:chExt cx="1950720" cy="682752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950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1950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30%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3161007" y="6924799"/>
            <a:ext cx="4036057" cy="12697"/>
            <a:chOff x="0" y="0"/>
            <a:chExt cx="5381409" cy="16929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8509" y="0"/>
              <a:ext cx="5364480" cy="16891"/>
            </a:xfrm>
            <a:custGeom>
              <a:avLst/>
              <a:gdLst/>
              <a:ahLst/>
              <a:cxnLst/>
              <a:rect r="r" b="b" t="t" l="l"/>
              <a:pathLst>
                <a:path h="16891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167360" y="7022592"/>
            <a:ext cx="2743200" cy="512064"/>
            <a:chOff x="0" y="0"/>
            <a:chExt cx="3657600" cy="682752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 Design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5910560" y="7022592"/>
            <a:ext cx="1463040" cy="512064"/>
            <a:chOff x="0" y="0"/>
            <a:chExt cx="1950720" cy="68275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950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1950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30%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144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82880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Tools Used in OpenCog Project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14400"/>
            <a:ext cx="13716000" cy="512064"/>
            <a:chOff x="0" y="0"/>
            <a:chExt cx="182880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288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E0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Practical contributions and integration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30400" y="512064"/>
            <a:ext cx="3291840" cy="548640"/>
            <a:chOff x="0" y="0"/>
            <a:chExt cx="43891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45/53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429487" y="1731007"/>
            <a:ext cx="5133337" cy="597913"/>
            <a:chOff x="0" y="0"/>
            <a:chExt cx="6844449" cy="7972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509" y="8509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365760"/>
                  </a:moveTo>
                  <a:cubicBezTo>
                    <a:pt x="0" y="163703"/>
                    <a:pt x="166878" y="0"/>
                    <a:pt x="372745" y="0"/>
                  </a:cubicBezTo>
                  <a:lnTo>
                    <a:pt x="6454775" y="0"/>
                  </a:lnTo>
                  <a:cubicBezTo>
                    <a:pt x="6660642" y="0"/>
                    <a:pt x="6827520" y="163703"/>
                    <a:pt x="6827520" y="365760"/>
                  </a:cubicBezTo>
                  <a:lnTo>
                    <a:pt x="6827520" y="414528"/>
                  </a:lnTo>
                  <a:cubicBezTo>
                    <a:pt x="6827520" y="616585"/>
                    <a:pt x="6660642" y="780288"/>
                    <a:pt x="6454775" y="780288"/>
                  </a:cubicBezTo>
                  <a:lnTo>
                    <a:pt x="372745" y="780288"/>
                  </a:lnTo>
                  <a:cubicBezTo>
                    <a:pt x="166878" y="780288"/>
                    <a:pt x="0" y="616458"/>
                    <a:pt x="0" y="41452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44538" cy="797306"/>
            </a:xfrm>
            <a:custGeom>
              <a:avLst/>
              <a:gdLst/>
              <a:ahLst/>
              <a:cxnLst/>
              <a:rect r="r" b="b" t="t" l="l"/>
              <a:pathLst>
                <a:path h="797306" w="6844538">
                  <a:moveTo>
                    <a:pt x="0" y="374269"/>
                  </a:moveTo>
                  <a:cubicBezTo>
                    <a:pt x="0" y="167386"/>
                    <a:pt x="170815" y="0"/>
                    <a:pt x="381254" y="0"/>
                  </a:cubicBezTo>
                  <a:lnTo>
                    <a:pt x="6463284" y="0"/>
                  </a:lnTo>
                  <a:lnTo>
                    <a:pt x="6463284" y="8509"/>
                  </a:lnTo>
                  <a:lnTo>
                    <a:pt x="6463284" y="0"/>
                  </a:lnTo>
                  <a:cubicBezTo>
                    <a:pt x="6673723" y="0"/>
                    <a:pt x="6844538" y="167386"/>
                    <a:pt x="6844538" y="374269"/>
                  </a:cubicBezTo>
                  <a:lnTo>
                    <a:pt x="6836029" y="374269"/>
                  </a:lnTo>
                  <a:lnTo>
                    <a:pt x="6844538" y="374269"/>
                  </a:lnTo>
                  <a:lnTo>
                    <a:pt x="6844538" y="423037"/>
                  </a:lnTo>
                  <a:lnTo>
                    <a:pt x="6836029" y="423037"/>
                  </a:lnTo>
                  <a:lnTo>
                    <a:pt x="6844538" y="423037"/>
                  </a:lnTo>
                  <a:cubicBezTo>
                    <a:pt x="6844538" y="629920"/>
                    <a:pt x="6673723" y="797306"/>
                    <a:pt x="6463284" y="797306"/>
                  </a:cubicBezTo>
                  <a:lnTo>
                    <a:pt x="6463284" y="788797"/>
                  </a:lnTo>
                  <a:lnTo>
                    <a:pt x="6463284" y="797306"/>
                  </a:lnTo>
                  <a:lnTo>
                    <a:pt x="381254" y="797306"/>
                  </a:lnTo>
                  <a:lnTo>
                    <a:pt x="381254" y="788797"/>
                  </a:lnTo>
                  <a:lnTo>
                    <a:pt x="381254" y="797306"/>
                  </a:lnTo>
                  <a:cubicBezTo>
                    <a:pt x="170815" y="797179"/>
                    <a:pt x="0" y="629793"/>
                    <a:pt x="0" y="423037"/>
                  </a:cubicBezTo>
                  <a:lnTo>
                    <a:pt x="0" y="374269"/>
                  </a:lnTo>
                  <a:lnTo>
                    <a:pt x="8509" y="374269"/>
                  </a:lnTo>
                  <a:lnTo>
                    <a:pt x="0" y="374269"/>
                  </a:lnTo>
                  <a:moveTo>
                    <a:pt x="16891" y="374269"/>
                  </a:moveTo>
                  <a:lnTo>
                    <a:pt x="16891" y="423037"/>
                  </a:lnTo>
                  <a:lnTo>
                    <a:pt x="8509" y="423037"/>
                  </a:lnTo>
                  <a:lnTo>
                    <a:pt x="17018" y="423037"/>
                  </a:lnTo>
                  <a:cubicBezTo>
                    <a:pt x="17018" y="620268"/>
                    <a:pt x="179959" y="780288"/>
                    <a:pt x="381381" y="780288"/>
                  </a:cubicBezTo>
                  <a:lnTo>
                    <a:pt x="6463411" y="780288"/>
                  </a:lnTo>
                  <a:cubicBezTo>
                    <a:pt x="6664706" y="780288"/>
                    <a:pt x="6827774" y="620141"/>
                    <a:pt x="6827774" y="423037"/>
                  </a:cubicBezTo>
                  <a:lnTo>
                    <a:pt x="6827774" y="374269"/>
                  </a:lnTo>
                  <a:cubicBezTo>
                    <a:pt x="6827774" y="177038"/>
                    <a:pt x="6664833" y="17018"/>
                    <a:pt x="6463411" y="17018"/>
                  </a:cubicBezTo>
                  <a:lnTo>
                    <a:pt x="381254" y="17018"/>
                  </a:lnTo>
                  <a:lnTo>
                    <a:pt x="381254" y="8509"/>
                  </a:lnTo>
                  <a:lnTo>
                    <a:pt x="381254" y="17018"/>
                  </a:lnTo>
                  <a:cubicBezTo>
                    <a:pt x="179832" y="16891"/>
                    <a:pt x="16891" y="177038"/>
                    <a:pt x="16891" y="374269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435840" y="1737360"/>
            <a:ext cx="5120640" cy="585216"/>
            <a:chOff x="0" y="0"/>
            <a:chExt cx="6827520" cy="780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8275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6 AI tools integrated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1792224"/>
            <a:ext cx="16459200" cy="822960"/>
            <a:chOff x="0" y="0"/>
            <a:chExt cx="2194560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219456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🔧  AI Tools Integration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42287" y="2736847"/>
            <a:ext cx="5590537" cy="3450841"/>
            <a:chOff x="0" y="0"/>
            <a:chExt cx="7454049" cy="460112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8509" y="8509"/>
              <a:ext cx="7437119" cy="4584192"/>
            </a:xfrm>
            <a:custGeom>
              <a:avLst/>
              <a:gdLst/>
              <a:ahLst/>
              <a:cxnLst/>
              <a:rect r="r" b="b" t="t" l="l"/>
              <a:pathLst>
                <a:path h="4584192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54138" cy="4601210"/>
            </a:xfrm>
            <a:custGeom>
              <a:avLst/>
              <a:gdLst/>
              <a:ahLst/>
              <a:cxnLst/>
              <a:rect r="r" b="b" t="t" l="l"/>
              <a:pathLst>
                <a:path h="4601210" w="7454138">
                  <a:moveTo>
                    <a:pt x="8509" y="0"/>
                  </a:moveTo>
                  <a:lnTo>
                    <a:pt x="7445628" y="0"/>
                  </a:lnTo>
                  <a:cubicBezTo>
                    <a:pt x="7450327" y="0"/>
                    <a:pt x="7454138" y="3810"/>
                    <a:pt x="7454138" y="8509"/>
                  </a:cubicBezTo>
                  <a:lnTo>
                    <a:pt x="7454138" y="4592701"/>
                  </a:lnTo>
                  <a:cubicBezTo>
                    <a:pt x="7454138" y="4597400"/>
                    <a:pt x="7450327" y="4601210"/>
                    <a:pt x="7445628" y="4601210"/>
                  </a:cubicBezTo>
                  <a:lnTo>
                    <a:pt x="8509" y="4601210"/>
                  </a:lnTo>
                  <a:cubicBezTo>
                    <a:pt x="3810" y="4601210"/>
                    <a:pt x="0" y="4597400"/>
                    <a:pt x="0" y="45927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592701"/>
                  </a:lnTo>
                  <a:lnTo>
                    <a:pt x="8509" y="4592701"/>
                  </a:lnTo>
                  <a:lnTo>
                    <a:pt x="8509" y="4584192"/>
                  </a:lnTo>
                  <a:lnTo>
                    <a:pt x="7445628" y="4584192"/>
                  </a:lnTo>
                  <a:lnTo>
                    <a:pt x="7445628" y="4592701"/>
                  </a:lnTo>
                  <a:lnTo>
                    <a:pt x="7437120" y="4592701"/>
                  </a:lnTo>
                  <a:lnTo>
                    <a:pt x="7437120" y="8509"/>
                  </a:lnTo>
                  <a:lnTo>
                    <a:pt x="7445628" y="8509"/>
                  </a:lnTo>
                  <a:lnTo>
                    <a:pt x="7445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68096" y="2962656"/>
            <a:ext cx="694944" cy="694944"/>
            <a:chOff x="0" y="0"/>
            <a:chExt cx="926592" cy="9265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0A37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645920" y="2962656"/>
            <a:ext cx="4023360" cy="402336"/>
            <a:chOff x="0" y="0"/>
            <a:chExt cx="5364480" cy="5364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3644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ChatGPT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45920" y="3401568"/>
            <a:ext cx="4023360" cy="329184"/>
            <a:chOff x="0" y="0"/>
            <a:chExt cx="5364480" cy="43891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64480" cy="438912"/>
            </a:xfrm>
            <a:custGeom>
              <a:avLst/>
              <a:gdLst/>
              <a:ahLst/>
              <a:cxnLst/>
              <a:rect r="r" b="b" t="t" l="l"/>
              <a:pathLst>
                <a:path h="43891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3644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LLM  |  Content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68096" y="3877056"/>
            <a:ext cx="5157216" cy="1188720"/>
            <a:chOff x="0" y="0"/>
            <a:chExt cx="6876288" cy="1584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76288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535" r="0" b="-3453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876288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Used for content generation, code explanation, and documentation writing. Helped understand complex OpenCog concepts.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68096" y="5705856"/>
            <a:ext cx="164592" cy="164592"/>
            <a:chOff x="0" y="0"/>
            <a:chExt cx="219456" cy="2194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24128" y="5669280"/>
            <a:ext cx="4937760" cy="292608"/>
            <a:chOff x="0" y="0"/>
            <a:chExt cx="6583680" cy="3901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83680" cy="390144"/>
            </a:xfrm>
            <a:custGeom>
              <a:avLst/>
              <a:gdLst/>
              <a:ahLst/>
              <a:cxnLst/>
              <a:rect r="r" b="b" t="t" l="l"/>
              <a:pathLst>
                <a:path h="39014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58368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Content generation &amp; explanation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431023" y="2736847"/>
            <a:ext cx="5590537" cy="3450841"/>
            <a:chOff x="0" y="0"/>
            <a:chExt cx="7454049" cy="460112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8509" y="8509"/>
              <a:ext cx="7437119" cy="4584192"/>
            </a:xfrm>
            <a:custGeom>
              <a:avLst/>
              <a:gdLst/>
              <a:ahLst/>
              <a:cxnLst/>
              <a:rect r="r" b="b" t="t" l="l"/>
              <a:pathLst>
                <a:path h="4584192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454138" cy="4601210"/>
            </a:xfrm>
            <a:custGeom>
              <a:avLst/>
              <a:gdLst/>
              <a:ahLst/>
              <a:cxnLst/>
              <a:rect r="r" b="b" t="t" l="l"/>
              <a:pathLst>
                <a:path h="4601210" w="7454138">
                  <a:moveTo>
                    <a:pt x="8509" y="0"/>
                  </a:moveTo>
                  <a:lnTo>
                    <a:pt x="7445628" y="0"/>
                  </a:lnTo>
                  <a:cubicBezTo>
                    <a:pt x="7450327" y="0"/>
                    <a:pt x="7454138" y="3810"/>
                    <a:pt x="7454138" y="8509"/>
                  </a:cubicBezTo>
                  <a:lnTo>
                    <a:pt x="7454138" y="4592701"/>
                  </a:lnTo>
                  <a:cubicBezTo>
                    <a:pt x="7454138" y="4597400"/>
                    <a:pt x="7450327" y="4601210"/>
                    <a:pt x="7445628" y="4601210"/>
                  </a:cubicBezTo>
                  <a:lnTo>
                    <a:pt x="8509" y="4601210"/>
                  </a:lnTo>
                  <a:cubicBezTo>
                    <a:pt x="3810" y="4601210"/>
                    <a:pt x="0" y="4597400"/>
                    <a:pt x="0" y="45927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592701"/>
                  </a:lnTo>
                  <a:lnTo>
                    <a:pt x="8509" y="4592701"/>
                  </a:lnTo>
                  <a:lnTo>
                    <a:pt x="8509" y="4584192"/>
                  </a:lnTo>
                  <a:lnTo>
                    <a:pt x="7445628" y="4584192"/>
                  </a:lnTo>
                  <a:lnTo>
                    <a:pt x="7445628" y="4592701"/>
                  </a:lnTo>
                  <a:lnTo>
                    <a:pt x="7437120" y="4592701"/>
                  </a:lnTo>
                  <a:lnTo>
                    <a:pt x="7437120" y="8509"/>
                  </a:lnTo>
                  <a:lnTo>
                    <a:pt x="7445628" y="8509"/>
                  </a:lnTo>
                  <a:lnTo>
                    <a:pt x="7445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656832" y="2962656"/>
            <a:ext cx="694944" cy="694944"/>
            <a:chOff x="0" y="0"/>
            <a:chExt cx="926592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534656" y="2962656"/>
            <a:ext cx="4023360" cy="402336"/>
            <a:chOff x="0" y="0"/>
            <a:chExt cx="5364480" cy="5364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3644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Claude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534656" y="3401568"/>
            <a:ext cx="4023360" cy="329184"/>
            <a:chOff x="0" y="0"/>
            <a:chExt cx="5364480" cy="43891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64480" cy="438912"/>
            </a:xfrm>
            <a:custGeom>
              <a:avLst/>
              <a:gdLst/>
              <a:ahLst/>
              <a:cxnLst/>
              <a:rect r="r" b="b" t="t" l="l"/>
              <a:pathLst>
                <a:path h="43891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53644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LLM  |  Analysis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656832" y="3877056"/>
            <a:ext cx="5157216" cy="1188720"/>
            <a:chOff x="0" y="0"/>
            <a:chExt cx="6876288" cy="15849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876288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535" r="0" b="-3453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6876288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Assisted with technical analysis, code review, and architectural design decisions. Provided detailed AGI explanations.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656832" y="5705856"/>
            <a:ext cx="164592" cy="164592"/>
            <a:chOff x="0" y="0"/>
            <a:chExt cx="219456" cy="2194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912864" y="5669280"/>
            <a:ext cx="4937760" cy="292608"/>
            <a:chOff x="0" y="0"/>
            <a:chExt cx="6583680" cy="39014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583680" cy="390144"/>
            </a:xfrm>
            <a:custGeom>
              <a:avLst/>
              <a:gdLst/>
              <a:ahLst/>
              <a:cxnLst/>
              <a:rect r="r" b="b" t="t" l="l"/>
              <a:pathLst>
                <a:path h="39014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58368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Technical analysis &amp; review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319759" y="2736847"/>
            <a:ext cx="5590537" cy="3450841"/>
            <a:chOff x="0" y="0"/>
            <a:chExt cx="7454049" cy="460112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8509" y="8509"/>
              <a:ext cx="7437119" cy="4584192"/>
            </a:xfrm>
            <a:custGeom>
              <a:avLst/>
              <a:gdLst/>
              <a:ahLst/>
              <a:cxnLst/>
              <a:rect r="r" b="b" t="t" l="l"/>
              <a:pathLst>
                <a:path h="4584192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454138" cy="4601210"/>
            </a:xfrm>
            <a:custGeom>
              <a:avLst/>
              <a:gdLst/>
              <a:ahLst/>
              <a:cxnLst/>
              <a:rect r="r" b="b" t="t" l="l"/>
              <a:pathLst>
                <a:path h="4601210" w="7454138">
                  <a:moveTo>
                    <a:pt x="8509" y="0"/>
                  </a:moveTo>
                  <a:lnTo>
                    <a:pt x="7445628" y="0"/>
                  </a:lnTo>
                  <a:cubicBezTo>
                    <a:pt x="7450327" y="0"/>
                    <a:pt x="7454138" y="3810"/>
                    <a:pt x="7454138" y="8509"/>
                  </a:cubicBezTo>
                  <a:lnTo>
                    <a:pt x="7454138" y="4592701"/>
                  </a:lnTo>
                  <a:cubicBezTo>
                    <a:pt x="7454138" y="4597400"/>
                    <a:pt x="7450327" y="4601210"/>
                    <a:pt x="7445628" y="4601210"/>
                  </a:cubicBezTo>
                  <a:lnTo>
                    <a:pt x="8509" y="4601210"/>
                  </a:lnTo>
                  <a:cubicBezTo>
                    <a:pt x="3810" y="4601210"/>
                    <a:pt x="0" y="4597400"/>
                    <a:pt x="0" y="45927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592701"/>
                  </a:lnTo>
                  <a:lnTo>
                    <a:pt x="8509" y="4592701"/>
                  </a:lnTo>
                  <a:lnTo>
                    <a:pt x="8509" y="4584192"/>
                  </a:lnTo>
                  <a:lnTo>
                    <a:pt x="7445628" y="4584192"/>
                  </a:lnTo>
                  <a:lnTo>
                    <a:pt x="7445628" y="4592701"/>
                  </a:lnTo>
                  <a:lnTo>
                    <a:pt x="7437120" y="4592701"/>
                  </a:lnTo>
                  <a:lnTo>
                    <a:pt x="7437120" y="8509"/>
                  </a:lnTo>
                  <a:lnTo>
                    <a:pt x="7445628" y="8509"/>
                  </a:lnTo>
                  <a:lnTo>
                    <a:pt x="7445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545568" y="2962656"/>
            <a:ext cx="694944" cy="694944"/>
            <a:chOff x="0" y="0"/>
            <a:chExt cx="926592" cy="9265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423392" y="2962656"/>
            <a:ext cx="4023360" cy="402336"/>
            <a:chOff x="0" y="0"/>
            <a:chExt cx="5364480" cy="53644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3644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 Copilot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423392" y="3401568"/>
            <a:ext cx="4023360" cy="329184"/>
            <a:chOff x="0" y="0"/>
            <a:chExt cx="5364480" cy="43891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64480" cy="438912"/>
            </a:xfrm>
            <a:custGeom>
              <a:avLst/>
              <a:gdLst/>
              <a:ahLst/>
              <a:cxnLst/>
              <a:rect r="r" b="b" t="t" l="l"/>
              <a:pathLst>
                <a:path h="43891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53644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Coding  |  AI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545568" y="3877056"/>
            <a:ext cx="5157216" cy="1188720"/>
            <a:chOff x="0" y="0"/>
            <a:chExt cx="6876288" cy="15849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876288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535" r="0" b="-3453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6876288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Accelerated code development by providing intelligent code suggestions and autocomplete for OpenCog implementation.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545568" y="5705856"/>
            <a:ext cx="164592" cy="164592"/>
            <a:chOff x="0" y="0"/>
            <a:chExt cx="219456" cy="21945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801600" y="5669280"/>
            <a:ext cx="4937760" cy="292608"/>
            <a:chOff x="0" y="0"/>
            <a:chExt cx="6583680" cy="39014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583680" cy="390144"/>
            </a:xfrm>
            <a:custGeom>
              <a:avLst/>
              <a:gdLst/>
              <a:ahLst/>
              <a:cxnLst/>
              <a:rect r="r" b="b" t="t" l="l"/>
              <a:pathLst>
                <a:path h="39014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658368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 generation &amp; completion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42287" y="6394447"/>
            <a:ext cx="5590537" cy="3450841"/>
            <a:chOff x="0" y="0"/>
            <a:chExt cx="7454049" cy="460112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8509" y="8509"/>
              <a:ext cx="7437119" cy="4584192"/>
            </a:xfrm>
            <a:custGeom>
              <a:avLst/>
              <a:gdLst/>
              <a:ahLst/>
              <a:cxnLst/>
              <a:rect r="r" b="b" t="t" l="l"/>
              <a:pathLst>
                <a:path h="4584192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454138" cy="4601210"/>
            </a:xfrm>
            <a:custGeom>
              <a:avLst/>
              <a:gdLst/>
              <a:ahLst/>
              <a:cxnLst/>
              <a:rect r="r" b="b" t="t" l="l"/>
              <a:pathLst>
                <a:path h="4601210" w="7454138">
                  <a:moveTo>
                    <a:pt x="8509" y="0"/>
                  </a:moveTo>
                  <a:lnTo>
                    <a:pt x="7445628" y="0"/>
                  </a:lnTo>
                  <a:cubicBezTo>
                    <a:pt x="7450327" y="0"/>
                    <a:pt x="7454138" y="3810"/>
                    <a:pt x="7454138" y="8509"/>
                  </a:cubicBezTo>
                  <a:lnTo>
                    <a:pt x="7454138" y="4592701"/>
                  </a:lnTo>
                  <a:cubicBezTo>
                    <a:pt x="7454138" y="4597400"/>
                    <a:pt x="7450327" y="4601210"/>
                    <a:pt x="7445628" y="4601210"/>
                  </a:cubicBezTo>
                  <a:lnTo>
                    <a:pt x="8509" y="4601210"/>
                  </a:lnTo>
                  <a:cubicBezTo>
                    <a:pt x="3810" y="4601210"/>
                    <a:pt x="0" y="4597400"/>
                    <a:pt x="0" y="45927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592701"/>
                  </a:lnTo>
                  <a:lnTo>
                    <a:pt x="8509" y="4592701"/>
                  </a:lnTo>
                  <a:lnTo>
                    <a:pt x="8509" y="4584192"/>
                  </a:lnTo>
                  <a:lnTo>
                    <a:pt x="7445628" y="4584192"/>
                  </a:lnTo>
                  <a:lnTo>
                    <a:pt x="7445628" y="4592701"/>
                  </a:lnTo>
                  <a:lnTo>
                    <a:pt x="7437120" y="4592701"/>
                  </a:lnTo>
                  <a:lnTo>
                    <a:pt x="7437120" y="8509"/>
                  </a:lnTo>
                  <a:lnTo>
                    <a:pt x="7445628" y="8509"/>
                  </a:lnTo>
                  <a:lnTo>
                    <a:pt x="7445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768096" y="6620256"/>
            <a:ext cx="694944" cy="694944"/>
            <a:chOff x="0" y="0"/>
            <a:chExt cx="926592" cy="92659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9333EA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645920" y="6620256"/>
            <a:ext cx="4023360" cy="402336"/>
            <a:chOff x="0" y="0"/>
            <a:chExt cx="5364480" cy="53644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53644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Midjourney/DALL-E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645920" y="7059168"/>
            <a:ext cx="4023360" cy="329184"/>
            <a:chOff x="0" y="0"/>
            <a:chExt cx="5364480" cy="43891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364480" cy="438912"/>
            </a:xfrm>
            <a:custGeom>
              <a:avLst/>
              <a:gdLst/>
              <a:ahLst/>
              <a:cxnLst/>
              <a:rect r="r" b="b" t="t" l="l"/>
              <a:pathLst>
                <a:path h="43891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53644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Image  |  Gen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768096" y="7534656"/>
            <a:ext cx="5157216" cy="1188720"/>
            <a:chOff x="0" y="0"/>
            <a:chExt cx="6876288" cy="158496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876288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535" r="0" b="-3453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6876288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Generated visual content for presentation, including AI brain visualizations and concept diagrams.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768096" y="9363456"/>
            <a:ext cx="164592" cy="164592"/>
            <a:chOff x="0" y="0"/>
            <a:chExt cx="219456" cy="21945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024128" y="9326880"/>
            <a:ext cx="4937760" cy="292608"/>
            <a:chOff x="0" y="0"/>
            <a:chExt cx="6583680" cy="39014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583680" cy="390144"/>
            </a:xfrm>
            <a:custGeom>
              <a:avLst/>
              <a:gdLst/>
              <a:ahLst/>
              <a:cxnLst/>
              <a:rect r="r" b="b" t="t" l="l"/>
              <a:pathLst>
                <a:path h="39014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658368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 content generation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6431023" y="6394447"/>
            <a:ext cx="5590537" cy="3450841"/>
            <a:chOff x="0" y="0"/>
            <a:chExt cx="7454049" cy="460112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8509" y="8509"/>
              <a:ext cx="7437119" cy="4584192"/>
            </a:xfrm>
            <a:custGeom>
              <a:avLst/>
              <a:gdLst/>
              <a:ahLst/>
              <a:cxnLst/>
              <a:rect r="r" b="b" t="t" l="l"/>
              <a:pathLst>
                <a:path h="4584192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454138" cy="4601210"/>
            </a:xfrm>
            <a:custGeom>
              <a:avLst/>
              <a:gdLst/>
              <a:ahLst/>
              <a:cxnLst/>
              <a:rect r="r" b="b" t="t" l="l"/>
              <a:pathLst>
                <a:path h="4601210" w="7454138">
                  <a:moveTo>
                    <a:pt x="8509" y="0"/>
                  </a:moveTo>
                  <a:lnTo>
                    <a:pt x="7445628" y="0"/>
                  </a:lnTo>
                  <a:cubicBezTo>
                    <a:pt x="7450327" y="0"/>
                    <a:pt x="7454138" y="3810"/>
                    <a:pt x="7454138" y="8509"/>
                  </a:cubicBezTo>
                  <a:lnTo>
                    <a:pt x="7454138" y="4592701"/>
                  </a:lnTo>
                  <a:cubicBezTo>
                    <a:pt x="7454138" y="4597400"/>
                    <a:pt x="7450327" y="4601210"/>
                    <a:pt x="7445628" y="4601210"/>
                  </a:cubicBezTo>
                  <a:lnTo>
                    <a:pt x="8509" y="4601210"/>
                  </a:lnTo>
                  <a:cubicBezTo>
                    <a:pt x="3810" y="4601210"/>
                    <a:pt x="0" y="4597400"/>
                    <a:pt x="0" y="45927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592701"/>
                  </a:lnTo>
                  <a:lnTo>
                    <a:pt x="8509" y="4592701"/>
                  </a:lnTo>
                  <a:lnTo>
                    <a:pt x="8509" y="4584192"/>
                  </a:lnTo>
                  <a:lnTo>
                    <a:pt x="7445628" y="4584192"/>
                  </a:lnTo>
                  <a:lnTo>
                    <a:pt x="7445628" y="4592701"/>
                  </a:lnTo>
                  <a:lnTo>
                    <a:pt x="7437120" y="4592701"/>
                  </a:lnTo>
                  <a:lnTo>
                    <a:pt x="7437120" y="8509"/>
                  </a:lnTo>
                  <a:lnTo>
                    <a:pt x="7445628" y="8509"/>
                  </a:lnTo>
                  <a:lnTo>
                    <a:pt x="7445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6656832" y="6620256"/>
            <a:ext cx="694944" cy="694944"/>
            <a:chOff x="0" y="0"/>
            <a:chExt cx="926592" cy="92659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7534656" y="6620256"/>
            <a:ext cx="4023360" cy="402336"/>
            <a:chOff x="0" y="0"/>
            <a:chExt cx="5364480" cy="53644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53644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Runway ML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7534656" y="7059168"/>
            <a:ext cx="4023360" cy="329184"/>
            <a:chOff x="0" y="0"/>
            <a:chExt cx="5364480" cy="43891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364480" cy="438912"/>
            </a:xfrm>
            <a:custGeom>
              <a:avLst/>
              <a:gdLst/>
              <a:ahLst/>
              <a:cxnLst/>
              <a:rect r="r" b="b" t="t" l="l"/>
              <a:pathLst>
                <a:path h="43891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53644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Video  |  Gen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6656832" y="7534656"/>
            <a:ext cx="5157216" cy="1188720"/>
            <a:chOff x="0" y="0"/>
            <a:chExt cx="6876288" cy="158496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876288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535" r="0" b="-34535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6876288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Created video content for AGI/OpenCog conceptual explanations and demo videos for the presentation.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6656832" y="9363456"/>
            <a:ext cx="164592" cy="164592"/>
            <a:chOff x="0" y="0"/>
            <a:chExt cx="219456" cy="2194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6912864" y="9326880"/>
            <a:ext cx="4937760" cy="292608"/>
            <a:chOff x="0" y="0"/>
            <a:chExt cx="6583680" cy="39014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583680" cy="390144"/>
            </a:xfrm>
            <a:custGeom>
              <a:avLst/>
              <a:gdLst/>
              <a:ahLst/>
              <a:cxnLst/>
              <a:rect r="r" b="b" t="t" l="l"/>
              <a:pathLst>
                <a:path h="39014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658368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Video generation &amp; editing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2319759" y="6394447"/>
            <a:ext cx="5590537" cy="3450841"/>
            <a:chOff x="0" y="0"/>
            <a:chExt cx="7454049" cy="4601121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8509" y="8509"/>
              <a:ext cx="7437119" cy="4584192"/>
            </a:xfrm>
            <a:custGeom>
              <a:avLst/>
              <a:gdLst/>
              <a:ahLst/>
              <a:cxnLst/>
              <a:rect r="r" b="b" t="t" l="l"/>
              <a:pathLst>
                <a:path h="4584192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7454138" cy="4601210"/>
            </a:xfrm>
            <a:custGeom>
              <a:avLst/>
              <a:gdLst/>
              <a:ahLst/>
              <a:cxnLst/>
              <a:rect r="r" b="b" t="t" l="l"/>
              <a:pathLst>
                <a:path h="4601210" w="7454138">
                  <a:moveTo>
                    <a:pt x="8509" y="0"/>
                  </a:moveTo>
                  <a:lnTo>
                    <a:pt x="7445628" y="0"/>
                  </a:lnTo>
                  <a:cubicBezTo>
                    <a:pt x="7450327" y="0"/>
                    <a:pt x="7454138" y="3810"/>
                    <a:pt x="7454138" y="8509"/>
                  </a:cubicBezTo>
                  <a:lnTo>
                    <a:pt x="7454138" y="4592701"/>
                  </a:lnTo>
                  <a:cubicBezTo>
                    <a:pt x="7454138" y="4597400"/>
                    <a:pt x="7450327" y="4601210"/>
                    <a:pt x="7445628" y="4601210"/>
                  </a:cubicBezTo>
                  <a:lnTo>
                    <a:pt x="8509" y="4601210"/>
                  </a:lnTo>
                  <a:cubicBezTo>
                    <a:pt x="3810" y="4601210"/>
                    <a:pt x="0" y="4597400"/>
                    <a:pt x="0" y="45927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592701"/>
                  </a:lnTo>
                  <a:lnTo>
                    <a:pt x="8509" y="4592701"/>
                  </a:lnTo>
                  <a:lnTo>
                    <a:pt x="8509" y="4584192"/>
                  </a:lnTo>
                  <a:lnTo>
                    <a:pt x="7445628" y="4584192"/>
                  </a:lnTo>
                  <a:lnTo>
                    <a:pt x="7445628" y="4592701"/>
                  </a:lnTo>
                  <a:lnTo>
                    <a:pt x="7437120" y="4592701"/>
                  </a:lnTo>
                  <a:lnTo>
                    <a:pt x="7437120" y="8509"/>
                  </a:lnTo>
                  <a:lnTo>
                    <a:pt x="7445628" y="8509"/>
                  </a:lnTo>
                  <a:lnTo>
                    <a:pt x="7445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2545568" y="6620256"/>
            <a:ext cx="694944" cy="694944"/>
            <a:chOff x="0" y="0"/>
            <a:chExt cx="926592" cy="92659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3423392" y="6620256"/>
            <a:ext cx="4023360" cy="402336"/>
            <a:chOff x="0" y="0"/>
            <a:chExt cx="5364480" cy="53644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53644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Skywork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423392" y="7059168"/>
            <a:ext cx="4023360" cy="329184"/>
            <a:chOff x="0" y="0"/>
            <a:chExt cx="5364480" cy="43891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364480" cy="438912"/>
            </a:xfrm>
            <a:custGeom>
              <a:avLst/>
              <a:gdLst/>
              <a:ahLst/>
              <a:cxnLst/>
              <a:rect r="r" b="b" t="t" l="l"/>
              <a:pathLst>
                <a:path h="43891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53644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Cloud  |  AI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545568" y="7534656"/>
            <a:ext cx="5157216" cy="1188720"/>
            <a:chOff x="0" y="0"/>
            <a:chExt cx="6876288" cy="158496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876288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535" r="0" b="-34535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6876288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Provided cloud-based AI services for model training and deployment, supporting the OpenCog workflow.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2545568" y="9363456"/>
            <a:ext cx="164592" cy="164592"/>
            <a:chOff x="0" y="0"/>
            <a:chExt cx="219456" cy="219456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2801600" y="9326880"/>
            <a:ext cx="4937760" cy="292608"/>
            <a:chOff x="0" y="0"/>
            <a:chExt cx="6583680" cy="390144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6583680" cy="390144"/>
            </a:xfrm>
            <a:custGeom>
              <a:avLst/>
              <a:gdLst/>
              <a:ahLst/>
              <a:cxnLst/>
              <a:rect r="r" b="b" t="t" l="l"/>
              <a:pathLst>
                <a:path h="39014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38100"/>
              <a:ext cx="658368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Cloud AI services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768096" y="10497312"/>
            <a:ext cx="3657600" cy="329184"/>
            <a:chOff x="0" y="0"/>
            <a:chExt cx="4876800" cy="438912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4876800" cy="438912"/>
            </a:xfrm>
            <a:custGeom>
              <a:avLst/>
              <a:gdLst/>
              <a:ahLst/>
              <a:cxnLst/>
              <a:rect r="r" b="b" t="t" l="l"/>
              <a:pathLst>
                <a:path h="4389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48768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Integrated for development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5120640" y="10497312"/>
            <a:ext cx="3657600" cy="329184"/>
            <a:chOff x="0" y="0"/>
            <a:chExt cx="4876800" cy="43891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4876800" cy="438912"/>
            </a:xfrm>
            <a:custGeom>
              <a:avLst/>
              <a:gdLst/>
              <a:ahLst/>
              <a:cxnLst/>
              <a:rect r="r" b="b" t="t" l="l"/>
              <a:pathLst>
                <a:path h="4389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38100"/>
              <a:ext cx="48768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 Copilot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9473184" y="10497312"/>
            <a:ext cx="3657600" cy="329184"/>
            <a:chOff x="0" y="0"/>
            <a:chExt cx="4876800" cy="438912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876800" cy="438912"/>
            </a:xfrm>
            <a:custGeom>
              <a:avLst/>
              <a:gdLst/>
              <a:ahLst/>
              <a:cxnLst/>
              <a:rect r="r" b="b" t="t" l="l"/>
              <a:pathLst>
                <a:path h="4389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48768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AI-generated images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3825728" y="10497312"/>
            <a:ext cx="3657600" cy="329184"/>
            <a:chOff x="0" y="0"/>
            <a:chExt cx="4876800" cy="438912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4876800" cy="438912"/>
            </a:xfrm>
            <a:custGeom>
              <a:avLst/>
              <a:gdLst/>
              <a:ahLst/>
              <a:cxnLst/>
              <a:rect r="r" b="b" t="t" l="l"/>
              <a:pathLst>
                <a:path h="4389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48768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Runway ML integration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144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82880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Tools Used - Image &amp; Video Generation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14400"/>
            <a:ext cx="13716000" cy="512064"/>
            <a:chOff x="0" y="0"/>
            <a:chExt cx="182880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288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E0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Midjourney, DALL-E 3, Runway ML, Skywork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30400" y="512064"/>
            <a:ext cx="3291840" cy="548640"/>
            <a:chOff x="0" y="0"/>
            <a:chExt cx="43891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46/53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429487" y="1731007"/>
            <a:ext cx="5133337" cy="597913"/>
            <a:chOff x="0" y="0"/>
            <a:chExt cx="6844449" cy="7972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509" y="8509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365760"/>
                  </a:moveTo>
                  <a:cubicBezTo>
                    <a:pt x="0" y="163703"/>
                    <a:pt x="166878" y="0"/>
                    <a:pt x="372745" y="0"/>
                  </a:cubicBezTo>
                  <a:lnTo>
                    <a:pt x="6454775" y="0"/>
                  </a:lnTo>
                  <a:cubicBezTo>
                    <a:pt x="6660642" y="0"/>
                    <a:pt x="6827520" y="163703"/>
                    <a:pt x="6827520" y="365760"/>
                  </a:cubicBezTo>
                  <a:lnTo>
                    <a:pt x="6827520" y="414528"/>
                  </a:lnTo>
                  <a:cubicBezTo>
                    <a:pt x="6827520" y="616585"/>
                    <a:pt x="6660642" y="780288"/>
                    <a:pt x="6454775" y="780288"/>
                  </a:cubicBezTo>
                  <a:lnTo>
                    <a:pt x="372745" y="780288"/>
                  </a:lnTo>
                  <a:cubicBezTo>
                    <a:pt x="166878" y="780288"/>
                    <a:pt x="0" y="616458"/>
                    <a:pt x="0" y="41452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44538" cy="797306"/>
            </a:xfrm>
            <a:custGeom>
              <a:avLst/>
              <a:gdLst/>
              <a:ahLst/>
              <a:cxnLst/>
              <a:rect r="r" b="b" t="t" l="l"/>
              <a:pathLst>
                <a:path h="797306" w="6844538">
                  <a:moveTo>
                    <a:pt x="0" y="374269"/>
                  </a:moveTo>
                  <a:cubicBezTo>
                    <a:pt x="0" y="167386"/>
                    <a:pt x="170815" y="0"/>
                    <a:pt x="381254" y="0"/>
                  </a:cubicBezTo>
                  <a:lnTo>
                    <a:pt x="6463284" y="0"/>
                  </a:lnTo>
                  <a:lnTo>
                    <a:pt x="6463284" y="8509"/>
                  </a:lnTo>
                  <a:lnTo>
                    <a:pt x="6463284" y="0"/>
                  </a:lnTo>
                  <a:cubicBezTo>
                    <a:pt x="6673723" y="0"/>
                    <a:pt x="6844538" y="167386"/>
                    <a:pt x="6844538" y="374269"/>
                  </a:cubicBezTo>
                  <a:lnTo>
                    <a:pt x="6836029" y="374269"/>
                  </a:lnTo>
                  <a:lnTo>
                    <a:pt x="6844538" y="374269"/>
                  </a:lnTo>
                  <a:lnTo>
                    <a:pt x="6844538" y="423037"/>
                  </a:lnTo>
                  <a:lnTo>
                    <a:pt x="6836029" y="423037"/>
                  </a:lnTo>
                  <a:lnTo>
                    <a:pt x="6844538" y="423037"/>
                  </a:lnTo>
                  <a:cubicBezTo>
                    <a:pt x="6844538" y="629920"/>
                    <a:pt x="6673723" y="797306"/>
                    <a:pt x="6463284" y="797306"/>
                  </a:cubicBezTo>
                  <a:lnTo>
                    <a:pt x="6463284" y="788797"/>
                  </a:lnTo>
                  <a:lnTo>
                    <a:pt x="6463284" y="797306"/>
                  </a:lnTo>
                  <a:lnTo>
                    <a:pt x="381254" y="797306"/>
                  </a:lnTo>
                  <a:lnTo>
                    <a:pt x="381254" y="788797"/>
                  </a:lnTo>
                  <a:lnTo>
                    <a:pt x="381254" y="797306"/>
                  </a:lnTo>
                  <a:cubicBezTo>
                    <a:pt x="170815" y="797179"/>
                    <a:pt x="0" y="629793"/>
                    <a:pt x="0" y="423037"/>
                  </a:cubicBezTo>
                  <a:lnTo>
                    <a:pt x="0" y="374269"/>
                  </a:lnTo>
                  <a:lnTo>
                    <a:pt x="8509" y="374269"/>
                  </a:lnTo>
                  <a:lnTo>
                    <a:pt x="0" y="374269"/>
                  </a:lnTo>
                  <a:moveTo>
                    <a:pt x="16891" y="374269"/>
                  </a:moveTo>
                  <a:lnTo>
                    <a:pt x="16891" y="423037"/>
                  </a:lnTo>
                  <a:lnTo>
                    <a:pt x="8509" y="423037"/>
                  </a:lnTo>
                  <a:lnTo>
                    <a:pt x="17018" y="423037"/>
                  </a:lnTo>
                  <a:cubicBezTo>
                    <a:pt x="17018" y="620268"/>
                    <a:pt x="179959" y="780288"/>
                    <a:pt x="381381" y="780288"/>
                  </a:cubicBezTo>
                  <a:lnTo>
                    <a:pt x="6463411" y="780288"/>
                  </a:lnTo>
                  <a:cubicBezTo>
                    <a:pt x="6664706" y="780288"/>
                    <a:pt x="6827774" y="620141"/>
                    <a:pt x="6827774" y="423037"/>
                  </a:cubicBezTo>
                  <a:lnTo>
                    <a:pt x="6827774" y="374269"/>
                  </a:lnTo>
                  <a:cubicBezTo>
                    <a:pt x="6827774" y="177038"/>
                    <a:pt x="6664833" y="17018"/>
                    <a:pt x="6463411" y="17018"/>
                  </a:cubicBezTo>
                  <a:lnTo>
                    <a:pt x="381254" y="17018"/>
                  </a:lnTo>
                  <a:lnTo>
                    <a:pt x="381254" y="8509"/>
                  </a:lnTo>
                  <a:lnTo>
                    <a:pt x="381254" y="17018"/>
                  </a:lnTo>
                  <a:cubicBezTo>
                    <a:pt x="179832" y="16891"/>
                    <a:pt x="16891" y="177038"/>
                    <a:pt x="16891" y="374269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435840" y="1737360"/>
            <a:ext cx="5120640" cy="585216"/>
            <a:chOff x="0" y="0"/>
            <a:chExt cx="6827520" cy="780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8275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4 AI tools for visual content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1792224"/>
            <a:ext cx="16459200" cy="822960"/>
            <a:chOff x="0" y="0"/>
            <a:chExt cx="2194560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219456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🖼  AI Tools for Visual Content Generation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42287" y="2736847"/>
            <a:ext cx="4036057" cy="7108441"/>
            <a:chOff x="0" y="0"/>
            <a:chExt cx="5381409" cy="947792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8509" y="8509"/>
              <a:ext cx="5364480" cy="9460992"/>
            </a:xfrm>
            <a:custGeom>
              <a:avLst/>
              <a:gdLst/>
              <a:ahLst/>
              <a:cxnLst/>
              <a:rect r="r" b="b" t="t" l="l"/>
              <a:pathLst>
                <a:path h="94609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460992"/>
                  </a:lnTo>
                  <a:lnTo>
                    <a:pt x="0" y="9460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81498" cy="9478010"/>
            </a:xfrm>
            <a:custGeom>
              <a:avLst/>
              <a:gdLst/>
              <a:ahLst/>
              <a:cxnLst/>
              <a:rect r="r" b="b" t="t" l="l"/>
              <a:pathLst>
                <a:path h="9478010" w="5381498">
                  <a:moveTo>
                    <a:pt x="8509" y="0"/>
                  </a:moveTo>
                  <a:lnTo>
                    <a:pt x="5372989" y="0"/>
                  </a:lnTo>
                  <a:cubicBezTo>
                    <a:pt x="5377688" y="0"/>
                    <a:pt x="5381498" y="3810"/>
                    <a:pt x="5381498" y="8509"/>
                  </a:cubicBezTo>
                  <a:lnTo>
                    <a:pt x="5381498" y="9469501"/>
                  </a:lnTo>
                  <a:cubicBezTo>
                    <a:pt x="5381498" y="9474200"/>
                    <a:pt x="5377688" y="9478010"/>
                    <a:pt x="5372989" y="9478010"/>
                  </a:cubicBezTo>
                  <a:lnTo>
                    <a:pt x="8509" y="9478010"/>
                  </a:lnTo>
                  <a:cubicBezTo>
                    <a:pt x="3810" y="9478010"/>
                    <a:pt x="0" y="9474200"/>
                    <a:pt x="0" y="94695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469501"/>
                  </a:lnTo>
                  <a:lnTo>
                    <a:pt x="8509" y="9469501"/>
                  </a:lnTo>
                  <a:lnTo>
                    <a:pt x="8509" y="9460992"/>
                  </a:lnTo>
                  <a:lnTo>
                    <a:pt x="5372989" y="9460992"/>
                  </a:lnTo>
                  <a:lnTo>
                    <a:pt x="5372989" y="9469501"/>
                  </a:lnTo>
                  <a:lnTo>
                    <a:pt x="5364480" y="9469501"/>
                  </a:lnTo>
                  <a:lnTo>
                    <a:pt x="5364480" y="8509"/>
                  </a:lnTo>
                  <a:lnTo>
                    <a:pt x="5372989" y="8509"/>
                  </a:lnTo>
                  <a:lnTo>
                    <a:pt x="53729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04672" y="2999232"/>
            <a:ext cx="841248" cy="841248"/>
            <a:chOff x="0" y="0"/>
            <a:chExt cx="1121664" cy="11216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04672" y="3986784"/>
            <a:ext cx="3511296" cy="438912"/>
            <a:chOff x="0" y="0"/>
            <a:chExt cx="4681728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81728" cy="585216"/>
            </a:xfrm>
            <a:custGeom>
              <a:avLst/>
              <a:gdLst/>
              <a:ahLst/>
              <a:cxnLst/>
              <a:rect r="r" b="b" t="t" l="l"/>
              <a:pathLst>
                <a:path h="585216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4681728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Midjourney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04672" y="4462272"/>
            <a:ext cx="1554480" cy="365760"/>
            <a:chOff x="0" y="0"/>
            <a:chExt cx="2072640" cy="487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04672" y="4462272"/>
            <a:ext cx="1554480" cy="365760"/>
            <a:chOff x="0" y="0"/>
            <a:chExt cx="2072640" cy="487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0726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Image Gen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68096" y="4974336"/>
            <a:ext cx="3584448" cy="1188720"/>
            <a:chOff x="0" y="0"/>
            <a:chExt cx="4779264" cy="1584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" r="0" b="-875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77926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AI-powered image generation from text prompts with artistic style control.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55399" y="6296663"/>
            <a:ext cx="3609851" cy="1634747"/>
            <a:chOff x="0" y="0"/>
            <a:chExt cx="4813135" cy="217966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4779264" cy="2145792"/>
            </a:xfrm>
            <a:custGeom>
              <a:avLst/>
              <a:gdLst/>
              <a:ahLst/>
              <a:cxnLst/>
              <a:rect r="r" b="b" t="t" l="l"/>
              <a:pathLst>
                <a:path h="2145792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13046" cy="2179574"/>
            </a:xfrm>
            <a:custGeom>
              <a:avLst/>
              <a:gdLst/>
              <a:ahLst/>
              <a:cxnLst/>
              <a:rect r="r" b="b" t="t" l="l"/>
              <a:pathLst>
                <a:path h="2179574" w="4813046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2162683"/>
                  </a:lnTo>
                  <a:cubicBezTo>
                    <a:pt x="4813046" y="2172081"/>
                    <a:pt x="4805426" y="2179574"/>
                    <a:pt x="4796155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4796155" y="2145792"/>
                  </a:lnTo>
                  <a:lnTo>
                    <a:pt x="4796155" y="2162683"/>
                  </a:lnTo>
                  <a:lnTo>
                    <a:pt x="4779264" y="2162683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68096" y="6309360"/>
            <a:ext cx="73152" cy="1609344"/>
            <a:chOff x="0" y="0"/>
            <a:chExt cx="97536" cy="21457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536" cy="2145792"/>
            </a:xfrm>
            <a:custGeom>
              <a:avLst/>
              <a:gdLst/>
              <a:ahLst/>
              <a:cxnLst/>
              <a:rect r="r" b="b" t="t" l="l"/>
              <a:pathLst>
                <a:path h="2145792" w="97536">
                  <a:moveTo>
                    <a:pt x="0" y="0"/>
                  </a:moveTo>
                  <a:lnTo>
                    <a:pt x="97536" y="0"/>
                  </a:lnTo>
                  <a:lnTo>
                    <a:pt x="97536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50976" y="6400800"/>
            <a:ext cx="3328416" cy="1426464"/>
            <a:chOff x="0" y="0"/>
            <a:chExt cx="4437888" cy="19019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4378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437888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D4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Contribution: Generated 5 presentation images including neural networks, hypergraphs, and knowledge graphs.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68096" y="9180576"/>
            <a:ext cx="1060704" cy="365760"/>
            <a:chOff x="0" y="0"/>
            <a:chExt cx="1414272" cy="4876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68096" y="9180576"/>
            <a:ext cx="1060704" cy="365760"/>
            <a:chOff x="0" y="0"/>
            <a:chExt cx="1414272" cy="4876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4142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Artistic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956816" y="9180576"/>
            <a:ext cx="1060704" cy="365760"/>
            <a:chOff x="0" y="0"/>
            <a:chExt cx="1414272" cy="4876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956816" y="9180576"/>
            <a:ext cx="1060704" cy="365760"/>
            <a:chOff x="0" y="0"/>
            <a:chExt cx="1414272" cy="4876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4142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 Quality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3145536" y="9180576"/>
            <a:ext cx="1060704" cy="365760"/>
            <a:chOff x="0" y="0"/>
            <a:chExt cx="1414272" cy="4876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3145536" y="9180576"/>
            <a:ext cx="1060704" cy="365760"/>
            <a:chOff x="0" y="0"/>
            <a:chExt cx="1414272" cy="4876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4142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Text-to-Image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894831" y="2736847"/>
            <a:ext cx="4036057" cy="7108441"/>
            <a:chOff x="0" y="0"/>
            <a:chExt cx="5381409" cy="947792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8509" y="8509"/>
              <a:ext cx="5364480" cy="9460992"/>
            </a:xfrm>
            <a:custGeom>
              <a:avLst/>
              <a:gdLst/>
              <a:ahLst/>
              <a:cxnLst/>
              <a:rect r="r" b="b" t="t" l="l"/>
              <a:pathLst>
                <a:path h="94609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460992"/>
                  </a:lnTo>
                  <a:lnTo>
                    <a:pt x="0" y="9460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81498" cy="9478010"/>
            </a:xfrm>
            <a:custGeom>
              <a:avLst/>
              <a:gdLst/>
              <a:ahLst/>
              <a:cxnLst/>
              <a:rect r="r" b="b" t="t" l="l"/>
              <a:pathLst>
                <a:path h="9478010" w="5381498">
                  <a:moveTo>
                    <a:pt x="8509" y="0"/>
                  </a:moveTo>
                  <a:lnTo>
                    <a:pt x="5372989" y="0"/>
                  </a:lnTo>
                  <a:cubicBezTo>
                    <a:pt x="5377688" y="0"/>
                    <a:pt x="5381498" y="3810"/>
                    <a:pt x="5381498" y="8509"/>
                  </a:cubicBezTo>
                  <a:lnTo>
                    <a:pt x="5381498" y="9469501"/>
                  </a:lnTo>
                  <a:cubicBezTo>
                    <a:pt x="5381498" y="9474200"/>
                    <a:pt x="5377688" y="9478010"/>
                    <a:pt x="5372989" y="9478010"/>
                  </a:cubicBezTo>
                  <a:lnTo>
                    <a:pt x="8509" y="9478010"/>
                  </a:lnTo>
                  <a:cubicBezTo>
                    <a:pt x="3810" y="9478010"/>
                    <a:pt x="0" y="9474200"/>
                    <a:pt x="0" y="94695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469501"/>
                  </a:lnTo>
                  <a:lnTo>
                    <a:pt x="8509" y="9469501"/>
                  </a:lnTo>
                  <a:lnTo>
                    <a:pt x="8509" y="9460992"/>
                  </a:lnTo>
                  <a:lnTo>
                    <a:pt x="5372989" y="9460992"/>
                  </a:lnTo>
                  <a:lnTo>
                    <a:pt x="5372989" y="9469501"/>
                  </a:lnTo>
                  <a:lnTo>
                    <a:pt x="5364480" y="9469501"/>
                  </a:lnTo>
                  <a:lnTo>
                    <a:pt x="5364480" y="8509"/>
                  </a:lnTo>
                  <a:lnTo>
                    <a:pt x="5372989" y="8509"/>
                  </a:lnTo>
                  <a:lnTo>
                    <a:pt x="53729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5157216" y="2999232"/>
            <a:ext cx="841248" cy="841248"/>
            <a:chOff x="0" y="0"/>
            <a:chExt cx="1121664" cy="112166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4ECDC4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5157216" y="3986784"/>
            <a:ext cx="3511296" cy="438912"/>
            <a:chOff x="0" y="0"/>
            <a:chExt cx="4681728" cy="58521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681728" cy="585216"/>
            </a:xfrm>
            <a:custGeom>
              <a:avLst/>
              <a:gdLst/>
              <a:ahLst/>
              <a:cxnLst/>
              <a:rect r="r" b="b" t="t" l="l"/>
              <a:pathLst>
                <a:path h="585216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4681728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DALL-E 3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157216" y="4462272"/>
            <a:ext cx="1554480" cy="365760"/>
            <a:chOff x="0" y="0"/>
            <a:chExt cx="2072640" cy="4876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5157216" y="4462272"/>
            <a:ext cx="1554480" cy="365760"/>
            <a:chOff x="0" y="0"/>
            <a:chExt cx="2072640" cy="4876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0726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Image Gen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120640" y="4974336"/>
            <a:ext cx="3584448" cy="1188720"/>
            <a:chOff x="0" y="0"/>
            <a:chExt cx="4779264" cy="15849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" r="0" b="-875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77926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OpenAI's advanced image generation model with detailed scene understanding.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107943" y="6296663"/>
            <a:ext cx="3609851" cy="1634747"/>
            <a:chOff x="0" y="0"/>
            <a:chExt cx="4813135" cy="217966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4779264" cy="2145792"/>
            </a:xfrm>
            <a:custGeom>
              <a:avLst/>
              <a:gdLst/>
              <a:ahLst/>
              <a:cxnLst/>
              <a:rect r="r" b="b" t="t" l="l"/>
              <a:pathLst>
                <a:path h="2145792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813046" cy="2179574"/>
            </a:xfrm>
            <a:custGeom>
              <a:avLst/>
              <a:gdLst/>
              <a:ahLst/>
              <a:cxnLst/>
              <a:rect r="r" b="b" t="t" l="l"/>
              <a:pathLst>
                <a:path h="2179574" w="4813046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2162683"/>
                  </a:lnTo>
                  <a:cubicBezTo>
                    <a:pt x="4813046" y="2172081"/>
                    <a:pt x="4805426" y="2179574"/>
                    <a:pt x="4796155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4796155" y="2145792"/>
                  </a:lnTo>
                  <a:lnTo>
                    <a:pt x="4796155" y="2162683"/>
                  </a:lnTo>
                  <a:lnTo>
                    <a:pt x="4779264" y="2162683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5120640" y="6309360"/>
            <a:ext cx="73152" cy="1609344"/>
            <a:chOff x="0" y="0"/>
            <a:chExt cx="97536" cy="21457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7536" cy="2145792"/>
            </a:xfrm>
            <a:custGeom>
              <a:avLst/>
              <a:gdLst/>
              <a:ahLst/>
              <a:cxnLst/>
              <a:rect r="r" b="b" t="t" l="l"/>
              <a:pathLst>
                <a:path h="2145792" w="97536">
                  <a:moveTo>
                    <a:pt x="0" y="0"/>
                  </a:moveTo>
                  <a:lnTo>
                    <a:pt x="97536" y="0"/>
                  </a:lnTo>
                  <a:lnTo>
                    <a:pt x="97536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5303520" y="6400800"/>
            <a:ext cx="3328416" cy="1426464"/>
            <a:chOff x="0" y="0"/>
            <a:chExt cx="4437888" cy="19019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4378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4437888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D4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Contribution: Created technical diagrams and conceptual visualizations for the project.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5120640" y="9180576"/>
            <a:ext cx="1060704" cy="365760"/>
            <a:chOff x="0" y="0"/>
            <a:chExt cx="1414272" cy="4876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5120640" y="9180576"/>
            <a:ext cx="1060704" cy="365760"/>
            <a:chOff x="0" y="0"/>
            <a:chExt cx="1414272" cy="4876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4142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Detailed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6309360" y="9180576"/>
            <a:ext cx="1060704" cy="365760"/>
            <a:chOff x="0" y="0"/>
            <a:chExt cx="1414272" cy="4876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6309360" y="9180576"/>
            <a:ext cx="1060704" cy="365760"/>
            <a:chOff x="0" y="0"/>
            <a:chExt cx="1414272" cy="4876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4142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Accurate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7498080" y="9180576"/>
            <a:ext cx="1060704" cy="365760"/>
            <a:chOff x="0" y="0"/>
            <a:chExt cx="1414272" cy="4876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7498080" y="9180576"/>
            <a:ext cx="1060704" cy="365760"/>
            <a:chOff x="0" y="0"/>
            <a:chExt cx="1414272" cy="4876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14142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Context-aware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247375" y="2736847"/>
            <a:ext cx="4036057" cy="7108441"/>
            <a:chOff x="0" y="0"/>
            <a:chExt cx="5381409" cy="947792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8509" y="8509"/>
              <a:ext cx="5364480" cy="9460992"/>
            </a:xfrm>
            <a:custGeom>
              <a:avLst/>
              <a:gdLst/>
              <a:ahLst/>
              <a:cxnLst/>
              <a:rect r="r" b="b" t="t" l="l"/>
              <a:pathLst>
                <a:path h="94609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460992"/>
                  </a:lnTo>
                  <a:lnTo>
                    <a:pt x="0" y="9460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381498" cy="9478010"/>
            </a:xfrm>
            <a:custGeom>
              <a:avLst/>
              <a:gdLst/>
              <a:ahLst/>
              <a:cxnLst/>
              <a:rect r="r" b="b" t="t" l="l"/>
              <a:pathLst>
                <a:path h="9478010" w="5381498">
                  <a:moveTo>
                    <a:pt x="8509" y="0"/>
                  </a:moveTo>
                  <a:lnTo>
                    <a:pt x="5372989" y="0"/>
                  </a:lnTo>
                  <a:cubicBezTo>
                    <a:pt x="5377688" y="0"/>
                    <a:pt x="5381498" y="3810"/>
                    <a:pt x="5381498" y="8509"/>
                  </a:cubicBezTo>
                  <a:lnTo>
                    <a:pt x="5381498" y="9469501"/>
                  </a:lnTo>
                  <a:cubicBezTo>
                    <a:pt x="5381498" y="9474200"/>
                    <a:pt x="5377688" y="9478010"/>
                    <a:pt x="5372989" y="9478010"/>
                  </a:cubicBezTo>
                  <a:lnTo>
                    <a:pt x="8509" y="9478010"/>
                  </a:lnTo>
                  <a:cubicBezTo>
                    <a:pt x="3810" y="9478010"/>
                    <a:pt x="0" y="9474200"/>
                    <a:pt x="0" y="94695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469501"/>
                  </a:lnTo>
                  <a:lnTo>
                    <a:pt x="8509" y="9469501"/>
                  </a:lnTo>
                  <a:lnTo>
                    <a:pt x="8509" y="9460992"/>
                  </a:lnTo>
                  <a:lnTo>
                    <a:pt x="5372989" y="9460992"/>
                  </a:lnTo>
                  <a:lnTo>
                    <a:pt x="5372989" y="9469501"/>
                  </a:lnTo>
                  <a:lnTo>
                    <a:pt x="5364480" y="9469501"/>
                  </a:lnTo>
                  <a:lnTo>
                    <a:pt x="5364480" y="8509"/>
                  </a:lnTo>
                  <a:lnTo>
                    <a:pt x="5372989" y="8509"/>
                  </a:lnTo>
                  <a:lnTo>
                    <a:pt x="53729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509760" y="2999232"/>
            <a:ext cx="841248" cy="841248"/>
            <a:chOff x="0" y="0"/>
            <a:chExt cx="1121664" cy="112166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667EEA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9509760" y="3986784"/>
            <a:ext cx="3511296" cy="438912"/>
            <a:chOff x="0" y="0"/>
            <a:chExt cx="4681728" cy="58521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681728" cy="585216"/>
            </a:xfrm>
            <a:custGeom>
              <a:avLst/>
              <a:gdLst/>
              <a:ahLst/>
              <a:cxnLst/>
              <a:rect r="r" b="b" t="t" l="l"/>
              <a:pathLst>
                <a:path h="585216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57150"/>
              <a:ext cx="4681728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Runway ML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509760" y="4462272"/>
            <a:ext cx="1554480" cy="365760"/>
            <a:chOff x="0" y="0"/>
            <a:chExt cx="2072640" cy="4876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509760" y="4462272"/>
            <a:ext cx="1554480" cy="365760"/>
            <a:chOff x="0" y="0"/>
            <a:chExt cx="2072640" cy="4876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20726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Video Gen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473184" y="4974336"/>
            <a:ext cx="3584448" cy="1188720"/>
            <a:chOff x="0" y="0"/>
            <a:chExt cx="4779264" cy="15849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" r="0" b="-875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477926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video generation and editing platform with motion control capabilities.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460487" y="6296663"/>
            <a:ext cx="3609851" cy="1634747"/>
            <a:chOff x="0" y="0"/>
            <a:chExt cx="4813135" cy="2179663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4779264" cy="2145792"/>
            </a:xfrm>
            <a:custGeom>
              <a:avLst/>
              <a:gdLst/>
              <a:ahLst/>
              <a:cxnLst/>
              <a:rect r="r" b="b" t="t" l="l"/>
              <a:pathLst>
                <a:path h="2145792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813046" cy="2179574"/>
            </a:xfrm>
            <a:custGeom>
              <a:avLst/>
              <a:gdLst/>
              <a:ahLst/>
              <a:cxnLst/>
              <a:rect r="r" b="b" t="t" l="l"/>
              <a:pathLst>
                <a:path h="2179574" w="4813046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2162683"/>
                  </a:lnTo>
                  <a:cubicBezTo>
                    <a:pt x="4813046" y="2172081"/>
                    <a:pt x="4805426" y="2179574"/>
                    <a:pt x="4796155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4796155" y="2145792"/>
                  </a:lnTo>
                  <a:lnTo>
                    <a:pt x="4796155" y="2162683"/>
                  </a:lnTo>
                  <a:lnTo>
                    <a:pt x="4779264" y="2162683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473184" y="6309360"/>
            <a:ext cx="73152" cy="1609344"/>
            <a:chOff x="0" y="0"/>
            <a:chExt cx="97536" cy="214579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7536" cy="2145792"/>
            </a:xfrm>
            <a:custGeom>
              <a:avLst/>
              <a:gdLst/>
              <a:ahLst/>
              <a:cxnLst/>
              <a:rect r="r" b="b" t="t" l="l"/>
              <a:pathLst>
                <a:path h="2145792" w="97536">
                  <a:moveTo>
                    <a:pt x="0" y="0"/>
                  </a:moveTo>
                  <a:lnTo>
                    <a:pt x="97536" y="0"/>
                  </a:lnTo>
                  <a:lnTo>
                    <a:pt x="97536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9656064" y="6400800"/>
            <a:ext cx="3328416" cy="1426464"/>
            <a:chOff x="0" y="0"/>
            <a:chExt cx="4437888" cy="190195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4378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4437888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D4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Contribution: Generated 2 conceptual videos for AGI explanation and robotics demo.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473184" y="9180576"/>
            <a:ext cx="1060704" cy="365760"/>
            <a:chOff x="0" y="0"/>
            <a:chExt cx="1414272" cy="48768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9473184" y="9180576"/>
            <a:ext cx="1060704" cy="365760"/>
            <a:chOff x="0" y="0"/>
            <a:chExt cx="1414272" cy="48768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14142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Video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0661904" y="9180576"/>
            <a:ext cx="1060704" cy="365760"/>
            <a:chOff x="0" y="0"/>
            <a:chExt cx="1414272" cy="48768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0661904" y="9180576"/>
            <a:ext cx="1060704" cy="365760"/>
            <a:chOff x="0" y="0"/>
            <a:chExt cx="1414272" cy="48768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14142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Motion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1850624" y="9180576"/>
            <a:ext cx="1060704" cy="365760"/>
            <a:chOff x="0" y="0"/>
            <a:chExt cx="1414272" cy="48768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11850624" y="9180576"/>
            <a:ext cx="1060704" cy="365760"/>
            <a:chOff x="0" y="0"/>
            <a:chExt cx="1414272" cy="48768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14142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Editing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3599919" y="2736847"/>
            <a:ext cx="4036057" cy="7108441"/>
            <a:chOff x="0" y="0"/>
            <a:chExt cx="5381409" cy="9477921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8509" y="8509"/>
              <a:ext cx="5364480" cy="9460992"/>
            </a:xfrm>
            <a:custGeom>
              <a:avLst/>
              <a:gdLst/>
              <a:ahLst/>
              <a:cxnLst/>
              <a:rect r="r" b="b" t="t" l="l"/>
              <a:pathLst>
                <a:path h="94609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460992"/>
                  </a:lnTo>
                  <a:lnTo>
                    <a:pt x="0" y="94609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5381498" cy="9478010"/>
            </a:xfrm>
            <a:custGeom>
              <a:avLst/>
              <a:gdLst/>
              <a:ahLst/>
              <a:cxnLst/>
              <a:rect r="r" b="b" t="t" l="l"/>
              <a:pathLst>
                <a:path h="9478010" w="5381498">
                  <a:moveTo>
                    <a:pt x="8509" y="0"/>
                  </a:moveTo>
                  <a:lnTo>
                    <a:pt x="5372989" y="0"/>
                  </a:lnTo>
                  <a:cubicBezTo>
                    <a:pt x="5377688" y="0"/>
                    <a:pt x="5381498" y="3810"/>
                    <a:pt x="5381498" y="8509"/>
                  </a:cubicBezTo>
                  <a:lnTo>
                    <a:pt x="5381498" y="9469501"/>
                  </a:lnTo>
                  <a:cubicBezTo>
                    <a:pt x="5381498" y="9474200"/>
                    <a:pt x="5377688" y="9478010"/>
                    <a:pt x="5372989" y="9478010"/>
                  </a:cubicBezTo>
                  <a:lnTo>
                    <a:pt x="8509" y="9478010"/>
                  </a:lnTo>
                  <a:cubicBezTo>
                    <a:pt x="3810" y="9478010"/>
                    <a:pt x="0" y="9474200"/>
                    <a:pt x="0" y="94695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469501"/>
                  </a:lnTo>
                  <a:lnTo>
                    <a:pt x="8509" y="9469501"/>
                  </a:lnTo>
                  <a:lnTo>
                    <a:pt x="8509" y="9460992"/>
                  </a:lnTo>
                  <a:lnTo>
                    <a:pt x="5372989" y="9460992"/>
                  </a:lnTo>
                  <a:lnTo>
                    <a:pt x="5372989" y="9469501"/>
                  </a:lnTo>
                  <a:lnTo>
                    <a:pt x="5364480" y="9469501"/>
                  </a:lnTo>
                  <a:lnTo>
                    <a:pt x="5364480" y="8509"/>
                  </a:lnTo>
                  <a:lnTo>
                    <a:pt x="5372989" y="8509"/>
                  </a:lnTo>
                  <a:lnTo>
                    <a:pt x="53729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3862304" y="2999232"/>
            <a:ext cx="841248" cy="841248"/>
            <a:chOff x="0" y="0"/>
            <a:chExt cx="1121664" cy="1121664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093FB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3862304" y="3986784"/>
            <a:ext cx="3511296" cy="438912"/>
            <a:chOff x="0" y="0"/>
            <a:chExt cx="4681728" cy="58521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681728" cy="585216"/>
            </a:xfrm>
            <a:custGeom>
              <a:avLst/>
              <a:gdLst/>
              <a:ahLst/>
              <a:cxnLst/>
              <a:rect r="r" b="b" t="t" l="l"/>
              <a:pathLst>
                <a:path h="585216" w="4681728">
                  <a:moveTo>
                    <a:pt x="0" y="0"/>
                  </a:moveTo>
                  <a:lnTo>
                    <a:pt x="4681728" y="0"/>
                  </a:lnTo>
                  <a:lnTo>
                    <a:pt x="468172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57150"/>
              <a:ext cx="4681728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Skywork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3862304" y="4462272"/>
            <a:ext cx="1554480" cy="365760"/>
            <a:chOff x="0" y="0"/>
            <a:chExt cx="2072640" cy="48768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3862304" y="4462272"/>
            <a:ext cx="1554480" cy="365760"/>
            <a:chOff x="0" y="0"/>
            <a:chExt cx="2072640" cy="48768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20726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Multi-modal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3825728" y="4974336"/>
            <a:ext cx="3584448" cy="1188720"/>
            <a:chOff x="0" y="0"/>
            <a:chExt cx="4779264" cy="158496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4779264" cy="1584960"/>
            </a:xfrm>
            <a:custGeom>
              <a:avLst/>
              <a:gdLst/>
              <a:ahLst/>
              <a:cxnLst/>
              <a:rect r="r" b="b" t="t" l="l"/>
              <a:pathLst>
                <a:path h="1584960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" r="0" b="-8754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477926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Multi-modal AI platform for content generation and processing workflows.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3813031" y="6296663"/>
            <a:ext cx="3609851" cy="1634747"/>
            <a:chOff x="0" y="0"/>
            <a:chExt cx="4813135" cy="2179663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16891" y="16891"/>
              <a:ext cx="4779264" cy="2145792"/>
            </a:xfrm>
            <a:custGeom>
              <a:avLst/>
              <a:gdLst/>
              <a:ahLst/>
              <a:cxnLst/>
              <a:rect r="r" b="b" t="t" l="l"/>
              <a:pathLst>
                <a:path h="2145792" w="4779264">
                  <a:moveTo>
                    <a:pt x="0" y="0"/>
                  </a:moveTo>
                  <a:lnTo>
                    <a:pt x="4779264" y="0"/>
                  </a:lnTo>
                  <a:lnTo>
                    <a:pt x="4779264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4813046" cy="2179574"/>
            </a:xfrm>
            <a:custGeom>
              <a:avLst/>
              <a:gdLst/>
              <a:ahLst/>
              <a:cxnLst/>
              <a:rect r="r" b="b" t="t" l="l"/>
              <a:pathLst>
                <a:path h="2179574" w="4813046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2162683"/>
                  </a:lnTo>
                  <a:cubicBezTo>
                    <a:pt x="4813046" y="2172081"/>
                    <a:pt x="4805426" y="2179574"/>
                    <a:pt x="4796155" y="2179574"/>
                  </a:cubicBezTo>
                  <a:lnTo>
                    <a:pt x="16891" y="2179574"/>
                  </a:lnTo>
                  <a:cubicBezTo>
                    <a:pt x="7493" y="2179574"/>
                    <a:pt x="0" y="2171954"/>
                    <a:pt x="0" y="21626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62683"/>
                  </a:lnTo>
                  <a:lnTo>
                    <a:pt x="16891" y="2162683"/>
                  </a:lnTo>
                  <a:lnTo>
                    <a:pt x="16891" y="2145792"/>
                  </a:lnTo>
                  <a:lnTo>
                    <a:pt x="4796155" y="2145792"/>
                  </a:lnTo>
                  <a:lnTo>
                    <a:pt x="4796155" y="2162683"/>
                  </a:lnTo>
                  <a:lnTo>
                    <a:pt x="4779264" y="2162683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3825728" y="6309360"/>
            <a:ext cx="73152" cy="1609344"/>
            <a:chOff x="0" y="0"/>
            <a:chExt cx="97536" cy="2145792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97536" cy="2145792"/>
            </a:xfrm>
            <a:custGeom>
              <a:avLst/>
              <a:gdLst/>
              <a:ahLst/>
              <a:cxnLst/>
              <a:rect r="r" b="b" t="t" l="l"/>
              <a:pathLst>
                <a:path h="2145792" w="97536">
                  <a:moveTo>
                    <a:pt x="0" y="0"/>
                  </a:moveTo>
                  <a:lnTo>
                    <a:pt x="97536" y="0"/>
                  </a:lnTo>
                  <a:lnTo>
                    <a:pt x="97536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4008608" y="6400800"/>
            <a:ext cx="3328416" cy="1426464"/>
            <a:chOff x="0" y="0"/>
            <a:chExt cx="4437888" cy="1901952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44378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4437888">
                  <a:moveTo>
                    <a:pt x="0" y="0"/>
                  </a:moveTo>
                  <a:lnTo>
                    <a:pt x="4437888" y="0"/>
                  </a:lnTo>
                  <a:lnTo>
                    <a:pt x="4437888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38100"/>
              <a:ext cx="4437888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D4E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Contribution: Assisted in image enhancement and style transfer for presentations.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3825728" y="9180576"/>
            <a:ext cx="1060704" cy="365760"/>
            <a:chOff x="0" y="0"/>
            <a:chExt cx="1414272" cy="48768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825728" y="9180576"/>
            <a:ext cx="1060704" cy="365760"/>
            <a:chOff x="0" y="0"/>
            <a:chExt cx="1414272" cy="48768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38100"/>
              <a:ext cx="14142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Multi-modal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5014448" y="9180576"/>
            <a:ext cx="1060704" cy="365760"/>
            <a:chOff x="0" y="0"/>
            <a:chExt cx="1414272" cy="48768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5014448" y="9180576"/>
            <a:ext cx="1060704" cy="365760"/>
            <a:chOff x="0" y="0"/>
            <a:chExt cx="1414272" cy="48768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14142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Enhancement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6203168" y="9180576"/>
            <a:ext cx="1060704" cy="365760"/>
            <a:chOff x="0" y="0"/>
            <a:chExt cx="1414272" cy="48768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6203168" y="9180576"/>
            <a:ext cx="1060704" cy="365760"/>
            <a:chOff x="0" y="0"/>
            <a:chExt cx="1414272" cy="48768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1414272" cy="487680"/>
            </a:xfrm>
            <a:custGeom>
              <a:avLst/>
              <a:gdLst/>
              <a:ahLst/>
              <a:cxnLst/>
              <a:rect r="r" b="b" t="t" l="l"/>
              <a:pathLst>
                <a:path h="487680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38100"/>
              <a:ext cx="1414272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Style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144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82880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 Cases - OpenCog Applications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14400"/>
            <a:ext cx="13716000" cy="512064"/>
            <a:chOff x="0" y="0"/>
            <a:chExt cx="182880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288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E0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Real-world applications in robotics, AI research, and expert systems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30400" y="512064"/>
            <a:ext cx="3291840" cy="548640"/>
            <a:chOff x="0" y="0"/>
            <a:chExt cx="43891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47/53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1792224"/>
            <a:ext cx="16459200" cy="822960"/>
            <a:chOff x="0" y="0"/>
            <a:chExt cx="2194560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219456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💡  OpenCog Use Cases Overview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42287" y="2736847"/>
            <a:ext cx="5096761" cy="5041897"/>
            <a:chOff x="0" y="0"/>
            <a:chExt cx="6795681" cy="67225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8509" y="8509"/>
              <a:ext cx="6778752" cy="6705600"/>
            </a:xfrm>
            <a:custGeom>
              <a:avLst/>
              <a:gdLst/>
              <a:ahLst/>
              <a:cxnLst/>
              <a:rect r="r" b="b" t="t" l="l"/>
              <a:pathLst>
                <a:path h="6705600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6705600"/>
                  </a:lnTo>
                  <a:lnTo>
                    <a:pt x="0" y="6705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95770" cy="6722618"/>
            </a:xfrm>
            <a:custGeom>
              <a:avLst/>
              <a:gdLst/>
              <a:ahLst/>
              <a:cxnLst/>
              <a:rect r="r" b="b" t="t" l="l"/>
              <a:pathLst>
                <a:path h="6722618" w="6795770">
                  <a:moveTo>
                    <a:pt x="8509" y="0"/>
                  </a:moveTo>
                  <a:lnTo>
                    <a:pt x="6787261" y="0"/>
                  </a:lnTo>
                  <a:cubicBezTo>
                    <a:pt x="6791960" y="0"/>
                    <a:pt x="6795770" y="3810"/>
                    <a:pt x="6795770" y="8509"/>
                  </a:cubicBezTo>
                  <a:lnTo>
                    <a:pt x="6795770" y="6714109"/>
                  </a:lnTo>
                  <a:cubicBezTo>
                    <a:pt x="6795770" y="6718808"/>
                    <a:pt x="6791960" y="6722618"/>
                    <a:pt x="6787261" y="6722618"/>
                  </a:cubicBezTo>
                  <a:lnTo>
                    <a:pt x="8509" y="6722618"/>
                  </a:lnTo>
                  <a:cubicBezTo>
                    <a:pt x="3810" y="6722618"/>
                    <a:pt x="0" y="6718808"/>
                    <a:pt x="0" y="6714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714109"/>
                  </a:lnTo>
                  <a:lnTo>
                    <a:pt x="8509" y="6714109"/>
                  </a:lnTo>
                  <a:lnTo>
                    <a:pt x="8509" y="6705600"/>
                  </a:lnTo>
                  <a:lnTo>
                    <a:pt x="6787261" y="6705600"/>
                  </a:lnTo>
                  <a:lnTo>
                    <a:pt x="6787261" y="6714109"/>
                  </a:lnTo>
                  <a:lnTo>
                    <a:pt x="6778752" y="6714109"/>
                  </a:lnTo>
                  <a:lnTo>
                    <a:pt x="6778752" y="8509"/>
                  </a:lnTo>
                  <a:lnTo>
                    <a:pt x="6787261" y="8509"/>
                  </a:lnTo>
                  <a:lnTo>
                    <a:pt x="678726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2962656"/>
            <a:ext cx="804672" cy="804672"/>
            <a:chOff x="0" y="0"/>
            <a:chExt cx="1072896" cy="10728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2962656"/>
            <a:ext cx="804672" cy="804672"/>
            <a:chOff x="0" y="0"/>
            <a:chExt cx="1072896" cy="10728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072896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🤖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28800" y="3017520"/>
            <a:ext cx="3291840" cy="438912"/>
            <a:chOff x="0" y="0"/>
            <a:chExt cx="4389120" cy="5852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9120" cy="585216"/>
            </a:xfrm>
            <a:custGeom>
              <a:avLst/>
              <a:gdLst/>
              <a:ahLst/>
              <a:cxnLst/>
              <a:rect r="r" b="b" t="t" l="l"/>
              <a:pathLst>
                <a:path h="58521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43891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Robotics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28800" y="3474720"/>
            <a:ext cx="1463040" cy="365760"/>
            <a:chOff x="0" y="0"/>
            <a:chExt cx="1950720" cy="487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50720" cy="487680"/>
            </a:xfrm>
            <a:custGeom>
              <a:avLst/>
              <a:gdLst/>
              <a:ahLst/>
              <a:cxnLst/>
              <a:rect r="r" b="b" t="t" l="l"/>
              <a:pathLst>
                <a:path h="48768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828800" y="3474720"/>
            <a:ext cx="1463040" cy="365760"/>
            <a:chOff x="0" y="0"/>
            <a:chExt cx="1950720" cy="487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50720" cy="487680"/>
            </a:xfrm>
            <a:custGeom>
              <a:avLst/>
              <a:gdLst/>
              <a:ahLst/>
              <a:cxnLst/>
              <a:rect r="r" b="b" t="t" l="l"/>
              <a:pathLst>
                <a:path h="48768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9507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4023360"/>
            <a:ext cx="4572000" cy="1609344"/>
            <a:chOff x="0" y="0"/>
            <a:chExt cx="6096000" cy="21457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00" cy="2145792"/>
            </a:xfrm>
            <a:custGeom>
              <a:avLst/>
              <a:gdLst/>
              <a:ahLst/>
              <a:cxnLst/>
              <a:rect r="r" b="b" t="t" l="l"/>
              <a:pathLst>
                <a:path h="214579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55" r="0" b="-535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09600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Sophia humanoid robot implementation using OpenCog for cognitive control, emotion recognition, and social interaction capabilities.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77824" y="7095744"/>
            <a:ext cx="182880" cy="182880"/>
            <a:chOff x="0" y="0"/>
            <a:chExt cx="243840" cy="243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70432" y="7022592"/>
            <a:ext cx="3657600" cy="329184"/>
            <a:chOff x="0" y="0"/>
            <a:chExt cx="4876800" cy="43891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76800" cy="438912"/>
            </a:xfrm>
            <a:custGeom>
              <a:avLst/>
              <a:gdLst/>
              <a:ahLst/>
              <a:cxnLst/>
              <a:rect r="r" b="b" t="t" l="l"/>
              <a:pathLst>
                <a:path h="4389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8768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 Deployment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028687" y="2736847"/>
            <a:ext cx="5096761" cy="5041897"/>
            <a:chOff x="0" y="0"/>
            <a:chExt cx="6795681" cy="672252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8509" y="8509"/>
              <a:ext cx="6778752" cy="6705600"/>
            </a:xfrm>
            <a:custGeom>
              <a:avLst/>
              <a:gdLst/>
              <a:ahLst/>
              <a:cxnLst/>
              <a:rect r="r" b="b" t="t" l="l"/>
              <a:pathLst>
                <a:path h="6705600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6705600"/>
                  </a:lnTo>
                  <a:lnTo>
                    <a:pt x="0" y="6705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795770" cy="6722618"/>
            </a:xfrm>
            <a:custGeom>
              <a:avLst/>
              <a:gdLst/>
              <a:ahLst/>
              <a:cxnLst/>
              <a:rect r="r" b="b" t="t" l="l"/>
              <a:pathLst>
                <a:path h="6722618" w="6795770">
                  <a:moveTo>
                    <a:pt x="8509" y="0"/>
                  </a:moveTo>
                  <a:lnTo>
                    <a:pt x="6787261" y="0"/>
                  </a:lnTo>
                  <a:cubicBezTo>
                    <a:pt x="6791960" y="0"/>
                    <a:pt x="6795770" y="3810"/>
                    <a:pt x="6795770" y="8509"/>
                  </a:cubicBezTo>
                  <a:lnTo>
                    <a:pt x="6795770" y="6714109"/>
                  </a:lnTo>
                  <a:cubicBezTo>
                    <a:pt x="6795770" y="6718808"/>
                    <a:pt x="6791960" y="6722618"/>
                    <a:pt x="6787261" y="6722618"/>
                  </a:cubicBezTo>
                  <a:lnTo>
                    <a:pt x="8509" y="6722618"/>
                  </a:lnTo>
                  <a:cubicBezTo>
                    <a:pt x="3810" y="6722618"/>
                    <a:pt x="0" y="6718808"/>
                    <a:pt x="0" y="6714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714109"/>
                  </a:lnTo>
                  <a:lnTo>
                    <a:pt x="8509" y="6714109"/>
                  </a:lnTo>
                  <a:lnTo>
                    <a:pt x="8509" y="6705600"/>
                  </a:lnTo>
                  <a:lnTo>
                    <a:pt x="6787261" y="6705600"/>
                  </a:lnTo>
                  <a:lnTo>
                    <a:pt x="6787261" y="6714109"/>
                  </a:lnTo>
                  <a:lnTo>
                    <a:pt x="6778752" y="6714109"/>
                  </a:lnTo>
                  <a:lnTo>
                    <a:pt x="6778752" y="8509"/>
                  </a:lnTo>
                  <a:lnTo>
                    <a:pt x="6787261" y="8509"/>
                  </a:lnTo>
                  <a:lnTo>
                    <a:pt x="678726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309360" y="2962656"/>
            <a:ext cx="804672" cy="804672"/>
            <a:chOff x="0" y="0"/>
            <a:chExt cx="1072896" cy="10728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309360" y="2962656"/>
            <a:ext cx="804672" cy="804672"/>
            <a:chOff x="0" y="0"/>
            <a:chExt cx="1072896" cy="10728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1072896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🧠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315200" y="3017520"/>
            <a:ext cx="3291840" cy="438912"/>
            <a:chOff x="0" y="0"/>
            <a:chExt cx="4389120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89120" cy="585216"/>
            </a:xfrm>
            <a:custGeom>
              <a:avLst/>
              <a:gdLst/>
              <a:ahLst/>
              <a:cxnLst/>
              <a:rect r="r" b="b" t="t" l="l"/>
              <a:pathLst>
                <a:path h="58521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43891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Explainable AI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315200" y="3474720"/>
            <a:ext cx="1463040" cy="365760"/>
            <a:chOff x="0" y="0"/>
            <a:chExt cx="1950720" cy="4876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50720" cy="487680"/>
            </a:xfrm>
            <a:custGeom>
              <a:avLst/>
              <a:gdLst/>
              <a:ahLst/>
              <a:cxnLst/>
              <a:rect r="r" b="b" t="t" l="l"/>
              <a:pathLst>
                <a:path h="48768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315200" y="3474720"/>
            <a:ext cx="1463040" cy="365760"/>
            <a:chOff x="0" y="0"/>
            <a:chExt cx="1950720" cy="4876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50720" cy="487680"/>
            </a:xfrm>
            <a:custGeom>
              <a:avLst/>
              <a:gdLst/>
              <a:ahLst/>
              <a:cxnLst/>
              <a:rect r="r" b="b" t="t" l="l"/>
              <a:pathLst>
                <a:path h="48768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9507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Research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309360" y="4023360"/>
            <a:ext cx="4572000" cy="1609344"/>
            <a:chOff x="0" y="0"/>
            <a:chExt cx="6096000" cy="2145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96000" cy="2145792"/>
            </a:xfrm>
            <a:custGeom>
              <a:avLst/>
              <a:gdLst/>
              <a:ahLst/>
              <a:cxnLst/>
              <a:rect r="r" b="b" t="t" l="l"/>
              <a:pathLst>
                <a:path h="214579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55" r="0" b="-535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09600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Transparent decision-making systems with interpretable reasoning chains for medical and legal applications.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364224" y="7095744"/>
            <a:ext cx="182880" cy="182880"/>
            <a:chOff x="0" y="0"/>
            <a:chExt cx="243840" cy="243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656832" y="7022592"/>
            <a:ext cx="3657600" cy="329184"/>
            <a:chOff x="0" y="0"/>
            <a:chExt cx="4876800" cy="43891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876800" cy="438912"/>
            </a:xfrm>
            <a:custGeom>
              <a:avLst/>
              <a:gdLst/>
              <a:ahLst/>
              <a:cxnLst/>
              <a:rect r="r" b="b" t="t" l="l"/>
              <a:pathLst>
                <a:path h="4389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48768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 Development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515087" y="2736847"/>
            <a:ext cx="5096761" cy="5041897"/>
            <a:chOff x="0" y="0"/>
            <a:chExt cx="6795681" cy="672252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8509" y="8509"/>
              <a:ext cx="6778752" cy="6705600"/>
            </a:xfrm>
            <a:custGeom>
              <a:avLst/>
              <a:gdLst/>
              <a:ahLst/>
              <a:cxnLst/>
              <a:rect r="r" b="b" t="t" l="l"/>
              <a:pathLst>
                <a:path h="6705600" w="6778752">
                  <a:moveTo>
                    <a:pt x="0" y="0"/>
                  </a:moveTo>
                  <a:lnTo>
                    <a:pt x="6778752" y="0"/>
                  </a:lnTo>
                  <a:lnTo>
                    <a:pt x="6778752" y="6705600"/>
                  </a:lnTo>
                  <a:lnTo>
                    <a:pt x="0" y="6705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795770" cy="6722618"/>
            </a:xfrm>
            <a:custGeom>
              <a:avLst/>
              <a:gdLst/>
              <a:ahLst/>
              <a:cxnLst/>
              <a:rect r="r" b="b" t="t" l="l"/>
              <a:pathLst>
                <a:path h="6722618" w="6795770">
                  <a:moveTo>
                    <a:pt x="8509" y="0"/>
                  </a:moveTo>
                  <a:lnTo>
                    <a:pt x="6787261" y="0"/>
                  </a:lnTo>
                  <a:cubicBezTo>
                    <a:pt x="6791960" y="0"/>
                    <a:pt x="6795770" y="3810"/>
                    <a:pt x="6795770" y="8509"/>
                  </a:cubicBezTo>
                  <a:lnTo>
                    <a:pt x="6795770" y="6714109"/>
                  </a:lnTo>
                  <a:cubicBezTo>
                    <a:pt x="6795770" y="6718808"/>
                    <a:pt x="6791960" y="6722618"/>
                    <a:pt x="6787261" y="6722618"/>
                  </a:cubicBezTo>
                  <a:lnTo>
                    <a:pt x="8509" y="6722618"/>
                  </a:lnTo>
                  <a:cubicBezTo>
                    <a:pt x="3810" y="6722618"/>
                    <a:pt x="0" y="6718808"/>
                    <a:pt x="0" y="6714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714109"/>
                  </a:lnTo>
                  <a:lnTo>
                    <a:pt x="8509" y="6714109"/>
                  </a:lnTo>
                  <a:lnTo>
                    <a:pt x="8509" y="6705600"/>
                  </a:lnTo>
                  <a:lnTo>
                    <a:pt x="6787261" y="6705600"/>
                  </a:lnTo>
                  <a:lnTo>
                    <a:pt x="6787261" y="6714109"/>
                  </a:lnTo>
                  <a:lnTo>
                    <a:pt x="6778752" y="6714109"/>
                  </a:lnTo>
                  <a:lnTo>
                    <a:pt x="6778752" y="8509"/>
                  </a:lnTo>
                  <a:lnTo>
                    <a:pt x="6787261" y="8509"/>
                  </a:lnTo>
                  <a:lnTo>
                    <a:pt x="678726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795760" y="2962656"/>
            <a:ext cx="804672" cy="804672"/>
            <a:chOff x="0" y="0"/>
            <a:chExt cx="1072896" cy="107289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795760" y="2962656"/>
            <a:ext cx="804672" cy="804672"/>
            <a:chOff x="0" y="0"/>
            <a:chExt cx="1072896" cy="107289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1072896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👨‍⚕️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801600" y="3017520"/>
            <a:ext cx="3291840" cy="438912"/>
            <a:chOff x="0" y="0"/>
            <a:chExt cx="4389120" cy="58521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389120" cy="585216"/>
            </a:xfrm>
            <a:custGeom>
              <a:avLst/>
              <a:gdLst/>
              <a:ahLst/>
              <a:cxnLst/>
              <a:rect r="r" b="b" t="t" l="l"/>
              <a:pathLst>
                <a:path h="58521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43891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Expert Systems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801600" y="3474720"/>
            <a:ext cx="1463040" cy="365760"/>
            <a:chOff x="0" y="0"/>
            <a:chExt cx="1950720" cy="4876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950720" cy="487680"/>
            </a:xfrm>
            <a:custGeom>
              <a:avLst/>
              <a:gdLst/>
              <a:ahLst/>
              <a:cxnLst/>
              <a:rect r="r" b="b" t="t" l="l"/>
              <a:pathLst>
                <a:path h="48768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801600" y="3509391"/>
            <a:ext cx="1463040" cy="365760"/>
            <a:chOff x="0" y="0"/>
            <a:chExt cx="1950720" cy="4876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950720" cy="487680"/>
            </a:xfrm>
            <a:custGeom>
              <a:avLst/>
              <a:gdLst/>
              <a:ahLst/>
              <a:cxnLst/>
              <a:rect r="r" b="b" t="t" l="l"/>
              <a:pathLst>
                <a:path h="48768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95072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Beta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795760" y="4023360"/>
            <a:ext cx="4572000" cy="1609344"/>
            <a:chOff x="0" y="0"/>
            <a:chExt cx="6096000" cy="21457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096000" cy="2145792"/>
            </a:xfrm>
            <a:custGeom>
              <a:avLst/>
              <a:gdLst/>
              <a:ahLst/>
              <a:cxnLst/>
              <a:rect r="r" b="b" t="t" l="l"/>
              <a:pathLst>
                <a:path h="214579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55" r="0" b="-535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609600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 diagnosis systems leveraging OpenCog's reasoning capabilities for complex clinical decision support.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850624" y="7095744"/>
            <a:ext cx="182880" cy="182880"/>
            <a:chOff x="0" y="0"/>
            <a:chExt cx="243840" cy="2438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2143232" y="7022592"/>
            <a:ext cx="3657600" cy="329184"/>
            <a:chOff x="0" y="0"/>
            <a:chExt cx="4876800" cy="43891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876800" cy="438912"/>
            </a:xfrm>
            <a:custGeom>
              <a:avLst/>
              <a:gdLst/>
              <a:ahLst/>
              <a:cxnLst/>
              <a:rect r="r" b="b" t="t" l="l"/>
              <a:pathLst>
                <a:path h="4389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48768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Testing Phase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542287" y="8186671"/>
            <a:ext cx="4127497" cy="1201417"/>
            <a:chOff x="0" y="0"/>
            <a:chExt cx="5503329" cy="160188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8509" y="8509"/>
              <a:ext cx="54864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503418" cy="1601978"/>
            </a:xfrm>
            <a:custGeom>
              <a:avLst/>
              <a:gdLst/>
              <a:ahLst/>
              <a:cxnLst/>
              <a:rect r="r" b="b" t="t" l="l"/>
              <a:pathLst>
                <a:path h="1601978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1593469"/>
                  </a:lnTo>
                  <a:cubicBezTo>
                    <a:pt x="5503418" y="1598168"/>
                    <a:pt x="5499608" y="1601978"/>
                    <a:pt x="5494909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5494909" y="1584960"/>
                  </a:lnTo>
                  <a:lnTo>
                    <a:pt x="5494909" y="1593469"/>
                  </a:lnTo>
                  <a:lnTo>
                    <a:pt x="5486400" y="1593469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14400" y="8321040"/>
            <a:ext cx="3474720" cy="402336"/>
            <a:chOff x="0" y="0"/>
            <a:chExt cx="4632960" cy="53644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632960" cy="536448"/>
            </a:xfrm>
            <a:custGeom>
              <a:avLst/>
              <a:gdLst/>
              <a:ahLst/>
              <a:cxnLst/>
              <a:rect r="r" b="b" t="t" l="l"/>
              <a:pathLst>
                <a:path h="53644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46329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Robotics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14400" y="8741664"/>
            <a:ext cx="3474720" cy="365760"/>
            <a:chOff x="0" y="0"/>
            <a:chExt cx="4632960" cy="48768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632960" cy="487680"/>
            </a:xfrm>
            <a:custGeom>
              <a:avLst/>
              <a:gdLst/>
              <a:ahLst/>
              <a:cxnLst/>
              <a:rect r="r" b="b" t="t" l="l"/>
              <a:pathLst>
                <a:path h="4876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4632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15+ Deployments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4967983" y="8186671"/>
            <a:ext cx="4127497" cy="1201417"/>
            <a:chOff x="0" y="0"/>
            <a:chExt cx="5503329" cy="160188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8509" y="8509"/>
              <a:ext cx="54864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503418" cy="1601978"/>
            </a:xfrm>
            <a:custGeom>
              <a:avLst/>
              <a:gdLst/>
              <a:ahLst/>
              <a:cxnLst/>
              <a:rect r="r" b="b" t="t" l="l"/>
              <a:pathLst>
                <a:path h="1601978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1593469"/>
                  </a:lnTo>
                  <a:cubicBezTo>
                    <a:pt x="5503418" y="1598168"/>
                    <a:pt x="5499608" y="1601978"/>
                    <a:pt x="5494909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5494909" y="1584960"/>
                  </a:lnTo>
                  <a:lnTo>
                    <a:pt x="5494909" y="1593469"/>
                  </a:lnTo>
                  <a:lnTo>
                    <a:pt x="5486400" y="1593469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340096" y="8321040"/>
            <a:ext cx="3474720" cy="402336"/>
            <a:chOff x="0" y="0"/>
            <a:chExt cx="4632960" cy="53644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632960" cy="536448"/>
            </a:xfrm>
            <a:custGeom>
              <a:avLst/>
              <a:gdLst/>
              <a:ahLst/>
              <a:cxnLst/>
              <a:rect r="r" b="b" t="t" l="l"/>
              <a:pathLst>
                <a:path h="53644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46329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XAI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5340096" y="8741664"/>
            <a:ext cx="3474720" cy="365760"/>
            <a:chOff x="0" y="0"/>
            <a:chExt cx="4632960" cy="48768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632960" cy="487680"/>
            </a:xfrm>
            <a:custGeom>
              <a:avLst/>
              <a:gdLst/>
              <a:ahLst/>
              <a:cxnLst/>
              <a:rect r="r" b="b" t="t" l="l"/>
              <a:pathLst>
                <a:path h="4876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4632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98% Accuracy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393679" y="8186671"/>
            <a:ext cx="4127497" cy="1201417"/>
            <a:chOff x="0" y="0"/>
            <a:chExt cx="5503329" cy="1601889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8509" y="8509"/>
              <a:ext cx="54864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503418" cy="1601978"/>
            </a:xfrm>
            <a:custGeom>
              <a:avLst/>
              <a:gdLst/>
              <a:ahLst/>
              <a:cxnLst/>
              <a:rect r="r" b="b" t="t" l="l"/>
              <a:pathLst>
                <a:path h="1601978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1593469"/>
                  </a:lnTo>
                  <a:cubicBezTo>
                    <a:pt x="5503418" y="1598168"/>
                    <a:pt x="5499608" y="1601978"/>
                    <a:pt x="5494909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5494909" y="1584960"/>
                  </a:lnTo>
                  <a:lnTo>
                    <a:pt x="5494909" y="1593469"/>
                  </a:lnTo>
                  <a:lnTo>
                    <a:pt x="5486400" y="1593469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765792" y="8321040"/>
            <a:ext cx="3474720" cy="402336"/>
            <a:chOff x="0" y="0"/>
            <a:chExt cx="4632960" cy="53644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632960" cy="536448"/>
            </a:xfrm>
            <a:custGeom>
              <a:avLst/>
              <a:gdLst/>
              <a:ahLst/>
              <a:cxnLst/>
              <a:rect r="r" b="b" t="t" l="l"/>
              <a:pathLst>
                <a:path h="53644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46329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Expert Systems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765792" y="8741664"/>
            <a:ext cx="3474720" cy="365760"/>
            <a:chOff x="0" y="0"/>
            <a:chExt cx="4632960" cy="48768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632960" cy="487680"/>
            </a:xfrm>
            <a:custGeom>
              <a:avLst/>
              <a:gdLst/>
              <a:ahLst/>
              <a:cxnLst/>
              <a:rect r="r" b="b" t="t" l="l"/>
              <a:pathLst>
                <a:path h="4876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4632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50+ Domains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3819375" y="8186671"/>
            <a:ext cx="4127497" cy="1201417"/>
            <a:chOff x="0" y="0"/>
            <a:chExt cx="5503329" cy="1601889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8509" y="8509"/>
              <a:ext cx="54864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503418" cy="1601978"/>
            </a:xfrm>
            <a:custGeom>
              <a:avLst/>
              <a:gdLst/>
              <a:ahLst/>
              <a:cxnLst/>
              <a:rect r="r" b="b" t="t" l="l"/>
              <a:pathLst>
                <a:path h="1601978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1593469"/>
                  </a:lnTo>
                  <a:cubicBezTo>
                    <a:pt x="5503418" y="1598168"/>
                    <a:pt x="5499608" y="1601978"/>
                    <a:pt x="5494909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5494909" y="1584960"/>
                  </a:lnTo>
                  <a:lnTo>
                    <a:pt x="5494909" y="1593469"/>
                  </a:lnTo>
                  <a:lnTo>
                    <a:pt x="5486400" y="1593469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4191488" y="8321040"/>
            <a:ext cx="3474720" cy="402336"/>
            <a:chOff x="0" y="0"/>
            <a:chExt cx="4632960" cy="53644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632960" cy="536448"/>
            </a:xfrm>
            <a:custGeom>
              <a:avLst/>
              <a:gdLst/>
              <a:ahLst/>
              <a:cxnLst/>
              <a:rect r="r" b="b" t="t" l="l"/>
              <a:pathLst>
                <a:path h="53644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46329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AGI Research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4191488" y="8741664"/>
            <a:ext cx="3474720" cy="365760"/>
            <a:chOff x="0" y="0"/>
            <a:chExt cx="4632960" cy="48768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632960" cy="487680"/>
            </a:xfrm>
            <a:custGeom>
              <a:avLst/>
              <a:gdLst/>
              <a:ahLst/>
              <a:cxnLst/>
              <a:rect r="r" b="b" t="t" l="l"/>
              <a:pathLst>
                <a:path h="4876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4632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100+ Papers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144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82880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Robotics Use Case: Sophia Humanoid Robot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14400"/>
            <a:ext cx="13716000" cy="512064"/>
            <a:chOff x="0" y="0"/>
            <a:chExt cx="182880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288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E0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OpenCog-powered cognitive architecture for humanoid robotics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30400" y="512064"/>
            <a:ext cx="3291840" cy="548640"/>
            <a:chOff x="0" y="0"/>
            <a:chExt cx="43891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48/53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709647" y="1731007"/>
            <a:ext cx="5133337" cy="597913"/>
            <a:chOff x="0" y="0"/>
            <a:chExt cx="6844449" cy="7972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509" y="8509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365760"/>
                  </a:moveTo>
                  <a:cubicBezTo>
                    <a:pt x="0" y="163703"/>
                    <a:pt x="166878" y="0"/>
                    <a:pt x="372745" y="0"/>
                  </a:cubicBezTo>
                  <a:lnTo>
                    <a:pt x="6454775" y="0"/>
                  </a:lnTo>
                  <a:cubicBezTo>
                    <a:pt x="6660642" y="0"/>
                    <a:pt x="6827520" y="163703"/>
                    <a:pt x="6827520" y="365760"/>
                  </a:cubicBezTo>
                  <a:lnTo>
                    <a:pt x="6827520" y="414528"/>
                  </a:lnTo>
                  <a:cubicBezTo>
                    <a:pt x="6827520" y="616585"/>
                    <a:pt x="6660642" y="780288"/>
                    <a:pt x="6454775" y="780288"/>
                  </a:cubicBezTo>
                  <a:lnTo>
                    <a:pt x="372745" y="780288"/>
                  </a:lnTo>
                  <a:cubicBezTo>
                    <a:pt x="166878" y="780288"/>
                    <a:pt x="0" y="616458"/>
                    <a:pt x="0" y="41452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44538" cy="797306"/>
            </a:xfrm>
            <a:custGeom>
              <a:avLst/>
              <a:gdLst/>
              <a:ahLst/>
              <a:cxnLst/>
              <a:rect r="r" b="b" t="t" l="l"/>
              <a:pathLst>
                <a:path h="797306" w="6844538">
                  <a:moveTo>
                    <a:pt x="0" y="374269"/>
                  </a:moveTo>
                  <a:cubicBezTo>
                    <a:pt x="0" y="167386"/>
                    <a:pt x="170815" y="0"/>
                    <a:pt x="381254" y="0"/>
                  </a:cubicBezTo>
                  <a:lnTo>
                    <a:pt x="6463284" y="0"/>
                  </a:lnTo>
                  <a:lnTo>
                    <a:pt x="6463284" y="8509"/>
                  </a:lnTo>
                  <a:lnTo>
                    <a:pt x="6463284" y="0"/>
                  </a:lnTo>
                  <a:cubicBezTo>
                    <a:pt x="6673723" y="0"/>
                    <a:pt x="6844538" y="167386"/>
                    <a:pt x="6844538" y="374269"/>
                  </a:cubicBezTo>
                  <a:lnTo>
                    <a:pt x="6836029" y="374269"/>
                  </a:lnTo>
                  <a:lnTo>
                    <a:pt x="6844538" y="374269"/>
                  </a:lnTo>
                  <a:lnTo>
                    <a:pt x="6844538" y="423037"/>
                  </a:lnTo>
                  <a:lnTo>
                    <a:pt x="6836029" y="423037"/>
                  </a:lnTo>
                  <a:lnTo>
                    <a:pt x="6844538" y="423037"/>
                  </a:lnTo>
                  <a:cubicBezTo>
                    <a:pt x="6844538" y="629920"/>
                    <a:pt x="6673723" y="797306"/>
                    <a:pt x="6463284" y="797306"/>
                  </a:cubicBezTo>
                  <a:lnTo>
                    <a:pt x="6463284" y="788797"/>
                  </a:lnTo>
                  <a:lnTo>
                    <a:pt x="6463284" y="797306"/>
                  </a:lnTo>
                  <a:lnTo>
                    <a:pt x="381254" y="797306"/>
                  </a:lnTo>
                  <a:lnTo>
                    <a:pt x="381254" y="788797"/>
                  </a:lnTo>
                  <a:lnTo>
                    <a:pt x="381254" y="797306"/>
                  </a:lnTo>
                  <a:cubicBezTo>
                    <a:pt x="170815" y="797179"/>
                    <a:pt x="0" y="629793"/>
                    <a:pt x="0" y="423037"/>
                  </a:cubicBezTo>
                  <a:lnTo>
                    <a:pt x="0" y="374269"/>
                  </a:lnTo>
                  <a:lnTo>
                    <a:pt x="8509" y="374269"/>
                  </a:lnTo>
                  <a:lnTo>
                    <a:pt x="0" y="374269"/>
                  </a:lnTo>
                  <a:moveTo>
                    <a:pt x="16891" y="374269"/>
                  </a:moveTo>
                  <a:lnTo>
                    <a:pt x="16891" y="423037"/>
                  </a:lnTo>
                  <a:lnTo>
                    <a:pt x="8509" y="423037"/>
                  </a:lnTo>
                  <a:lnTo>
                    <a:pt x="17018" y="423037"/>
                  </a:lnTo>
                  <a:cubicBezTo>
                    <a:pt x="17018" y="620268"/>
                    <a:pt x="179959" y="780288"/>
                    <a:pt x="381381" y="780288"/>
                  </a:cubicBezTo>
                  <a:lnTo>
                    <a:pt x="6463411" y="780288"/>
                  </a:lnTo>
                  <a:cubicBezTo>
                    <a:pt x="6664706" y="780288"/>
                    <a:pt x="6827774" y="620141"/>
                    <a:pt x="6827774" y="423037"/>
                  </a:cubicBezTo>
                  <a:lnTo>
                    <a:pt x="6827774" y="374269"/>
                  </a:lnTo>
                  <a:cubicBezTo>
                    <a:pt x="6827774" y="177038"/>
                    <a:pt x="6664833" y="17018"/>
                    <a:pt x="6463411" y="17018"/>
                  </a:cubicBezTo>
                  <a:lnTo>
                    <a:pt x="381254" y="17018"/>
                  </a:lnTo>
                  <a:lnTo>
                    <a:pt x="381254" y="8509"/>
                  </a:lnTo>
                  <a:lnTo>
                    <a:pt x="381254" y="17018"/>
                  </a:lnTo>
                  <a:cubicBezTo>
                    <a:pt x="179832" y="16891"/>
                    <a:pt x="16891" y="177038"/>
                    <a:pt x="16891" y="374269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0" y="1737360"/>
            <a:ext cx="5120640" cy="585216"/>
            <a:chOff x="0" y="0"/>
            <a:chExt cx="6827520" cy="780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8275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AI-generated image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1792224"/>
            <a:ext cx="16459200" cy="822960"/>
            <a:chOff x="0" y="0"/>
            <a:chExt cx="2194560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219456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🤖  Sophia Robot - OpenCog Integration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42287" y="2736847"/>
            <a:ext cx="8425177" cy="3670297"/>
            <a:chOff x="0" y="0"/>
            <a:chExt cx="11233569" cy="48937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8509" y="8509"/>
              <a:ext cx="112166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233658" cy="4893818"/>
            </a:xfrm>
            <a:custGeom>
              <a:avLst/>
              <a:gdLst/>
              <a:ahLst/>
              <a:cxnLst/>
              <a:rect r="r" b="b" t="t" l="l"/>
              <a:pathLst>
                <a:path h="489381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4885309"/>
                  </a:lnTo>
                  <a:cubicBezTo>
                    <a:pt x="11233658" y="4890008"/>
                    <a:pt x="11229848" y="4893818"/>
                    <a:pt x="11225149" y="4893818"/>
                  </a:cubicBezTo>
                  <a:lnTo>
                    <a:pt x="8509" y="4893818"/>
                  </a:lnTo>
                  <a:cubicBezTo>
                    <a:pt x="3810" y="4893818"/>
                    <a:pt x="0" y="4890008"/>
                    <a:pt x="0" y="4885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885309"/>
                  </a:lnTo>
                  <a:lnTo>
                    <a:pt x="8509" y="4885309"/>
                  </a:lnTo>
                  <a:lnTo>
                    <a:pt x="8509" y="4876800"/>
                  </a:lnTo>
                  <a:lnTo>
                    <a:pt x="11225149" y="4876800"/>
                  </a:lnTo>
                  <a:lnTo>
                    <a:pt x="11225149" y="4885309"/>
                  </a:lnTo>
                  <a:lnTo>
                    <a:pt x="11216640" y="488530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2962656"/>
            <a:ext cx="658368" cy="658368"/>
            <a:chOff x="0" y="0"/>
            <a:chExt cx="877824" cy="8778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2962656"/>
            <a:ext cx="658368" cy="658368"/>
            <a:chOff x="0" y="0"/>
            <a:chExt cx="877824" cy="8778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🧠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45920" y="3017520"/>
            <a:ext cx="6949440" cy="457200"/>
            <a:chOff x="0" y="0"/>
            <a:chExt cx="9265920" cy="609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65920" cy="609600"/>
            </a:xfrm>
            <a:custGeom>
              <a:avLst/>
              <a:gdLst/>
              <a:ahLst/>
              <a:cxnLst/>
              <a:rect r="r" b="b" t="t" l="l"/>
              <a:pathLst>
                <a:path h="6096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926592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Cognitive Architecture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3657600"/>
            <a:ext cx="7955280" cy="1005840"/>
            <a:chOff x="0" y="0"/>
            <a:chExt cx="10607040" cy="13411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607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108" r="0" b="-10410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6070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Sophia uses OpenCog's cognitive architecture to process natural language, facial expressions, and emotional responses. The system integrates PLN for reasoning, MOSES for learning, and ECAN for attention allocation.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22960" y="4791456"/>
            <a:ext cx="548640" cy="548640"/>
            <a:chOff x="0" y="0"/>
            <a:chExt cx="73152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4791456"/>
            <a:ext cx="548640" cy="548640"/>
            <a:chOff x="0" y="0"/>
            <a:chExt cx="7315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💬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99616" y="4846320"/>
            <a:ext cx="3291840" cy="457200"/>
            <a:chOff x="0" y="0"/>
            <a:chExt cx="4389120" cy="609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89120" cy="609600"/>
            </a:xfrm>
            <a:custGeom>
              <a:avLst/>
              <a:gdLst/>
              <a:ahLst/>
              <a:cxnLst/>
              <a:rect r="r" b="b" t="t" l="l"/>
              <a:pathLst>
                <a:path h="609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3891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Natural Language Processing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846320" y="4791456"/>
            <a:ext cx="548640" cy="548640"/>
            <a:chOff x="0" y="0"/>
            <a:chExt cx="7315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4846320" y="4791456"/>
            <a:ext cx="548640" cy="548640"/>
            <a:chOff x="0" y="0"/>
            <a:chExt cx="73152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😊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522976" y="4846320"/>
            <a:ext cx="3291840" cy="457200"/>
            <a:chOff x="0" y="0"/>
            <a:chExt cx="4389120" cy="609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389120" cy="609600"/>
            </a:xfrm>
            <a:custGeom>
              <a:avLst/>
              <a:gdLst/>
              <a:ahLst/>
              <a:cxnLst/>
              <a:rect r="r" b="b" t="t" l="l"/>
              <a:pathLst>
                <a:path h="609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3891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Facial Expression Recognition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5486400"/>
            <a:ext cx="548640" cy="548640"/>
            <a:chOff x="0" y="0"/>
            <a:chExt cx="73152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5486400"/>
            <a:ext cx="548640" cy="548640"/>
            <a:chOff x="0" y="0"/>
            <a:chExt cx="73152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❤️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99616" y="5541264"/>
            <a:ext cx="3291840" cy="457200"/>
            <a:chOff x="0" y="0"/>
            <a:chExt cx="4389120" cy="609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389120" cy="609600"/>
            </a:xfrm>
            <a:custGeom>
              <a:avLst/>
              <a:gdLst/>
              <a:ahLst/>
              <a:cxnLst/>
              <a:rect r="r" b="b" t="t" l="l"/>
              <a:pathLst>
                <a:path h="609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43891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Emotional Response System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846320" y="5486400"/>
            <a:ext cx="548640" cy="548640"/>
            <a:chOff x="0" y="0"/>
            <a:chExt cx="73152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846320" y="5486400"/>
            <a:ext cx="548640" cy="548640"/>
            <a:chOff x="0" y="0"/>
            <a:chExt cx="73152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👁️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522976" y="5541264"/>
            <a:ext cx="3291840" cy="457200"/>
            <a:chOff x="0" y="0"/>
            <a:chExt cx="4389120" cy="6096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389120" cy="609600"/>
            </a:xfrm>
            <a:custGeom>
              <a:avLst/>
              <a:gdLst/>
              <a:ahLst/>
              <a:cxnLst/>
              <a:rect r="r" b="b" t="t" l="l"/>
              <a:pathLst>
                <a:path h="609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3891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Computer Vision Integration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42287" y="6577327"/>
            <a:ext cx="8425177" cy="2647569"/>
            <a:chOff x="0" y="0"/>
            <a:chExt cx="11233569" cy="35300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8509" y="16274"/>
              <a:ext cx="11216640" cy="3497714"/>
            </a:xfrm>
            <a:custGeom>
              <a:avLst/>
              <a:gdLst/>
              <a:ahLst/>
              <a:cxnLst/>
              <a:rect r="r" b="b" t="t" l="l"/>
              <a:pathLst>
                <a:path h="349771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497714"/>
                  </a:lnTo>
                  <a:lnTo>
                    <a:pt x="0" y="34977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233658" cy="3530181"/>
            </a:xfrm>
            <a:custGeom>
              <a:avLst/>
              <a:gdLst/>
              <a:ahLst/>
              <a:cxnLst/>
              <a:rect r="r" b="b" t="t" l="l"/>
              <a:pathLst>
                <a:path h="3530181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7287"/>
                    <a:pt x="11233658" y="16274"/>
                  </a:cubicBezTo>
                  <a:lnTo>
                    <a:pt x="11233658" y="3513988"/>
                  </a:lnTo>
                  <a:cubicBezTo>
                    <a:pt x="11233658" y="3522975"/>
                    <a:pt x="11229848" y="3530181"/>
                    <a:pt x="11225149" y="3530181"/>
                  </a:cubicBezTo>
                  <a:lnTo>
                    <a:pt x="8509" y="3530181"/>
                  </a:lnTo>
                  <a:cubicBezTo>
                    <a:pt x="3810" y="3530181"/>
                    <a:pt x="0" y="3522975"/>
                    <a:pt x="0" y="3513988"/>
                  </a:cubicBezTo>
                  <a:lnTo>
                    <a:pt x="0" y="16274"/>
                  </a:lnTo>
                  <a:cubicBezTo>
                    <a:pt x="0" y="7287"/>
                    <a:pt x="3810" y="0"/>
                    <a:pt x="8509" y="0"/>
                  </a:cubicBezTo>
                  <a:moveTo>
                    <a:pt x="8509" y="32305"/>
                  </a:moveTo>
                  <a:lnTo>
                    <a:pt x="8509" y="16274"/>
                  </a:lnTo>
                  <a:lnTo>
                    <a:pt x="17018" y="16274"/>
                  </a:lnTo>
                  <a:lnTo>
                    <a:pt x="17018" y="3513988"/>
                  </a:lnTo>
                  <a:lnTo>
                    <a:pt x="8509" y="3513988"/>
                  </a:lnTo>
                  <a:lnTo>
                    <a:pt x="8509" y="3497714"/>
                  </a:lnTo>
                  <a:lnTo>
                    <a:pt x="11225149" y="3497714"/>
                  </a:lnTo>
                  <a:lnTo>
                    <a:pt x="11225149" y="3513988"/>
                  </a:lnTo>
                  <a:lnTo>
                    <a:pt x="11216640" y="3513988"/>
                  </a:lnTo>
                  <a:lnTo>
                    <a:pt x="11216640" y="16274"/>
                  </a:lnTo>
                  <a:lnTo>
                    <a:pt x="11225149" y="16274"/>
                  </a:lnTo>
                  <a:lnTo>
                    <a:pt x="11225149" y="32548"/>
                  </a:lnTo>
                  <a:lnTo>
                    <a:pt x="8509" y="3254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22960" y="6803136"/>
            <a:ext cx="658368" cy="658368"/>
            <a:chOff x="0" y="0"/>
            <a:chExt cx="877824" cy="8778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822960" y="6803136"/>
            <a:ext cx="658368" cy="658368"/>
            <a:chOff x="0" y="0"/>
            <a:chExt cx="877824" cy="87782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⚙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645920" y="6858000"/>
            <a:ext cx="6949440" cy="402336"/>
            <a:chOff x="0" y="0"/>
            <a:chExt cx="9265920" cy="53644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265920" cy="536448"/>
            </a:xfrm>
            <a:custGeom>
              <a:avLst/>
              <a:gdLst/>
              <a:ahLst/>
              <a:cxnLst/>
              <a:rect r="r" b="b" t="t" l="l"/>
              <a:pathLst>
                <a:path h="53644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559" r="0" b="-28655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92659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Specifications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822960" y="7747254"/>
            <a:ext cx="7955280" cy="402336"/>
            <a:chOff x="0" y="0"/>
            <a:chExt cx="10607040" cy="53644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607040" cy="536448"/>
            </a:xfrm>
            <a:custGeom>
              <a:avLst/>
              <a:gdLst/>
              <a:ahLst/>
              <a:cxnLst/>
              <a:rect r="r" b="b" t="t" l="l"/>
              <a:pathLst>
                <a:path h="53644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272" r="0" b="-33527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106070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64-bit processor architecture  |  32GB RAM for real-time processing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156955" y="8066399"/>
            <a:ext cx="1914649" cy="1329433"/>
            <a:chOff x="0" y="0"/>
            <a:chExt cx="2552865" cy="177257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8509" y="8509"/>
              <a:ext cx="2535936" cy="1755648"/>
            </a:xfrm>
            <a:custGeom>
              <a:avLst/>
              <a:gdLst/>
              <a:ahLst/>
              <a:cxnLst/>
              <a:rect r="r" b="b" t="t" l="l"/>
              <a:pathLst>
                <a:path h="1755648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552954" cy="1772666"/>
            </a:xfrm>
            <a:custGeom>
              <a:avLst/>
              <a:gdLst/>
              <a:ahLst/>
              <a:cxnLst/>
              <a:rect r="r" b="b" t="t" l="l"/>
              <a:pathLst>
                <a:path h="1772666" w="2552954">
                  <a:moveTo>
                    <a:pt x="8509" y="0"/>
                  </a:moveTo>
                  <a:lnTo>
                    <a:pt x="2544445" y="0"/>
                  </a:lnTo>
                  <a:cubicBezTo>
                    <a:pt x="2549144" y="0"/>
                    <a:pt x="2552954" y="3810"/>
                    <a:pt x="2552954" y="8509"/>
                  </a:cubicBezTo>
                  <a:lnTo>
                    <a:pt x="2552954" y="1764157"/>
                  </a:lnTo>
                  <a:cubicBezTo>
                    <a:pt x="2552954" y="1768856"/>
                    <a:pt x="2549144" y="1772666"/>
                    <a:pt x="2544445" y="1772666"/>
                  </a:cubicBezTo>
                  <a:lnTo>
                    <a:pt x="8509" y="1772666"/>
                  </a:lnTo>
                  <a:cubicBezTo>
                    <a:pt x="3810" y="1772666"/>
                    <a:pt x="0" y="1768856"/>
                    <a:pt x="0" y="17641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764157"/>
                  </a:lnTo>
                  <a:lnTo>
                    <a:pt x="8509" y="1764157"/>
                  </a:lnTo>
                  <a:lnTo>
                    <a:pt x="8509" y="1755648"/>
                  </a:lnTo>
                  <a:lnTo>
                    <a:pt x="2544445" y="1755648"/>
                  </a:lnTo>
                  <a:lnTo>
                    <a:pt x="2544445" y="1764157"/>
                  </a:lnTo>
                  <a:lnTo>
                    <a:pt x="2535936" y="1764157"/>
                  </a:lnTo>
                  <a:lnTo>
                    <a:pt x="2535936" y="8509"/>
                  </a:lnTo>
                  <a:lnTo>
                    <a:pt x="2544445" y="8509"/>
                  </a:lnTo>
                  <a:lnTo>
                    <a:pt x="25444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163308" y="8182480"/>
            <a:ext cx="1901952" cy="548640"/>
            <a:chOff x="0" y="0"/>
            <a:chExt cx="2535936" cy="731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535936" cy="731520"/>
            </a:xfrm>
            <a:custGeom>
              <a:avLst/>
              <a:gdLst/>
              <a:ahLst/>
              <a:cxnLst/>
              <a:rect r="r" b="b" t="t" l="l"/>
              <a:pathLst>
                <a:path h="731520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48" r="0" b="-1754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66675"/>
              <a:ext cx="2535936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2016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163308" y="8767696"/>
            <a:ext cx="1901952" cy="457200"/>
            <a:chOff x="0" y="0"/>
            <a:chExt cx="2535936" cy="6096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535936" cy="609600"/>
            </a:xfrm>
            <a:custGeom>
              <a:avLst/>
              <a:gdLst/>
              <a:ahLst/>
              <a:cxnLst/>
              <a:rect r="r" b="b" t="t" l="l"/>
              <a:pathLst>
                <a:path h="609600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2535936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First Activated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2278363" y="8066399"/>
            <a:ext cx="1914649" cy="1329433"/>
            <a:chOff x="0" y="0"/>
            <a:chExt cx="2552865" cy="1772577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8509" y="8509"/>
              <a:ext cx="2535936" cy="1755648"/>
            </a:xfrm>
            <a:custGeom>
              <a:avLst/>
              <a:gdLst/>
              <a:ahLst/>
              <a:cxnLst/>
              <a:rect r="r" b="b" t="t" l="l"/>
              <a:pathLst>
                <a:path h="1755648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552954" cy="1772666"/>
            </a:xfrm>
            <a:custGeom>
              <a:avLst/>
              <a:gdLst/>
              <a:ahLst/>
              <a:cxnLst/>
              <a:rect r="r" b="b" t="t" l="l"/>
              <a:pathLst>
                <a:path h="1772666" w="2552954">
                  <a:moveTo>
                    <a:pt x="8509" y="0"/>
                  </a:moveTo>
                  <a:lnTo>
                    <a:pt x="2544445" y="0"/>
                  </a:lnTo>
                  <a:cubicBezTo>
                    <a:pt x="2549144" y="0"/>
                    <a:pt x="2552954" y="3810"/>
                    <a:pt x="2552954" y="8509"/>
                  </a:cubicBezTo>
                  <a:lnTo>
                    <a:pt x="2552954" y="1764157"/>
                  </a:lnTo>
                  <a:cubicBezTo>
                    <a:pt x="2552954" y="1768856"/>
                    <a:pt x="2549144" y="1772666"/>
                    <a:pt x="2544445" y="1772666"/>
                  </a:cubicBezTo>
                  <a:lnTo>
                    <a:pt x="8509" y="1772666"/>
                  </a:lnTo>
                  <a:cubicBezTo>
                    <a:pt x="3810" y="1772666"/>
                    <a:pt x="0" y="1768856"/>
                    <a:pt x="0" y="17641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764157"/>
                  </a:lnTo>
                  <a:lnTo>
                    <a:pt x="8509" y="1764157"/>
                  </a:lnTo>
                  <a:lnTo>
                    <a:pt x="8509" y="1755648"/>
                  </a:lnTo>
                  <a:lnTo>
                    <a:pt x="2544445" y="1755648"/>
                  </a:lnTo>
                  <a:lnTo>
                    <a:pt x="2544445" y="1764157"/>
                  </a:lnTo>
                  <a:lnTo>
                    <a:pt x="2535936" y="1764157"/>
                  </a:lnTo>
                  <a:lnTo>
                    <a:pt x="2535936" y="8509"/>
                  </a:lnTo>
                  <a:lnTo>
                    <a:pt x="2544445" y="8509"/>
                  </a:lnTo>
                  <a:lnTo>
                    <a:pt x="25444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2284716" y="8182480"/>
            <a:ext cx="1901952" cy="548640"/>
            <a:chOff x="0" y="0"/>
            <a:chExt cx="2535936" cy="7315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535936" cy="731520"/>
            </a:xfrm>
            <a:custGeom>
              <a:avLst/>
              <a:gdLst/>
              <a:ahLst/>
              <a:cxnLst/>
              <a:rect r="r" b="b" t="t" l="l"/>
              <a:pathLst>
                <a:path h="731520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48" r="0" b="-17548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66675"/>
              <a:ext cx="2535936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50+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2284716" y="8767696"/>
            <a:ext cx="1901952" cy="457200"/>
            <a:chOff x="0" y="0"/>
            <a:chExt cx="2535936" cy="6096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535936" cy="609600"/>
            </a:xfrm>
            <a:custGeom>
              <a:avLst/>
              <a:gdLst/>
              <a:ahLst/>
              <a:cxnLst/>
              <a:rect r="r" b="b" t="t" l="l"/>
              <a:pathLst>
                <a:path h="609600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2535936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Countries Visited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4399771" y="8066399"/>
            <a:ext cx="1914649" cy="1329433"/>
            <a:chOff x="0" y="0"/>
            <a:chExt cx="2552865" cy="177257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8509" y="8509"/>
              <a:ext cx="2535936" cy="1755648"/>
            </a:xfrm>
            <a:custGeom>
              <a:avLst/>
              <a:gdLst/>
              <a:ahLst/>
              <a:cxnLst/>
              <a:rect r="r" b="b" t="t" l="l"/>
              <a:pathLst>
                <a:path h="1755648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552954" cy="1772666"/>
            </a:xfrm>
            <a:custGeom>
              <a:avLst/>
              <a:gdLst/>
              <a:ahLst/>
              <a:cxnLst/>
              <a:rect r="r" b="b" t="t" l="l"/>
              <a:pathLst>
                <a:path h="1772666" w="2552954">
                  <a:moveTo>
                    <a:pt x="8509" y="0"/>
                  </a:moveTo>
                  <a:lnTo>
                    <a:pt x="2544445" y="0"/>
                  </a:lnTo>
                  <a:cubicBezTo>
                    <a:pt x="2549144" y="0"/>
                    <a:pt x="2552954" y="3810"/>
                    <a:pt x="2552954" y="8509"/>
                  </a:cubicBezTo>
                  <a:lnTo>
                    <a:pt x="2552954" y="1764157"/>
                  </a:lnTo>
                  <a:cubicBezTo>
                    <a:pt x="2552954" y="1768856"/>
                    <a:pt x="2549144" y="1772666"/>
                    <a:pt x="2544445" y="1772666"/>
                  </a:cubicBezTo>
                  <a:lnTo>
                    <a:pt x="8509" y="1772666"/>
                  </a:lnTo>
                  <a:cubicBezTo>
                    <a:pt x="3810" y="1772666"/>
                    <a:pt x="0" y="1768856"/>
                    <a:pt x="0" y="17641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764157"/>
                  </a:lnTo>
                  <a:lnTo>
                    <a:pt x="8509" y="1764157"/>
                  </a:lnTo>
                  <a:lnTo>
                    <a:pt x="8509" y="1755648"/>
                  </a:lnTo>
                  <a:lnTo>
                    <a:pt x="2544445" y="1755648"/>
                  </a:lnTo>
                  <a:lnTo>
                    <a:pt x="2544445" y="1764157"/>
                  </a:lnTo>
                  <a:lnTo>
                    <a:pt x="2535936" y="1764157"/>
                  </a:lnTo>
                  <a:lnTo>
                    <a:pt x="2535936" y="8509"/>
                  </a:lnTo>
                  <a:lnTo>
                    <a:pt x="2544445" y="8509"/>
                  </a:lnTo>
                  <a:lnTo>
                    <a:pt x="25444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4406124" y="8182480"/>
            <a:ext cx="1901952" cy="548640"/>
            <a:chOff x="0" y="0"/>
            <a:chExt cx="2535936" cy="7315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535936" cy="731520"/>
            </a:xfrm>
            <a:custGeom>
              <a:avLst/>
              <a:gdLst/>
              <a:ahLst/>
              <a:cxnLst/>
              <a:rect r="r" b="b" t="t" l="l"/>
              <a:pathLst>
                <a:path h="731520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48" r="0" b="-17548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66675"/>
              <a:ext cx="2535936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100M+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4406124" y="8767696"/>
            <a:ext cx="1901952" cy="457200"/>
            <a:chOff x="0" y="0"/>
            <a:chExt cx="2535936" cy="6096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535936" cy="609600"/>
            </a:xfrm>
            <a:custGeom>
              <a:avLst/>
              <a:gdLst/>
              <a:ahLst/>
              <a:cxnLst/>
              <a:rect r="r" b="b" t="t" l="l"/>
              <a:pathLst>
                <a:path h="609600" w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2535936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Media Impressions</a:t>
              </a:r>
            </a:p>
          </p:txBody>
        </p:sp>
      </p:grpSp>
      <p:sp>
        <p:nvSpPr>
          <p:cNvPr name="Freeform 109" id="109"/>
          <p:cNvSpPr/>
          <p:nvPr/>
        </p:nvSpPr>
        <p:spPr>
          <a:xfrm flipH="false" flipV="false" rot="0">
            <a:off x="10100709" y="2736847"/>
            <a:ext cx="6269957" cy="5088491"/>
          </a:xfrm>
          <a:custGeom>
            <a:avLst/>
            <a:gdLst/>
            <a:ahLst/>
            <a:cxnLst/>
            <a:rect r="r" b="b" t="t" l="l"/>
            <a:pathLst>
              <a:path h="5088491" w="6269957">
                <a:moveTo>
                  <a:pt x="0" y="0"/>
                </a:moveTo>
                <a:lnTo>
                  <a:pt x="6269957" y="0"/>
                </a:lnTo>
                <a:lnTo>
                  <a:pt x="6269957" y="5088491"/>
                </a:lnTo>
                <a:lnTo>
                  <a:pt x="0" y="5088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144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82880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Use Cases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14400"/>
            <a:ext cx="13716000" cy="512064"/>
            <a:chOff x="0" y="0"/>
            <a:chExt cx="182880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288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E0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Explainable AI, Expert Systems, and AGI Research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30400" y="512064"/>
            <a:ext cx="3291840" cy="548640"/>
            <a:chOff x="0" y="0"/>
            <a:chExt cx="43891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49/53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429487" y="1731007"/>
            <a:ext cx="5133337" cy="597913"/>
            <a:chOff x="0" y="0"/>
            <a:chExt cx="6844449" cy="7972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509" y="8509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365760"/>
                  </a:moveTo>
                  <a:cubicBezTo>
                    <a:pt x="0" y="163703"/>
                    <a:pt x="166878" y="0"/>
                    <a:pt x="372745" y="0"/>
                  </a:cubicBezTo>
                  <a:lnTo>
                    <a:pt x="6454775" y="0"/>
                  </a:lnTo>
                  <a:cubicBezTo>
                    <a:pt x="6660642" y="0"/>
                    <a:pt x="6827520" y="163703"/>
                    <a:pt x="6827520" y="365760"/>
                  </a:cubicBezTo>
                  <a:lnTo>
                    <a:pt x="6827520" y="414528"/>
                  </a:lnTo>
                  <a:cubicBezTo>
                    <a:pt x="6827520" y="616585"/>
                    <a:pt x="6660642" y="780288"/>
                    <a:pt x="6454775" y="780288"/>
                  </a:cubicBezTo>
                  <a:lnTo>
                    <a:pt x="372745" y="780288"/>
                  </a:lnTo>
                  <a:cubicBezTo>
                    <a:pt x="166878" y="780288"/>
                    <a:pt x="0" y="616458"/>
                    <a:pt x="0" y="41452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44538" cy="797306"/>
            </a:xfrm>
            <a:custGeom>
              <a:avLst/>
              <a:gdLst/>
              <a:ahLst/>
              <a:cxnLst/>
              <a:rect r="r" b="b" t="t" l="l"/>
              <a:pathLst>
                <a:path h="797306" w="6844538">
                  <a:moveTo>
                    <a:pt x="0" y="374269"/>
                  </a:moveTo>
                  <a:cubicBezTo>
                    <a:pt x="0" y="167386"/>
                    <a:pt x="170815" y="0"/>
                    <a:pt x="381254" y="0"/>
                  </a:cubicBezTo>
                  <a:lnTo>
                    <a:pt x="6463284" y="0"/>
                  </a:lnTo>
                  <a:lnTo>
                    <a:pt x="6463284" y="8509"/>
                  </a:lnTo>
                  <a:lnTo>
                    <a:pt x="6463284" y="0"/>
                  </a:lnTo>
                  <a:cubicBezTo>
                    <a:pt x="6673723" y="0"/>
                    <a:pt x="6844538" y="167386"/>
                    <a:pt x="6844538" y="374269"/>
                  </a:cubicBezTo>
                  <a:lnTo>
                    <a:pt x="6836029" y="374269"/>
                  </a:lnTo>
                  <a:lnTo>
                    <a:pt x="6844538" y="374269"/>
                  </a:lnTo>
                  <a:lnTo>
                    <a:pt x="6844538" y="423037"/>
                  </a:lnTo>
                  <a:lnTo>
                    <a:pt x="6836029" y="423037"/>
                  </a:lnTo>
                  <a:lnTo>
                    <a:pt x="6844538" y="423037"/>
                  </a:lnTo>
                  <a:cubicBezTo>
                    <a:pt x="6844538" y="629920"/>
                    <a:pt x="6673723" y="797306"/>
                    <a:pt x="6463284" y="797306"/>
                  </a:cubicBezTo>
                  <a:lnTo>
                    <a:pt x="6463284" y="788797"/>
                  </a:lnTo>
                  <a:lnTo>
                    <a:pt x="6463284" y="797306"/>
                  </a:lnTo>
                  <a:lnTo>
                    <a:pt x="381254" y="797306"/>
                  </a:lnTo>
                  <a:lnTo>
                    <a:pt x="381254" y="788797"/>
                  </a:lnTo>
                  <a:lnTo>
                    <a:pt x="381254" y="797306"/>
                  </a:lnTo>
                  <a:cubicBezTo>
                    <a:pt x="170815" y="797179"/>
                    <a:pt x="0" y="629793"/>
                    <a:pt x="0" y="423037"/>
                  </a:cubicBezTo>
                  <a:lnTo>
                    <a:pt x="0" y="374269"/>
                  </a:lnTo>
                  <a:lnTo>
                    <a:pt x="8509" y="374269"/>
                  </a:lnTo>
                  <a:lnTo>
                    <a:pt x="0" y="374269"/>
                  </a:lnTo>
                  <a:moveTo>
                    <a:pt x="16891" y="374269"/>
                  </a:moveTo>
                  <a:lnTo>
                    <a:pt x="16891" y="423037"/>
                  </a:lnTo>
                  <a:lnTo>
                    <a:pt x="8509" y="423037"/>
                  </a:lnTo>
                  <a:lnTo>
                    <a:pt x="17018" y="423037"/>
                  </a:lnTo>
                  <a:cubicBezTo>
                    <a:pt x="17018" y="620268"/>
                    <a:pt x="179959" y="780288"/>
                    <a:pt x="381381" y="780288"/>
                  </a:cubicBezTo>
                  <a:lnTo>
                    <a:pt x="6463411" y="780288"/>
                  </a:lnTo>
                  <a:cubicBezTo>
                    <a:pt x="6664706" y="780288"/>
                    <a:pt x="6827774" y="620141"/>
                    <a:pt x="6827774" y="423037"/>
                  </a:cubicBezTo>
                  <a:lnTo>
                    <a:pt x="6827774" y="374269"/>
                  </a:lnTo>
                  <a:cubicBezTo>
                    <a:pt x="6827774" y="177038"/>
                    <a:pt x="6664833" y="17018"/>
                    <a:pt x="6463411" y="17018"/>
                  </a:cubicBezTo>
                  <a:lnTo>
                    <a:pt x="381254" y="17018"/>
                  </a:lnTo>
                  <a:lnTo>
                    <a:pt x="381254" y="8509"/>
                  </a:lnTo>
                  <a:lnTo>
                    <a:pt x="381254" y="17018"/>
                  </a:lnTo>
                  <a:cubicBezTo>
                    <a:pt x="179832" y="16891"/>
                    <a:pt x="16891" y="177038"/>
                    <a:pt x="16891" y="374269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435840" y="1737360"/>
            <a:ext cx="5120640" cy="585216"/>
            <a:chOff x="0" y="0"/>
            <a:chExt cx="6827520" cy="780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8275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Multiple Application Domains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1792224"/>
            <a:ext cx="16459200" cy="822960"/>
            <a:chOff x="0" y="0"/>
            <a:chExt cx="2194560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219456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🚀  Diverse Application Areas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42287" y="2736847"/>
            <a:ext cx="5590537" cy="7327897"/>
            <a:chOff x="0" y="0"/>
            <a:chExt cx="7454049" cy="97705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8509" y="8509"/>
              <a:ext cx="7437119" cy="9753600"/>
            </a:xfrm>
            <a:custGeom>
              <a:avLst/>
              <a:gdLst/>
              <a:ahLst/>
              <a:cxnLst/>
              <a:rect r="r" b="b" t="t" l="l"/>
              <a:pathLst>
                <a:path h="9753600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54138" cy="9770618"/>
            </a:xfrm>
            <a:custGeom>
              <a:avLst/>
              <a:gdLst/>
              <a:ahLst/>
              <a:cxnLst/>
              <a:rect r="r" b="b" t="t" l="l"/>
              <a:pathLst>
                <a:path h="9770618" w="7454138">
                  <a:moveTo>
                    <a:pt x="8509" y="0"/>
                  </a:moveTo>
                  <a:lnTo>
                    <a:pt x="7445628" y="0"/>
                  </a:lnTo>
                  <a:cubicBezTo>
                    <a:pt x="7450327" y="0"/>
                    <a:pt x="7454138" y="3810"/>
                    <a:pt x="7454138" y="8509"/>
                  </a:cubicBezTo>
                  <a:lnTo>
                    <a:pt x="7454138" y="9762109"/>
                  </a:lnTo>
                  <a:cubicBezTo>
                    <a:pt x="7454138" y="9766808"/>
                    <a:pt x="7450327" y="9770618"/>
                    <a:pt x="7445628" y="9770618"/>
                  </a:cubicBezTo>
                  <a:lnTo>
                    <a:pt x="8509" y="9770618"/>
                  </a:lnTo>
                  <a:cubicBezTo>
                    <a:pt x="3810" y="9770618"/>
                    <a:pt x="0" y="9766808"/>
                    <a:pt x="0" y="9762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762109"/>
                  </a:lnTo>
                  <a:lnTo>
                    <a:pt x="8509" y="9762109"/>
                  </a:lnTo>
                  <a:lnTo>
                    <a:pt x="8509" y="9753600"/>
                  </a:lnTo>
                  <a:lnTo>
                    <a:pt x="7445628" y="9753600"/>
                  </a:lnTo>
                  <a:lnTo>
                    <a:pt x="7445628" y="9762109"/>
                  </a:lnTo>
                  <a:lnTo>
                    <a:pt x="7437120" y="9762109"/>
                  </a:lnTo>
                  <a:lnTo>
                    <a:pt x="7437120" y="8509"/>
                  </a:lnTo>
                  <a:lnTo>
                    <a:pt x="7445628" y="8509"/>
                  </a:lnTo>
                  <a:lnTo>
                    <a:pt x="7445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04672" y="2999232"/>
            <a:ext cx="804672" cy="804672"/>
            <a:chOff x="0" y="0"/>
            <a:chExt cx="1072896" cy="10728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04672" y="2999232"/>
            <a:ext cx="804672" cy="804672"/>
            <a:chOff x="0" y="0"/>
            <a:chExt cx="1072896" cy="10728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072896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👁️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792224" y="3035808"/>
            <a:ext cx="4023360" cy="438912"/>
            <a:chOff x="0" y="0"/>
            <a:chExt cx="5364480" cy="58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64480" cy="585216"/>
            </a:xfrm>
            <a:custGeom>
              <a:avLst/>
              <a:gdLst/>
              <a:ahLst/>
              <a:cxnLst/>
              <a:rect r="r" b="b" t="t" l="l"/>
              <a:pathLst>
                <a:path h="58521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536448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Explainable AI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792224" y="3474720"/>
            <a:ext cx="4023360" cy="329184"/>
            <a:chOff x="0" y="0"/>
            <a:chExt cx="5364480" cy="4389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64480" cy="438912"/>
            </a:xfrm>
            <a:custGeom>
              <a:avLst/>
              <a:gdLst/>
              <a:ahLst/>
              <a:cxnLst/>
              <a:rect r="r" b="b" t="t" l="l"/>
              <a:pathLst>
                <a:path h="43891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3644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Transparent Decision Making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98319" y="4017007"/>
            <a:ext cx="5078473" cy="12697"/>
            <a:chOff x="0" y="0"/>
            <a:chExt cx="6771297" cy="1692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8509" y="0"/>
              <a:ext cx="6754368" cy="16891"/>
            </a:xfrm>
            <a:custGeom>
              <a:avLst/>
              <a:gdLst/>
              <a:ahLst/>
              <a:cxnLst/>
              <a:rect r="r" b="b" t="t" l="l"/>
              <a:pathLst>
                <a:path h="16891" w="6754368">
                  <a:moveTo>
                    <a:pt x="0" y="0"/>
                  </a:moveTo>
                  <a:lnTo>
                    <a:pt x="6754368" y="0"/>
                  </a:lnTo>
                  <a:lnTo>
                    <a:pt x="6754368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04672" y="4242816"/>
            <a:ext cx="365760" cy="365760"/>
            <a:chOff x="0" y="0"/>
            <a:chExt cx="487680" cy="487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04672" y="4242816"/>
            <a:ext cx="365760" cy="365760"/>
            <a:chOff x="0" y="0"/>
            <a:chExt cx="487680" cy="4876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4876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16736" y="4261104"/>
            <a:ext cx="4572000" cy="512064"/>
            <a:chOff x="0" y="0"/>
            <a:chExt cx="6096000" cy="6827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Clear reasoning chains with PLN inference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04672" y="4882896"/>
            <a:ext cx="365760" cy="365760"/>
            <a:chOff x="0" y="0"/>
            <a:chExt cx="487680" cy="4876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4672" y="4882896"/>
            <a:ext cx="365760" cy="365760"/>
            <a:chOff x="0" y="0"/>
            <a:chExt cx="487680" cy="4876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4876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16736" y="4901184"/>
            <a:ext cx="4572000" cy="512064"/>
            <a:chOff x="0" y="0"/>
            <a:chExt cx="6096000" cy="6827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Truth value propagation visualization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04672" y="5522976"/>
            <a:ext cx="365760" cy="365760"/>
            <a:chOff x="0" y="0"/>
            <a:chExt cx="487680" cy="4876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04672" y="5522976"/>
            <a:ext cx="365760" cy="365760"/>
            <a:chOff x="0" y="0"/>
            <a:chExt cx="487680" cy="4876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4876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16736" y="5541264"/>
            <a:ext cx="4572000" cy="512064"/>
            <a:chOff x="0" y="0"/>
            <a:chExt cx="609600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Audit trails for regulatory compliance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91975" y="6296663"/>
            <a:ext cx="5091179" cy="939803"/>
            <a:chOff x="0" y="0"/>
            <a:chExt cx="6788239" cy="125307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67543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6754368">
                  <a:moveTo>
                    <a:pt x="0" y="0"/>
                  </a:moveTo>
                  <a:lnTo>
                    <a:pt x="6754368" y="0"/>
                  </a:lnTo>
                  <a:lnTo>
                    <a:pt x="675436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788150" cy="1252984"/>
            </a:xfrm>
            <a:custGeom>
              <a:avLst/>
              <a:gdLst/>
              <a:ahLst/>
              <a:cxnLst/>
              <a:rect r="r" b="b" t="t" l="l"/>
              <a:pathLst>
                <a:path h="1252984" w="6788150">
                  <a:moveTo>
                    <a:pt x="16891" y="0"/>
                  </a:moveTo>
                  <a:lnTo>
                    <a:pt x="6771259" y="0"/>
                  </a:lnTo>
                  <a:cubicBezTo>
                    <a:pt x="6780657" y="0"/>
                    <a:pt x="6788150" y="7620"/>
                    <a:pt x="6788150" y="16891"/>
                  </a:cubicBezTo>
                  <a:lnTo>
                    <a:pt x="6788150" y="1236091"/>
                  </a:lnTo>
                  <a:cubicBezTo>
                    <a:pt x="6788150" y="1245489"/>
                    <a:pt x="6780530" y="1252982"/>
                    <a:pt x="6771259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6771259" y="1219200"/>
                  </a:lnTo>
                  <a:lnTo>
                    <a:pt x="6771259" y="1236091"/>
                  </a:lnTo>
                  <a:lnTo>
                    <a:pt x="6754368" y="1236091"/>
                  </a:lnTo>
                  <a:lnTo>
                    <a:pt x="6754368" y="16891"/>
                  </a:lnTo>
                  <a:lnTo>
                    <a:pt x="6771259" y="16891"/>
                  </a:lnTo>
                  <a:lnTo>
                    <a:pt x="67712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04672" y="6309360"/>
            <a:ext cx="73152" cy="914400"/>
            <a:chOff x="0" y="0"/>
            <a:chExt cx="97536" cy="1219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536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05840" y="6364224"/>
            <a:ext cx="4754880" cy="804672"/>
            <a:chOff x="0" y="0"/>
            <a:chExt cx="6339840" cy="107289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3398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63398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Advantage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Fully interpretable AI decisions with logical reasoning paths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98319" y="7418575"/>
            <a:ext cx="2390137" cy="652777"/>
            <a:chOff x="0" y="0"/>
            <a:chExt cx="3186849" cy="87036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8509" y="8509"/>
              <a:ext cx="3169920" cy="853440"/>
            </a:xfrm>
            <a:custGeom>
              <a:avLst/>
              <a:gdLst/>
              <a:ahLst/>
              <a:cxnLst/>
              <a:rect r="r" b="b" t="t" l="l"/>
              <a:pathLst>
                <a:path h="85344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186938" cy="870458"/>
            </a:xfrm>
            <a:custGeom>
              <a:avLst/>
              <a:gdLst/>
              <a:ahLst/>
              <a:cxnLst/>
              <a:rect r="r" b="b" t="t" l="l"/>
              <a:pathLst>
                <a:path h="870458" w="3186938">
                  <a:moveTo>
                    <a:pt x="8509" y="0"/>
                  </a:moveTo>
                  <a:lnTo>
                    <a:pt x="3178429" y="0"/>
                  </a:lnTo>
                  <a:cubicBezTo>
                    <a:pt x="3183128" y="0"/>
                    <a:pt x="3186938" y="3810"/>
                    <a:pt x="3186938" y="8509"/>
                  </a:cubicBezTo>
                  <a:lnTo>
                    <a:pt x="3186938" y="861949"/>
                  </a:lnTo>
                  <a:cubicBezTo>
                    <a:pt x="3186938" y="866648"/>
                    <a:pt x="3183128" y="870458"/>
                    <a:pt x="317842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3178429" y="853440"/>
                  </a:lnTo>
                  <a:lnTo>
                    <a:pt x="3178429" y="861949"/>
                  </a:lnTo>
                  <a:lnTo>
                    <a:pt x="3169920" y="861949"/>
                  </a:lnTo>
                  <a:lnTo>
                    <a:pt x="3169920" y="8509"/>
                  </a:lnTo>
                  <a:lnTo>
                    <a:pt x="3178429" y="8509"/>
                  </a:lnTo>
                  <a:lnTo>
                    <a:pt x="31784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804672" y="7461504"/>
            <a:ext cx="2377440" cy="329184"/>
            <a:chOff x="0" y="0"/>
            <a:chExt cx="3169920" cy="43891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169920" cy="438912"/>
            </a:xfrm>
            <a:custGeom>
              <a:avLst/>
              <a:gdLst/>
              <a:ahLst/>
              <a:cxnLst/>
              <a:rect r="r" b="b" t="t" l="l"/>
              <a:pathLst>
                <a:path h="43891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3169920" cy="486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95%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04672" y="7808976"/>
            <a:ext cx="2377440" cy="219456"/>
            <a:chOff x="0" y="0"/>
            <a:chExt cx="3169920" cy="29260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169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3169920" cy="321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Transparency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3395215" y="7418575"/>
            <a:ext cx="2390137" cy="652777"/>
            <a:chOff x="0" y="0"/>
            <a:chExt cx="3186849" cy="87036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8509" y="8509"/>
              <a:ext cx="3169920" cy="853440"/>
            </a:xfrm>
            <a:custGeom>
              <a:avLst/>
              <a:gdLst/>
              <a:ahLst/>
              <a:cxnLst/>
              <a:rect r="r" b="b" t="t" l="l"/>
              <a:pathLst>
                <a:path h="85344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186938" cy="870458"/>
            </a:xfrm>
            <a:custGeom>
              <a:avLst/>
              <a:gdLst/>
              <a:ahLst/>
              <a:cxnLst/>
              <a:rect r="r" b="b" t="t" l="l"/>
              <a:pathLst>
                <a:path h="870458" w="3186938">
                  <a:moveTo>
                    <a:pt x="8509" y="0"/>
                  </a:moveTo>
                  <a:lnTo>
                    <a:pt x="3178429" y="0"/>
                  </a:lnTo>
                  <a:cubicBezTo>
                    <a:pt x="3183128" y="0"/>
                    <a:pt x="3186938" y="3810"/>
                    <a:pt x="3186938" y="8509"/>
                  </a:cubicBezTo>
                  <a:lnTo>
                    <a:pt x="3186938" y="861949"/>
                  </a:lnTo>
                  <a:cubicBezTo>
                    <a:pt x="3186938" y="866648"/>
                    <a:pt x="3183128" y="870458"/>
                    <a:pt x="317842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3178429" y="853440"/>
                  </a:lnTo>
                  <a:lnTo>
                    <a:pt x="3178429" y="861949"/>
                  </a:lnTo>
                  <a:lnTo>
                    <a:pt x="3169920" y="861949"/>
                  </a:lnTo>
                  <a:lnTo>
                    <a:pt x="3169920" y="8509"/>
                  </a:lnTo>
                  <a:lnTo>
                    <a:pt x="3178429" y="8509"/>
                  </a:lnTo>
                  <a:lnTo>
                    <a:pt x="31784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3401568" y="7461504"/>
            <a:ext cx="2377440" cy="329184"/>
            <a:chOff x="0" y="0"/>
            <a:chExt cx="3169920" cy="43891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69920" cy="438912"/>
            </a:xfrm>
            <a:custGeom>
              <a:avLst/>
              <a:gdLst/>
              <a:ahLst/>
              <a:cxnLst/>
              <a:rect r="r" b="b" t="t" l="l"/>
              <a:pathLst>
                <a:path h="43891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3169920" cy="486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85%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3401568" y="7808976"/>
            <a:ext cx="2377440" cy="219456"/>
            <a:chOff x="0" y="0"/>
            <a:chExt cx="3169920" cy="29260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169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3169920" cy="321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431023" y="2736847"/>
            <a:ext cx="5590537" cy="7327897"/>
            <a:chOff x="0" y="0"/>
            <a:chExt cx="7454049" cy="977052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8509" y="8509"/>
              <a:ext cx="7437119" cy="9753600"/>
            </a:xfrm>
            <a:custGeom>
              <a:avLst/>
              <a:gdLst/>
              <a:ahLst/>
              <a:cxnLst/>
              <a:rect r="r" b="b" t="t" l="l"/>
              <a:pathLst>
                <a:path h="9753600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454138" cy="9770618"/>
            </a:xfrm>
            <a:custGeom>
              <a:avLst/>
              <a:gdLst/>
              <a:ahLst/>
              <a:cxnLst/>
              <a:rect r="r" b="b" t="t" l="l"/>
              <a:pathLst>
                <a:path h="9770618" w="7454138">
                  <a:moveTo>
                    <a:pt x="8509" y="0"/>
                  </a:moveTo>
                  <a:lnTo>
                    <a:pt x="7445628" y="0"/>
                  </a:lnTo>
                  <a:cubicBezTo>
                    <a:pt x="7450327" y="0"/>
                    <a:pt x="7454138" y="3810"/>
                    <a:pt x="7454138" y="8509"/>
                  </a:cubicBezTo>
                  <a:lnTo>
                    <a:pt x="7454138" y="9762109"/>
                  </a:lnTo>
                  <a:cubicBezTo>
                    <a:pt x="7454138" y="9766808"/>
                    <a:pt x="7450327" y="9770618"/>
                    <a:pt x="7445628" y="9770618"/>
                  </a:cubicBezTo>
                  <a:lnTo>
                    <a:pt x="8509" y="9770618"/>
                  </a:lnTo>
                  <a:cubicBezTo>
                    <a:pt x="3810" y="9770618"/>
                    <a:pt x="0" y="9766808"/>
                    <a:pt x="0" y="9762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762109"/>
                  </a:lnTo>
                  <a:lnTo>
                    <a:pt x="8509" y="9762109"/>
                  </a:lnTo>
                  <a:lnTo>
                    <a:pt x="8509" y="9753600"/>
                  </a:lnTo>
                  <a:lnTo>
                    <a:pt x="7445628" y="9753600"/>
                  </a:lnTo>
                  <a:lnTo>
                    <a:pt x="7445628" y="9762109"/>
                  </a:lnTo>
                  <a:lnTo>
                    <a:pt x="7437120" y="9762109"/>
                  </a:lnTo>
                  <a:lnTo>
                    <a:pt x="7437120" y="8509"/>
                  </a:lnTo>
                  <a:lnTo>
                    <a:pt x="7445628" y="8509"/>
                  </a:lnTo>
                  <a:lnTo>
                    <a:pt x="7445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6693408" y="2999232"/>
            <a:ext cx="804672" cy="804672"/>
            <a:chOff x="0" y="0"/>
            <a:chExt cx="1072896" cy="107289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6693408" y="2999232"/>
            <a:ext cx="804672" cy="804672"/>
            <a:chOff x="0" y="0"/>
            <a:chExt cx="1072896" cy="107289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57150"/>
              <a:ext cx="1072896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🧠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7680960" y="3035808"/>
            <a:ext cx="4023360" cy="438912"/>
            <a:chOff x="0" y="0"/>
            <a:chExt cx="5364480" cy="58521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364480" cy="585216"/>
            </a:xfrm>
            <a:custGeom>
              <a:avLst/>
              <a:gdLst/>
              <a:ahLst/>
              <a:cxnLst/>
              <a:rect r="r" b="b" t="t" l="l"/>
              <a:pathLst>
                <a:path h="58521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57150"/>
              <a:ext cx="536448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Expert Systems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7680960" y="3474720"/>
            <a:ext cx="4023360" cy="329184"/>
            <a:chOff x="0" y="0"/>
            <a:chExt cx="5364480" cy="43891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364480" cy="438912"/>
            </a:xfrm>
            <a:custGeom>
              <a:avLst/>
              <a:gdLst/>
              <a:ahLst/>
              <a:cxnLst/>
              <a:rect r="r" b="b" t="t" l="l"/>
              <a:pathLst>
                <a:path h="43891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53644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Domain-Specific Knowledge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6687055" y="4017007"/>
            <a:ext cx="5078473" cy="12697"/>
            <a:chOff x="0" y="0"/>
            <a:chExt cx="6771297" cy="16929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8509" y="0"/>
              <a:ext cx="6754368" cy="16891"/>
            </a:xfrm>
            <a:custGeom>
              <a:avLst/>
              <a:gdLst/>
              <a:ahLst/>
              <a:cxnLst/>
              <a:rect r="r" b="b" t="t" l="l"/>
              <a:pathLst>
                <a:path h="16891" w="6754368">
                  <a:moveTo>
                    <a:pt x="0" y="0"/>
                  </a:moveTo>
                  <a:lnTo>
                    <a:pt x="6754368" y="0"/>
                  </a:lnTo>
                  <a:lnTo>
                    <a:pt x="6754368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6693408" y="4242816"/>
            <a:ext cx="365760" cy="365760"/>
            <a:chOff x="0" y="0"/>
            <a:chExt cx="487680" cy="4876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6693408" y="4242816"/>
            <a:ext cx="365760" cy="365760"/>
            <a:chOff x="0" y="0"/>
            <a:chExt cx="487680" cy="48768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28575"/>
              <a:ext cx="4876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7205472" y="4261104"/>
            <a:ext cx="4572000" cy="512064"/>
            <a:chOff x="0" y="0"/>
            <a:chExt cx="6096000" cy="68275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 diagnosis reasoning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6693408" y="4882896"/>
            <a:ext cx="365760" cy="365760"/>
            <a:chOff x="0" y="0"/>
            <a:chExt cx="487680" cy="48768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6693408" y="4882896"/>
            <a:ext cx="365760" cy="365760"/>
            <a:chOff x="0" y="0"/>
            <a:chExt cx="487680" cy="48768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28575"/>
              <a:ext cx="4876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7205472" y="4901184"/>
            <a:ext cx="4572000" cy="512064"/>
            <a:chOff x="0" y="0"/>
            <a:chExt cx="6096000" cy="68275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Legal case analysis and precedent matching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6693408" y="5522976"/>
            <a:ext cx="365760" cy="365760"/>
            <a:chOff x="0" y="0"/>
            <a:chExt cx="487680" cy="48768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6693408" y="5522976"/>
            <a:ext cx="365760" cy="365760"/>
            <a:chOff x="0" y="0"/>
            <a:chExt cx="487680" cy="48768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28575"/>
              <a:ext cx="4876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7205472" y="5541264"/>
            <a:ext cx="4572000" cy="512064"/>
            <a:chOff x="0" y="0"/>
            <a:chExt cx="6096000" cy="68275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Financial risk assessment models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6680711" y="6296663"/>
            <a:ext cx="5091179" cy="939803"/>
            <a:chOff x="0" y="0"/>
            <a:chExt cx="6788239" cy="125307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67543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6754368">
                  <a:moveTo>
                    <a:pt x="0" y="0"/>
                  </a:moveTo>
                  <a:lnTo>
                    <a:pt x="6754368" y="0"/>
                  </a:lnTo>
                  <a:lnTo>
                    <a:pt x="675436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788150" cy="1252984"/>
            </a:xfrm>
            <a:custGeom>
              <a:avLst/>
              <a:gdLst/>
              <a:ahLst/>
              <a:cxnLst/>
              <a:rect r="r" b="b" t="t" l="l"/>
              <a:pathLst>
                <a:path h="1252984" w="6788150">
                  <a:moveTo>
                    <a:pt x="16891" y="0"/>
                  </a:moveTo>
                  <a:lnTo>
                    <a:pt x="6771259" y="0"/>
                  </a:lnTo>
                  <a:cubicBezTo>
                    <a:pt x="6780657" y="0"/>
                    <a:pt x="6788150" y="7620"/>
                    <a:pt x="6788150" y="16891"/>
                  </a:cubicBezTo>
                  <a:lnTo>
                    <a:pt x="6788150" y="1236091"/>
                  </a:lnTo>
                  <a:cubicBezTo>
                    <a:pt x="6788150" y="1245489"/>
                    <a:pt x="6780530" y="1252982"/>
                    <a:pt x="6771259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6771259" y="1219200"/>
                  </a:lnTo>
                  <a:lnTo>
                    <a:pt x="6771259" y="1236091"/>
                  </a:lnTo>
                  <a:lnTo>
                    <a:pt x="6754368" y="1236091"/>
                  </a:lnTo>
                  <a:lnTo>
                    <a:pt x="6754368" y="16891"/>
                  </a:lnTo>
                  <a:lnTo>
                    <a:pt x="6771259" y="16891"/>
                  </a:lnTo>
                  <a:lnTo>
                    <a:pt x="67712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6693408" y="6309360"/>
            <a:ext cx="73152" cy="914400"/>
            <a:chOff x="0" y="0"/>
            <a:chExt cx="97536" cy="12192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97536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6894576" y="6364224"/>
            <a:ext cx="4754880" cy="804672"/>
            <a:chOff x="0" y="0"/>
            <a:chExt cx="6339840" cy="107289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63398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38100"/>
              <a:ext cx="63398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Advantage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Domain expertise encoded in logical rules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6687055" y="7418575"/>
            <a:ext cx="2390137" cy="652777"/>
            <a:chOff x="0" y="0"/>
            <a:chExt cx="3186849" cy="870369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8509" y="8509"/>
              <a:ext cx="3169920" cy="853440"/>
            </a:xfrm>
            <a:custGeom>
              <a:avLst/>
              <a:gdLst/>
              <a:ahLst/>
              <a:cxnLst/>
              <a:rect r="r" b="b" t="t" l="l"/>
              <a:pathLst>
                <a:path h="85344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186938" cy="870458"/>
            </a:xfrm>
            <a:custGeom>
              <a:avLst/>
              <a:gdLst/>
              <a:ahLst/>
              <a:cxnLst/>
              <a:rect r="r" b="b" t="t" l="l"/>
              <a:pathLst>
                <a:path h="870458" w="3186938">
                  <a:moveTo>
                    <a:pt x="8509" y="0"/>
                  </a:moveTo>
                  <a:lnTo>
                    <a:pt x="3178429" y="0"/>
                  </a:lnTo>
                  <a:cubicBezTo>
                    <a:pt x="3183128" y="0"/>
                    <a:pt x="3186938" y="3810"/>
                    <a:pt x="3186938" y="8509"/>
                  </a:cubicBezTo>
                  <a:lnTo>
                    <a:pt x="3186938" y="861949"/>
                  </a:lnTo>
                  <a:cubicBezTo>
                    <a:pt x="3186938" y="866648"/>
                    <a:pt x="3183128" y="870458"/>
                    <a:pt x="317842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3178429" y="853440"/>
                  </a:lnTo>
                  <a:lnTo>
                    <a:pt x="3178429" y="861949"/>
                  </a:lnTo>
                  <a:lnTo>
                    <a:pt x="3169920" y="861949"/>
                  </a:lnTo>
                  <a:lnTo>
                    <a:pt x="3169920" y="8509"/>
                  </a:lnTo>
                  <a:lnTo>
                    <a:pt x="3178429" y="8509"/>
                  </a:lnTo>
                  <a:lnTo>
                    <a:pt x="31784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6693408" y="7461504"/>
            <a:ext cx="2377440" cy="329184"/>
            <a:chOff x="0" y="0"/>
            <a:chExt cx="3169920" cy="43891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3169920" cy="438912"/>
            </a:xfrm>
            <a:custGeom>
              <a:avLst/>
              <a:gdLst/>
              <a:ahLst/>
              <a:cxnLst/>
              <a:rect r="r" b="b" t="t" l="l"/>
              <a:pathLst>
                <a:path h="43891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47625"/>
              <a:ext cx="3169920" cy="486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90%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6693408" y="7808976"/>
            <a:ext cx="2377440" cy="219456"/>
            <a:chOff x="0" y="0"/>
            <a:chExt cx="3169920" cy="292608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3169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28575"/>
              <a:ext cx="3169920" cy="321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Precision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9283951" y="7418575"/>
            <a:ext cx="2390137" cy="652777"/>
            <a:chOff x="0" y="0"/>
            <a:chExt cx="3186849" cy="870369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8509" y="8509"/>
              <a:ext cx="3169920" cy="853440"/>
            </a:xfrm>
            <a:custGeom>
              <a:avLst/>
              <a:gdLst/>
              <a:ahLst/>
              <a:cxnLst/>
              <a:rect r="r" b="b" t="t" l="l"/>
              <a:pathLst>
                <a:path h="85344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186938" cy="870458"/>
            </a:xfrm>
            <a:custGeom>
              <a:avLst/>
              <a:gdLst/>
              <a:ahLst/>
              <a:cxnLst/>
              <a:rect r="r" b="b" t="t" l="l"/>
              <a:pathLst>
                <a:path h="870458" w="3186938">
                  <a:moveTo>
                    <a:pt x="8509" y="0"/>
                  </a:moveTo>
                  <a:lnTo>
                    <a:pt x="3178429" y="0"/>
                  </a:lnTo>
                  <a:cubicBezTo>
                    <a:pt x="3183128" y="0"/>
                    <a:pt x="3186938" y="3810"/>
                    <a:pt x="3186938" y="8509"/>
                  </a:cubicBezTo>
                  <a:lnTo>
                    <a:pt x="3186938" y="861949"/>
                  </a:lnTo>
                  <a:cubicBezTo>
                    <a:pt x="3186938" y="866648"/>
                    <a:pt x="3183128" y="870458"/>
                    <a:pt x="317842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3178429" y="853440"/>
                  </a:lnTo>
                  <a:lnTo>
                    <a:pt x="3178429" y="861949"/>
                  </a:lnTo>
                  <a:lnTo>
                    <a:pt x="3169920" y="861949"/>
                  </a:lnTo>
                  <a:lnTo>
                    <a:pt x="3169920" y="8509"/>
                  </a:lnTo>
                  <a:lnTo>
                    <a:pt x="3178429" y="8509"/>
                  </a:lnTo>
                  <a:lnTo>
                    <a:pt x="31784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290304" y="7461504"/>
            <a:ext cx="2377440" cy="329184"/>
            <a:chOff x="0" y="0"/>
            <a:chExt cx="3169920" cy="438912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3169920" cy="438912"/>
            </a:xfrm>
            <a:custGeom>
              <a:avLst/>
              <a:gdLst/>
              <a:ahLst/>
              <a:cxnLst/>
              <a:rect r="r" b="b" t="t" l="l"/>
              <a:pathLst>
                <a:path h="43891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47625"/>
              <a:ext cx="3169920" cy="486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78%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9290304" y="7808976"/>
            <a:ext cx="2377440" cy="219456"/>
            <a:chOff x="0" y="0"/>
            <a:chExt cx="3169920" cy="292608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3169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28575"/>
              <a:ext cx="3169920" cy="321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Coverage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2319759" y="2736847"/>
            <a:ext cx="5590537" cy="7327897"/>
            <a:chOff x="0" y="0"/>
            <a:chExt cx="7454049" cy="9770529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8509" y="8509"/>
              <a:ext cx="7437119" cy="9753600"/>
            </a:xfrm>
            <a:custGeom>
              <a:avLst/>
              <a:gdLst/>
              <a:ahLst/>
              <a:cxnLst/>
              <a:rect r="r" b="b" t="t" l="l"/>
              <a:pathLst>
                <a:path h="9753600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7454138" cy="9770618"/>
            </a:xfrm>
            <a:custGeom>
              <a:avLst/>
              <a:gdLst/>
              <a:ahLst/>
              <a:cxnLst/>
              <a:rect r="r" b="b" t="t" l="l"/>
              <a:pathLst>
                <a:path h="9770618" w="7454138">
                  <a:moveTo>
                    <a:pt x="8509" y="0"/>
                  </a:moveTo>
                  <a:lnTo>
                    <a:pt x="7445628" y="0"/>
                  </a:lnTo>
                  <a:cubicBezTo>
                    <a:pt x="7450327" y="0"/>
                    <a:pt x="7454138" y="3810"/>
                    <a:pt x="7454138" y="8509"/>
                  </a:cubicBezTo>
                  <a:lnTo>
                    <a:pt x="7454138" y="9762109"/>
                  </a:lnTo>
                  <a:cubicBezTo>
                    <a:pt x="7454138" y="9766808"/>
                    <a:pt x="7450327" y="9770618"/>
                    <a:pt x="7445628" y="9770618"/>
                  </a:cubicBezTo>
                  <a:lnTo>
                    <a:pt x="8509" y="9770618"/>
                  </a:lnTo>
                  <a:cubicBezTo>
                    <a:pt x="3810" y="9770618"/>
                    <a:pt x="0" y="9766808"/>
                    <a:pt x="0" y="9762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762109"/>
                  </a:lnTo>
                  <a:lnTo>
                    <a:pt x="8509" y="9762109"/>
                  </a:lnTo>
                  <a:lnTo>
                    <a:pt x="8509" y="9753600"/>
                  </a:lnTo>
                  <a:lnTo>
                    <a:pt x="7445628" y="9753600"/>
                  </a:lnTo>
                  <a:lnTo>
                    <a:pt x="7445628" y="9762109"/>
                  </a:lnTo>
                  <a:lnTo>
                    <a:pt x="7437120" y="9762109"/>
                  </a:lnTo>
                  <a:lnTo>
                    <a:pt x="7437120" y="8509"/>
                  </a:lnTo>
                  <a:lnTo>
                    <a:pt x="7445628" y="8509"/>
                  </a:lnTo>
                  <a:lnTo>
                    <a:pt x="7445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2582144" y="2999232"/>
            <a:ext cx="804672" cy="804672"/>
            <a:chOff x="0" y="0"/>
            <a:chExt cx="1072896" cy="1072896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2582144" y="2999232"/>
            <a:ext cx="804672" cy="804672"/>
            <a:chOff x="0" y="0"/>
            <a:chExt cx="1072896" cy="1072896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57150"/>
              <a:ext cx="1072896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🔬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3569696" y="3035808"/>
            <a:ext cx="4023360" cy="438912"/>
            <a:chOff x="0" y="0"/>
            <a:chExt cx="5364480" cy="585216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5364480" cy="585216"/>
            </a:xfrm>
            <a:custGeom>
              <a:avLst/>
              <a:gdLst/>
              <a:ahLst/>
              <a:cxnLst/>
              <a:rect r="r" b="b" t="t" l="l"/>
              <a:pathLst>
                <a:path h="58521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57150"/>
              <a:ext cx="536448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AGI Research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3569696" y="3474720"/>
            <a:ext cx="4023360" cy="329184"/>
            <a:chOff x="0" y="0"/>
            <a:chExt cx="5364480" cy="438912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5364480" cy="438912"/>
            </a:xfrm>
            <a:custGeom>
              <a:avLst/>
              <a:gdLst/>
              <a:ahLst/>
              <a:cxnLst/>
              <a:rect r="r" b="b" t="t" l="l"/>
              <a:pathLst>
                <a:path h="43891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38100"/>
              <a:ext cx="53644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General Intelligence Studies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2575791" y="4017007"/>
            <a:ext cx="5078473" cy="12697"/>
            <a:chOff x="0" y="0"/>
            <a:chExt cx="6771297" cy="16929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8509" y="0"/>
              <a:ext cx="6754368" cy="16891"/>
            </a:xfrm>
            <a:custGeom>
              <a:avLst/>
              <a:gdLst/>
              <a:ahLst/>
              <a:cxnLst/>
              <a:rect r="r" b="b" t="t" l="l"/>
              <a:pathLst>
                <a:path h="16891" w="6754368">
                  <a:moveTo>
                    <a:pt x="0" y="0"/>
                  </a:moveTo>
                  <a:lnTo>
                    <a:pt x="6754368" y="0"/>
                  </a:lnTo>
                  <a:lnTo>
                    <a:pt x="6754368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2582144" y="4242816"/>
            <a:ext cx="365760" cy="365760"/>
            <a:chOff x="0" y="0"/>
            <a:chExt cx="487680" cy="48768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2582144" y="4242816"/>
            <a:ext cx="365760" cy="365760"/>
            <a:chOff x="0" y="0"/>
            <a:chExt cx="487680" cy="48768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28575"/>
              <a:ext cx="4876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13094208" y="4261104"/>
            <a:ext cx="4572000" cy="512064"/>
            <a:chOff x="0" y="0"/>
            <a:chExt cx="6096000" cy="682752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Cognitive architecture experiments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12582144" y="4882896"/>
            <a:ext cx="365760" cy="365760"/>
            <a:chOff x="0" y="0"/>
            <a:chExt cx="487680" cy="487680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12582144" y="4882896"/>
            <a:ext cx="365760" cy="365760"/>
            <a:chOff x="0" y="0"/>
            <a:chExt cx="487680" cy="48768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-28575"/>
              <a:ext cx="4876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3094208" y="4901184"/>
            <a:ext cx="4572000" cy="512064"/>
            <a:chOff x="0" y="0"/>
            <a:chExt cx="6096000" cy="682752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Multi-paradigm learning integration</a:t>
              </a:r>
            </a:p>
          </p:txBody>
        </p:sp>
      </p:grpSp>
      <p:grpSp>
        <p:nvGrpSpPr>
          <p:cNvPr name="Group 186" id="186"/>
          <p:cNvGrpSpPr/>
          <p:nvPr/>
        </p:nvGrpSpPr>
        <p:grpSpPr>
          <a:xfrm rot="0">
            <a:off x="12582144" y="5522976"/>
            <a:ext cx="365760" cy="365760"/>
            <a:chOff x="0" y="0"/>
            <a:chExt cx="487680" cy="487680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12582144" y="5522976"/>
            <a:ext cx="365760" cy="365760"/>
            <a:chOff x="0" y="0"/>
            <a:chExt cx="487680" cy="487680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28575"/>
              <a:ext cx="4876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13094208" y="5541264"/>
            <a:ext cx="4572000" cy="512064"/>
            <a:chOff x="0" y="0"/>
            <a:chExt cx="6096000" cy="682752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Cross-domain knowledge transfer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2569447" y="6296663"/>
            <a:ext cx="5091179" cy="939803"/>
            <a:chOff x="0" y="0"/>
            <a:chExt cx="6788239" cy="1253071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16891" y="16891"/>
              <a:ext cx="67543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6754368">
                  <a:moveTo>
                    <a:pt x="0" y="0"/>
                  </a:moveTo>
                  <a:lnTo>
                    <a:pt x="6754368" y="0"/>
                  </a:lnTo>
                  <a:lnTo>
                    <a:pt x="6754368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6788150" cy="1252984"/>
            </a:xfrm>
            <a:custGeom>
              <a:avLst/>
              <a:gdLst/>
              <a:ahLst/>
              <a:cxnLst/>
              <a:rect r="r" b="b" t="t" l="l"/>
              <a:pathLst>
                <a:path h="1252984" w="6788150">
                  <a:moveTo>
                    <a:pt x="16891" y="0"/>
                  </a:moveTo>
                  <a:lnTo>
                    <a:pt x="6771259" y="0"/>
                  </a:lnTo>
                  <a:cubicBezTo>
                    <a:pt x="6780657" y="0"/>
                    <a:pt x="6788150" y="7620"/>
                    <a:pt x="6788150" y="16891"/>
                  </a:cubicBezTo>
                  <a:lnTo>
                    <a:pt x="6788150" y="1236091"/>
                  </a:lnTo>
                  <a:cubicBezTo>
                    <a:pt x="6788150" y="1245489"/>
                    <a:pt x="6780530" y="1252982"/>
                    <a:pt x="6771259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6771259" y="1219200"/>
                  </a:lnTo>
                  <a:lnTo>
                    <a:pt x="6771259" y="1236091"/>
                  </a:lnTo>
                  <a:lnTo>
                    <a:pt x="6754368" y="1236091"/>
                  </a:lnTo>
                  <a:lnTo>
                    <a:pt x="6754368" y="16891"/>
                  </a:lnTo>
                  <a:lnTo>
                    <a:pt x="6771259" y="16891"/>
                  </a:lnTo>
                  <a:lnTo>
                    <a:pt x="67712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12582144" y="6309360"/>
            <a:ext cx="73152" cy="914400"/>
            <a:chOff x="0" y="0"/>
            <a:chExt cx="97536" cy="1219200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97536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">
                  <a:moveTo>
                    <a:pt x="0" y="0"/>
                  </a:moveTo>
                  <a:lnTo>
                    <a:pt x="97536" y="0"/>
                  </a:lnTo>
                  <a:lnTo>
                    <a:pt x="97536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99" id="199"/>
          <p:cNvGrpSpPr/>
          <p:nvPr/>
        </p:nvGrpSpPr>
        <p:grpSpPr>
          <a:xfrm rot="0">
            <a:off x="12783312" y="6364224"/>
            <a:ext cx="4754880" cy="804672"/>
            <a:chOff x="0" y="0"/>
            <a:chExt cx="6339840" cy="1072896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63398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-38100"/>
              <a:ext cx="6339840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Advantage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Unified framework for AGI development</a:t>
              </a: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12575791" y="7418575"/>
            <a:ext cx="2390137" cy="652777"/>
            <a:chOff x="0" y="0"/>
            <a:chExt cx="3186849" cy="870369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8509" y="8509"/>
              <a:ext cx="3169920" cy="853440"/>
            </a:xfrm>
            <a:custGeom>
              <a:avLst/>
              <a:gdLst/>
              <a:ahLst/>
              <a:cxnLst/>
              <a:rect r="r" b="b" t="t" l="l"/>
              <a:pathLst>
                <a:path h="85344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186938" cy="870458"/>
            </a:xfrm>
            <a:custGeom>
              <a:avLst/>
              <a:gdLst/>
              <a:ahLst/>
              <a:cxnLst/>
              <a:rect r="r" b="b" t="t" l="l"/>
              <a:pathLst>
                <a:path h="870458" w="3186938">
                  <a:moveTo>
                    <a:pt x="8509" y="0"/>
                  </a:moveTo>
                  <a:lnTo>
                    <a:pt x="3178429" y="0"/>
                  </a:lnTo>
                  <a:cubicBezTo>
                    <a:pt x="3183128" y="0"/>
                    <a:pt x="3186938" y="3810"/>
                    <a:pt x="3186938" y="8509"/>
                  </a:cubicBezTo>
                  <a:lnTo>
                    <a:pt x="3186938" y="861949"/>
                  </a:lnTo>
                  <a:cubicBezTo>
                    <a:pt x="3186938" y="866648"/>
                    <a:pt x="3183128" y="870458"/>
                    <a:pt x="317842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3178429" y="853440"/>
                  </a:lnTo>
                  <a:lnTo>
                    <a:pt x="3178429" y="861949"/>
                  </a:lnTo>
                  <a:lnTo>
                    <a:pt x="3169920" y="861949"/>
                  </a:lnTo>
                  <a:lnTo>
                    <a:pt x="3169920" y="8509"/>
                  </a:lnTo>
                  <a:lnTo>
                    <a:pt x="3178429" y="8509"/>
                  </a:lnTo>
                  <a:lnTo>
                    <a:pt x="31784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5" id="205"/>
          <p:cNvGrpSpPr/>
          <p:nvPr/>
        </p:nvGrpSpPr>
        <p:grpSpPr>
          <a:xfrm rot="0">
            <a:off x="12582144" y="7461504"/>
            <a:ext cx="2377440" cy="329184"/>
            <a:chOff x="0" y="0"/>
            <a:chExt cx="3169920" cy="438912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3169920" cy="438912"/>
            </a:xfrm>
            <a:custGeom>
              <a:avLst/>
              <a:gdLst/>
              <a:ahLst/>
              <a:cxnLst/>
              <a:rect r="r" b="b" t="t" l="l"/>
              <a:pathLst>
                <a:path h="43891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207" id="207"/>
            <p:cNvSpPr txBox="true"/>
            <p:nvPr/>
          </p:nvSpPr>
          <p:spPr>
            <a:xfrm>
              <a:off x="0" y="-47625"/>
              <a:ext cx="3169920" cy="486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</p:txBody>
        </p:sp>
      </p:grpSp>
      <p:grpSp>
        <p:nvGrpSpPr>
          <p:cNvPr name="Group 208" id="208"/>
          <p:cNvGrpSpPr/>
          <p:nvPr/>
        </p:nvGrpSpPr>
        <p:grpSpPr>
          <a:xfrm rot="0">
            <a:off x="12582144" y="7808976"/>
            <a:ext cx="2377440" cy="219456"/>
            <a:chOff x="0" y="0"/>
            <a:chExt cx="3169920" cy="292608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3169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210" id="210"/>
            <p:cNvSpPr txBox="true"/>
            <p:nvPr/>
          </p:nvSpPr>
          <p:spPr>
            <a:xfrm>
              <a:off x="0" y="-28575"/>
              <a:ext cx="3169920" cy="321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Research Groups</a:t>
              </a:r>
            </a:p>
          </p:txBody>
        </p:sp>
      </p:grpSp>
      <p:grpSp>
        <p:nvGrpSpPr>
          <p:cNvPr name="Group 211" id="211"/>
          <p:cNvGrpSpPr/>
          <p:nvPr/>
        </p:nvGrpSpPr>
        <p:grpSpPr>
          <a:xfrm rot="0">
            <a:off x="15172687" y="7418575"/>
            <a:ext cx="2390137" cy="652777"/>
            <a:chOff x="0" y="0"/>
            <a:chExt cx="3186849" cy="870369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8509" y="8509"/>
              <a:ext cx="3169920" cy="853440"/>
            </a:xfrm>
            <a:custGeom>
              <a:avLst/>
              <a:gdLst/>
              <a:ahLst/>
              <a:cxnLst/>
              <a:rect r="r" b="b" t="t" l="l"/>
              <a:pathLst>
                <a:path h="85344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186938" cy="870458"/>
            </a:xfrm>
            <a:custGeom>
              <a:avLst/>
              <a:gdLst/>
              <a:ahLst/>
              <a:cxnLst/>
              <a:rect r="r" b="b" t="t" l="l"/>
              <a:pathLst>
                <a:path h="870458" w="3186938">
                  <a:moveTo>
                    <a:pt x="8509" y="0"/>
                  </a:moveTo>
                  <a:lnTo>
                    <a:pt x="3178429" y="0"/>
                  </a:lnTo>
                  <a:cubicBezTo>
                    <a:pt x="3183128" y="0"/>
                    <a:pt x="3186938" y="3810"/>
                    <a:pt x="3186938" y="8509"/>
                  </a:cubicBezTo>
                  <a:lnTo>
                    <a:pt x="3186938" y="861949"/>
                  </a:lnTo>
                  <a:cubicBezTo>
                    <a:pt x="3186938" y="866648"/>
                    <a:pt x="3183128" y="870458"/>
                    <a:pt x="317842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3178429" y="853440"/>
                  </a:lnTo>
                  <a:lnTo>
                    <a:pt x="3178429" y="861949"/>
                  </a:lnTo>
                  <a:lnTo>
                    <a:pt x="3169920" y="861949"/>
                  </a:lnTo>
                  <a:lnTo>
                    <a:pt x="3169920" y="8509"/>
                  </a:lnTo>
                  <a:lnTo>
                    <a:pt x="3178429" y="8509"/>
                  </a:lnTo>
                  <a:lnTo>
                    <a:pt x="31784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4" id="214"/>
          <p:cNvGrpSpPr/>
          <p:nvPr/>
        </p:nvGrpSpPr>
        <p:grpSpPr>
          <a:xfrm rot="0">
            <a:off x="15179040" y="7461504"/>
            <a:ext cx="2377440" cy="329184"/>
            <a:chOff x="0" y="0"/>
            <a:chExt cx="3169920" cy="438912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3169920" cy="438912"/>
            </a:xfrm>
            <a:custGeom>
              <a:avLst/>
              <a:gdLst/>
              <a:ahLst/>
              <a:cxnLst/>
              <a:rect r="r" b="b" t="t" l="l"/>
              <a:pathLst>
                <a:path h="43891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216" id="216"/>
            <p:cNvSpPr txBox="true"/>
            <p:nvPr/>
          </p:nvSpPr>
          <p:spPr>
            <a:xfrm>
              <a:off x="0" y="-47625"/>
              <a:ext cx="3169920" cy="4865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45+</a:t>
              </a:r>
            </a:p>
          </p:txBody>
        </p:sp>
      </p:grpSp>
      <p:grpSp>
        <p:nvGrpSpPr>
          <p:cNvPr name="Group 217" id="217"/>
          <p:cNvGrpSpPr/>
          <p:nvPr/>
        </p:nvGrpSpPr>
        <p:grpSpPr>
          <a:xfrm rot="0">
            <a:off x="15179040" y="7808976"/>
            <a:ext cx="2377440" cy="219456"/>
            <a:chOff x="0" y="0"/>
            <a:chExt cx="3169920" cy="292608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0" y="0"/>
              <a:ext cx="3169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219" id="219"/>
            <p:cNvSpPr txBox="true"/>
            <p:nvPr/>
          </p:nvSpPr>
          <p:spPr>
            <a:xfrm>
              <a:off x="0" y="-28575"/>
              <a:ext cx="3169920" cy="321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Publications</a:t>
              </a:r>
            </a:p>
          </p:txBody>
        </p:sp>
      </p:grpSp>
      <p:grpSp>
        <p:nvGrpSpPr>
          <p:cNvPr name="Group 220" id="220"/>
          <p:cNvGrpSpPr/>
          <p:nvPr/>
        </p:nvGrpSpPr>
        <p:grpSpPr>
          <a:xfrm rot="0">
            <a:off x="0" y="10195560"/>
            <a:ext cx="18288000" cy="91440"/>
            <a:chOff x="0" y="0"/>
            <a:chExt cx="24384000" cy="121920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2" id="222"/>
          <p:cNvGrpSpPr/>
          <p:nvPr/>
        </p:nvGrpSpPr>
        <p:grpSpPr>
          <a:xfrm rot="0">
            <a:off x="0" y="10195560"/>
            <a:ext cx="16824960" cy="91440"/>
            <a:chOff x="0" y="0"/>
            <a:chExt cx="22433280" cy="121920"/>
          </a:xfrm>
        </p:grpSpPr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22433280" cy="121920"/>
            </a:xfrm>
            <a:custGeom>
              <a:avLst/>
              <a:gdLst/>
              <a:ahLst/>
              <a:cxnLst/>
              <a:rect r="r" b="b" t="t" l="l"/>
              <a:pathLst>
                <a:path h="1219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144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82880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Hyperon Architecture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14400"/>
            <a:ext cx="13716000" cy="512064"/>
            <a:chOff x="0" y="0"/>
            <a:chExt cx="182880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288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E0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Future &amp; Ecosystem - Next-generation AGI framework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30400" y="512064"/>
            <a:ext cx="3291840" cy="548640"/>
            <a:chOff x="0" y="0"/>
            <a:chExt cx="43891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50/53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66447" y="1731007"/>
            <a:ext cx="5133337" cy="597913"/>
            <a:chOff x="0" y="0"/>
            <a:chExt cx="6844449" cy="7972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509" y="8509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365760"/>
                  </a:moveTo>
                  <a:cubicBezTo>
                    <a:pt x="0" y="163703"/>
                    <a:pt x="166878" y="0"/>
                    <a:pt x="372745" y="0"/>
                  </a:cubicBezTo>
                  <a:lnTo>
                    <a:pt x="6454775" y="0"/>
                  </a:lnTo>
                  <a:cubicBezTo>
                    <a:pt x="6660642" y="0"/>
                    <a:pt x="6827520" y="163703"/>
                    <a:pt x="6827520" y="365760"/>
                  </a:cubicBezTo>
                  <a:lnTo>
                    <a:pt x="6827520" y="414528"/>
                  </a:lnTo>
                  <a:cubicBezTo>
                    <a:pt x="6827520" y="616585"/>
                    <a:pt x="6660642" y="780288"/>
                    <a:pt x="6454775" y="780288"/>
                  </a:cubicBezTo>
                  <a:lnTo>
                    <a:pt x="372745" y="780288"/>
                  </a:lnTo>
                  <a:cubicBezTo>
                    <a:pt x="166878" y="780288"/>
                    <a:pt x="0" y="616458"/>
                    <a:pt x="0" y="41452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44538" cy="797306"/>
            </a:xfrm>
            <a:custGeom>
              <a:avLst/>
              <a:gdLst/>
              <a:ahLst/>
              <a:cxnLst/>
              <a:rect r="r" b="b" t="t" l="l"/>
              <a:pathLst>
                <a:path h="797306" w="6844538">
                  <a:moveTo>
                    <a:pt x="0" y="374269"/>
                  </a:moveTo>
                  <a:cubicBezTo>
                    <a:pt x="0" y="167386"/>
                    <a:pt x="170815" y="0"/>
                    <a:pt x="381254" y="0"/>
                  </a:cubicBezTo>
                  <a:lnTo>
                    <a:pt x="6463284" y="0"/>
                  </a:lnTo>
                  <a:lnTo>
                    <a:pt x="6463284" y="8509"/>
                  </a:lnTo>
                  <a:lnTo>
                    <a:pt x="6463284" y="0"/>
                  </a:lnTo>
                  <a:cubicBezTo>
                    <a:pt x="6673723" y="0"/>
                    <a:pt x="6844538" y="167386"/>
                    <a:pt x="6844538" y="374269"/>
                  </a:cubicBezTo>
                  <a:lnTo>
                    <a:pt x="6836029" y="374269"/>
                  </a:lnTo>
                  <a:lnTo>
                    <a:pt x="6844538" y="374269"/>
                  </a:lnTo>
                  <a:lnTo>
                    <a:pt x="6844538" y="423037"/>
                  </a:lnTo>
                  <a:lnTo>
                    <a:pt x="6836029" y="423037"/>
                  </a:lnTo>
                  <a:lnTo>
                    <a:pt x="6844538" y="423037"/>
                  </a:lnTo>
                  <a:cubicBezTo>
                    <a:pt x="6844538" y="629920"/>
                    <a:pt x="6673723" y="797306"/>
                    <a:pt x="6463284" y="797306"/>
                  </a:cubicBezTo>
                  <a:lnTo>
                    <a:pt x="6463284" y="788797"/>
                  </a:lnTo>
                  <a:lnTo>
                    <a:pt x="6463284" y="797306"/>
                  </a:lnTo>
                  <a:lnTo>
                    <a:pt x="381254" y="797306"/>
                  </a:lnTo>
                  <a:lnTo>
                    <a:pt x="381254" y="788797"/>
                  </a:lnTo>
                  <a:lnTo>
                    <a:pt x="381254" y="797306"/>
                  </a:lnTo>
                  <a:cubicBezTo>
                    <a:pt x="170815" y="797179"/>
                    <a:pt x="0" y="629793"/>
                    <a:pt x="0" y="423037"/>
                  </a:cubicBezTo>
                  <a:lnTo>
                    <a:pt x="0" y="374269"/>
                  </a:lnTo>
                  <a:lnTo>
                    <a:pt x="8509" y="374269"/>
                  </a:lnTo>
                  <a:lnTo>
                    <a:pt x="0" y="374269"/>
                  </a:lnTo>
                  <a:moveTo>
                    <a:pt x="16891" y="374269"/>
                  </a:moveTo>
                  <a:lnTo>
                    <a:pt x="16891" y="423037"/>
                  </a:lnTo>
                  <a:lnTo>
                    <a:pt x="8509" y="423037"/>
                  </a:lnTo>
                  <a:lnTo>
                    <a:pt x="17018" y="423037"/>
                  </a:lnTo>
                  <a:cubicBezTo>
                    <a:pt x="17018" y="620268"/>
                    <a:pt x="179959" y="780288"/>
                    <a:pt x="381381" y="780288"/>
                  </a:cubicBezTo>
                  <a:lnTo>
                    <a:pt x="6463411" y="780288"/>
                  </a:lnTo>
                  <a:cubicBezTo>
                    <a:pt x="6664706" y="780288"/>
                    <a:pt x="6827774" y="620141"/>
                    <a:pt x="6827774" y="423037"/>
                  </a:cubicBezTo>
                  <a:lnTo>
                    <a:pt x="6827774" y="374269"/>
                  </a:lnTo>
                  <a:cubicBezTo>
                    <a:pt x="6827774" y="177038"/>
                    <a:pt x="6664833" y="17018"/>
                    <a:pt x="6463411" y="17018"/>
                  </a:cubicBezTo>
                  <a:lnTo>
                    <a:pt x="381254" y="17018"/>
                  </a:lnTo>
                  <a:lnTo>
                    <a:pt x="381254" y="8509"/>
                  </a:lnTo>
                  <a:lnTo>
                    <a:pt x="381254" y="17018"/>
                  </a:lnTo>
                  <a:cubicBezTo>
                    <a:pt x="179832" y="16891"/>
                    <a:pt x="16891" y="177038"/>
                    <a:pt x="16891" y="374269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972800" y="1737360"/>
            <a:ext cx="5120640" cy="585216"/>
            <a:chOff x="0" y="0"/>
            <a:chExt cx="6827520" cy="780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8275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Hyperon: The next evolution of OpenCog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1792224"/>
            <a:ext cx="16459200" cy="822960"/>
            <a:chOff x="0" y="0"/>
            <a:chExt cx="2194560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219456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🔷  OpenCog Hyperon Architecture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42287" y="2736847"/>
            <a:ext cx="10253977" cy="3670297"/>
            <a:chOff x="0" y="0"/>
            <a:chExt cx="13671969" cy="48937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8509" y="8509"/>
              <a:ext cx="136550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3655040">
                  <a:moveTo>
                    <a:pt x="0" y="0"/>
                  </a:moveTo>
                  <a:lnTo>
                    <a:pt x="13655040" y="0"/>
                  </a:lnTo>
                  <a:lnTo>
                    <a:pt x="1365504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672057" cy="4893818"/>
            </a:xfrm>
            <a:custGeom>
              <a:avLst/>
              <a:gdLst/>
              <a:ahLst/>
              <a:cxnLst/>
              <a:rect r="r" b="b" t="t" l="l"/>
              <a:pathLst>
                <a:path h="4893818" w="13672057">
                  <a:moveTo>
                    <a:pt x="8509" y="0"/>
                  </a:moveTo>
                  <a:lnTo>
                    <a:pt x="13663549" y="0"/>
                  </a:lnTo>
                  <a:cubicBezTo>
                    <a:pt x="13668248" y="0"/>
                    <a:pt x="13672057" y="3810"/>
                    <a:pt x="13672057" y="8509"/>
                  </a:cubicBezTo>
                  <a:lnTo>
                    <a:pt x="13672057" y="4885309"/>
                  </a:lnTo>
                  <a:cubicBezTo>
                    <a:pt x="13672057" y="4890008"/>
                    <a:pt x="13668248" y="4893818"/>
                    <a:pt x="13663549" y="4893818"/>
                  </a:cubicBezTo>
                  <a:lnTo>
                    <a:pt x="8509" y="4893818"/>
                  </a:lnTo>
                  <a:cubicBezTo>
                    <a:pt x="3810" y="4893818"/>
                    <a:pt x="0" y="4890008"/>
                    <a:pt x="0" y="4885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885309"/>
                  </a:lnTo>
                  <a:lnTo>
                    <a:pt x="8509" y="4885309"/>
                  </a:lnTo>
                  <a:lnTo>
                    <a:pt x="8509" y="4876800"/>
                  </a:lnTo>
                  <a:lnTo>
                    <a:pt x="13663549" y="4876800"/>
                  </a:lnTo>
                  <a:lnTo>
                    <a:pt x="13663549" y="4885309"/>
                  </a:lnTo>
                  <a:lnTo>
                    <a:pt x="13655039" y="4885309"/>
                  </a:lnTo>
                  <a:lnTo>
                    <a:pt x="13655039" y="8509"/>
                  </a:lnTo>
                  <a:lnTo>
                    <a:pt x="13663549" y="8509"/>
                  </a:lnTo>
                  <a:lnTo>
                    <a:pt x="136635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2962656"/>
            <a:ext cx="658368" cy="658368"/>
            <a:chOff x="0" y="0"/>
            <a:chExt cx="877824" cy="8778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2962656"/>
            <a:ext cx="658368" cy="658368"/>
            <a:chOff x="0" y="0"/>
            <a:chExt cx="877824" cy="8778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💾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45920" y="3017520"/>
            <a:ext cx="8778240" cy="438912"/>
            <a:chOff x="0" y="0"/>
            <a:chExt cx="11704320" cy="58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704320" cy="585216"/>
            </a:xfrm>
            <a:custGeom>
              <a:avLst/>
              <a:gdLst/>
              <a:ahLst/>
              <a:cxnLst/>
              <a:rect r="r" b="b" t="t" l="l"/>
              <a:pathLst>
                <a:path h="585216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17043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Components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3566160"/>
            <a:ext cx="9692640" cy="731520"/>
            <a:chOff x="0" y="0"/>
            <a:chExt cx="1292352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923520" cy="975360"/>
            </a:xfrm>
            <a:custGeom>
              <a:avLst/>
              <a:gdLst/>
              <a:ahLst/>
              <a:cxnLst/>
              <a:rect r="r" b="b" t="t" l="l"/>
              <a:pathLst>
                <a:path h="97536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29235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OpenCog Hyperon introduces a new distributed architecture with improved scalability and performance for AGI applications.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16607" y="4474207"/>
            <a:ext cx="4767577" cy="744217"/>
            <a:chOff x="0" y="0"/>
            <a:chExt cx="6356769" cy="99228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8509" y="8509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56858" cy="992378"/>
            </a:xfrm>
            <a:custGeom>
              <a:avLst/>
              <a:gdLst/>
              <a:ahLst/>
              <a:cxnLst/>
              <a:rect r="r" b="b" t="t" l="l"/>
              <a:pathLst>
                <a:path h="992378" w="6356858">
                  <a:moveTo>
                    <a:pt x="8509" y="0"/>
                  </a:moveTo>
                  <a:lnTo>
                    <a:pt x="6348349" y="0"/>
                  </a:lnTo>
                  <a:cubicBezTo>
                    <a:pt x="6353048" y="0"/>
                    <a:pt x="6356858" y="3810"/>
                    <a:pt x="6356858" y="8509"/>
                  </a:cubicBezTo>
                  <a:lnTo>
                    <a:pt x="6356858" y="983869"/>
                  </a:lnTo>
                  <a:cubicBezTo>
                    <a:pt x="6356858" y="988568"/>
                    <a:pt x="6353048" y="992378"/>
                    <a:pt x="634834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6348349" y="975360"/>
                  </a:lnTo>
                  <a:lnTo>
                    <a:pt x="6348349" y="983869"/>
                  </a:lnTo>
                  <a:lnTo>
                    <a:pt x="6339840" y="983869"/>
                  </a:lnTo>
                  <a:lnTo>
                    <a:pt x="6339840" y="8509"/>
                  </a:lnTo>
                  <a:lnTo>
                    <a:pt x="6348349" y="8509"/>
                  </a:lnTo>
                  <a:lnTo>
                    <a:pt x="63483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60704" y="4572000"/>
            <a:ext cx="2011680" cy="365760"/>
            <a:chOff x="0" y="0"/>
            <a:chExt cx="2682240" cy="4876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682240" cy="487680"/>
            </a:xfrm>
            <a:custGeom>
              <a:avLst/>
              <a:gdLst/>
              <a:ahLst/>
              <a:cxnLst/>
              <a:rect r="r" b="b" t="t" l="l"/>
              <a:pathLst>
                <a:path h="4876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6822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AtomSpace 2.0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072384" y="4627643"/>
            <a:ext cx="2624071" cy="622139"/>
            <a:chOff x="0" y="0"/>
            <a:chExt cx="2926080" cy="69374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926080" cy="693742"/>
            </a:xfrm>
            <a:custGeom>
              <a:avLst/>
              <a:gdLst/>
              <a:ahLst/>
              <a:cxnLst/>
              <a:rect r="r" b="b" t="t" l="l"/>
              <a:pathLst>
                <a:path h="69374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93742"/>
                  </a:lnTo>
                  <a:lnTo>
                    <a:pt x="0" y="6937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35" r="0" b="-1733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926080" cy="73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Enhanced hypergraph storage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845807" y="4474207"/>
            <a:ext cx="4767577" cy="744217"/>
            <a:chOff x="0" y="0"/>
            <a:chExt cx="6356769" cy="99228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8509" y="8509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356858" cy="992378"/>
            </a:xfrm>
            <a:custGeom>
              <a:avLst/>
              <a:gdLst/>
              <a:ahLst/>
              <a:cxnLst/>
              <a:rect r="r" b="b" t="t" l="l"/>
              <a:pathLst>
                <a:path h="992378" w="6356858">
                  <a:moveTo>
                    <a:pt x="8509" y="0"/>
                  </a:moveTo>
                  <a:lnTo>
                    <a:pt x="6348349" y="0"/>
                  </a:lnTo>
                  <a:cubicBezTo>
                    <a:pt x="6353048" y="0"/>
                    <a:pt x="6356858" y="3810"/>
                    <a:pt x="6356858" y="8509"/>
                  </a:cubicBezTo>
                  <a:lnTo>
                    <a:pt x="6356858" y="983869"/>
                  </a:lnTo>
                  <a:cubicBezTo>
                    <a:pt x="6356858" y="988568"/>
                    <a:pt x="6353048" y="992378"/>
                    <a:pt x="634834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6348349" y="975360"/>
                  </a:lnTo>
                  <a:lnTo>
                    <a:pt x="6348349" y="983869"/>
                  </a:lnTo>
                  <a:lnTo>
                    <a:pt x="6339840" y="983869"/>
                  </a:lnTo>
                  <a:lnTo>
                    <a:pt x="6339840" y="8509"/>
                  </a:lnTo>
                  <a:lnTo>
                    <a:pt x="6348349" y="8509"/>
                  </a:lnTo>
                  <a:lnTo>
                    <a:pt x="63483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089904" y="4572000"/>
            <a:ext cx="2011680" cy="365760"/>
            <a:chOff x="0" y="0"/>
            <a:chExt cx="2682240" cy="4876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682240" cy="487680"/>
            </a:xfrm>
            <a:custGeom>
              <a:avLst/>
              <a:gdLst/>
              <a:ahLst/>
              <a:cxnLst/>
              <a:rect r="r" b="b" t="t" l="l"/>
              <a:pathLst>
                <a:path h="4876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6822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MeTTa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174736" y="4571995"/>
            <a:ext cx="2621528" cy="622139"/>
            <a:chOff x="0" y="0"/>
            <a:chExt cx="2926080" cy="69441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26080" cy="694415"/>
            </a:xfrm>
            <a:custGeom>
              <a:avLst/>
              <a:gdLst/>
              <a:ahLst/>
              <a:cxnLst/>
              <a:rect r="r" b="b" t="t" l="l"/>
              <a:pathLst>
                <a:path h="694415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94415"/>
                  </a:lnTo>
                  <a:lnTo>
                    <a:pt x="0" y="694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90" r="0" b="-1721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926080" cy="73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 programming language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16607" y="5352031"/>
            <a:ext cx="4767577" cy="744217"/>
            <a:chOff x="0" y="0"/>
            <a:chExt cx="6356769" cy="99228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8509" y="8509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356858" cy="992378"/>
            </a:xfrm>
            <a:custGeom>
              <a:avLst/>
              <a:gdLst/>
              <a:ahLst/>
              <a:cxnLst/>
              <a:rect r="r" b="b" t="t" l="l"/>
              <a:pathLst>
                <a:path h="992378" w="6356858">
                  <a:moveTo>
                    <a:pt x="8509" y="0"/>
                  </a:moveTo>
                  <a:lnTo>
                    <a:pt x="6348349" y="0"/>
                  </a:lnTo>
                  <a:cubicBezTo>
                    <a:pt x="6353048" y="0"/>
                    <a:pt x="6356858" y="3810"/>
                    <a:pt x="6356858" y="8509"/>
                  </a:cubicBezTo>
                  <a:lnTo>
                    <a:pt x="6356858" y="983869"/>
                  </a:lnTo>
                  <a:cubicBezTo>
                    <a:pt x="6356858" y="988568"/>
                    <a:pt x="6353048" y="992378"/>
                    <a:pt x="634834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6348349" y="975360"/>
                  </a:lnTo>
                  <a:lnTo>
                    <a:pt x="6348349" y="983869"/>
                  </a:lnTo>
                  <a:lnTo>
                    <a:pt x="6339840" y="983869"/>
                  </a:lnTo>
                  <a:lnTo>
                    <a:pt x="6339840" y="8509"/>
                  </a:lnTo>
                  <a:lnTo>
                    <a:pt x="6348349" y="8509"/>
                  </a:lnTo>
                  <a:lnTo>
                    <a:pt x="63483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60704" y="5449824"/>
            <a:ext cx="2011680" cy="365760"/>
            <a:chOff x="0" y="0"/>
            <a:chExt cx="2682240" cy="4876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682240" cy="487680"/>
            </a:xfrm>
            <a:custGeom>
              <a:avLst/>
              <a:gdLst/>
              <a:ahLst/>
              <a:cxnLst/>
              <a:rect r="r" b="b" t="t" l="l"/>
              <a:pathLst>
                <a:path h="4876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6822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Distributed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2901448" y="5494649"/>
            <a:ext cx="2438648" cy="406441"/>
            <a:chOff x="0" y="0"/>
            <a:chExt cx="2926080" cy="4876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26080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9260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Cloud-native architecture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845807" y="5352031"/>
            <a:ext cx="4767577" cy="744217"/>
            <a:chOff x="0" y="0"/>
            <a:chExt cx="6356769" cy="99228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8509" y="8509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356858" cy="992378"/>
            </a:xfrm>
            <a:custGeom>
              <a:avLst/>
              <a:gdLst/>
              <a:ahLst/>
              <a:cxnLst/>
              <a:rect r="r" b="b" t="t" l="l"/>
              <a:pathLst>
                <a:path h="992378" w="6356858">
                  <a:moveTo>
                    <a:pt x="8509" y="0"/>
                  </a:moveTo>
                  <a:lnTo>
                    <a:pt x="6348349" y="0"/>
                  </a:lnTo>
                  <a:cubicBezTo>
                    <a:pt x="6353048" y="0"/>
                    <a:pt x="6356858" y="3810"/>
                    <a:pt x="6356858" y="8509"/>
                  </a:cubicBezTo>
                  <a:lnTo>
                    <a:pt x="6356858" y="983869"/>
                  </a:lnTo>
                  <a:cubicBezTo>
                    <a:pt x="6356858" y="988568"/>
                    <a:pt x="6353048" y="992378"/>
                    <a:pt x="634834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6348349" y="975360"/>
                  </a:lnTo>
                  <a:lnTo>
                    <a:pt x="6348349" y="983869"/>
                  </a:lnTo>
                  <a:lnTo>
                    <a:pt x="6339840" y="983869"/>
                  </a:lnTo>
                  <a:lnTo>
                    <a:pt x="6339840" y="8509"/>
                  </a:lnTo>
                  <a:lnTo>
                    <a:pt x="6348349" y="8509"/>
                  </a:lnTo>
                  <a:lnTo>
                    <a:pt x="63483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089904" y="5449824"/>
            <a:ext cx="2011680" cy="365760"/>
            <a:chOff x="0" y="0"/>
            <a:chExt cx="2682240" cy="4876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682240" cy="487680"/>
            </a:xfrm>
            <a:custGeom>
              <a:avLst/>
              <a:gdLst/>
              <a:ahLst/>
              <a:cxnLst/>
              <a:rect r="r" b="b" t="t" l="l"/>
              <a:pathLst>
                <a:path h="48768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26822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GPU Acceleration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080115" y="5504174"/>
            <a:ext cx="2523744" cy="420624"/>
            <a:chOff x="0" y="0"/>
            <a:chExt cx="2926080" cy="4876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926080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292608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Parallel processing support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42287" y="6485887"/>
            <a:ext cx="10253977" cy="2938777"/>
            <a:chOff x="0" y="0"/>
            <a:chExt cx="13671969" cy="391836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8509" y="8509"/>
              <a:ext cx="1365504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3655040">
                  <a:moveTo>
                    <a:pt x="0" y="0"/>
                  </a:moveTo>
                  <a:lnTo>
                    <a:pt x="13655040" y="0"/>
                  </a:lnTo>
                  <a:lnTo>
                    <a:pt x="1365504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3672057" cy="3918458"/>
            </a:xfrm>
            <a:custGeom>
              <a:avLst/>
              <a:gdLst/>
              <a:ahLst/>
              <a:cxnLst/>
              <a:rect r="r" b="b" t="t" l="l"/>
              <a:pathLst>
                <a:path h="3918458" w="13672057">
                  <a:moveTo>
                    <a:pt x="8509" y="0"/>
                  </a:moveTo>
                  <a:lnTo>
                    <a:pt x="13663549" y="0"/>
                  </a:lnTo>
                  <a:cubicBezTo>
                    <a:pt x="13668248" y="0"/>
                    <a:pt x="13672057" y="3810"/>
                    <a:pt x="13672057" y="8509"/>
                  </a:cubicBezTo>
                  <a:lnTo>
                    <a:pt x="13672057" y="3909949"/>
                  </a:lnTo>
                  <a:cubicBezTo>
                    <a:pt x="13672057" y="3914648"/>
                    <a:pt x="13668248" y="3918458"/>
                    <a:pt x="13663549" y="3918458"/>
                  </a:cubicBezTo>
                  <a:lnTo>
                    <a:pt x="8509" y="3918458"/>
                  </a:lnTo>
                  <a:cubicBezTo>
                    <a:pt x="3810" y="3918458"/>
                    <a:pt x="0" y="3914648"/>
                    <a:pt x="0" y="3909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909949"/>
                  </a:lnTo>
                  <a:lnTo>
                    <a:pt x="8509" y="3909949"/>
                  </a:lnTo>
                  <a:lnTo>
                    <a:pt x="8509" y="3901440"/>
                  </a:lnTo>
                  <a:lnTo>
                    <a:pt x="13663549" y="3901440"/>
                  </a:lnTo>
                  <a:lnTo>
                    <a:pt x="13663549" y="3909949"/>
                  </a:lnTo>
                  <a:lnTo>
                    <a:pt x="13655039" y="3909949"/>
                  </a:lnTo>
                  <a:lnTo>
                    <a:pt x="13655039" y="8509"/>
                  </a:lnTo>
                  <a:lnTo>
                    <a:pt x="13663549" y="8509"/>
                  </a:lnTo>
                  <a:lnTo>
                    <a:pt x="136635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822960" y="6675120"/>
            <a:ext cx="9692640" cy="438912"/>
            <a:chOff x="0" y="0"/>
            <a:chExt cx="12923520" cy="58521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923520" cy="585216"/>
            </a:xfrm>
            <a:custGeom>
              <a:avLst/>
              <a:gdLst/>
              <a:ahLst/>
              <a:cxnLst/>
              <a:rect r="r" b="b" t="t" l="l"/>
              <a:pathLst>
                <a:path h="585216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0294" r="0" b="-38029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1292352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🌐 Key Features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14400" y="7278624"/>
            <a:ext cx="182880" cy="182880"/>
            <a:chOff x="0" y="0"/>
            <a:chExt cx="243840" cy="2438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43584" y="7223760"/>
            <a:ext cx="9144000" cy="457200"/>
            <a:chOff x="0" y="0"/>
            <a:chExt cx="12192000" cy="6096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Distributed knowledge representation across multiple nodes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14400" y="7900416"/>
            <a:ext cx="182880" cy="182880"/>
            <a:chOff x="0" y="0"/>
            <a:chExt cx="243840" cy="2438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243584" y="7845552"/>
            <a:ext cx="9144000" cy="457200"/>
            <a:chOff x="0" y="0"/>
            <a:chExt cx="12192000" cy="6096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Improved pattern matching and inference capabilities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14400" y="8522208"/>
            <a:ext cx="182880" cy="182880"/>
            <a:chOff x="0" y="0"/>
            <a:chExt cx="243840" cy="2438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43584" y="8467344"/>
            <a:ext cx="9144000" cy="457200"/>
            <a:chOff x="0" y="0"/>
            <a:chExt cx="12192000" cy="6096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Enhanced attention allocation mechanisms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149327" y="2736847"/>
            <a:ext cx="6413497" cy="6687817"/>
            <a:chOff x="0" y="0"/>
            <a:chExt cx="8551329" cy="891708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8509" y="8509"/>
              <a:ext cx="8534400" cy="8900160"/>
            </a:xfrm>
            <a:custGeom>
              <a:avLst/>
              <a:gdLst/>
              <a:ahLst/>
              <a:cxnLst/>
              <a:rect r="r" b="b" t="t" l="l"/>
              <a:pathLst>
                <a:path h="89001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900160"/>
                  </a:lnTo>
                  <a:lnTo>
                    <a:pt x="0" y="89001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551418" cy="8917178"/>
            </a:xfrm>
            <a:custGeom>
              <a:avLst/>
              <a:gdLst/>
              <a:ahLst/>
              <a:cxnLst/>
              <a:rect r="r" b="b" t="t" l="l"/>
              <a:pathLst>
                <a:path h="8917178" w="8551418">
                  <a:moveTo>
                    <a:pt x="8509" y="0"/>
                  </a:moveTo>
                  <a:lnTo>
                    <a:pt x="8542909" y="0"/>
                  </a:lnTo>
                  <a:cubicBezTo>
                    <a:pt x="8547608" y="0"/>
                    <a:pt x="8551418" y="3810"/>
                    <a:pt x="8551418" y="8509"/>
                  </a:cubicBezTo>
                  <a:lnTo>
                    <a:pt x="8551418" y="8908669"/>
                  </a:lnTo>
                  <a:cubicBezTo>
                    <a:pt x="8551418" y="8913368"/>
                    <a:pt x="8547608" y="8917178"/>
                    <a:pt x="8542909" y="8917178"/>
                  </a:cubicBezTo>
                  <a:lnTo>
                    <a:pt x="8509" y="8917178"/>
                  </a:lnTo>
                  <a:cubicBezTo>
                    <a:pt x="3810" y="8917178"/>
                    <a:pt x="0" y="8913368"/>
                    <a:pt x="0" y="89086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908669"/>
                  </a:lnTo>
                  <a:lnTo>
                    <a:pt x="8509" y="8908669"/>
                  </a:lnTo>
                  <a:lnTo>
                    <a:pt x="8509" y="8900160"/>
                  </a:lnTo>
                  <a:lnTo>
                    <a:pt x="8542909" y="8900160"/>
                  </a:lnTo>
                  <a:lnTo>
                    <a:pt x="8542909" y="8908669"/>
                  </a:lnTo>
                  <a:lnTo>
                    <a:pt x="8534400" y="8908669"/>
                  </a:lnTo>
                  <a:lnTo>
                    <a:pt x="8534400" y="8509"/>
                  </a:lnTo>
                  <a:lnTo>
                    <a:pt x="8542909" y="8509"/>
                  </a:lnTo>
                  <a:lnTo>
                    <a:pt x="8542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1430000" y="2962656"/>
            <a:ext cx="5852160" cy="457200"/>
            <a:chOff x="0" y="0"/>
            <a:chExt cx="7802880" cy="6096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802880" cy="609600"/>
            </a:xfrm>
            <a:custGeom>
              <a:avLst/>
              <a:gdLst/>
              <a:ahLst/>
              <a:cxnLst/>
              <a:rect r="r" b="b" t="t" l="l"/>
              <a:pathLst>
                <a:path h="6096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408" r="0" b="-199408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57150"/>
              <a:ext cx="780288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 Flow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1332207" y="3614671"/>
            <a:ext cx="6047737" cy="1201417"/>
            <a:chOff x="0" y="0"/>
            <a:chExt cx="8063649" cy="1601889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8509" y="8509"/>
              <a:ext cx="8046719" cy="1584960"/>
            </a:xfrm>
            <a:custGeom>
              <a:avLst/>
              <a:gdLst/>
              <a:ahLst/>
              <a:cxnLst/>
              <a:rect r="r" b="b" t="t" l="l"/>
              <a:pathLst>
                <a:path h="1584960" w="8046719">
                  <a:moveTo>
                    <a:pt x="0" y="0"/>
                  </a:moveTo>
                  <a:lnTo>
                    <a:pt x="8046719" y="0"/>
                  </a:lnTo>
                  <a:lnTo>
                    <a:pt x="8046719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063738" cy="1601978"/>
            </a:xfrm>
            <a:custGeom>
              <a:avLst/>
              <a:gdLst/>
              <a:ahLst/>
              <a:cxnLst/>
              <a:rect r="r" b="b" t="t" l="l"/>
              <a:pathLst>
                <a:path h="1601978" w="8063738">
                  <a:moveTo>
                    <a:pt x="8509" y="0"/>
                  </a:moveTo>
                  <a:lnTo>
                    <a:pt x="8055228" y="0"/>
                  </a:lnTo>
                  <a:cubicBezTo>
                    <a:pt x="8059927" y="0"/>
                    <a:pt x="8063738" y="3810"/>
                    <a:pt x="8063738" y="8509"/>
                  </a:cubicBezTo>
                  <a:lnTo>
                    <a:pt x="8063738" y="1593469"/>
                  </a:lnTo>
                  <a:cubicBezTo>
                    <a:pt x="8063738" y="1598168"/>
                    <a:pt x="8059927" y="1601978"/>
                    <a:pt x="8055228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8055228" y="1584960"/>
                  </a:lnTo>
                  <a:lnTo>
                    <a:pt x="8055228" y="1593469"/>
                  </a:lnTo>
                  <a:lnTo>
                    <a:pt x="8046720" y="1593469"/>
                  </a:lnTo>
                  <a:lnTo>
                    <a:pt x="8046720" y="8509"/>
                  </a:lnTo>
                  <a:lnTo>
                    <a:pt x="8055228" y="8509"/>
                  </a:lnTo>
                  <a:lnTo>
                    <a:pt x="80552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1558016" y="3840480"/>
            <a:ext cx="658368" cy="658368"/>
            <a:chOff x="0" y="0"/>
            <a:chExt cx="877824" cy="877824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1558016" y="3840480"/>
            <a:ext cx="658368" cy="658368"/>
            <a:chOff x="0" y="0"/>
            <a:chExt cx="877824" cy="87782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57150"/>
              <a:ext cx="877824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🗄️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399264" y="3840480"/>
            <a:ext cx="4754880" cy="365760"/>
            <a:chOff x="0" y="0"/>
            <a:chExt cx="6339840" cy="4876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339840" cy="487680"/>
            </a:xfrm>
            <a:custGeom>
              <a:avLst/>
              <a:gdLst/>
              <a:ahLst/>
              <a:cxnLst/>
              <a:rect r="r" b="b" t="t" l="l"/>
              <a:pathLst>
                <a:path h="4876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633984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Knowledge Base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399264" y="4242816"/>
            <a:ext cx="4754880" cy="329184"/>
            <a:chOff x="0" y="0"/>
            <a:chExt cx="6339840" cy="43891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339840" cy="438912"/>
            </a:xfrm>
            <a:custGeom>
              <a:avLst/>
              <a:gdLst/>
              <a:ahLst/>
              <a:cxnLst/>
              <a:rect r="r" b="b" t="t" l="l"/>
              <a:pathLst>
                <a:path h="43891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6339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Distributed AtomSpace storage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1332207" y="4986271"/>
            <a:ext cx="6047737" cy="1201417"/>
            <a:chOff x="0" y="0"/>
            <a:chExt cx="8063649" cy="160188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8509" y="8509"/>
              <a:ext cx="8046719" cy="1584960"/>
            </a:xfrm>
            <a:custGeom>
              <a:avLst/>
              <a:gdLst/>
              <a:ahLst/>
              <a:cxnLst/>
              <a:rect r="r" b="b" t="t" l="l"/>
              <a:pathLst>
                <a:path h="1584960" w="8046719">
                  <a:moveTo>
                    <a:pt x="0" y="0"/>
                  </a:moveTo>
                  <a:lnTo>
                    <a:pt x="8046719" y="0"/>
                  </a:lnTo>
                  <a:lnTo>
                    <a:pt x="8046719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8063738" cy="1601978"/>
            </a:xfrm>
            <a:custGeom>
              <a:avLst/>
              <a:gdLst/>
              <a:ahLst/>
              <a:cxnLst/>
              <a:rect r="r" b="b" t="t" l="l"/>
              <a:pathLst>
                <a:path h="1601978" w="8063738">
                  <a:moveTo>
                    <a:pt x="8509" y="0"/>
                  </a:moveTo>
                  <a:lnTo>
                    <a:pt x="8055228" y="0"/>
                  </a:lnTo>
                  <a:cubicBezTo>
                    <a:pt x="8059927" y="0"/>
                    <a:pt x="8063738" y="3810"/>
                    <a:pt x="8063738" y="8509"/>
                  </a:cubicBezTo>
                  <a:lnTo>
                    <a:pt x="8063738" y="1593469"/>
                  </a:lnTo>
                  <a:cubicBezTo>
                    <a:pt x="8063738" y="1598168"/>
                    <a:pt x="8059927" y="1601978"/>
                    <a:pt x="8055228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8055228" y="1584960"/>
                  </a:lnTo>
                  <a:lnTo>
                    <a:pt x="8055228" y="1593469"/>
                  </a:lnTo>
                  <a:lnTo>
                    <a:pt x="8046720" y="1593469"/>
                  </a:lnTo>
                  <a:lnTo>
                    <a:pt x="8046720" y="8509"/>
                  </a:lnTo>
                  <a:lnTo>
                    <a:pt x="8055228" y="8509"/>
                  </a:lnTo>
                  <a:lnTo>
                    <a:pt x="80552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1558016" y="5212080"/>
            <a:ext cx="658368" cy="658368"/>
            <a:chOff x="0" y="0"/>
            <a:chExt cx="877824" cy="87782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1558016" y="5212080"/>
            <a:ext cx="658368" cy="658368"/>
            <a:chOff x="0" y="0"/>
            <a:chExt cx="877824" cy="87782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57150"/>
              <a:ext cx="877824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🧠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2399264" y="5212080"/>
            <a:ext cx="4754880" cy="365760"/>
            <a:chOff x="0" y="0"/>
            <a:chExt cx="6339840" cy="48768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339840" cy="487680"/>
            </a:xfrm>
            <a:custGeom>
              <a:avLst/>
              <a:gdLst/>
              <a:ahLst/>
              <a:cxnLst/>
              <a:rect r="r" b="b" t="t" l="l"/>
              <a:pathLst>
                <a:path h="4876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47625"/>
              <a:ext cx="633984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Reasoning Engine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2399264" y="5614416"/>
            <a:ext cx="4754880" cy="329184"/>
            <a:chOff x="0" y="0"/>
            <a:chExt cx="6339840" cy="43891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339840" cy="438912"/>
            </a:xfrm>
            <a:custGeom>
              <a:avLst/>
              <a:gdLst/>
              <a:ahLst/>
              <a:cxnLst/>
              <a:rect r="r" b="b" t="t" l="l"/>
              <a:pathLst>
                <a:path h="43891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6339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PLN &amp; MOSES integration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1332207" y="6357871"/>
            <a:ext cx="6047737" cy="1201417"/>
            <a:chOff x="0" y="0"/>
            <a:chExt cx="8063649" cy="1601889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8509" y="8509"/>
              <a:ext cx="8046719" cy="1584960"/>
            </a:xfrm>
            <a:custGeom>
              <a:avLst/>
              <a:gdLst/>
              <a:ahLst/>
              <a:cxnLst/>
              <a:rect r="r" b="b" t="t" l="l"/>
              <a:pathLst>
                <a:path h="1584960" w="8046719">
                  <a:moveTo>
                    <a:pt x="0" y="0"/>
                  </a:moveTo>
                  <a:lnTo>
                    <a:pt x="8046719" y="0"/>
                  </a:lnTo>
                  <a:lnTo>
                    <a:pt x="8046719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8063738" cy="1601978"/>
            </a:xfrm>
            <a:custGeom>
              <a:avLst/>
              <a:gdLst/>
              <a:ahLst/>
              <a:cxnLst/>
              <a:rect r="r" b="b" t="t" l="l"/>
              <a:pathLst>
                <a:path h="1601978" w="8063738">
                  <a:moveTo>
                    <a:pt x="8509" y="0"/>
                  </a:moveTo>
                  <a:lnTo>
                    <a:pt x="8055228" y="0"/>
                  </a:lnTo>
                  <a:cubicBezTo>
                    <a:pt x="8059927" y="0"/>
                    <a:pt x="8063738" y="3810"/>
                    <a:pt x="8063738" y="8509"/>
                  </a:cubicBezTo>
                  <a:lnTo>
                    <a:pt x="8063738" y="1593469"/>
                  </a:lnTo>
                  <a:cubicBezTo>
                    <a:pt x="8063738" y="1598168"/>
                    <a:pt x="8059927" y="1601978"/>
                    <a:pt x="8055228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8055228" y="1584960"/>
                  </a:lnTo>
                  <a:lnTo>
                    <a:pt x="8055228" y="1593469"/>
                  </a:lnTo>
                  <a:lnTo>
                    <a:pt x="8046720" y="1593469"/>
                  </a:lnTo>
                  <a:lnTo>
                    <a:pt x="8046720" y="8509"/>
                  </a:lnTo>
                  <a:lnTo>
                    <a:pt x="8055228" y="8509"/>
                  </a:lnTo>
                  <a:lnTo>
                    <a:pt x="80552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1558016" y="6583680"/>
            <a:ext cx="658368" cy="658368"/>
            <a:chOff x="0" y="0"/>
            <a:chExt cx="877824" cy="877824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1558016" y="6583680"/>
            <a:ext cx="658368" cy="658368"/>
            <a:chOff x="0" y="0"/>
            <a:chExt cx="877824" cy="877824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57150"/>
              <a:ext cx="877824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⚙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2399264" y="6583680"/>
            <a:ext cx="4754880" cy="365760"/>
            <a:chOff x="0" y="0"/>
            <a:chExt cx="6339840" cy="48768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339840" cy="487680"/>
            </a:xfrm>
            <a:custGeom>
              <a:avLst/>
              <a:gdLst/>
              <a:ahLst/>
              <a:cxnLst/>
              <a:rect r="r" b="b" t="t" l="l"/>
              <a:pathLst>
                <a:path h="4876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47625"/>
              <a:ext cx="633984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Execution Layer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2399264" y="6986016"/>
            <a:ext cx="4754880" cy="329184"/>
            <a:chOff x="0" y="0"/>
            <a:chExt cx="6339840" cy="438912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339840" cy="438912"/>
            </a:xfrm>
            <a:custGeom>
              <a:avLst/>
              <a:gdLst/>
              <a:ahLst/>
              <a:cxnLst/>
              <a:rect r="r" b="b" t="t" l="l"/>
              <a:pathLst>
                <a:path h="43891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6339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Pattern matching &amp; learning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1332207" y="7729471"/>
            <a:ext cx="6047737" cy="1201417"/>
            <a:chOff x="0" y="0"/>
            <a:chExt cx="8063649" cy="1601889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8509" y="8509"/>
              <a:ext cx="8046719" cy="1584960"/>
            </a:xfrm>
            <a:custGeom>
              <a:avLst/>
              <a:gdLst/>
              <a:ahLst/>
              <a:cxnLst/>
              <a:rect r="r" b="b" t="t" l="l"/>
              <a:pathLst>
                <a:path h="1584960" w="8046719">
                  <a:moveTo>
                    <a:pt x="0" y="0"/>
                  </a:moveTo>
                  <a:lnTo>
                    <a:pt x="8046719" y="0"/>
                  </a:lnTo>
                  <a:lnTo>
                    <a:pt x="8046719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8063738" cy="1601978"/>
            </a:xfrm>
            <a:custGeom>
              <a:avLst/>
              <a:gdLst/>
              <a:ahLst/>
              <a:cxnLst/>
              <a:rect r="r" b="b" t="t" l="l"/>
              <a:pathLst>
                <a:path h="1601978" w="8063738">
                  <a:moveTo>
                    <a:pt x="8509" y="0"/>
                  </a:moveTo>
                  <a:lnTo>
                    <a:pt x="8055228" y="0"/>
                  </a:lnTo>
                  <a:cubicBezTo>
                    <a:pt x="8059927" y="0"/>
                    <a:pt x="8063738" y="3810"/>
                    <a:pt x="8063738" y="8509"/>
                  </a:cubicBezTo>
                  <a:lnTo>
                    <a:pt x="8063738" y="1593469"/>
                  </a:lnTo>
                  <a:cubicBezTo>
                    <a:pt x="8063738" y="1598168"/>
                    <a:pt x="8059927" y="1601978"/>
                    <a:pt x="8055228" y="1601978"/>
                  </a:cubicBezTo>
                  <a:lnTo>
                    <a:pt x="8509" y="1601978"/>
                  </a:lnTo>
                  <a:cubicBezTo>
                    <a:pt x="3810" y="1601978"/>
                    <a:pt x="0" y="1598168"/>
                    <a:pt x="0" y="15934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593469"/>
                  </a:lnTo>
                  <a:lnTo>
                    <a:pt x="8509" y="1593469"/>
                  </a:lnTo>
                  <a:lnTo>
                    <a:pt x="8509" y="1584960"/>
                  </a:lnTo>
                  <a:lnTo>
                    <a:pt x="8055228" y="1584960"/>
                  </a:lnTo>
                  <a:lnTo>
                    <a:pt x="8055228" y="1593469"/>
                  </a:lnTo>
                  <a:lnTo>
                    <a:pt x="8046720" y="1593469"/>
                  </a:lnTo>
                  <a:lnTo>
                    <a:pt x="8046720" y="8509"/>
                  </a:lnTo>
                  <a:lnTo>
                    <a:pt x="8055228" y="8509"/>
                  </a:lnTo>
                  <a:lnTo>
                    <a:pt x="80552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1558016" y="7955280"/>
            <a:ext cx="658368" cy="658368"/>
            <a:chOff x="0" y="0"/>
            <a:chExt cx="877824" cy="877824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1558016" y="7955280"/>
            <a:ext cx="658368" cy="658368"/>
            <a:chOff x="0" y="0"/>
            <a:chExt cx="877824" cy="87782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57150"/>
              <a:ext cx="877824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🖥️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2399264" y="7955280"/>
            <a:ext cx="4754880" cy="365760"/>
            <a:chOff x="0" y="0"/>
            <a:chExt cx="6339840" cy="48768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339840" cy="487680"/>
            </a:xfrm>
            <a:custGeom>
              <a:avLst/>
              <a:gdLst/>
              <a:ahLst/>
              <a:cxnLst/>
              <a:rect r="r" b="b" t="t" l="l"/>
              <a:pathLst>
                <a:path h="4876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47625"/>
              <a:ext cx="633984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Distributed Network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2399264" y="8357616"/>
            <a:ext cx="4754880" cy="329184"/>
            <a:chOff x="0" y="0"/>
            <a:chExt cx="6339840" cy="43891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339840" cy="438912"/>
            </a:xfrm>
            <a:custGeom>
              <a:avLst/>
              <a:gdLst/>
              <a:ahLst/>
              <a:cxnLst/>
              <a:rect r="r" b="b" t="t" l="l"/>
              <a:pathLst>
                <a:path h="438912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633984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Cloud-native infrastructure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144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82880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SingularityNET Ecosystem and OpenCog Integration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14400"/>
            <a:ext cx="13716000" cy="512064"/>
            <a:chOff x="0" y="0"/>
            <a:chExt cx="182880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288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E0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Decentralized AI and AGI Development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30400" y="512064"/>
            <a:ext cx="3291840" cy="548640"/>
            <a:chOff x="0" y="0"/>
            <a:chExt cx="43891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51/53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52047" y="1731007"/>
            <a:ext cx="5133337" cy="597913"/>
            <a:chOff x="0" y="0"/>
            <a:chExt cx="6844449" cy="7972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509" y="8509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365760"/>
                  </a:moveTo>
                  <a:cubicBezTo>
                    <a:pt x="0" y="163703"/>
                    <a:pt x="166878" y="0"/>
                    <a:pt x="372745" y="0"/>
                  </a:cubicBezTo>
                  <a:lnTo>
                    <a:pt x="6454775" y="0"/>
                  </a:lnTo>
                  <a:cubicBezTo>
                    <a:pt x="6660642" y="0"/>
                    <a:pt x="6827520" y="163703"/>
                    <a:pt x="6827520" y="365760"/>
                  </a:cubicBezTo>
                  <a:lnTo>
                    <a:pt x="6827520" y="414528"/>
                  </a:lnTo>
                  <a:cubicBezTo>
                    <a:pt x="6827520" y="616585"/>
                    <a:pt x="6660642" y="780288"/>
                    <a:pt x="6454775" y="780288"/>
                  </a:cubicBezTo>
                  <a:lnTo>
                    <a:pt x="372745" y="780288"/>
                  </a:lnTo>
                  <a:cubicBezTo>
                    <a:pt x="166878" y="780288"/>
                    <a:pt x="0" y="616458"/>
                    <a:pt x="0" y="41452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44538" cy="797306"/>
            </a:xfrm>
            <a:custGeom>
              <a:avLst/>
              <a:gdLst/>
              <a:ahLst/>
              <a:cxnLst/>
              <a:rect r="r" b="b" t="t" l="l"/>
              <a:pathLst>
                <a:path h="797306" w="6844538">
                  <a:moveTo>
                    <a:pt x="0" y="374269"/>
                  </a:moveTo>
                  <a:cubicBezTo>
                    <a:pt x="0" y="167386"/>
                    <a:pt x="170815" y="0"/>
                    <a:pt x="381254" y="0"/>
                  </a:cubicBezTo>
                  <a:lnTo>
                    <a:pt x="6463284" y="0"/>
                  </a:lnTo>
                  <a:lnTo>
                    <a:pt x="6463284" y="8509"/>
                  </a:lnTo>
                  <a:lnTo>
                    <a:pt x="6463284" y="0"/>
                  </a:lnTo>
                  <a:cubicBezTo>
                    <a:pt x="6673723" y="0"/>
                    <a:pt x="6844538" y="167386"/>
                    <a:pt x="6844538" y="374269"/>
                  </a:cubicBezTo>
                  <a:lnTo>
                    <a:pt x="6836029" y="374269"/>
                  </a:lnTo>
                  <a:lnTo>
                    <a:pt x="6844538" y="374269"/>
                  </a:lnTo>
                  <a:lnTo>
                    <a:pt x="6844538" y="423037"/>
                  </a:lnTo>
                  <a:lnTo>
                    <a:pt x="6836029" y="423037"/>
                  </a:lnTo>
                  <a:lnTo>
                    <a:pt x="6844538" y="423037"/>
                  </a:lnTo>
                  <a:cubicBezTo>
                    <a:pt x="6844538" y="629920"/>
                    <a:pt x="6673723" y="797306"/>
                    <a:pt x="6463284" y="797306"/>
                  </a:cubicBezTo>
                  <a:lnTo>
                    <a:pt x="6463284" y="788797"/>
                  </a:lnTo>
                  <a:lnTo>
                    <a:pt x="6463284" y="797306"/>
                  </a:lnTo>
                  <a:lnTo>
                    <a:pt x="381254" y="797306"/>
                  </a:lnTo>
                  <a:lnTo>
                    <a:pt x="381254" y="788797"/>
                  </a:lnTo>
                  <a:lnTo>
                    <a:pt x="381254" y="797306"/>
                  </a:lnTo>
                  <a:cubicBezTo>
                    <a:pt x="170815" y="797179"/>
                    <a:pt x="0" y="629793"/>
                    <a:pt x="0" y="423037"/>
                  </a:cubicBezTo>
                  <a:lnTo>
                    <a:pt x="0" y="374269"/>
                  </a:lnTo>
                  <a:lnTo>
                    <a:pt x="8509" y="374269"/>
                  </a:lnTo>
                  <a:lnTo>
                    <a:pt x="0" y="374269"/>
                  </a:lnTo>
                  <a:moveTo>
                    <a:pt x="16891" y="374269"/>
                  </a:moveTo>
                  <a:lnTo>
                    <a:pt x="16891" y="423037"/>
                  </a:lnTo>
                  <a:lnTo>
                    <a:pt x="8509" y="423037"/>
                  </a:lnTo>
                  <a:lnTo>
                    <a:pt x="17018" y="423037"/>
                  </a:lnTo>
                  <a:cubicBezTo>
                    <a:pt x="17018" y="620268"/>
                    <a:pt x="179959" y="780288"/>
                    <a:pt x="381381" y="780288"/>
                  </a:cubicBezTo>
                  <a:lnTo>
                    <a:pt x="6463411" y="780288"/>
                  </a:lnTo>
                  <a:cubicBezTo>
                    <a:pt x="6664706" y="780288"/>
                    <a:pt x="6827774" y="620141"/>
                    <a:pt x="6827774" y="423037"/>
                  </a:cubicBezTo>
                  <a:lnTo>
                    <a:pt x="6827774" y="374269"/>
                  </a:lnTo>
                  <a:cubicBezTo>
                    <a:pt x="6827774" y="177038"/>
                    <a:pt x="6664833" y="17018"/>
                    <a:pt x="6463411" y="17018"/>
                  </a:cubicBezTo>
                  <a:lnTo>
                    <a:pt x="381254" y="17018"/>
                  </a:lnTo>
                  <a:lnTo>
                    <a:pt x="381254" y="8509"/>
                  </a:lnTo>
                  <a:lnTo>
                    <a:pt x="381254" y="17018"/>
                  </a:lnTo>
                  <a:cubicBezTo>
                    <a:pt x="179832" y="16891"/>
                    <a:pt x="16891" y="177038"/>
                    <a:pt x="16891" y="374269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058400" y="1737360"/>
            <a:ext cx="5120640" cy="585216"/>
            <a:chOff x="0" y="0"/>
            <a:chExt cx="6827520" cy="780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8275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OpenCog + SingularityNET = Decentralized AGI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1792224"/>
            <a:ext cx="16459200" cy="822960"/>
            <a:chOff x="0" y="0"/>
            <a:chExt cx="2194560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219456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🔗  SingularityNET Ecosystem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42287" y="2736847"/>
            <a:ext cx="8242297" cy="6687817"/>
            <a:chOff x="0" y="0"/>
            <a:chExt cx="10989729" cy="891708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8509" y="8509"/>
              <a:ext cx="10972800" cy="8900160"/>
            </a:xfrm>
            <a:custGeom>
              <a:avLst/>
              <a:gdLst/>
              <a:ahLst/>
              <a:cxnLst/>
              <a:rect r="r" b="b" t="t" l="l"/>
              <a:pathLst>
                <a:path h="890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00160"/>
                  </a:lnTo>
                  <a:lnTo>
                    <a:pt x="0" y="89001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89818" cy="8917178"/>
            </a:xfrm>
            <a:custGeom>
              <a:avLst/>
              <a:gdLst/>
              <a:ahLst/>
              <a:cxnLst/>
              <a:rect r="r" b="b" t="t" l="l"/>
              <a:pathLst>
                <a:path h="891717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8908669"/>
                  </a:lnTo>
                  <a:cubicBezTo>
                    <a:pt x="10989818" y="8913368"/>
                    <a:pt x="10986008" y="8917178"/>
                    <a:pt x="10981309" y="8917178"/>
                  </a:cubicBezTo>
                  <a:lnTo>
                    <a:pt x="8509" y="8917178"/>
                  </a:lnTo>
                  <a:cubicBezTo>
                    <a:pt x="3810" y="8917178"/>
                    <a:pt x="0" y="8913368"/>
                    <a:pt x="0" y="89086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908669"/>
                  </a:lnTo>
                  <a:lnTo>
                    <a:pt x="8509" y="8908669"/>
                  </a:lnTo>
                  <a:lnTo>
                    <a:pt x="8509" y="8900160"/>
                  </a:lnTo>
                  <a:lnTo>
                    <a:pt x="10981309" y="8900160"/>
                  </a:lnTo>
                  <a:lnTo>
                    <a:pt x="10981309" y="8908669"/>
                  </a:lnTo>
                  <a:lnTo>
                    <a:pt x="10972800" y="890866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2962656"/>
            <a:ext cx="658368" cy="658368"/>
            <a:chOff x="0" y="0"/>
            <a:chExt cx="877824" cy="8778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2962656"/>
            <a:ext cx="658368" cy="658368"/>
            <a:chOff x="0" y="0"/>
            <a:chExt cx="877824" cy="8778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🧠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45920" y="3017520"/>
            <a:ext cx="6766560" cy="438912"/>
            <a:chOff x="0" y="0"/>
            <a:chExt cx="9022080" cy="58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022080" cy="585216"/>
            </a:xfrm>
            <a:custGeom>
              <a:avLst/>
              <a:gdLst/>
              <a:ahLst/>
              <a:cxnLst/>
              <a:rect r="r" b="b" t="t" l="l"/>
              <a:pathLst>
                <a:path h="585216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94" r="0" b="-25039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0220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Integration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10263" y="3736343"/>
            <a:ext cx="7706363" cy="1122683"/>
            <a:chOff x="0" y="0"/>
            <a:chExt cx="10275151" cy="14969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1024128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7506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479931"/>
                  </a:lnTo>
                  <a:cubicBezTo>
                    <a:pt x="10275062" y="1489329"/>
                    <a:pt x="10267442" y="1496822"/>
                    <a:pt x="10258172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258172" y="1463040"/>
                  </a:lnTo>
                  <a:lnTo>
                    <a:pt x="10258172" y="1479931"/>
                  </a:lnTo>
                  <a:lnTo>
                    <a:pt x="10241280" y="1479931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05840" y="3931920"/>
            <a:ext cx="182880" cy="182880"/>
            <a:chOff x="0" y="0"/>
            <a:chExt cx="243840" cy="243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16736" y="3767328"/>
            <a:ext cx="6766560" cy="365760"/>
            <a:chOff x="0" y="0"/>
            <a:chExt cx="9022080" cy="487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022080" cy="487680"/>
            </a:xfrm>
            <a:custGeom>
              <a:avLst/>
              <a:gdLst/>
              <a:ahLst/>
              <a:cxnLst/>
              <a:rect r="r" b="b" t="t" l="l"/>
              <a:pathLst>
                <a:path h="48768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02208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AGI Framework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16736" y="4169664"/>
            <a:ext cx="6766560" cy="548640"/>
            <a:chOff x="0" y="0"/>
            <a:chExt cx="902208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02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OpenCog provides the cognitive architecture for AGI development within the SingularityNET ecosystem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10263" y="4979927"/>
            <a:ext cx="7706363" cy="1122683"/>
            <a:chOff x="0" y="0"/>
            <a:chExt cx="10275151" cy="14969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24128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7506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479931"/>
                  </a:lnTo>
                  <a:cubicBezTo>
                    <a:pt x="10275062" y="1489329"/>
                    <a:pt x="10267442" y="1496822"/>
                    <a:pt x="10258172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258172" y="1463040"/>
                  </a:lnTo>
                  <a:lnTo>
                    <a:pt x="10258172" y="1479931"/>
                  </a:lnTo>
                  <a:lnTo>
                    <a:pt x="10241280" y="1479931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05840" y="5175504"/>
            <a:ext cx="182880" cy="182880"/>
            <a:chOff x="0" y="0"/>
            <a:chExt cx="243840" cy="243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16736" y="5010912"/>
            <a:ext cx="6766560" cy="365760"/>
            <a:chOff x="0" y="0"/>
            <a:chExt cx="9022080" cy="4876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022080" cy="487680"/>
            </a:xfrm>
            <a:custGeom>
              <a:avLst/>
              <a:gdLst/>
              <a:ahLst/>
              <a:cxnLst/>
              <a:rect r="r" b="b" t="t" l="l"/>
              <a:pathLst>
                <a:path h="48768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902208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Knowledge Graph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16736" y="5413248"/>
            <a:ext cx="6766560" cy="548640"/>
            <a:chOff x="0" y="0"/>
            <a:chExt cx="902208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02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Semantic knowledge representation using AtomSpace hypergraph structure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10263" y="6223511"/>
            <a:ext cx="7706363" cy="1122683"/>
            <a:chOff x="0" y="0"/>
            <a:chExt cx="10275151" cy="149691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1024128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7506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479931"/>
                  </a:lnTo>
                  <a:cubicBezTo>
                    <a:pt x="10275062" y="1489329"/>
                    <a:pt x="10267442" y="1496822"/>
                    <a:pt x="10258172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258172" y="1463040"/>
                  </a:lnTo>
                  <a:lnTo>
                    <a:pt x="10258172" y="1479931"/>
                  </a:lnTo>
                  <a:lnTo>
                    <a:pt x="10241280" y="1479931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05840" y="6419088"/>
            <a:ext cx="182880" cy="182880"/>
            <a:chOff x="0" y="0"/>
            <a:chExt cx="243840" cy="2438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16736" y="6254496"/>
            <a:ext cx="6766560" cy="365760"/>
            <a:chOff x="0" y="0"/>
            <a:chExt cx="9022080" cy="4876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022080" cy="487680"/>
            </a:xfrm>
            <a:custGeom>
              <a:avLst/>
              <a:gdLst/>
              <a:ahLst/>
              <a:cxnLst/>
              <a:rect r="r" b="b" t="t" l="l"/>
              <a:pathLst>
                <a:path h="48768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902208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Decentralized AI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16736" y="6656832"/>
            <a:ext cx="6766560" cy="548640"/>
            <a:chOff x="0" y="0"/>
            <a:chExt cx="902208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902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OpenCog agents can be deployed as services on SingularityNET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10263" y="7467095"/>
            <a:ext cx="7706363" cy="1122683"/>
            <a:chOff x="0" y="0"/>
            <a:chExt cx="10275151" cy="149691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1024128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27506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479931"/>
                  </a:lnTo>
                  <a:cubicBezTo>
                    <a:pt x="10275062" y="1489329"/>
                    <a:pt x="10267442" y="1496822"/>
                    <a:pt x="10258172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258172" y="1463040"/>
                  </a:lnTo>
                  <a:lnTo>
                    <a:pt x="10258172" y="1479931"/>
                  </a:lnTo>
                  <a:lnTo>
                    <a:pt x="10241280" y="1479931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005840" y="7662672"/>
            <a:ext cx="182880" cy="182880"/>
            <a:chOff x="0" y="0"/>
            <a:chExt cx="243840" cy="2438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16736" y="7498080"/>
            <a:ext cx="6766560" cy="365760"/>
            <a:chOff x="0" y="0"/>
            <a:chExt cx="9022080" cy="4876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022080" cy="487680"/>
            </a:xfrm>
            <a:custGeom>
              <a:avLst/>
              <a:gdLst/>
              <a:ahLst/>
              <a:cxnLst/>
              <a:rect r="r" b="b" t="t" l="l"/>
              <a:pathLst>
                <a:path h="48768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902208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Economic Model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16736" y="7900416"/>
            <a:ext cx="6766560" cy="548640"/>
            <a:chOff x="0" y="0"/>
            <a:chExt cx="902208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902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AGI tokens for incentivizing AI development and collaboration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16607" y="8863327"/>
            <a:ext cx="2207257" cy="927097"/>
            <a:chOff x="0" y="0"/>
            <a:chExt cx="2943009" cy="123612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8509" y="8509"/>
              <a:ext cx="2926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943098" cy="1236218"/>
            </a:xfrm>
            <a:custGeom>
              <a:avLst/>
              <a:gdLst/>
              <a:ahLst/>
              <a:cxnLst/>
              <a:rect r="r" b="b" t="t" l="l"/>
              <a:pathLst>
                <a:path h="1236218" w="2943098">
                  <a:moveTo>
                    <a:pt x="8509" y="0"/>
                  </a:moveTo>
                  <a:lnTo>
                    <a:pt x="2934589" y="0"/>
                  </a:lnTo>
                  <a:cubicBezTo>
                    <a:pt x="2939288" y="0"/>
                    <a:pt x="2943098" y="3810"/>
                    <a:pt x="2943098" y="8509"/>
                  </a:cubicBezTo>
                  <a:lnTo>
                    <a:pt x="2943098" y="1227709"/>
                  </a:lnTo>
                  <a:cubicBezTo>
                    <a:pt x="2943098" y="1232408"/>
                    <a:pt x="2939288" y="1236218"/>
                    <a:pt x="2934589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2934589" y="1219200"/>
                  </a:lnTo>
                  <a:lnTo>
                    <a:pt x="2934589" y="1227709"/>
                  </a:lnTo>
                  <a:lnTo>
                    <a:pt x="2926080" y="1227709"/>
                  </a:lnTo>
                  <a:lnTo>
                    <a:pt x="2926080" y="8509"/>
                  </a:lnTo>
                  <a:lnTo>
                    <a:pt x="2934589" y="8509"/>
                  </a:lnTo>
                  <a:lnTo>
                    <a:pt x="29345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22960" y="8924544"/>
            <a:ext cx="2194560" cy="402336"/>
            <a:chOff x="0" y="0"/>
            <a:chExt cx="2926080" cy="53644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926080" cy="536448"/>
            </a:xfrm>
            <a:custGeom>
              <a:avLst/>
              <a:gdLst/>
              <a:ahLst/>
              <a:cxnLst/>
              <a:rect r="r" b="b" t="t" l="l"/>
              <a:pathLst>
                <a:path h="53644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66675"/>
              <a:ext cx="2926080" cy="603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22960" y="9326880"/>
            <a:ext cx="2194560" cy="329184"/>
            <a:chOff x="0" y="0"/>
            <a:chExt cx="2926080" cy="43891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926080" cy="438912"/>
            </a:xfrm>
            <a:custGeom>
              <a:avLst/>
              <a:gdLst/>
              <a:ahLst/>
              <a:cxnLst/>
              <a:rect r="r" b="b" t="t" l="l"/>
              <a:pathLst>
                <a:path h="43891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9260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Services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3376927" y="8863327"/>
            <a:ext cx="2207257" cy="927097"/>
            <a:chOff x="0" y="0"/>
            <a:chExt cx="2943009" cy="123612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8509" y="8509"/>
              <a:ext cx="2926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943098" cy="1236218"/>
            </a:xfrm>
            <a:custGeom>
              <a:avLst/>
              <a:gdLst/>
              <a:ahLst/>
              <a:cxnLst/>
              <a:rect r="r" b="b" t="t" l="l"/>
              <a:pathLst>
                <a:path h="1236218" w="2943098">
                  <a:moveTo>
                    <a:pt x="8509" y="0"/>
                  </a:moveTo>
                  <a:lnTo>
                    <a:pt x="2934589" y="0"/>
                  </a:lnTo>
                  <a:cubicBezTo>
                    <a:pt x="2939288" y="0"/>
                    <a:pt x="2943098" y="3810"/>
                    <a:pt x="2943098" y="8509"/>
                  </a:cubicBezTo>
                  <a:lnTo>
                    <a:pt x="2943098" y="1227709"/>
                  </a:lnTo>
                  <a:cubicBezTo>
                    <a:pt x="2943098" y="1232408"/>
                    <a:pt x="2939288" y="1236218"/>
                    <a:pt x="2934589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2934589" y="1219200"/>
                  </a:lnTo>
                  <a:lnTo>
                    <a:pt x="2934589" y="1227709"/>
                  </a:lnTo>
                  <a:lnTo>
                    <a:pt x="2926080" y="1227709"/>
                  </a:lnTo>
                  <a:lnTo>
                    <a:pt x="2926080" y="8509"/>
                  </a:lnTo>
                  <a:lnTo>
                    <a:pt x="2934589" y="8509"/>
                  </a:lnTo>
                  <a:lnTo>
                    <a:pt x="29345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3383280" y="8924544"/>
            <a:ext cx="2194560" cy="402336"/>
            <a:chOff x="0" y="0"/>
            <a:chExt cx="2926080" cy="53644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926080" cy="536448"/>
            </a:xfrm>
            <a:custGeom>
              <a:avLst/>
              <a:gdLst/>
              <a:ahLst/>
              <a:cxnLst/>
              <a:rect r="r" b="b" t="t" l="l"/>
              <a:pathLst>
                <a:path h="53644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66675"/>
              <a:ext cx="2926080" cy="603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50+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3383280" y="9326880"/>
            <a:ext cx="2194560" cy="329184"/>
            <a:chOff x="0" y="0"/>
            <a:chExt cx="2926080" cy="43891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926080" cy="438912"/>
            </a:xfrm>
            <a:custGeom>
              <a:avLst/>
              <a:gdLst/>
              <a:ahLst/>
              <a:cxnLst/>
              <a:rect r="r" b="b" t="t" l="l"/>
              <a:pathLst>
                <a:path h="43891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9260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Developers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5937247" y="8863327"/>
            <a:ext cx="2207257" cy="927097"/>
            <a:chOff x="0" y="0"/>
            <a:chExt cx="2943009" cy="123612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8509" y="8509"/>
              <a:ext cx="2926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943098" cy="1236218"/>
            </a:xfrm>
            <a:custGeom>
              <a:avLst/>
              <a:gdLst/>
              <a:ahLst/>
              <a:cxnLst/>
              <a:rect r="r" b="b" t="t" l="l"/>
              <a:pathLst>
                <a:path h="1236218" w="2943098">
                  <a:moveTo>
                    <a:pt x="8509" y="0"/>
                  </a:moveTo>
                  <a:lnTo>
                    <a:pt x="2934589" y="0"/>
                  </a:lnTo>
                  <a:cubicBezTo>
                    <a:pt x="2939288" y="0"/>
                    <a:pt x="2943098" y="3810"/>
                    <a:pt x="2943098" y="8509"/>
                  </a:cubicBezTo>
                  <a:lnTo>
                    <a:pt x="2943098" y="1227709"/>
                  </a:lnTo>
                  <a:cubicBezTo>
                    <a:pt x="2943098" y="1232408"/>
                    <a:pt x="2939288" y="1236218"/>
                    <a:pt x="2934589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2934589" y="1219200"/>
                  </a:lnTo>
                  <a:lnTo>
                    <a:pt x="2934589" y="1227709"/>
                  </a:lnTo>
                  <a:lnTo>
                    <a:pt x="2926080" y="1227709"/>
                  </a:lnTo>
                  <a:lnTo>
                    <a:pt x="2926080" y="8509"/>
                  </a:lnTo>
                  <a:lnTo>
                    <a:pt x="2934589" y="8509"/>
                  </a:lnTo>
                  <a:lnTo>
                    <a:pt x="29345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5943600" y="8924544"/>
            <a:ext cx="2194560" cy="402336"/>
            <a:chOff x="0" y="0"/>
            <a:chExt cx="2926080" cy="53644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926080" cy="536448"/>
            </a:xfrm>
            <a:custGeom>
              <a:avLst/>
              <a:gdLst/>
              <a:ahLst/>
              <a:cxnLst/>
              <a:rect r="r" b="b" t="t" l="l"/>
              <a:pathLst>
                <a:path h="53644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66675"/>
              <a:ext cx="2926080" cy="603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1000+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943600" y="9326880"/>
            <a:ext cx="2194560" cy="329184"/>
            <a:chOff x="0" y="0"/>
            <a:chExt cx="2926080" cy="43891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926080" cy="438912"/>
            </a:xfrm>
            <a:custGeom>
              <a:avLst/>
              <a:gdLst/>
              <a:ahLst/>
              <a:cxnLst/>
              <a:rect r="r" b="b" t="t" l="l"/>
              <a:pathLst>
                <a:path h="43891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92608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320527" y="2736847"/>
            <a:ext cx="8242297" cy="6687817"/>
            <a:chOff x="0" y="0"/>
            <a:chExt cx="10989729" cy="891708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8509" y="8509"/>
              <a:ext cx="10972800" cy="8900160"/>
            </a:xfrm>
            <a:custGeom>
              <a:avLst/>
              <a:gdLst/>
              <a:ahLst/>
              <a:cxnLst/>
              <a:rect r="r" b="b" t="t" l="l"/>
              <a:pathLst>
                <a:path h="8900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00160"/>
                  </a:lnTo>
                  <a:lnTo>
                    <a:pt x="0" y="89001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989818" cy="8917178"/>
            </a:xfrm>
            <a:custGeom>
              <a:avLst/>
              <a:gdLst/>
              <a:ahLst/>
              <a:cxnLst/>
              <a:rect r="r" b="b" t="t" l="l"/>
              <a:pathLst>
                <a:path h="891717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8908669"/>
                  </a:lnTo>
                  <a:cubicBezTo>
                    <a:pt x="10989818" y="8913368"/>
                    <a:pt x="10986008" y="8917178"/>
                    <a:pt x="10981309" y="8917178"/>
                  </a:cubicBezTo>
                  <a:lnTo>
                    <a:pt x="8509" y="8917178"/>
                  </a:lnTo>
                  <a:cubicBezTo>
                    <a:pt x="3810" y="8917178"/>
                    <a:pt x="0" y="8913368"/>
                    <a:pt x="0" y="89086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908669"/>
                  </a:lnTo>
                  <a:lnTo>
                    <a:pt x="8509" y="8908669"/>
                  </a:lnTo>
                  <a:lnTo>
                    <a:pt x="8509" y="8900160"/>
                  </a:lnTo>
                  <a:lnTo>
                    <a:pt x="10981309" y="8900160"/>
                  </a:lnTo>
                  <a:lnTo>
                    <a:pt x="10981309" y="8908669"/>
                  </a:lnTo>
                  <a:lnTo>
                    <a:pt x="10972800" y="890866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601200" y="2962656"/>
            <a:ext cx="658368" cy="658368"/>
            <a:chOff x="0" y="0"/>
            <a:chExt cx="877824" cy="87782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601200" y="2962656"/>
            <a:ext cx="658368" cy="658368"/>
            <a:chOff x="0" y="0"/>
            <a:chExt cx="877824" cy="87782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🧩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0424160" y="3017520"/>
            <a:ext cx="6766560" cy="438912"/>
            <a:chOff x="0" y="0"/>
            <a:chExt cx="9022080" cy="58521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9022080" cy="585216"/>
            </a:xfrm>
            <a:custGeom>
              <a:avLst/>
              <a:gdLst/>
              <a:ahLst/>
              <a:cxnLst/>
              <a:rect r="r" b="b" t="t" l="l"/>
              <a:pathLst>
                <a:path h="585216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94" r="0" b="-250394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47625"/>
              <a:ext cx="90220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Ecosystem Components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588503" y="3736343"/>
            <a:ext cx="7706363" cy="1122683"/>
            <a:chOff x="0" y="0"/>
            <a:chExt cx="10275151" cy="149691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1024128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027506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479931"/>
                  </a:lnTo>
                  <a:cubicBezTo>
                    <a:pt x="10275062" y="1489329"/>
                    <a:pt x="10267442" y="1496822"/>
                    <a:pt x="10258172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258172" y="1463040"/>
                  </a:lnTo>
                  <a:lnTo>
                    <a:pt x="10258172" y="1479931"/>
                  </a:lnTo>
                  <a:lnTo>
                    <a:pt x="10241280" y="1479931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9784080" y="3931920"/>
            <a:ext cx="182880" cy="182880"/>
            <a:chOff x="0" y="0"/>
            <a:chExt cx="243840" cy="2438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0094976" y="3767328"/>
            <a:ext cx="6766560" cy="365760"/>
            <a:chOff x="0" y="0"/>
            <a:chExt cx="9022080" cy="48768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022080" cy="487680"/>
            </a:xfrm>
            <a:custGeom>
              <a:avLst/>
              <a:gdLst/>
              <a:ahLst/>
              <a:cxnLst/>
              <a:rect r="r" b="b" t="t" l="l"/>
              <a:pathLst>
                <a:path h="48768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47625"/>
              <a:ext cx="902208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Marketplace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0094976" y="4169664"/>
            <a:ext cx="6766560" cy="548640"/>
            <a:chOff x="0" y="0"/>
            <a:chExt cx="9022080" cy="73152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902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Decentralized platform for AI services exchange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588503" y="4979927"/>
            <a:ext cx="7706363" cy="1122683"/>
            <a:chOff x="0" y="0"/>
            <a:chExt cx="10275151" cy="1496911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16891" y="16891"/>
              <a:ext cx="1024128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027506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479931"/>
                  </a:lnTo>
                  <a:cubicBezTo>
                    <a:pt x="10275062" y="1489329"/>
                    <a:pt x="10267442" y="1496822"/>
                    <a:pt x="10258172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258172" y="1463040"/>
                  </a:lnTo>
                  <a:lnTo>
                    <a:pt x="10258172" y="1479931"/>
                  </a:lnTo>
                  <a:lnTo>
                    <a:pt x="10241280" y="1479931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9784080" y="5175504"/>
            <a:ext cx="182880" cy="182880"/>
            <a:chOff x="0" y="0"/>
            <a:chExt cx="243840" cy="2438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0094976" y="5010912"/>
            <a:ext cx="6766560" cy="365760"/>
            <a:chOff x="0" y="0"/>
            <a:chExt cx="9022080" cy="48768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9022080" cy="487680"/>
            </a:xfrm>
            <a:custGeom>
              <a:avLst/>
              <a:gdLst/>
              <a:ahLst/>
              <a:cxnLst/>
              <a:rect r="r" b="b" t="t" l="l"/>
              <a:pathLst>
                <a:path h="48768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902208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AGI Token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0094976" y="5413248"/>
            <a:ext cx="6766560" cy="548640"/>
            <a:chOff x="0" y="0"/>
            <a:chExt cx="9022080" cy="73152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902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Native cryptocurrency for ecosystem transactions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9588503" y="6223511"/>
            <a:ext cx="7706363" cy="1122683"/>
            <a:chOff x="0" y="0"/>
            <a:chExt cx="10275151" cy="149691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1024128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027506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479931"/>
                  </a:lnTo>
                  <a:cubicBezTo>
                    <a:pt x="10275062" y="1489329"/>
                    <a:pt x="10267442" y="1496822"/>
                    <a:pt x="10258172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258172" y="1463040"/>
                  </a:lnTo>
                  <a:lnTo>
                    <a:pt x="10258172" y="1479931"/>
                  </a:lnTo>
                  <a:lnTo>
                    <a:pt x="10241280" y="1479931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784080" y="6419088"/>
            <a:ext cx="182880" cy="182880"/>
            <a:chOff x="0" y="0"/>
            <a:chExt cx="243840" cy="2438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0094976" y="6254496"/>
            <a:ext cx="6766560" cy="365760"/>
            <a:chOff x="0" y="0"/>
            <a:chExt cx="9022080" cy="48768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9022080" cy="487680"/>
            </a:xfrm>
            <a:custGeom>
              <a:avLst/>
              <a:gdLst/>
              <a:ahLst/>
              <a:cxnLst/>
              <a:rect r="r" b="b" t="t" l="l"/>
              <a:pathLst>
                <a:path h="48768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47625"/>
              <a:ext cx="902208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Reputation System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0094976" y="6656832"/>
            <a:ext cx="6766560" cy="548640"/>
            <a:chOff x="0" y="0"/>
            <a:chExt cx="9022080" cy="73152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902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Trust and quality metrics for AI services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9588503" y="7467095"/>
            <a:ext cx="7706363" cy="1122683"/>
            <a:chOff x="0" y="0"/>
            <a:chExt cx="10275151" cy="1496911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16891" y="16891"/>
              <a:ext cx="1024128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027506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479931"/>
                  </a:lnTo>
                  <a:cubicBezTo>
                    <a:pt x="10275062" y="1489329"/>
                    <a:pt x="10267442" y="1496822"/>
                    <a:pt x="10258172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258172" y="1463040"/>
                  </a:lnTo>
                  <a:lnTo>
                    <a:pt x="10258172" y="1479931"/>
                  </a:lnTo>
                  <a:lnTo>
                    <a:pt x="10241280" y="1479931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784080" y="7662672"/>
            <a:ext cx="182880" cy="182880"/>
            <a:chOff x="0" y="0"/>
            <a:chExt cx="243840" cy="24384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0094976" y="7498080"/>
            <a:ext cx="6766560" cy="365760"/>
            <a:chOff x="0" y="0"/>
            <a:chExt cx="9022080" cy="48768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9022080" cy="487680"/>
            </a:xfrm>
            <a:custGeom>
              <a:avLst/>
              <a:gdLst/>
              <a:ahLst/>
              <a:cxnLst/>
              <a:rect r="r" b="b" t="t" l="l"/>
              <a:pathLst>
                <a:path h="48768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47625"/>
              <a:ext cx="902208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Contracts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10094976" y="7900416"/>
            <a:ext cx="6766560" cy="548640"/>
            <a:chOff x="0" y="0"/>
            <a:chExt cx="9022080" cy="73152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902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Automated service agreements and payments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1440"/>
            <a:ext cx="13716000" cy="822960"/>
            <a:chOff x="0" y="0"/>
            <a:chExt cx="182880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82880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Limitations, Future Directions, and Key Takeaways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14400"/>
            <a:ext cx="13716000" cy="512064"/>
            <a:chOff x="0" y="0"/>
            <a:chExt cx="1828800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288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E0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OpenCog's current state and future roadmap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30400" y="512064"/>
            <a:ext cx="3291840" cy="548640"/>
            <a:chOff x="0" y="0"/>
            <a:chExt cx="43891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 52/53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429487" y="1731007"/>
            <a:ext cx="5133337" cy="597913"/>
            <a:chOff x="0" y="0"/>
            <a:chExt cx="6844449" cy="7972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509" y="8509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365760"/>
                  </a:moveTo>
                  <a:cubicBezTo>
                    <a:pt x="0" y="163703"/>
                    <a:pt x="166878" y="0"/>
                    <a:pt x="372745" y="0"/>
                  </a:cubicBezTo>
                  <a:lnTo>
                    <a:pt x="6454775" y="0"/>
                  </a:lnTo>
                  <a:cubicBezTo>
                    <a:pt x="6660642" y="0"/>
                    <a:pt x="6827520" y="163703"/>
                    <a:pt x="6827520" y="365760"/>
                  </a:cubicBezTo>
                  <a:lnTo>
                    <a:pt x="6827520" y="414528"/>
                  </a:lnTo>
                  <a:cubicBezTo>
                    <a:pt x="6827520" y="616585"/>
                    <a:pt x="6660642" y="780288"/>
                    <a:pt x="6454775" y="780288"/>
                  </a:cubicBezTo>
                  <a:lnTo>
                    <a:pt x="372745" y="780288"/>
                  </a:lnTo>
                  <a:cubicBezTo>
                    <a:pt x="166878" y="780288"/>
                    <a:pt x="0" y="616458"/>
                    <a:pt x="0" y="41452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44538" cy="797306"/>
            </a:xfrm>
            <a:custGeom>
              <a:avLst/>
              <a:gdLst/>
              <a:ahLst/>
              <a:cxnLst/>
              <a:rect r="r" b="b" t="t" l="l"/>
              <a:pathLst>
                <a:path h="797306" w="6844538">
                  <a:moveTo>
                    <a:pt x="0" y="374269"/>
                  </a:moveTo>
                  <a:cubicBezTo>
                    <a:pt x="0" y="167386"/>
                    <a:pt x="170815" y="0"/>
                    <a:pt x="381254" y="0"/>
                  </a:cubicBezTo>
                  <a:lnTo>
                    <a:pt x="6463284" y="0"/>
                  </a:lnTo>
                  <a:lnTo>
                    <a:pt x="6463284" y="8509"/>
                  </a:lnTo>
                  <a:lnTo>
                    <a:pt x="6463284" y="0"/>
                  </a:lnTo>
                  <a:cubicBezTo>
                    <a:pt x="6673723" y="0"/>
                    <a:pt x="6844538" y="167386"/>
                    <a:pt x="6844538" y="374269"/>
                  </a:cubicBezTo>
                  <a:lnTo>
                    <a:pt x="6836029" y="374269"/>
                  </a:lnTo>
                  <a:lnTo>
                    <a:pt x="6844538" y="374269"/>
                  </a:lnTo>
                  <a:lnTo>
                    <a:pt x="6844538" y="423037"/>
                  </a:lnTo>
                  <a:lnTo>
                    <a:pt x="6836029" y="423037"/>
                  </a:lnTo>
                  <a:lnTo>
                    <a:pt x="6844538" y="423037"/>
                  </a:lnTo>
                  <a:cubicBezTo>
                    <a:pt x="6844538" y="629920"/>
                    <a:pt x="6673723" y="797306"/>
                    <a:pt x="6463284" y="797306"/>
                  </a:cubicBezTo>
                  <a:lnTo>
                    <a:pt x="6463284" y="788797"/>
                  </a:lnTo>
                  <a:lnTo>
                    <a:pt x="6463284" y="797306"/>
                  </a:lnTo>
                  <a:lnTo>
                    <a:pt x="381254" y="797306"/>
                  </a:lnTo>
                  <a:lnTo>
                    <a:pt x="381254" y="788797"/>
                  </a:lnTo>
                  <a:lnTo>
                    <a:pt x="381254" y="797306"/>
                  </a:lnTo>
                  <a:cubicBezTo>
                    <a:pt x="170815" y="797179"/>
                    <a:pt x="0" y="629793"/>
                    <a:pt x="0" y="423037"/>
                  </a:cubicBezTo>
                  <a:lnTo>
                    <a:pt x="0" y="374269"/>
                  </a:lnTo>
                  <a:lnTo>
                    <a:pt x="8509" y="374269"/>
                  </a:lnTo>
                  <a:lnTo>
                    <a:pt x="0" y="374269"/>
                  </a:lnTo>
                  <a:moveTo>
                    <a:pt x="16891" y="374269"/>
                  </a:moveTo>
                  <a:lnTo>
                    <a:pt x="16891" y="423037"/>
                  </a:lnTo>
                  <a:lnTo>
                    <a:pt x="8509" y="423037"/>
                  </a:lnTo>
                  <a:lnTo>
                    <a:pt x="17018" y="423037"/>
                  </a:lnTo>
                  <a:cubicBezTo>
                    <a:pt x="17018" y="620268"/>
                    <a:pt x="179959" y="780288"/>
                    <a:pt x="381381" y="780288"/>
                  </a:cubicBezTo>
                  <a:lnTo>
                    <a:pt x="6463411" y="780288"/>
                  </a:lnTo>
                  <a:cubicBezTo>
                    <a:pt x="6664706" y="780288"/>
                    <a:pt x="6827774" y="620141"/>
                    <a:pt x="6827774" y="423037"/>
                  </a:cubicBezTo>
                  <a:lnTo>
                    <a:pt x="6827774" y="374269"/>
                  </a:lnTo>
                  <a:cubicBezTo>
                    <a:pt x="6827774" y="177038"/>
                    <a:pt x="6664833" y="17018"/>
                    <a:pt x="6463411" y="17018"/>
                  </a:cubicBezTo>
                  <a:lnTo>
                    <a:pt x="381254" y="17018"/>
                  </a:lnTo>
                  <a:lnTo>
                    <a:pt x="381254" y="8509"/>
                  </a:lnTo>
                  <a:lnTo>
                    <a:pt x="381254" y="17018"/>
                  </a:lnTo>
                  <a:cubicBezTo>
                    <a:pt x="179832" y="16891"/>
                    <a:pt x="16891" y="177038"/>
                    <a:pt x="16891" y="374269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435840" y="1737360"/>
            <a:ext cx="5120640" cy="585216"/>
            <a:chOff x="0" y="0"/>
            <a:chExt cx="6827520" cy="780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8275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Key Takeaways &amp; Future Vision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1792224"/>
            <a:ext cx="16459200" cy="822960"/>
            <a:chOff x="0" y="0"/>
            <a:chExt cx="2194560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219456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🚀  OpenCog: Current State &amp; Future Roadmap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42287" y="2736847"/>
            <a:ext cx="5590537" cy="6559801"/>
            <a:chOff x="0" y="0"/>
            <a:chExt cx="7454049" cy="874640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8509" y="8509"/>
              <a:ext cx="7437119" cy="8729472"/>
            </a:xfrm>
            <a:custGeom>
              <a:avLst/>
              <a:gdLst/>
              <a:ahLst/>
              <a:cxnLst/>
              <a:rect r="r" b="b" t="t" l="l"/>
              <a:pathLst>
                <a:path h="8729472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8729472"/>
                  </a:lnTo>
                  <a:lnTo>
                    <a:pt x="0" y="87294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54138" cy="8746490"/>
            </a:xfrm>
            <a:custGeom>
              <a:avLst/>
              <a:gdLst/>
              <a:ahLst/>
              <a:cxnLst/>
              <a:rect r="r" b="b" t="t" l="l"/>
              <a:pathLst>
                <a:path h="8746490" w="7454138">
                  <a:moveTo>
                    <a:pt x="8509" y="0"/>
                  </a:moveTo>
                  <a:lnTo>
                    <a:pt x="7445628" y="0"/>
                  </a:lnTo>
                  <a:cubicBezTo>
                    <a:pt x="7450327" y="0"/>
                    <a:pt x="7454138" y="3810"/>
                    <a:pt x="7454138" y="8509"/>
                  </a:cubicBezTo>
                  <a:lnTo>
                    <a:pt x="7454138" y="8737981"/>
                  </a:lnTo>
                  <a:cubicBezTo>
                    <a:pt x="7454138" y="8742680"/>
                    <a:pt x="7450327" y="8746490"/>
                    <a:pt x="7445628" y="8746490"/>
                  </a:cubicBezTo>
                  <a:lnTo>
                    <a:pt x="8509" y="8746490"/>
                  </a:lnTo>
                  <a:cubicBezTo>
                    <a:pt x="3810" y="8746490"/>
                    <a:pt x="0" y="8742680"/>
                    <a:pt x="0" y="87379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37981"/>
                  </a:lnTo>
                  <a:lnTo>
                    <a:pt x="8509" y="8737981"/>
                  </a:lnTo>
                  <a:lnTo>
                    <a:pt x="8509" y="8729473"/>
                  </a:lnTo>
                  <a:lnTo>
                    <a:pt x="7445628" y="8729473"/>
                  </a:lnTo>
                  <a:lnTo>
                    <a:pt x="7445628" y="8737981"/>
                  </a:lnTo>
                  <a:lnTo>
                    <a:pt x="7437120" y="8737981"/>
                  </a:lnTo>
                  <a:lnTo>
                    <a:pt x="7437120" y="8509"/>
                  </a:lnTo>
                  <a:lnTo>
                    <a:pt x="7445628" y="8509"/>
                  </a:lnTo>
                  <a:lnTo>
                    <a:pt x="7445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68096" y="2962656"/>
            <a:ext cx="658368" cy="658368"/>
            <a:chOff x="0" y="0"/>
            <a:chExt cx="877824" cy="8778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68096" y="2962656"/>
            <a:ext cx="658368" cy="658368"/>
            <a:chOff x="0" y="0"/>
            <a:chExt cx="877824" cy="8778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⚠️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09344" y="3017520"/>
            <a:ext cx="4352544" cy="457200"/>
            <a:chOff x="0" y="0"/>
            <a:chExt cx="5803392" cy="609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03392" cy="609600"/>
            </a:xfrm>
            <a:custGeom>
              <a:avLst/>
              <a:gdLst/>
              <a:ahLst/>
              <a:cxnLst/>
              <a:rect r="r" b="b" t="t" l="l"/>
              <a:pathLst>
                <a:path h="60960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497" r="0" b="-13549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5803392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Limitations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61743" y="3651247"/>
            <a:ext cx="5151625" cy="12697"/>
            <a:chOff x="0" y="0"/>
            <a:chExt cx="6868833" cy="1692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8509" y="0"/>
              <a:ext cx="6851904" cy="16891"/>
            </a:xfrm>
            <a:custGeom>
              <a:avLst/>
              <a:gdLst/>
              <a:ahLst/>
              <a:cxnLst/>
              <a:rect r="r" b="b" t="t" l="l"/>
              <a:pathLst>
                <a:path h="16891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61743" y="3834127"/>
            <a:ext cx="5151625" cy="817369"/>
            <a:chOff x="0" y="0"/>
            <a:chExt cx="6868833" cy="10898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8509" y="8509"/>
              <a:ext cx="6851904" cy="1072896"/>
            </a:xfrm>
            <a:custGeom>
              <a:avLst/>
              <a:gdLst/>
              <a:ahLst/>
              <a:cxnLst/>
              <a:rect r="r" b="b" t="t" l="l"/>
              <a:pathLst>
                <a:path h="1072896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68922" cy="1089914"/>
            </a:xfrm>
            <a:custGeom>
              <a:avLst/>
              <a:gdLst/>
              <a:ahLst/>
              <a:cxnLst/>
              <a:rect r="r" b="b" t="t" l="l"/>
              <a:pathLst>
                <a:path h="1089914" w="6868922">
                  <a:moveTo>
                    <a:pt x="8509" y="0"/>
                  </a:moveTo>
                  <a:lnTo>
                    <a:pt x="6860413" y="0"/>
                  </a:lnTo>
                  <a:cubicBezTo>
                    <a:pt x="6865112" y="0"/>
                    <a:pt x="6868922" y="3810"/>
                    <a:pt x="6868922" y="8509"/>
                  </a:cubicBezTo>
                  <a:lnTo>
                    <a:pt x="6868922" y="1081405"/>
                  </a:lnTo>
                  <a:cubicBezTo>
                    <a:pt x="6868922" y="1086104"/>
                    <a:pt x="6865112" y="1089914"/>
                    <a:pt x="6860413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6860413" y="1072896"/>
                  </a:lnTo>
                  <a:lnTo>
                    <a:pt x="6860413" y="1081405"/>
                  </a:lnTo>
                  <a:lnTo>
                    <a:pt x="6851904" y="1081405"/>
                  </a:lnTo>
                  <a:lnTo>
                    <a:pt x="6851904" y="8509"/>
                  </a:lnTo>
                  <a:lnTo>
                    <a:pt x="6860413" y="8509"/>
                  </a:lnTo>
                  <a:lnTo>
                    <a:pt x="686041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" y="4023360"/>
            <a:ext cx="164592" cy="164592"/>
            <a:chOff x="0" y="0"/>
            <a:chExt cx="219456" cy="2194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07008" y="3812667"/>
            <a:ext cx="1554480" cy="365760"/>
            <a:chOff x="0" y="0"/>
            <a:chExt cx="2072640" cy="4876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0726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Scalability: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42213" y="4265274"/>
            <a:ext cx="6565392" cy="343302"/>
            <a:chOff x="0" y="0"/>
            <a:chExt cx="6096000" cy="31875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096000" cy="318757"/>
            </a:xfrm>
            <a:custGeom>
              <a:avLst/>
              <a:gdLst/>
              <a:ahLst/>
              <a:cxnLst/>
              <a:rect r="r" b="b" t="t" l="l"/>
              <a:pathLst>
                <a:path h="318757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318757"/>
                  </a:lnTo>
                  <a:lnTo>
                    <a:pt x="0" y="3187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139" r="0" b="-34913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6096000" cy="347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AtomSpace can become memory-intensive with large knowledge bases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61743" y="4785103"/>
            <a:ext cx="5151625" cy="817369"/>
            <a:chOff x="0" y="0"/>
            <a:chExt cx="6868833" cy="108982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8509" y="8509"/>
              <a:ext cx="6851904" cy="1072896"/>
            </a:xfrm>
            <a:custGeom>
              <a:avLst/>
              <a:gdLst/>
              <a:ahLst/>
              <a:cxnLst/>
              <a:rect r="r" b="b" t="t" l="l"/>
              <a:pathLst>
                <a:path h="1072896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68922" cy="1089914"/>
            </a:xfrm>
            <a:custGeom>
              <a:avLst/>
              <a:gdLst/>
              <a:ahLst/>
              <a:cxnLst/>
              <a:rect r="r" b="b" t="t" l="l"/>
              <a:pathLst>
                <a:path h="1089914" w="6868922">
                  <a:moveTo>
                    <a:pt x="8509" y="0"/>
                  </a:moveTo>
                  <a:lnTo>
                    <a:pt x="6860413" y="0"/>
                  </a:lnTo>
                  <a:cubicBezTo>
                    <a:pt x="6865112" y="0"/>
                    <a:pt x="6868922" y="3810"/>
                    <a:pt x="6868922" y="8509"/>
                  </a:cubicBezTo>
                  <a:lnTo>
                    <a:pt x="6868922" y="1081405"/>
                  </a:lnTo>
                  <a:cubicBezTo>
                    <a:pt x="6868922" y="1086104"/>
                    <a:pt x="6865112" y="1089914"/>
                    <a:pt x="6860413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6860413" y="1072896"/>
                  </a:lnTo>
                  <a:lnTo>
                    <a:pt x="6860413" y="1081405"/>
                  </a:lnTo>
                  <a:lnTo>
                    <a:pt x="6851904" y="1081405"/>
                  </a:lnTo>
                  <a:lnTo>
                    <a:pt x="6851904" y="8509"/>
                  </a:lnTo>
                  <a:lnTo>
                    <a:pt x="6860413" y="8509"/>
                  </a:lnTo>
                  <a:lnTo>
                    <a:pt x="686041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14400" y="4974336"/>
            <a:ext cx="164592" cy="164592"/>
            <a:chOff x="0" y="0"/>
            <a:chExt cx="219456" cy="2194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07008" y="4828032"/>
            <a:ext cx="1554480" cy="365760"/>
            <a:chOff x="0" y="0"/>
            <a:chExt cx="2072640" cy="4876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0726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Learning Curve: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59383" y="5156321"/>
            <a:ext cx="5040392" cy="403231"/>
            <a:chOff x="0" y="0"/>
            <a:chExt cx="6096000" cy="4876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60960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Complex architecture requires significant expertise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61743" y="5736079"/>
            <a:ext cx="5151625" cy="817369"/>
            <a:chOff x="0" y="0"/>
            <a:chExt cx="6868833" cy="108982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8509" y="8509"/>
              <a:ext cx="6851904" cy="1072896"/>
            </a:xfrm>
            <a:custGeom>
              <a:avLst/>
              <a:gdLst/>
              <a:ahLst/>
              <a:cxnLst/>
              <a:rect r="r" b="b" t="t" l="l"/>
              <a:pathLst>
                <a:path h="1072896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868922" cy="1089914"/>
            </a:xfrm>
            <a:custGeom>
              <a:avLst/>
              <a:gdLst/>
              <a:ahLst/>
              <a:cxnLst/>
              <a:rect r="r" b="b" t="t" l="l"/>
              <a:pathLst>
                <a:path h="1089914" w="6868922">
                  <a:moveTo>
                    <a:pt x="8509" y="0"/>
                  </a:moveTo>
                  <a:lnTo>
                    <a:pt x="6860413" y="0"/>
                  </a:lnTo>
                  <a:cubicBezTo>
                    <a:pt x="6865112" y="0"/>
                    <a:pt x="6868922" y="3810"/>
                    <a:pt x="6868922" y="8509"/>
                  </a:cubicBezTo>
                  <a:lnTo>
                    <a:pt x="6868922" y="1081405"/>
                  </a:lnTo>
                  <a:cubicBezTo>
                    <a:pt x="6868922" y="1086104"/>
                    <a:pt x="6865112" y="1089914"/>
                    <a:pt x="6860413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6860413" y="1072896"/>
                  </a:lnTo>
                  <a:lnTo>
                    <a:pt x="6860413" y="1081405"/>
                  </a:lnTo>
                  <a:lnTo>
                    <a:pt x="6851904" y="1081405"/>
                  </a:lnTo>
                  <a:lnTo>
                    <a:pt x="6851904" y="8509"/>
                  </a:lnTo>
                  <a:lnTo>
                    <a:pt x="6860413" y="8509"/>
                  </a:lnTo>
                  <a:lnTo>
                    <a:pt x="686041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14400" y="5925312"/>
            <a:ext cx="164592" cy="164592"/>
            <a:chOff x="0" y="0"/>
            <a:chExt cx="219456" cy="2194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07008" y="5754872"/>
            <a:ext cx="1554480" cy="365760"/>
            <a:chOff x="0" y="0"/>
            <a:chExt cx="2072640" cy="487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0726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Integration: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07008" y="6075558"/>
            <a:ext cx="5437127" cy="434970"/>
            <a:chOff x="0" y="0"/>
            <a:chExt cx="6096000" cy="4876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60960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Limited integration with modern deep learning frameworks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61743" y="6687055"/>
            <a:ext cx="5151625" cy="817369"/>
            <a:chOff x="0" y="0"/>
            <a:chExt cx="6868833" cy="108982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8509" y="8509"/>
              <a:ext cx="6851904" cy="1072896"/>
            </a:xfrm>
            <a:custGeom>
              <a:avLst/>
              <a:gdLst/>
              <a:ahLst/>
              <a:cxnLst/>
              <a:rect r="r" b="b" t="t" l="l"/>
              <a:pathLst>
                <a:path h="1072896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868922" cy="1089914"/>
            </a:xfrm>
            <a:custGeom>
              <a:avLst/>
              <a:gdLst/>
              <a:ahLst/>
              <a:cxnLst/>
              <a:rect r="r" b="b" t="t" l="l"/>
              <a:pathLst>
                <a:path h="1089914" w="6868922">
                  <a:moveTo>
                    <a:pt x="8509" y="0"/>
                  </a:moveTo>
                  <a:lnTo>
                    <a:pt x="6860413" y="0"/>
                  </a:lnTo>
                  <a:cubicBezTo>
                    <a:pt x="6865112" y="0"/>
                    <a:pt x="6868922" y="3810"/>
                    <a:pt x="6868922" y="8509"/>
                  </a:cubicBezTo>
                  <a:lnTo>
                    <a:pt x="6868922" y="1081405"/>
                  </a:lnTo>
                  <a:cubicBezTo>
                    <a:pt x="6868922" y="1086104"/>
                    <a:pt x="6865112" y="1089914"/>
                    <a:pt x="6860413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6860413" y="1072896"/>
                  </a:lnTo>
                  <a:lnTo>
                    <a:pt x="6860413" y="1081405"/>
                  </a:lnTo>
                  <a:lnTo>
                    <a:pt x="6851904" y="1081405"/>
                  </a:lnTo>
                  <a:lnTo>
                    <a:pt x="6851904" y="8509"/>
                  </a:lnTo>
                  <a:lnTo>
                    <a:pt x="6860413" y="8509"/>
                  </a:lnTo>
                  <a:lnTo>
                    <a:pt x="686041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14400" y="6876288"/>
            <a:ext cx="164592" cy="164592"/>
            <a:chOff x="0" y="0"/>
            <a:chExt cx="219456" cy="2194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207008" y="6729984"/>
            <a:ext cx="1554480" cy="365760"/>
            <a:chOff x="0" y="0"/>
            <a:chExt cx="2072640" cy="4876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20726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Performance: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07008" y="7095744"/>
            <a:ext cx="4572000" cy="365760"/>
            <a:chOff x="0" y="0"/>
            <a:chExt cx="6096000" cy="4876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60960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processing can be challenging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55399" y="7814567"/>
            <a:ext cx="5164331" cy="665483"/>
            <a:chOff x="0" y="0"/>
            <a:chExt cx="6885775" cy="88731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6851904" cy="853440"/>
            </a:xfrm>
            <a:custGeom>
              <a:avLst/>
              <a:gdLst/>
              <a:ahLst/>
              <a:cxnLst/>
              <a:rect r="r" b="b" t="t" l="l"/>
              <a:pathLst>
                <a:path h="853440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885686" cy="887224"/>
            </a:xfrm>
            <a:custGeom>
              <a:avLst/>
              <a:gdLst/>
              <a:ahLst/>
              <a:cxnLst/>
              <a:rect r="r" b="b" t="t" l="l"/>
              <a:pathLst>
                <a:path h="887224" w="6885686">
                  <a:moveTo>
                    <a:pt x="16891" y="0"/>
                  </a:moveTo>
                  <a:lnTo>
                    <a:pt x="6868795" y="0"/>
                  </a:lnTo>
                  <a:cubicBezTo>
                    <a:pt x="6878193" y="0"/>
                    <a:pt x="6885686" y="7620"/>
                    <a:pt x="6885686" y="16891"/>
                  </a:cubicBezTo>
                  <a:lnTo>
                    <a:pt x="6885686" y="870331"/>
                  </a:lnTo>
                  <a:cubicBezTo>
                    <a:pt x="6885686" y="879729"/>
                    <a:pt x="6878065" y="887222"/>
                    <a:pt x="6868795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6868795" y="853440"/>
                  </a:lnTo>
                  <a:lnTo>
                    <a:pt x="6868795" y="870331"/>
                  </a:lnTo>
                  <a:lnTo>
                    <a:pt x="6851903" y="870331"/>
                  </a:lnTo>
                  <a:lnTo>
                    <a:pt x="6851903" y="16891"/>
                  </a:lnTo>
                  <a:lnTo>
                    <a:pt x="6868795" y="16891"/>
                  </a:lnTo>
                  <a:lnTo>
                    <a:pt x="68687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768096" y="7827264"/>
            <a:ext cx="73152" cy="640080"/>
            <a:chOff x="0" y="0"/>
            <a:chExt cx="97536" cy="8534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7536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">
                  <a:moveTo>
                    <a:pt x="0" y="0"/>
                  </a:moveTo>
                  <a:lnTo>
                    <a:pt x="97536" y="0"/>
                  </a:lnTo>
                  <a:lnTo>
                    <a:pt x="97536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50976" y="7882128"/>
            <a:ext cx="4846320" cy="530352"/>
            <a:chOff x="0" y="0"/>
            <a:chExt cx="6461760" cy="70713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461760" cy="707136"/>
            </a:xfrm>
            <a:custGeom>
              <a:avLst/>
              <a:gdLst/>
              <a:ahLst/>
              <a:cxnLst/>
              <a:rect r="r" b="b" t="t" l="l"/>
              <a:pathLst>
                <a:path h="707136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707136"/>
                  </a:lnTo>
                  <a:lnTo>
                    <a:pt x="0" y="7071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052" r="0" b="-12805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6461760" cy="745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40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These limitations are being addressed in Hyperon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6431023" y="2736847"/>
            <a:ext cx="5590537" cy="6559801"/>
            <a:chOff x="0" y="0"/>
            <a:chExt cx="7454049" cy="874640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8509" y="8509"/>
              <a:ext cx="7437119" cy="8729472"/>
            </a:xfrm>
            <a:custGeom>
              <a:avLst/>
              <a:gdLst/>
              <a:ahLst/>
              <a:cxnLst/>
              <a:rect r="r" b="b" t="t" l="l"/>
              <a:pathLst>
                <a:path h="8729472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8729472"/>
                  </a:lnTo>
                  <a:lnTo>
                    <a:pt x="0" y="87294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454138" cy="8746490"/>
            </a:xfrm>
            <a:custGeom>
              <a:avLst/>
              <a:gdLst/>
              <a:ahLst/>
              <a:cxnLst/>
              <a:rect r="r" b="b" t="t" l="l"/>
              <a:pathLst>
                <a:path h="8746490" w="7454138">
                  <a:moveTo>
                    <a:pt x="8509" y="0"/>
                  </a:moveTo>
                  <a:lnTo>
                    <a:pt x="7445628" y="0"/>
                  </a:lnTo>
                  <a:cubicBezTo>
                    <a:pt x="7450327" y="0"/>
                    <a:pt x="7454138" y="3810"/>
                    <a:pt x="7454138" y="8509"/>
                  </a:cubicBezTo>
                  <a:lnTo>
                    <a:pt x="7454138" y="8737981"/>
                  </a:lnTo>
                  <a:cubicBezTo>
                    <a:pt x="7454138" y="8742680"/>
                    <a:pt x="7450327" y="8746490"/>
                    <a:pt x="7445628" y="8746490"/>
                  </a:cubicBezTo>
                  <a:lnTo>
                    <a:pt x="8509" y="8746490"/>
                  </a:lnTo>
                  <a:cubicBezTo>
                    <a:pt x="3810" y="8746490"/>
                    <a:pt x="0" y="8742680"/>
                    <a:pt x="0" y="87379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37981"/>
                  </a:lnTo>
                  <a:lnTo>
                    <a:pt x="8509" y="8737981"/>
                  </a:lnTo>
                  <a:lnTo>
                    <a:pt x="8509" y="8729473"/>
                  </a:lnTo>
                  <a:lnTo>
                    <a:pt x="7445628" y="8729473"/>
                  </a:lnTo>
                  <a:lnTo>
                    <a:pt x="7445628" y="8737981"/>
                  </a:lnTo>
                  <a:lnTo>
                    <a:pt x="7437120" y="8737981"/>
                  </a:lnTo>
                  <a:lnTo>
                    <a:pt x="7437120" y="8509"/>
                  </a:lnTo>
                  <a:lnTo>
                    <a:pt x="7445628" y="8509"/>
                  </a:lnTo>
                  <a:lnTo>
                    <a:pt x="7445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656832" y="2962656"/>
            <a:ext cx="658368" cy="658368"/>
            <a:chOff x="0" y="0"/>
            <a:chExt cx="877824" cy="87782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6656832" y="2962656"/>
            <a:ext cx="658368" cy="658368"/>
            <a:chOff x="0" y="0"/>
            <a:chExt cx="877824" cy="87782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⏩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7498080" y="3017520"/>
            <a:ext cx="4352544" cy="457200"/>
            <a:chOff x="0" y="0"/>
            <a:chExt cx="5803392" cy="6096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803392" cy="609600"/>
            </a:xfrm>
            <a:custGeom>
              <a:avLst/>
              <a:gdLst/>
              <a:ahLst/>
              <a:cxnLst/>
              <a:rect r="r" b="b" t="t" l="l"/>
              <a:pathLst>
                <a:path h="60960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497" r="0" b="-13549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57150"/>
              <a:ext cx="5803392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Directions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6650479" y="3651247"/>
            <a:ext cx="5151625" cy="12697"/>
            <a:chOff x="0" y="0"/>
            <a:chExt cx="6868833" cy="1692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8509" y="0"/>
              <a:ext cx="6851904" cy="16891"/>
            </a:xfrm>
            <a:custGeom>
              <a:avLst/>
              <a:gdLst/>
              <a:ahLst/>
              <a:cxnLst/>
              <a:rect r="r" b="b" t="t" l="l"/>
              <a:pathLst>
                <a:path h="16891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6650479" y="3834127"/>
            <a:ext cx="5151625" cy="817369"/>
            <a:chOff x="0" y="0"/>
            <a:chExt cx="6868833" cy="1089825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8509" y="8509"/>
              <a:ext cx="6851904" cy="1072896"/>
            </a:xfrm>
            <a:custGeom>
              <a:avLst/>
              <a:gdLst/>
              <a:ahLst/>
              <a:cxnLst/>
              <a:rect r="r" b="b" t="t" l="l"/>
              <a:pathLst>
                <a:path h="1072896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868922" cy="1089914"/>
            </a:xfrm>
            <a:custGeom>
              <a:avLst/>
              <a:gdLst/>
              <a:ahLst/>
              <a:cxnLst/>
              <a:rect r="r" b="b" t="t" l="l"/>
              <a:pathLst>
                <a:path h="1089914" w="6868922">
                  <a:moveTo>
                    <a:pt x="8509" y="0"/>
                  </a:moveTo>
                  <a:lnTo>
                    <a:pt x="6860413" y="0"/>
                  </a:lnTo>
                  <a:cubicBezTo>
                    <a:pt x="6865112" y="0"/>
                    <a:pt x="6868922" y="3810"/>
                    <a:pt x="6868922" y="8509"/>
                  </a:cubicBezTo>
                  <a:lnTo>
                    <a:pt x="6868922" y="1081405"/>
                  </a:lnTo>
                  <a:cubicBezTo>
                    <a:pt x="6868922" y="1086104"/>
                    <a:pt x="6865112" y="1089914"/>
                    <a:pt x="6860413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6860413" y="1072896"/>
                  </a:lnTo>
                  <a:lnTo>
                    <a:pt x="6860413" y="1081405"/>
                  </a:lnTo>
                  <a:lnTo>
                    <a:pt x="6851904" y="1081405"/>
                  </a:lnTo>
                  <a:lnTo>
                    <a:pt x="6851904" y="8509"/>
                  </a:lnTo>
                  <a:lnTo>
                    <a:pt x="6860413" y="8509"/>
                  </a:lnTo>
                  <a:lnTo>
                    <a:pt x="686041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6803136" y="4023360"/>
            <a:ext cx="164592" cy="164592"/>
            <a:chOff x="0" y="0"/>
            <a:chExt cx="219456" cy="21945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7095744" y="3748211"/>
            <a:ext cx="2338764" cy="550297"/>
            <a:chOff x="0" y="0"/>
            <a:chExt cx="2072640" cy="48768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20726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Hyperon Architecture: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7095744" y="4242816"/>
            <a:ext cx="4572000" cy="365760"/>
            <a:chOff x="0" y="0"/>
            <a:chExt cx="6096000" cy="4876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60960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Next-gen OpenCog with improved scalability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6650479" y="4785103"/>
            <a:ext cx="5151625" cy="817369"/>
            <a:chOff x="0" y="0"/>
            <a:chExt cx="6868833" cy="1089825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8509" y="8509"/>
              <a:ext cx="6851904" cy="1072896"/>
            </a:xfrm>
            <a:custGeom>
              <a:avLst/>
              <a:gdLst/>
              <a:ahLst/>
              <a:cxnLst/>
              <a:rect r="r" b="b" t="t" l="l"/>
              <a:pathLst>
                <a:path h="1072896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868922" cy="1089914"/>
            </a:xfrm>
            <a:custGeom>
              <a:avLst/>
              <a:gdLst/>
              <a:ahLst/>
              <a:cxnLst/>
              <a:rect r="r" b="b" t="t" l="l"/>
              <a:pathLst>
                <a:path h="1089914" w="6868922">
                  <a:moveTo>
                    <a:pt x="8509" y="0"/>
                  </a:moveTo>
                  <a:lnTo>
                    <a:pt x="6860413" y="0"/>
                  </a:lnTo>
                  <a:cubicBezTo>
                    <a:pt x="6865112" y="0"/>
                    <a:pt x="6868922" y="3810"/>
                    <a:pt x="6868922" y="8509"/>
                  </a:cubicBezTo>
                  <a:lnTo>
                    <a:pt x="6868922" y="1081405"/>
                  </a:lnTo>
                  <a:cubicBezTo>
                    <a:pt x="6868922" y="1086104"/>
                    <a:pt x="6865112" y="1089914"/>
                    <a:pt x="6860413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6860413" y="1072896"/>
                  </a:lnTo>
                  <a:lnTo>
                    <a:pt x="6860413" y="1081405"/>
                  </a:lnTo>
                  <a:lnTo>
                    <a:pt x="6851904" y="1081405"/>
                  </a:lnTo>
                  <a:lnTo>
                    <a:pt x="6851904" y="8509"/>
                  </a:lnTo>
                  <a:lnTo>
                    <a:pt x="6860413" y="8509"/>
                  </a:lnTo>
                  <a:lnTo>
                    <a:pt x="686041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6803136" y="4974336"/>
            <a:ext cx="164592" cy="164592"/>
            <a:chOff x="0" y="0"/>
            <a:chExt cx="219456" cy="219456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7095744" y="4828032"/>
            <a:ext cx="1554480" cy="365760"/>
            <a:chOff x="0" y="0"/>
            <a:chExt cx="2072640" cy="48768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20726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SingularityNET: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7095744" y="5193792"/>
            <a:ext cx="4572000" cy="365760"/>
            <a:chOff x="0" y="0"/>
            <a:chExt cx="6096000" cy="48768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60960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Decentralized AI marketplace integration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6650479" y="5736079"/>
            <a:ext cx="5151625" cy="817369"/>
            <a:chOff x="0" y="0"/>
            <a:chExt cx="6868833" cy="1089825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8509" y="8509"/>
              <a:ext cx="6851904" cy="1072896"/>
            </a:xfrm>
            <a:custGeom>
              <a:avLst/>
              <a:gdLst/>
              <a:ahLst/>
              <a:cxnLst/>
              <a:rect r="r" b="b" t="t" l="l"/>
              <a:pathLst>
                <a:path h="1072896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868922" cy="1089914"/>
            </a:xfrm>
            <a:custGeom>
              <a:avLst/>
              <a:gdLst/>
              <a:ahLst/>
              <a:cxnLst/>
              <a:rect r="r" b="b" t="t" l="l"/>
              <a:pathLst>
                <a:path h="1089914" w="6868922">
                  <a:moveTo>
                    <a:pt x="8509" y="0"/>
                  </a:moveTo>
                  <a:lnTo>
                    <a:pt x="6860413" y="0"/>
                  </a:lnTo>
                  <a:cubicBezTo>
                    <a:pt x="6865112" y="0"/>
                    <a:pt x="6868922" y="3810"/>
                    <a:pt x="6868922" y="8509"/>
                  </a:cubicBezTo>
                  <a:lnTo>
                    <a:pt x="6868922" y="1081405"/>
                  </a:lnTo>
                  <a:cubicBezTo>
                    <a:pt x="6868922" y="1086104"/>
                    <a:pt x="6865112" y="1089914"/>
                    <a:pt x="6860413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6860413" y="1072896"/>
                  </a:lnTo>
                  <a:lnTo>
                    <a:pt x="6860413" y="1081405"/>
                  </a:lnTo>
                  <a:lnTo>
                    <a:pt x="6851904" y="1081405"/>
                  </a:lnTo>
                  <a:lnTo>
                    <a:pt x="6851904" y="8509"/>
                  </a:lnTo>
                  <a:lnTo>
                    <a:pt x="6860413" y="8509"/>
                  </a:lnTo>
                  <a:lnTo>
                    <a:pt x="686041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6803136" y="5925312"/>
            <a:ext cx="164592" cy="164592"/>
            <a:chOff x="0" y="0"/>
            <a:chExt cx="219456" cy="21945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7095744" y="5657850"/>
            <a:ext cx="2584323" cy="608076"/>
            <a:chOff x="0" y="0"/>
            <a:chExt cx="2072640" cy="48768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20726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Neural-Symbolic: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7095744" y="6144768"/>
            <a:ext cx="4572000" cy="365760"/>
            <a:chOff x="0" y="0"/>
            <a:chExt cx="6096000" cy="48768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60960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Better integration with deep learning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6650479" y="6687055"/>
            <a:ext cx="5151625" cy="817369"/>
            <a:chOff x="0" y="0"/>
            <a:chExt cx="6868833" cy="1089825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8509" y="8509"/>
              <a:ext cx="6851904" cy="1072896"/>
            </a:xfrm>
            <a:custGeom>
              <a:avLst/>
              <a:gdLst/>
              <a:ahLst/>
              <a:cxnLst/>
              <a:rect r="r" b="b" t="t" l="l"/>
              <a:pathLst>
                <a:path h="1072896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6868922" cy="1089914"/>
            </a:xfrm>
            <a:custGeom>
              <a:avLst/>
              <a:gdLst/>
              <a:ahLst/>
              <a:cxnLst/>
              <a:rect r="r" b="b" t="t" l="l"/>
              <a:pathLst>
                <a:path h="1089914" w="6868922">
                  <a:moveTo>
                    <a:pt x="8509" y="0"/>
                  </a:moveTo>
                  <a:lnTo>
                    <a:pt x="6860413" y="0"/>
                  </a:lnTo>
                  <a:cubicBezTo>
                    <a:pt x="6865112" y="0"/>
                    <a:pt x="6868922" y="3810"/>
                    <a:pt x="6868922" y="8509"/>
                  </a:cubicBezTo>
                  <a:lnTo>
                    <a:pt x="6868922" y="1081405"/>
                  </a:lnTo>
                  <a:cubicBezTo>
                    <a:pt x="6868922" y="1086104"/>
                    <a:pt x="6865112" y="1089914"/>
                    <a:pt x="6860413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6860413" y="1072896"/>
                  </a:lnTo>
                  <a:lnTo>
                    <a:pt x="6860413" y="1081405"/>
                  </a:lnTo>
                  <a:lnTo>
                    <a:pt x="6851904" y="1081405"/>
                  </a:lnTo>
                  <a:lnTo>
                    <a:pt x="6851904" y="8509"/>
                  </a:lnTo>
                  <a:lnTo>
                    <a:pt x="6860413" y="8509"/>
                  </a:lnTo>
                  <a:lnTo>
                    <a:pt x="686041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6803136" y="6876288"/>
            <a:ext cx="164592" cy="164592"/>
            <a:chOff x="0" y="0"/>
            <a:chExt cx="219456" cy="219456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7095744" y="6729984"/>
            <a:ext cx="1554480" cy="365760"/>
            <a:chOff x="0" y="0"/>
            <a:chExt cx="2072640" cy="48768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20726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AGI Research: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7095744" y="7095744"/>
            <a:ext cx="4572000" cy="365760"/>
            <a:chOff x="0" y="0"/>
            <a:chExt cx="6096000" cy="48768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60960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Continued focus on general intelligence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6644135" y="7814567"/>
            <a:ext cx="5164331" cy="665483"/>
            <a:chOff x="0" y="0"/>
            <a:chExt cx="6885775" cy="887311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16891" y="16891"/>
              <a:ext cx="6851904" cy="853440"/>
            </a:xfrm>
            <a:custGeom>
              <a:avLst/>
              <a:gdLst/>
              <a:ahLst/>
              <a:cxnLst/>
              <a:rect r="r" b="b" t="t" l="l"/>
              <a:pathLst>
                <a:path h="853440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6885686" cy="887224"/>
            </a:xfrm>
            <a:custGeom>
              <a:avLst/>
              <a:gdLst/>
              <a:ahLst/>
              <a:cxnLst/>
              <a:rect r="r" b="b" t="t" l="l"/>
              <a:pathLst>
                <a:path h="887224" w="6885686">
                  <a:moveTo>
                    <a:pt x="16891" y="0"/>
                  </a:moveTo>
                  <a:lnTo>
                    <a:pt x="6868795" y="0"/>
                  </a:lnTo>
                  <a:cubicBezTo>
                    <a:pt x="6878193" y="0"/>
                    <a:pt x="6885686" y="7620"/>
                    <a:pt x="6885686" y="16891"/>
                  </a:cubicBezTo>
                  <a:lnTo>
                    <a:pt x="6885686" y="870331"/>
                  </a:lnTo>
                  <a:cubicBezTo>
                    <a:pt x="6885686" y="879729"/>
                    <a:pt x="6878065" y="887222"/>
                    <a:pt x="6868795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6868795" y="853440"/>
                  </a:lnTo>
                  <a:lnTo>
                    <a:pt x="6868795" y="870331"/>
                  </a:lnTo>
                  <a:lnTo>
                    <a:pt x="6851903" y="870331"/>
                  </a:lnTo>
                  <a:lnTo>
                    <a:pt x="6851903" y="16891"/>
                  </a:lnTo>
                  <a:lnTo>
                    <a:pt x="6868795" y="16891"/>
                  </a:lnTo>
                  <a:lnTo>
                    <a:pt x="68687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6656832" y="7827264"/>
            <a:ext cx="73152" cy="640080"/>
            <a:chOff x="0" y="0"/>
            <a:chExt cx="97536" cy="85344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97536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">
                  <a:moveTo>
                    <a:pt x="0" y="0"/>
                  </a:moveTo>
                  <a:lnTo>
                    <a:pt x="97536" y="0"/>
                  </a:lnTo>
                  <a:lnTo>
                    <a:pt x="97536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6839712" y="7882128"/>
            <a:ext cx="4846320" cy="530352"/>
            <a:chOff x="0" y="0"/>
            <a:chExt cx="6461760" cy="707136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461760" cy="707136"/>
            </a:xfrm>
            <a:custGeom>
              <a:avLst/>
              <a:gdLst/>
              <a:ahLst/>
              <a:cxnLst/>
              <a:rect r="r" b="b" t="t" l="l"/>
              <a:pathLst>
                <a:path h="707136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707136"/>
                  </a:lnTo>
                  <a:lnTo>
                    <a:pt x="0" y="7071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052" r="0" b="-128052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6461760" cy="745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40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Goal: Unified cognitive architecture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2319759" y="2736847"/>
            <a:ext cx="5590537" cy="6559801"/>
            <a:chOff x="0" y="0"/>
            <a:chExt cx="7454049" cy="8746401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8509" y="8509"/>
              <a:ext cx="7437119" cy="8729472"/>
            </a:xfrm>
            <a:custGeom>
              <a:avLst/>
              <a:gdLst/>
              <a:ahLst/>
              <a:cxnLst/>
              <a:rect r="r" b="b" t="t" l="l"/>
              <a:pathLst>
                <a:path h="8729472" w="7437119">
                  <a:moveTo>
                    <a:pt x="0" y="0"/>
                  </a:moveTo>
                  <a:lnTo>
                    <a:pt x="7437119" y="0"/>
                  </a:lnTo>
                  <a:lnTo>
                    <a:pt x="7437119" y="8729472"/>
                  </a:lnTo>
                  <a:lnTo>
                    <a:pt x="0" y="87294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454138" cy="8746490"/>
            </a:xfrm>
            <a:custGeom>
              <a:avLst/>
              <a:gdLst/>
              <a:ahLst/>
              <a:cxnLst/>
              <a:rect r="r" b="b" t="t" l="l"/>
              <a:pathLst>
                <a:path h="8746490" w="7454138">
                  <a:moveTo>
                    <a:pt x="8509" y="0"/>
                  </a:moveTo>
                  <a:lnTo>
                    <a:pt x="7445628" y="0"/>
                  </a:lnTo>
                  <a:cubicBezTo>
                    <a:pt x="7450327" y="0"/>
                    <a:pt x="7454138" y="3810"/>
                    <a:pt x="7454138" y="8509"/>
                  </a:cubicBezTo>
                  <a:lnTo>
                    <a:pt x="7454138" y="8737981"/>
                  </a:lnTo>
                  <a:cubicBezTo>
                    <a:pt x="7454138" y="8742680"/>
                    <a:pt x="7450327" y="8746490"/>
                    <a:pt x="7445628" y="8746490"/>
                  </a:cubicBezTo>
                  <a:lnTo>
                    <a:pt x="8509" y="8746490"/>
                  </a:lnTo>
                  <a:cubicBezTo>
                    <a:pt x="3810" y="8746490"/>
                    <a:pt x="0" y="8742680"/>
                    <a:pt x="0" y="87379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737981"/>
                  </a:lnTo>
                  <a:lnTo>
                    <a:pt x="8509" y="8737981"/>
                  </a:lnTo>
                  <a:lnTo>
                    <a:pt x="8509" y="8729473"/>
                  </a:lnTo>
                  <a:lnTo>
                    <a:pt x="7445628" y="8729473"/>
                  </a:lnTo>
                  <a:lnTo>
                    <a:pt x="7445628" y="8737981"/>
                  </a:lnTo>
                  <a:lnTo>
                    <a:pt x="7437120" y="8737981"/>
                  </a:lnTo>
                  <a:lnTo>
                    <a:pt x="7437120" y="8509"/>
                  </a:lnTo>
                  <a:lnTo>
                    <a:pt x="7445628" y="8509"/>
                  </a:lnTo>
                  <a:lnTo>
                    <a:pt x="74456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2545568" y="2962656"/>
            <a:ext cx="658368" cy="658368"/>
            <a:chOff x="0" y="0"/>
            <a:chExt cx="877824" cy="877824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2545568" y="2962656"/>
            <a:ext cx="658368" cy="658368"/>
            <a:chOff x="0" y="0"/>
            <a:chExt cx="877824" cy="877824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🔑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3386816" y="3017520"/>
            <a:ext cx="4352544" cy="457200"/>
            <a:chOff x="0" y="0"/>
            <a:chExt cx="5803392" cy="60960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5803392" cy="609600"/>
            </a:xfrm>
            <a:custGeom>
              <a:avLst/>
              <a:gdLst/>
              <a:ahLst/>
              <a:cxnLst/>
              <a:rect r="r" b="b" t="t" l="l"/>
              <a:pathLst>
                <a:path h="60960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497" r="0" b="-135497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57150"/>
              <a:ext cx="5803392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Takeaways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2539215" y="3651247"/>
            <a:ext cx="5151625" cy="12697"/>
            <a:chOff x="0" y="0"/>
            <a:chExt cx="6868833" cy="16929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8509" y="0"/>
              <a:ext cx="6851904" cy="16891"/>
            </a:xfrm>
            <a:custGeom>
              <a:avLst/>
              <a:gdLst/>
              <a:ahLst/>
              <a:cxnLst/>
              <a:rect r="r" b="b" t="t" l="l"/>
              <a:pathLst>
                <a:path h="16891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2539215" y="3834127"/>
            <a:ext cx="5151625" cy="817369"/>
            <a:chOff x="0" y="0"/>
            <a:chExt cx="6868833" cy="1089825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8509" y="8509"/>
              <a:ext cx="6851904" cy="1072896"/>
            </a:xfrm>
            <a:custGeom>
              <a:avLst/>
              <a:gdLst/>
              <a:ahLst/>
              <a:cxnLst/>
              <a:rect r="r" b="b" t="t" l="l"/>
              <a:pathLst>
                <a:path h="1072896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868922" cy="1089914"/>
            </a:xfrm>
            <a:custGeom>
              <a:avLst/>
              <a:gdLst/>
              <a:ahLst/>
              <a:cxnLst/>
              <a:rect r="r" b="b" t="t" l="l"/>
              <a:pathLst>
                <a:path h="1089914" w="6868922">
                  <a:moveTo>
                    <a:pt x="8509" y="0"/>
                  </a:moveTo>
                  <a:lnTo>
                    <a:pt x="6860413" y="0"/>
                  </a:lnTo>
                  <a:cubicBezTo>
                    <a:pt x="6865112" y="0"/>
                    <a:pt x="6868922" y="3810"/>
                    <a:pt x="6868922" y="8509"/>
                  </a:cubicBezTo>
                  <a:lnTo>
                    <a:pt x="6868922" y="1081405"/>
                  </a:lnTo>
                  <a:cubicBezTo>
                    <a:pt x="6868922" y="1086104"/>
                    <a:pt x="6865112" y="1089914"/>
                    <a:pt x="6860413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6860413" y="1072896"/>
                  </a:lnTo>
                  <a:lnTo>
                    <a:pt x="6860413" y="1081405"/>
                  </a:lnTo>
                  <a:lnTo>
                    <a:pt x="6851904" y="1081405"/>
                  </a:lnTo>
                  <a:lnTo>
                    <a:pt x="6851904" y="8509"/>
                  </a:lnTo>
                  <a:lnTo>
                    <a:pt x="6860413" y="8509"/>
                  </a:lnTo>
                  <a:lnTo>
                    <a:pt x="686041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2691872" y="4023360"/>
            <a:ext cx="164592" cy="164592"/>
            <a:chOff x="0" y="0"/>
            <a:chExt cx="219456" cy="219456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2984480" y="3877056"/>
            <a:ext cx="1554480" cy="365760"/>
            <a:chOff x="0" y="0"/>
            <a:chExt cx="2072640" cy="48768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20726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Multi-Paradigm: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2984480" y="4242816"/>
            <a:ext cx="4572000" cy="365760"/>
            <a:chOff x="0" y="0"/>
            <a:chExt cx="6096000" cy="48768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60960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Combines symbolic and statistical AI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2539215" y="4785103"/>
            <a:ext cx="5151625" cy="817369"/>
            <a:chOff x="0" y="0"/>
            <a:chExt cx="6868833" cy="1089825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8509" y="8509"/>
              <a:ext cx="6851904" cy="1072896"/>
            </a:xfrm>
            <a:custGeom>
              <a:avLst/>
              <a:gdLst/>
              <a:ahLst/>
              <a:cxnLst/>
              <a:rect r="r" b="b" t="t" l="l"/>
              <a:pathLst>
                <a:path h="1072896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6868922" cy="1089914"/>
            </a:xfrm>
            <a:custGeom>
              <a:avLst/>
              <a:gdLst/>
              <a:ahLst/>
              <a:cxnLst/>
              <a:rect r="r" b="b" t="t" l="l"/>
              <a:pathLst>
                <a:path h="1089914" w="6868922">
                  <a:moveTo>
                    <a:pt x="8509" y="0"/>
                  </a:moveTo>
                  <a:lnTo>
                    <a:pt x="6860413" y="0"/>
                  </a:lnTo>
                  <a:cubicBezTo>
                    <a:pt x="6865112" y="0"/>
                    <a:pt x="6868922" y="3810"/>
                    <a:pt x="6868922" y="8509"/>
                  </a:cubicBezTo>
                  <a:lnTo>
                    <a:pt x="6868922" y="1081405"/>
                  </a:lnTo>
                  <a:cubicBezTo>
                    <a:pt x="6868922" y="1086104"/>
                    <a:pt x="6865112" y="1089914"/>
                    <a:pt x="6860413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6860413" y="1072896"/>
                  </a:lnTo>
                  <a:lnTo>
                    <a:pt x="6860413" y="1081405"/>
                  </a:lnTo>
                  <a:lnTo>
                    <a:pt x="6851904" y="1081405"/>
                  </a:lnTo>
                  <a:lnTo>
                    <a:pt x="6851904" y="8509"/>
                  </a:lnTo>
                  <a:lnTo>
                    <a:pt x="6860413" y="8509"/>
                  </a:lnTo>
                  <a:lnTo>
                    <a:pt x="686041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2691872" y="4974336"/>
            <a:ext cx="164592" cy="164592"/>
            <a:chOff x="0" y="0"/>
            <a:chExt cx="219456" cy="219456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12984480" y="4828032"/>
            <a:ext cx="1554480" cy="365760"/>
            <a:chOff x="0" y="0"/>
            <a:chExt cx="2072640" cy="487680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183" id="183"/>
            <p:cNvSpPr txBox="true"/>
            <p:nvPr/>
          </p:nvSpPr>
          <p:spPr>
            <a:xfrm>
              <a:off x="0" y="-38100"/>
              <a:ext cx="20726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AtomSpace:</a:t>
              </a: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12984480" y="5193792"/>
            <a:ext cx="4572000" cy="365760"/>
            <a:chOff x="0" y="0"/>
            <a:chExt cx="6096000" cy="487680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-38100"/>
              <a:ext cx="60960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Flexible knowledge representation</a:t>
              </a:r>
            </a:p>
          </p:txBody>
        </p:sp>
      </p:grpSp>
      <p:grpSp>
        <p:nvGrpSpPr>
          <p:cNvPr name="Group 187" id="187"/>
          <p:cNvGrpSpPr/>
          <p:nvPr/>
        </p:nvGrpSpPr>
        <p:grpSpPr>
          <a:xfrm rot="0">
            <a:off x="12539215" y="5736079"/>
            <a:ext cx="5151625" cy="817369"/>
            <a:chOff x="0" y="0"/>
            <a:chExt cx="6868833" cy="1089825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8509" y="8509"/>
              <a:ext cx="6851904" cy="1072896"/>
            </a:xfrm>
            <a:custGeom>
              <a:avLst/>
              <a:gdLst/>
              <a:ahLst/>
              <a:cxnLst/>
              <a:rect r="r" b="b" t="t" l="l"/>
              <a:pathLst>
                <a:path h="1072896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6868922" cy="1089914"/>
            </a:xfrm>
            <a:custGeom>
              <a:avLst/>
              <a:gdLst/>
              <a:ahLst/>
              <a:cxnLst/>
              <a:rect r="r" b="b" t="t" l="l"/>
              <a:pathLst>
                <a:path h="1089914" w="6868922">
                  <a:moveTo>
                    <a:pt x="8509" y="0"/>
                  </a:moveTo>
                  <a:lnTo>
                    <a:pt x="6860413" y="0"/>
                  </a:lnTo>
                  <a:cubicBezTo>
                    <a:pt x="6865112" y="0"/>
                    <a:pt x="6868922" y="3810"/>
                    <a:pt x="6868922" y="8509"/>
                  </a:cubicBezTo>
                  <a:lnTo>
                    <a:pt x="6868922" y="1081405"/>
                  </a:lnTo>
                  <a:cubicBezTo>
                    <a:pt x="6868922" y="1086104"/>
                    <a:pt x="6865112" y="1089914"/>
                    <a:pt x="6860413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6860413" y="1072896"/>
                  </a:lnTo>
                  <a:lnTo>
                    <a:pt x="6860413" y="1081405"/>
                  </a:lnTo>
                  <a:lnTo>
                    <a:pt x="6851904" y="1081405"/>
                  </a:lnTo>
                  <a:lnTo>
                    <a:pt x="6851904" y="8509"/>
                  </a:lnTo>
                  <a:lnTo>
                    <a:pt x="6860413" y="8509"/>
                  </a:lnTo>
                  <a:lnTo>
                    <a:pt x="686041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90" id="190"/>
          <p:cNvGrpSpPr/>
          <p:nvPr/>
        </p:nvGrpSpPr>
        <p:grpSpPr>
          <a:xfrm rot="0">
            <a:off x="12691872" y="5925312"/>
            <a:ext cx="164592" cy="164592"/>
            <a:chOff x="0" y="0"/>
            <a:chExt cx="219456" cy="219456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12984480" y="5779008"/>
            <a:ext cx="1554480" cy="365760"/>
            <a:chOff x="0" y="0"/>
            <a:chExt cx="2072640" cy="487680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194" id="194"/>
            <p:cNvSpPr txBox="true"/>
            <p:nvPr/>
          </p:nvSpPr>
          <p:spPr>
            <a:xfrm>
              <a:off x="0" y="-38100"/>
              <a:ext cx="20726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PLN:</a:t>
              </a: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12984480" y="6144768"/>
            <a:ext cx="4572000" cy="365760"/>
            <a:chOff x="0" y="0"/>
            <a:chExt cx="6096000" cy="48768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97" id="197"/>
            <p:cNvSpPr txBox="true"/>
            <p:nvPr/>
          </p:nvSpPr>
          <p:spPr>
            <a:xfrm>
              <a:off x="0" y="-38100"/>
              <a:ext cx="60960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Powerful probabilistic reasoning</a:t>
              </a:r>
            </a:p>
          </p:txBody>
        </p:sp>
      </p:grpSp>
      <p:grpSp>
        <p:nvGrpSpPr>
          <p:cNvPr name="Group 198" id="198"/>
          <p:cNvGrpSpPr/>
          <p:nvPr/>
        </p:nvGrpSpPr>
        <p:grpSpPr>
          <a:xfrm rot="0">
            <a:off x="12539215" y="6687055"/>
            <a:ext cx="5151625" cy="817369"/>
            <a:chOff x="0" y="0"/>
            <a:chExt cx="6868833" cy="1089825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8509" y="8509"/>
              <a:ext cx="6851904" cy="1072896"/>
            </a:xfrm>
            <a:custGeom>
              <a:avLst/>
              <a:gdLst/>
              <a:ahLst/>
              <a:cxnLst/>
              <a:rect r="r" b="b" t="t" l="l"/>
              <a:pathLst>
                <a:path h="1072896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6868922" cy="1089914"/>
            </a:xfrm>
            <a:custGeom>
              <a:avLst/>
              <a:gdLst/>
              <a:ahLst/>
              <a:cxnLst/>
              <a:rect r="r" b="b" t="t" l="l"/>
              <a:pathLst>
                <a:path h="1089914" w="6868922">
                  <a:moveTo>
                    <a:pt x="8509" y="0"/>
                  </a:moveTo>
                  <a:lnTo>
                    <a:pt x="6860413" y="0"/>
                  </a:lnTo>
                  <a:cubicBezTo>
                    <a:pt x="6865112" y="0"/>
                    <a:pt x="6868922" y="3810"/>
                    <a:pt x="6868922" y="8509"/>
                  </a:cubicBezTo>
                  <a:lnTo>
                    <a:pt x="6868922" y="1081405"/>
                  </a:lnTo>
                  <a:cubicBezTo>
                    <a:pt x="6868922" y="1086104"/>
                    <a:pt x="6865112" y="1089914"/>
                    <a:pt x="6860413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6860413" y="1072896"/>
                  </a:lnTo>
                  <a:lnTo>
                    <a:pt x="6860413" y="1081405"/>
                  </a:lnTo>
                  <a:lnTo>
                    <a:pt x="6851904" y="1081405"/>
                  </a:lnTo>
                  <a:lnTo>
                    <a:pt x="6851904" y="8509"/>
                  </a:lnTo>
                  <a:lnTo>
                    <a:pt x="6860413" y="8509"/>
                  </a:lnTo>
                  <a:lnTo>
                    <a:pt x="686041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1" id="201"/>
          <p:cNvGrpSpPr/>
          <p:nvPr/>
        </p:nvGrpSpPr>
        <p:grpSpPr>
          <a:xfrm rot="0">
            <a:off x="12691872" y="6876288"/>
            <a:ext cx="164592" cy="164592"/>
            <a:chOff x="0" y="0"/>
            <a:chExt cx="219456" cy="219456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03" id="203"/>
          <p:cNvGrpSpPr/>
          <p:nvPr/>
        </p:nvGrpSpPr>
        <p:grpSpPr>
          <a:xfrm rot="0">
            <a:off x="12984480" y="6729984"/>
            <a:ext cx="1554480" cy="365760"/>
            <a:chOff x="0" y="0"/>
            <a:chExt cx="2072640" cy="487680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2072640" cy="487680"/>
            </a:xfrm>
            <a:custGeom>
              <a:avLst/>
              <a:gdLst/>
              <a:ahLst/>
              <a:cxnLst/>
              <a:rect r="r" b="b" t="t" l="l"/>
              <a:pathLst>
                <a:path h="48768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38100"/>
              <a:ext cx="20726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Real-World Use: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12984480" y="7095744"/>
            <a:ext cx="4572000" cy="365760"/>
            <a:chOff x="0" y="0"/>
            <a:chExt cx="6096000" cy="487680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6096000" cy="487680"/>
            </a:xfrm>
            <a:custGeom>
              <a:avLst/>
              <a:gdLst/>
              <a:ahLst/>
              <a:cxnLst/>
              <a:rect r="r" b="b" t="t" l="l"/>
              <a:pathLst>
                <a:path h="4876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38100"/>
              <a:ext cx="60960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Robotics, XAI, Expert Systems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12532871" y="7814567"/>
            <a:ext cx="5164331" cy="665483"/>
            <a:chOff x="0" y="0"/>
            <a:chExt cx="6885775" cy="887311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16891" y="16891"/>
              <a:ext cx="6851904" cy="853440"/>
            </a:xfrm>
            <a:custGeom>
              <a:avLst/>
              <a:gdLst/>
              <a:ahLst/>
              <a:cxnLst/>
              <a:rect r="r" b="b" t="t" l="l"/>
              <a:pathLst>
                <a:path h="853440" w="6851904">
                  <a:moveTo>
                    <a:pt x="0" y="0"/>
                  </a:moveTo>
                  <a:lnTo>
                    <a:pt x="6851904" y="0"/>
                  </a:lnTo>
                  <a:lnTo>
                    <a:pt x="6851904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6885686" cy="887224"/>
            </a:xfrm>
            <a:custGeom>
              <a:avLst/>
              <a:gdLst/>
              <a:ahLst/>
              <a:cxnLst/>
              <a:rect r="r" b="b" t="t" l="l"/>
              <a:pathLst>
                <a:path h="887224" w="6885686">
                  <a:moveTo>
                    <a:pt x="16891" y="0"/>
                  </a:moveTo>
                  <a:lnTo>
                    <a:pt x="6868795" y="0"/>
                  </a:lnTo>
                  <a:cubicBezTo>
                    <a:pt x="6878193" y="0"/>
                    <a:pt x="6885686" y="7620"/>
                    <a:pt x="6885686" y="16891"/>
                  </a:cubicBezTo>
                  <a:lnTo>
                    <a:pt x="6885686" y="870331"/>
                  </a:lnTo>
                  <a:cubicBezTo>
                    <a:pt x="6885686" y="879729"/>
                    <a:pt x="6878065" y="887222"/>
                    <a:pt x="6868795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6868795" y="853440"/>
                  </a:lnTo>
                  <a:lnTo>
                    <a:pt x="6868795" y="870331"/>
                  </a:lnTo>
                  <a:lnTo>
                    <a:pt x="6851903" y="870331"/>
                  </a:lnTo>
                  <a:lnTo>
                    <a:pt x="6851903" y="16891"/>
                  </a:lnTo>
                  <a:lnTo>
                    <a:pt x="6868795" y="16891"/>
                  </a:lnTo>
                  <a:lnTo>
                    <a:pt x="68687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12545568" y="7827264"/>
            <a:ext cx="73152" cy="640080"/>
            <a:chOff x="0" y="0"/>
            <a:chExt cx="97536" cy="853440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97536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">
                  <a:moveTo>
                    <a:pt x="0" y="0"/>
                  </a:moveTo>
                  <a:lnTo>
                    <a:pt x="97536" y="0"/>
                  </a:lnTo>
                  <a:lnTo>
                    <a:pt x="97536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14" id="214"/>
          <p:cNvGrpSpPr/>
          <p:nvPr/>
        </p:nvGrpSpPr>
        <p:grpSpPr>
          <a:xfrm rot="0">
            <a:off x="12728448" y="7882128"/>
            <a:ext cx="4846320" cy="530352"/>
            <a:chOff x="0" y="0"/>
            <a:chExt cx="6461760" cy="707136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6461760" cy="707136"/>
            </a:xfrm>
            <a:custGeom>
              <a:avLst/>
              <a:gdLst/>
              <a:ahLst/>
              <a:cxnLst/>
              <a:rect r="r" b="b" t="t" l="l"/>
              <a:pathLst>
                <a:path h="707136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707136"/>
                  </a:lnTo>
                  <a:lnTo>
                    <a:pt x="0" y="7071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052" r="0" b="-128052"/>
              </a:stretch>
            </a:blipFill>
          </p:spPr>
        </p:sp>
        <p:sp>
          <p:nvSpPr>
            <p:cNvPr name="TextBox 216" id="216"/>
            <p:cNvSpPr txBox="true"/>
            <p:nvPr/>
          </p:nvSpPr>
          <p:spPr>
            <a:xfrm>
              <a:off x="0" y="-38100"/>
              <a:ext cx="6461760" cy="745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40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Result: Viable path to AGI</a:t>
              </a:r>
            </a:p>
          </p:txBody>
        </p:sp>
      </p:grpSp>
      <p:grpSp>
        <p:nvGrpSpPr>
          <p:cNvPr name="Group 217" id="217"/>
          <p:cNvGrpSpPr/>
          <p:nvPr/>
        </p:nvGrpSpPr>
        <p:grpSpPr>
          <a:xfrm rot="0">
            <a:off x="542287" y="9320527"/>
            <a:ext cx="4127497" cy="780793"/>
            <a:chOff x="0" y="0"/>
            <a:chExt cx="5503329" cy="1041057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8509" y="8509"/>
              <a:ext cx="5486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5503418" cy="1041146"/>
            </a:xfrm>
            <a:custGeom>
              <a:avLst/>
              <a:gdLst/>
              <a:ahLst/>
              <a:cxnLst/>
              <a:rect r="r" b="b" t="t" l="l"/>
              <a:pathLst>
                <a:path h="1041146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1032637"/>
                  </a:lnTo>
                  <a:cubicBezTo>
                    <a:pt x="5503418" y="1037336"/>
                    <a:pt x="5499608" y="1041146"/>
                    <a:pt x="5494909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5494909" y="1024128"/>
                  </a:lnTo>
                  <a:lnTo>
                    <a:pt x="5494909" y="1032637"/>
                  </a:lnTo>
                  <a:lnTo>
                    <a:pt x="5486400" y="1032637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731520" y="9400032"/>
            <a:ext cx="402336" cy="402336"/>
            <a:chOff x="0" y="0"/>
            <a:chExt cx="536448" cy="536448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1243584" y="9400032"/>
            <a:ext cx="3200400" cy="512064"/>
            <a:chOff x="0" y="0"/>
            <a:chExt cx="4267200" cy="682752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OpenCog provides a unified cognitive architecture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4967983" y="9320527"/>
            <a:ext cx="4127497" cy="780793"/>
            <a:chOff x="0" y="0"/>
            <a:chExt cx="5503329" cy="1041057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8509" y="8509"/>
              <a:ext cx="5486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5503418" cy="1041146"/>
            </a:xfrm>
            <a:custGeom>
              <a:avLst/>
              <a:gdLst/>
              <a:ahLst/>
              <a:cxnLst/>
              <a:rect r="r" b="b" t="t" l="l"/>
              <a:pathLst>
                <a:path h="1041146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1032637"/>
                  </a:lnTo>
                  <a:cubicBezTo>
                    <a:pt x="5503418" y="1037336"/>
                    <a:pt x="5499608" y="1041146"/>
                    <a:pt x="5494909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5494909" y="1024128"/>
                  </a:lnTo>
                  <a:lnTo>
                    <a:pt x="5494909" y="1032637"/>
                  </a:lnTo>
                  <a:lnTo>
                    <a:pt x="5486400" y="1032637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9" id="229"/>
          <p:cNvGrpSpPr/>
          <p:nvPr/>
        </p:nvGrpSpPr>
        <p:grpSpPr>
          <a:xfrm rot="0">
            <a:off x="5157216" y="9400032"/>
            <a:ext cx="402336" cy="402336"/>
            <a:chOff x="0" y="0"/>
            <a:chExt cx="536448" cy="536448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5669280" y="9400032"/>
            <a:ext cx="3200400" cy="512064"/>
            <a:chOff x="0" y="0"/>
            <a:chExt cx="4267200" cy="682752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234" id="234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AtomSpace enables flexible knowledge representation</a:t>
              </a:r>
            </a:p>
          </p:txBody>
        </p:sp>
      </p:grpSp>
      <p:grpSp>
        <p:nvGrpSpPr>
          <p:cNvPr name="Group 235" id="235"/>
          <p:cNvGrpSpPr/>
          <p:nvPr/>
        </p:nvGrpSpPr>
        <p:grpSpPr>
          <a:xfrm rot="0">
            <a:off x="9393679" y="9320527"/>
            <a:ext cx="4127497" cy="780793"/>
            <a:chOff x="0" y="0"/>
            <a:chExt cx="5503329" cy="1041057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8509" y="8509"/>
              <a:ext cx="5486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5503418" cy="1041146"/>
            </a:xfrm>
            <a:custGeom>
              <a:avLst/>
              <a:gdLst/>
              <a:ahLst/>
              <a:cxnLst/>
              <a:rect r="r" b="b" t="t" l="l"/>
              <a:pathLst>
                <a:path h="1041146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1032637"/>
                  </a:lnTo>
                  <a:cubicBezTo>
                    <a:pt x="5503418" y="1037336"/>
                    <a:pt x="5499608" y="1041146"/>
                    <a:pt x="5494909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5494909" y="1024128"/>
                  </a:lnTo>
                  <a:lnTo>
                    <a:pt x="5494909" y="1032637"/>
                  </a:lnTo>
                  <a:lnTo>
                    <a:pt x="5486400" y="1032637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38" id="238"/>
          <p:cNvGrpSpPr/>
          <p:nvPr/>
        </p:nvGrpSpPr>
        <p:grpSpPr>
          <a:xfrm rot="0">
            <a:off x="9582912" y="9400032"/>
            <a:ext cx="402336" cy="402336"/>
            <a:chOff x="0" y="0"/>
            <a:chExt cx="536448" cy="536448"/>
          </a:xfrm>
        </p:grpSpPr>
        <p:sp>
          <p:nvSpPr>
            <p:cNvPr name="Freeform 239" id="239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0" id="240"/>
            <p:cNvSpPr txBox="true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41" id="241"/>
          <p:cNvGrpSpPr/>
          <p:nvPr/>
        </p:nvGrpSpPr>
        <p:grpSpPr>
          <a:xfrm rot="0">
            <a:off x="10094976" y="9400032"/>
            <a:ext cx="3200400" cy="512064"/>
            <a:chOff x="0" y="0"/>
            <a:chExt cx="4267200" cy="682752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243" id="243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PLN offers powerful probabilistic reasoning</a:t>
              </a:r>
            </a:p>
          </p:txBody>
        </p:sp>
      </p:grpSp>
      <p:grpSp>
        <p:nvGrpSpPr>
          <p:cNvPr name="Group 244" id="244"/>
          <p:cNvGrpSpPr/>
          <p:nvPr/>
        </p:nvGrpSpPr>
        <p:grpSpPr>
          <a:xfrm rot="0">
            <a:off x="13819375" y="9320527"/>
            <a:ext cx="4127497" cy="780793"/>
            <a:chOff x="0" y="0"/>
            <a:chExt cx="5503329" cy="1041057"/>
          </a:xfrm>
        </p:grpSpPr>
        <p:sp>
          <p:nvSpPr>
            <p:cNvPr name="Freeform 245" id="245"/>
            <p:cNvSpPr/>
            <p:nvPr/>
          </p:nvSpPr>
          <p:spPr>
            <a:xfrm flipH="false" flipV="false" rot="0">
              <a:off x="8509" y="8509"/>
              <a:ext cx="5486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503418" cy="1041146"/>
            </a:xfrm>
            <a:custGeom>
              <a:avLst/>
              <a:gdLst/>
              <a:ahLst/>
              <a:cxnLst/>
              <a:rect r="r" b="b" t="t" l="l"/>
              <a:pathLst>
                <a:path h="1041146" w="5503418">
                  <a:moveTo>
                    <a:pt x="8509" y="0"/>
                  </a:moveTo>
                  <a:lnTo>
                    <a:pt x="5494909" y="0"/>
                  </a:lnTo>
                  <a:cubicBezTo>
                    <a:pt x="5499608" y="0"/>
                    <a:pt x="5503418" y="3810"/>
                    <a:pt x="5503418" y="8509"/>
                  </a:cubicBezTo>
                  <a:lnTo>
                    <a:pt x="5503418" y="1032637"/>
                  </a:lnTo>
                  <a:cubicBezTo>
                    <a:pt x="5503418" y="1037336"/>
                    <a:pt x="5499608" y="1041146"/>
                    <a:pt x="5494909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5494909" y="1024128"/>
                  </a:lnTo>
                  <a:lnTo>
                    <a:pt x="5494909" y="1032637"/>
                  </a:lnTo>
                  <a:lnTo>
                    <a:pt x="5486400" y="1032637"/>
                  </a:lnTo>
                  <a:lnTo>
                    <a:pt x="5486400" y="8509"/>
                  </a:lnTo>
                  <a:lnTo>
                    <a:pt x="5494909" y="8509"/>
                  </a:lnTo>
                  <a:lnTo>
                    <a:pt x="5494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14008608" y="9400032"/>
            <a:ext cx="402336" cy="402336"/>
            <a:chOff x="0" y="0"/>
            <a:chExt cx="536448" cy="536448"/>
          </a:xfrm>
        </p:grpSpPr>
        <p:sp>
          <p:nvSpPr>
            <p:cNvPr name="Freeform 248" id="248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9" id="249"/>
            <p:cNvSpPr txBox="true"/>
            <p:nvPr/>
          </p:nvSpPr>
          <p:spPr>
            <a:xfrm>
              <a:off x="0" y="-38100"/>
              <a:ext cx="536448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50" id="250"/>
          <p:cNvGrpSpPr/>
          <p:nvPr/>
        </p:nvGrpSpPr>
        <p:grpSpPr>
          <a:xfrm rot="0">
            <a:off x="14520672" y="9400032"/>
            <a:ext cx="3200400" cy="512064"/>
            <a:chOff x="0" y="0"/>
            <a:chExt cx="4267200" cy="682752"/>
          </a:xfrm>
        </p:grpSpPr>
        <p:sp>
          <p:nvSpPr>
            <p:cNvPr name="Freeform 251" id="251"/>
            <p:cNvSpPr/>
            <p:nvPr/>
          </p:nvSpPr>
          <p:spPr>
            <a:xfrm flipH="false" flipV="false" rot="0">
              <a:off x="0" y="0"/>
              <a:ext cx="426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252" id="252"/>
            <p:cNvSpPr txBox="true"/>
            <p:nvPr/>
          </p:nvSpPr>
          <p:spPr>
            <a:xfrm>
              <a:off x="0" y="-38100"/>
              <a:ext cx="426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Real-world applications in robotics and AI</a:t>
              </a:r>
            </a:p>
          </p:txBody>
        </p:sp>
      </p:grpSp>
      <p:grpSp>
        <p:nvGrpSpPr>
          <p:cNvPr name="Group 253" id="253"/>
          <p:cNvGrpSpPr/>
          <p:nvPr/>
        </p:nvGrpSpPr>
        <p:grpSpPr>
          <a:xfrm rot="0">
            <a:off x="0" y="10195560"/>
            <a:ext cx="18288000" cy="91440"/>
            <a:chOff x="0" y="0"/>
            <a:chExt cx="24384000" cy="121920"/>
          </a:xfrm>
        </p:grpSpPr>
        <p:sp>
          <p:nvSpPr>
            <p:cNvPr name="Freeform 254" id="254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5" id="255"/>
          <p:cNvGrpSpPr/>
          <p:nvPr/>
        </p:nvGrpSpPr>
        <p:grpSpPr>
          <a:xfrm rot="0">
            <a:off x="0" y="10195560"/>
            <a:ext cx="17373600" cy="91440"/>
            <a:chOff x="0" y="0"/>
            <a:chExt cx="23164800" cy="121920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23164800" cy="121920"/>
            </a:xfrm>
            <a:custGeom>
              <a:avLst/>
              <a:gdLst/>
              <a:ahLst/>
              <a:cxnLst/>
              <a:rect r="r" b="b" t="t" l="l"/>
              <a:pathLst>
                <a:path h="12192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6304"/>
            <a:chOff x="0" y="0"/>
            <a:chExt cx="24384000" cy="195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954780"/>
            <a:ext cx="16459200" cy="2377440"/>
            <a:chOff x="0" y="0"/>
            <a:chExt cx="21945600" cy="3169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96" r="0" b="-8489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0"/>
              <a:ext cx="21945600" cy="3455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80"/>
                </a:lnSpc>
              </a:pPr>
              <a:r>
                <a:rPr lang="en-US" sz="14400" b="true">
                  <a:solidFill>
                    <a:srgbClr val="1E3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DAHIzyX4vd0</dc:identifier>
  <dcterms:modified xsi:type="dcterms:W3CDTF">2011-08-01T06:04:30Z</dcterms:modified>
  <cp:revision>1</cp:revision>
  <dc:title>OpenCog</dc:title>
</cp:coreProperties>
</file>